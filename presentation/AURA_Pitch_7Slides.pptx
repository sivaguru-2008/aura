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Guru R.M" userId="e674c2f0a14809d6" providerId="LiveId" clId="{9A2ADA51-0AAB-4492-A1B7-40FAACCD7850}"/>
    <pc:docChg chg="undo custSel modSld">
      <pc:chgData name="SivaGuru R.M" userId="e674c2f0a14809d6" providerId="LiveId" clId="{9A2ADA51-0AAB-4492-A1B7-40FAACCD7850}" dt="2026-07-08T16:06:52.425" v="131" actId="1076"/>
      <pc:docMkLst>
        <pc:docMk/>
      </pc:docMkLst>
      <pc:sldChg chg="modSp mod">
        <pc:chgData name="SivaGuru R.M" userId="e674c2f0a14809d6" providerId="LiveId" clId="{9A2ADA51-0AAB-4492-A1B7-40FAACCD7850}" dt="2026-07-08T16:06:52.425" v="131" actId="1076"/>
        <pc:sldMkLst>
          <pc:docMk/>
          <pc:sldMk cId="0" sldId="258"/>
        </pc:sldMkLst>
        <pc:spChg chg="mod">
          <ac:chgData name="SivaGuru R.M" userId="e674c2f0a14809d6" providerId="LiveId" clId="{9A2ADA51-0AAB-4492-A1B7-40FAACCD7850}" dt="2026-07-08T16:06:52.425" v="131" actId="1076"/>
          <ac:spMkLst>
            <pc:docMk/>
            <pc:sldMk cId="0" sldId="258"/>
            <ac:spMk id="2055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5:36.670" v="105" actId="255"/>
          <ac:spMkLst>
            <pc:docMk/>
            <pc:sldMk cId="0" sldId="258"/>
            <ac:spMk id="2071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7:55.954" v="122" actId="20577"/>
          <ac:spMkLst>
            <pc:docMk/>
            <pc:sldMk cId="0" sldId="258"/>
            <ac:spMk id="2072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5:22.741" v="103" actId="255"/>
          <ac:spMkLst>
            <pc:docMk/>
            <pc:sldMk cId="0" sldId="258"/>
            <ac:spMk id="2073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5:14.250" v="102" actId="255"/>
          <ac:spMkLst>
            <pc:docMk/>
            <pc:sldMk cId="0" sldId="258"/>
            <ac:spMk id="2074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6:11.296" v="109" actId="14100"/>
          <ac:spMkLst>
            <pc:docMk/>
            <pc:sldMk cId="0" sldId="258"/>
            <ac:spMk id="2075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6:25.588" v="111" actId="255"/>
          <ac:spMkLst>
            <pc:docMk/>
            <pc:sldMk cId="0" sldId="258"/>
            <ac:spMk id="2076" creationId="{00000000-0000-0000-0000-000000000000}"/>
          </ac:spMkLst>
        </pc:spChg>
      </pc:sldChg>
      <pc:sldChg chg="delSp mod">
        <pc:chgData name="SivaGuru R.M" userId="e674c2f0a14809d6" providerId="LiveId" clId="{9A2ADA51-0AAB-4492-A1B7-40FAACCD7850}" dt="2026-07-08T08:10:11.357" v="97" actId="478"/>
        <pc:sldMkLst>
          <pc:docMk/>
          <pc:sldMk cId="0" sldId="259"/>
        </pc:sldMkLst>
        <pc:spChg chg="del">
          <ac:chgData name="SivaGuru R.M" userId="e674c2f0a14809d6" providerId="LiveId" clId="{9A2ADA51-0AAB-4492-A1B7-40FAACCD7850}" dt="2026-07-08T04:33:24.055" v="0" actId="478"/>
          <ac:spMkLst>
            <pc:docMk/>
            <pc:sldMk cId="0" sldId="259"/>
            <ac:spMk id="2054" creationId="{00000000-0000-0000-0000-000000000000}"/>
          </ac:spMkLst>
        </pc:spChg>
        <pc:spChg chg="del">
          <ac:chgData name="SivaGuru R.M" userId="e674c2f0a14809d6" providerId="LiveId" clId="{9A2ADA51-0AAB-4492-A1B7-40FAACCD7850}" dt="2026-07-08T08:10:11.357" v="97" actId="478"/>
          <ac:spMkLst>
            <pc:docMk/>
            <pc:sldMk cId="0" sldId="259"/>
            <ac:spMk id="2057" creationId="{00000000-0000-0000-0000-000000000000}"/>
          </ac:spMkLst>
        </pc:spChg>
        <pc:spChg chg="del">
          <ac:chgData name="SivaGuru R.M" userId="e674c2f0a14809d6" providerId="LiveId" clId="{9A2ADA51-0AAB-4492-A1B7-40FAACCD7850}" dt="2026-07-08T08:10:09.503" v="96" actId="478"/>
          <ac:spMkLst>
            <pc:docMk/>
            <pc:sldMk cId="0" sldId="259"/>
            <ac:spMk id="2062" creationId="{00000000-0000-0000-0000-000000000000}"/>
          </ac:spMkLst>
        </pc:spChg>
      </pc:sldChg>
      <pc:sldChg chg="modSp mod">
        <pc:chgData name="SivaGuru R.M" userId="e674c2f0a14809d6" providerId="LiveId" clId="{9A2ADA51-0AAB-4492-A1B7-40FAACCD7850}" dt="2026-07-08T12:59:59.073" v="130" actId="20577"/>
        <pc:sldMkLst>
          <pc:docMk/>
          <pc:sldMk cId="0" sldId="260"/>
        </pc:sldMkLst>
        <pc:spChg chg="mod">
          <ac:chgData name="SivaGuru R.M" userId="e674c2f0a14809d6" providerId="LiveId" clId="{9A2ADA51-0AAB-4492-A1B7-40FAACCD7850}" dt="2026-07-08T12:37:39.470" v="118" actId="20577"/>
          <ac:spMkLst>
            <pc:docMk/>
            <pc:sldMk cId="0" sldId="260"/>
            <ac:spMk id="2089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37:54.987" v="121" actId="13822"/>
          <ac:spMkLst>
            <pc:docMk/>
            <pc:sldMk cId="0" sldId="260"/>
            <ac:spMk id="2090" creationId="{00000000-0000-0000-0000-000000000000}"/>
          </ac:spMkLst>
        </pc:spChg>
        <pc:spChg chg="mod">
          <ac:chgData name="SivaGuru R.M" userId="e674c2f0a14809d6" providerId="LiveId" clId="{9A2ADA51-0AAB-4492-A1B7-40FAACCD7850}" dt="2026-07-08T08:09:33.674" v="95" actId="20577"/>
          <ac:spMkLst>
            <pc:docMk/>
            <pc:sldMk cId="0" sldId="260"/>
            <ac:spMk id="2112" creationId="{00000000-0000-0000-0000-000000000000}"/>
          </ac:spMkLst>
        </pc:spChg>
        <pc:spChg chg="mod">
          <ac:chgData name="SivaGuru R.M" userId="e674c2f0a14809d6" providerId="LiveId" clId="{9A2ADA51-0AAB-4492-A1B7-40FAACCD7850}" dt="2026-07-08T12:59:59.073" v="130" actId="20577"/>
          <ac:spMkLst>
            <pc:docMk/>
            <pc:sldMk cId="0" sldId="260"/>
            <ac:spMk id="2139" creationId="{00000000-0000-0000-0000-000000000000}"/>
          </ac:spMkLst>
        </pc:spChg>
      </pc:sldChg>
      <pc:sldChg chg="delSp modSp mod">
        <pc:chgData name="SivaGuru R.M" userId="e674c2f0a14809d6" providerId="LiveId" clId="{9A2ADA51-0AAB-4492-A1B7-40FAACCD7850}" dt="2026-07-08T08:08:56.061" v="84" actId="478"/>
        <pc:sldMkLst>
          <pc:docMk/>
          <pc:sldMk cId="0" sldId="261"/>
        </pc:sldMkLst>
        <pc:spChg chg="del">
          <ac:chgData name="SivaGuru R.M" userId="e674c2f0a14809d6" providerId="LiveId" clId="{9A2ADA51-0AAB-4492-A1B7-40FAACCD7850}" dt="2026-07-08T08:08:41.996" v="83" actId="478"/>
          <ac:spMkLst>
            <pc:docMk/>
            <pc:sldMk cId="0" sldId="261"/>
            <ac:spMk id="2078" creationId="{00000000-0000-0000-0000-000000000000}"/>
          </ac:spMkLst>
        </pc:spChg>
        <pc:spChg chg="del mod">
          <ac:chgData name="SivaGuru R.M" userId="e674c2f0a14809d6" providerId="LiveId" clId="{9A2ADA51-0AAB-4492-A1B7-40FAACCD7850}" dt="2026-07-08T08:08:26.761" v="76" actId="478"/>
          <ac:spMkLst>
            <pc:docMk/>
            <pc:sldMk cId="0" sldId="261"/>
            <ac:spMk id="2086" creationId="{00000000-0000-0000-0000-000000000000}"/>
          </ac:spMkLst>
        </pc:spChg>
        <pc:spChg chg="del">
          <ac:chgData name="SivaGuru R.M" userId="e674c2f0a14809d6" providerId="LiveId" clId="{9A2ADA51-0AAB-4492-A1B7-40FAACCD7850}" dt="2026-07-08T08:08:22.294" v="72" actId="478"/>
          <ac:spMkLst>
            <pc:docMk/>
            <pc:sldMk cId="0" sldId="261"/>
            <ac:spMk id="2087" creationId="{00000000-0000-0000-0000-000000000000}"/>
          </ac:spMkLst>
        </pc:spChg>
        <pc:spChg chg="del mod">
          <ac:chgData name="SivaGuru R.M" userId="e674c2f0a14809d6" providerId="LiveId" clId="{9A2ADA51-0AAB-4492-A1B7-40FAACCD7850}" dt="2026-07-08T08:08:35.464" v="82" actId="478"/>
          <ac:spMkLst>
            <pc:docMk/>
            <pc:sldMk cId="0" sldId="261"/>
            <ac:spMk id="2088" creationId="{00000000-0000-0000-0000-000000000000}"/>
          </ac:spMkLst>
        </pc:spChg>
        <pc:spChg chg="del">
          <ac:chgData name="SivaGuru R.M" userId="e674c2f0a14809d6" providerId="LiveId" clId="{9A2ADA51-0AAB-4492-A1B7-40FAACCD7850}" dt="2026-07-08T08:08:56.061" v="84" actId="478"/>
          <ac:spMkLst>
            <pc:docMk/>
            <pc:sldMk cId="0" sldId="261"/>
            <ac:spMk id="2092" creationId="{00000000-0000-0000-0000-000000000000}"/>
          </ac:spMkLst>
        </pc:spChg>
      </pc:sldChg>
      <pc:sldChg chg="modSp mod">
        <pc:chgData name="SivaGuru R.M" userId="e674c2f0a14809d6" providerId="LiveId" clId="{9A2ADA51-0AAB-4492-A1B7-40FAACCD7850}" dt="2026-07-08T04:34:33.682" v="71" actId="20577"/>
        <pc:sldMkLst>
          <pc:docMk/>
          <pc:sldMk cId="0" sldId="262"/>
        </pc:sldMkLst>
        <pc:spChg chg="mod">
          <ac:chgData name="SivaGuru R.M" userId="e674c2f0a14809d6" providerId="LiveId" clId="{9A2ADA51-0AAB-4492-A1B7-40FAACCD7850}" dt="2026-07-08T04:34:33.682" v="71" actId="20577"/>
          <ac:spMkLst>
            <pc:docMk/>
            <pc:sldMk cId="0" sldId="262"/>
            <ac:spMk id="207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4611-C05A-4FE0-9E94-CECBDE5B39B4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D5657-429F-4937-8DBC-7A2164C32DA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 ·  0:15</a:t>
            </a:r>
          </a:p>
          <a:p>
            <a:r>
              <a:t>I am Sivaguru; this is AURA. One line: hospitals do not trust black-box AI - so we built an AI that reasons, calibrates its doubt, and plans the next step, like a clinician. Everything you will see is running code.</a:t>
            </a:r>
          </a:p>
          <a:p>
            <a:endParaRPr/>
          </a:p>
          <a:p>
            <a:r>
              <a:t>JUDGES SHOULD FEEL: problem + solution landed in 10 seconds - checklist item one, done on slide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PROBLEM — THE $2.27B AI GRAVEYARD  ·  0:50</a:t>
            </a:r>
          </a:p>
          <a:p>
            <a:r>
              <a:t>Accuracy is a solved problem — benchmark models already match expert radiologists. The bottleneck is trust: without it, even a 95%-accurate model sits unused at the bedside. Decompose why, and you get four failures a clinician can't accept — no WHY (black-box outputs, cognitive load, medical liability), no HOW-SURE (no uncertainty quantification, alert fatigue), no WHAT-IF (no counterfactual reasoning, silent edge-case failure), no WHAT-NEXT (a static score, not a workflow-integrated pathway). That is the $2.27B graveyard: 950+ FDA-cleared tools, every one a prediction calculator with no clinical reasoning layer. AURA is that layer — it demystifies the read, quantifies uncertainty, and drives the next action. The doctor decides.</a:t>
            </a:r>
          </a:p>
          <a:p>
            <a:endParaRPr/>
          </a:p>
          <a:p>
            <a:r>
              <a:t>JUDGES SHOULD FEEL: accuracy is table stakes; trust is the unserved, buildable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D5657-429F-4937-8DBC-7A2164C32DA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PROTOTYPE — THE LIVE CONSOLE  ·  1:00</a:t>
            </a:r>
          </a:p>
          <a:p>
            <a:r>
              <a:t>This is the working product, not a mockup — every number is live output. One: the worklist is triaged by uncertainty; low-confidence studies flip to ABSTAINED instead of guessing. Two: the vision model localizes the finding and saliency shows where. Three: our 8-qubit quantum fusion, 512 shots, produces a calibrated differential — 99.5% pneumothorax here. Four: the evidence-to-reasoning graph makes every finding's contribution explicit, with live counterfactuals on hover. Five: the safety panel reports epistemic, aleatoric and OOD energy, a 90% conformal set true 90 times in 100, and abstains when out of envelope. Six: the recommender ranks the next best test by information gain, and the doctor accepts, edits or signs — authority always stays human. Scan to signed report in about twenty seconds, on one screen, offline.</a:t>
            </a:r>
          </a:p>
          <a:p>
            <a:endParaRPr/>
          </a:p>
          <a:p>
            <a:r>
              <a:t>JUDGES SHOULD FEEL: this is real, end-to-end, and safe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PRODUCT  ·  1:20  - this slide IS the prototype</a:t>
            </a:r>
          </a:p>
          <a:p>
            <a:r>
              <a:t>This is the doctor's screen, running on localhost right now. Left: the study with saliency - where the model looked - and the dashed counterfactual region: remove that, the diagnosis flips. Middle: a calibrated differential, not one score - plus the 90% conformal set and the uncertainty split: epistemic versus aleatoric, in distribution check. Right: the next-best-evidence panel - CT resolves more entropy, but the repeat X-ray wins on information per rupee - and the grounded report, where every sentence carries its evidence chips. And the red badge: if it is not sure, it says so and stops.</a:t>
            </a:r>
          </a:p>
          <a:p>
            <a:endParaRPr/>
          </a:p>
          <a:p>
            <a:r>
              <a:t>JUDGES SHOULD FEEL: they just saw the demo inside the deck - 'prototype in the PPT' achieved. Offer the live run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&amp; STACK  ·  0:45</a:t>
            </a:r>
          </a:p>
          <a:p>
            <a:r>
              <a:t>AURA is a machine with three layered tiers: a data foundation, an application tier of independent services behind one FastAPI gateway, and the doctor-facing presentation tier. Modularity is the point: every service is a slot. Our quantum VQC — the glowing magenta QPU — docks into the FUSION bay, and a classical twin sits behind the exact same interface, so whichever wins the benchmark ships with zero code change. Open bays take new services the same way. Cyan is classical infrastructure; magenta is the quantum accelerator. It all runs offline, CPU-only, no PHI leaving the site.</a:t>
            </a:r>
          </a:p>
          <a:p/>
          <a:p>
            <a:r>
              <a:t>JUDGES SHOULD FEEL: disciplined engineering — quantum is a swappable part, not a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QUANTUM STACK  ·  1:00</a:t>
            </a:r>
          </a:p>
          <a:p>
            <a:r>
              <a:t>What is actually quantum: an 8-qubit variational circuit in PennyLane. Each of the 8 evidence channels is angle-encoded, RY(pi x); three layers of trainable rotations plus a CNOT ring entangle them, so the model represents higher-order interactions between evidence sources in a 2^8 space with only 48 parameters. We read Pauli-Z expectations into a linear head for a calibrated 6-diagnosis posterior. Efficient by design: 48 params, CPU-only, and finite-shot measurement variance gives uncertainty for free that the safety layer consumes. We never put pixels in a circuit - only the 8-dim compressed evidence, which is exactly why this is tractable on a simulator today and credible on hardware tomorrow. Right panel is the receipt: the quantum path beats its classical twin on the same held-out data, and if it did not, the twin would ship. Every claim is tiered in QUANTUM_STACK.md.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 + CLOSE  ·  0:45</a:t>
            </a:r>
          </a:p>
          <a:p>
            <a:r>
              <a:t>Hospitals: uncertainty-triaged worklists. Patients: fewer scans, faster answers. The system: diagnostic error - the costliest failure in medicine. Roadmap is hardware-realistic; nothing depends on a miracle. Then, slowly: AI predicts. Clinical intelligence reasons. Quantum intelligence understands. The system is live - we would love to show you. Thank you.</a:t>
            </a:r>
          </a:p>
          <a:p>
            <a:endParaRPr/>
          </a:p>
          <a:p>
            <a:r>
              <a:t>JUDGES SHOULD FEEL: goosebumps + the urge to say 'show 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7088B4A-5E74-4E7B-8C78-CA63012A9A2F}" type="datetimeFigureOut">
              <a:rPr lang="en-US" smtClean="0"/>
              <a:t>7/8/2026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2322" y="-214314"/>
            <a:ext cx="2071678" cy="2071678"/>
          </a:xfrm>
          <a:prstGeom prst="rect">
            <a:avLst/>
          </a:prstGeom>
          <a:noFill/>
        </p:spPr>
      </p:pic>
      <p:pic>
        <p:nvPicPr>
          <p:cNvPr id="7" name="Picture 6" descr="RIT white log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" y="0"/>
            <a:ext cx="5000628" cy="12911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Presented by</a:t>
            </a:r>
          </a:p>
        </p:txBody>
      </p:sp>
      <p:pic>
        <p:nvPicPr>
          <p:cNvPr id="1029" name="Picture 5" descr="C:\Users\Admin\Downloads\IBM_logo.svg.png"/>
          <p:cNvPicPr>
            <a:picLocks noChangeAspect="1" noChangeArrowheads="1"/>
          </p:cNvPicPr>
          <p:nvPr/>
        </p:nvPicPr>
        <p:blipFill>
          <a:blip r:embed="rId6" cstate="print">
            <a:lum bright="40000"/>
          </a:blip>
          <a:srcRect/>
          <a:stretch>
            <a:fillRect/>
          </a:stretch>
        </p:blipFill>
        <p:spPr bwMode="auto">
          <a:xfrm>
            <a:off x="6588224" y="5885112"/>
            <a:ext cx="1285884" cy="480868"/>
          </a:xfrm>
          <a:prstGeom prst="rect">
            <a:avLst/>
          </a:prstGeom>
          <a:noFill/>
        </p:spPr>
      </p:pic>
      <p:pic>
        <p:nvPicPr>
          <p:cNvPr id="1030" name="Picture 6" descr="C:\Users\Admin\Downloads\logo-nqm.png"/>
          <p:cNvPicPr>
            <a:picLocks noChangeAspect="1" noChangeArrowheads="1"/>
          </p:cNvPicPr>
          <p:nvPr/>
        </p:nvPicPr>
        <p:blipFill>
          <a:blip r:embed="rId7">
            <a:lum bright="70000" contrast="-70000"/>
          </a:blip>
          <a:srcRect/>
          <a:stretch>
            <a:fillRect/>
          </a:stretch>
        </p:blipFill>
        <p:spPr bwMode="auto">
          <a:xfrm>
            <a:off x="5214942" y="5572140"/>
            <a:ext cx="1000132" cy="1106813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Sivaguru R.M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Rajalakshmi Institute of Technology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5763447"/>
            <a:ext cx="866775" cy="714375"/>
          </a:xfrm>
          <a:prstGeom prst="rect">
            <a:avLst/>
          </a:prstGeom>
        </p:spPr>
      </p:pic>
      <p:sp>
        <p:nvSpPr>
          <p:cNvPr id="1031" name="TextBox 1030"/>
          <p:cNvSpPr txBox="1"/>
          <p:nvPr/>
        </p:nvSpPr>
        <p:spPr>
          <a:xfrm>
            <a:off x="5138928" y="4005072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spc="500">
                <a:solidFill>
                  <a:srgbClr val="5EEAD4"/>
                </a:solidFill>
                <a:latin typeface="Arial"/>
              </a:rPr>
              <a:t>AURA</a:t>
            </a:r>
          </a:p>
          <a:p>
            <a:pPr algn="ctr"/>
            <a:r>
              <a:rPr sz="800" b="0" i="0" spc="200">
                <a:solidFill>
                  <a:srgbClr val="FFFFFF"/>
                </a:solidFill>
                <a:latin typeface="Arial"/>
              </a:rPr>
              <a:t>ADAPTIVE UNCERTAINTY-AWARE RADIOLOGY ARCHITECTURE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4846320" y="4718304"/>
            <a:ext cx="4160520" cy="548640"/>
          </a:xfrm>
          <a:prstGeom prst="roundRect">
            <a:avLst>
              <a:gd name="adj" fmla="val 15000"/>
            </a:avLst>
          </a:prstGeom>
          <a:solidFill>
            <a:srgbClr val="05090E">
              <a:alpha val="68000"/>
            </a:srgbClr>
          </a:solidFill>
          <a:ln w="6350">
            <a:solidFill>
              <a:srgbClr val="2DD4BF">
                <a:alpha val="3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extBox 1032"/>
          <p:cNvSpPr txBox="1"/>
          <p:nvPr/>
        </p:nvSpPr>
        <p:spPr>
          <a:xfrm>
            <a:off x="4956048" y="4791456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5EEAD4"/>
                </a:solidFill>
                <a:latin typeface="Arial"/>
              </a:rPr>
              <a:t>Problem: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95%-accurate AI still sits unused - one number isn't an argument.  </a:t>
            </a:r>
            <a:r>
              <a:rPr sz="850" b="1" i="0">
                <a:solidFill>
                  <a:srgbClr val="5EEAD4"/>
                </a:solidFill>
                <a:latin typeface="Arial"/>
              </a:rPr>
              <a:t>Solution: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AURA adds the reasoning layer - it explains its read, calibrates its doubt, and recommends the next test. The doctor decides.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4" name="TextBox 2053"/>
          <p:cNvSpPr txBox="1"/>
          <p:nvPr/>
        </p:nvSpPr>
        <p:spPr>
          <a:xfrm>
            <a:off x="457200" y="113385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80">
                <a:solidFill>
                  <a:srgbClr val="5B6672"/>
                </a:solidFill>
                <a:latin typeface="Arial"/>
              </a:rPr>
              <a:t>01  ·  </a:t>
            </a:r>
            <a:r>
              <a:rPr sz="1050" b="1" i="0" spc="280">
                <a:solidFill>
                  <a:srgbClr val="0E7490"/>
                </a:solidFill>
                <a:latin typeface="Arial"/>
              </a:rPr>
              <a:t>PROBLEM — THE MARKET GAP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457200" y="1371600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spc="-20">
                <a:solidFill>
                  <a:srgbClr val="0F172A"/>
                </a:solidFill>
                <a:latin typeface="Arial"/>
              </a:rPr>
              <a:t>Why hospitals reject 95%-accurate AI</a:t>
            </a:r>
          </a:p>
        </p:txBody>
      </p:sp>
      <p:sp>
        <p:nvSpPr>
          <p:cNvPr id="2056" name="Rounded Rectangle 2055"/>
          <p:cNvSpPr/>
          <p:nvPr/>
        </p:nvSpPr>
        <p:spPr>
          <a:xfrm>
            <a:off x="457200" y="1993392"/>
            <a:ext cx="4041648" cy="676656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2700">
            <a:solidFill>
              <a:srgbClr val="AEB8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7" name="TextBox 2056"/>
          <p:cNvSpPr txBox="1"/>
          <p:nvPr/>
        </p:nvSpPr>
        <p:spPr>
          <a:xfrm>
            <a:off x="640080" y="1993392"/>
            <a:ext cx="3712463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5B6672"/>
                </a:solidFill>
                <a:latin typeface="Arial"/>
              </a:rPr>
              <a:t>ACCURACY   </a:t>
            </a:r>
            <a:r>
              <a:rPr sz="850" b="0" i="1">
                <a:solidFill>
                  <a:srgbClr val="AEB8C2"/>
                </a:solidFill>
                <a:latin typeface="Arial"/>
              </a:rPr>
              <a:t>✓ solved since 2017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672"/>
                </a:solidFill>
                <a:latin typeface="Arial"/>
              </a:rPr>
              <a:t>Benchmark models already match expert radiologists.</a:t>
            </a:r>
          </a:p>
        </p:txBody>
      </p:sp>
      <p:sp>
        <p:nvSpPr>
          <p:cNvPr id="2058" name="Rounded Rectangle 2057"/>
          <p:cNvSpPr/>
          <p:nvPr/>
        </p:nvSpPr>
        <p:spPr>
          <a:xfrm>
            <a:off x="4645152" y="1993392"/>
            <a:ext cx="4041648" cy="676656"/>
          </a:xfrm>
          <a:prstGeom prst="roundRect">
            <a:avLst>
              <a:gd name="adj" fmla="val 10000"/>
            </a:avLst>
          </a:prstGeom>
          <a:solidFill>
            <a:srgbClr val="ECF8F7"/>
          </a:solidFill>
          <a:ln w="16510">
            <a:solidFill>
              <a:srgbClr val="C05B5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9" name="TextBox 2058"/>
          <p:cNvSpPr txBox="1"/>
          <p:nvPr/>
        </p:nvSpPr>
        <p:spPr>
          <a:xfrm>
            <a:off x="4828032" y="1993392"/>
            <a:ext cx="3712463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C05B52"/>
                </a:solidFill>
                <a:latin typeface="Arial"/>
              </a:rPr>
              <a:t>TRUST   </a:t>
            </a:r>
            <a:r>
              <a:rPr sz="850" b="0" i="1">
                <a:solidFill>
                  <a:srgbClr val="C05B52"/>
                </a:solidFill>
                <a:latin typeface="Arial"/>
              </a:rPr>
              <a:t>✕ the real bottleneck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0F172A"/>
                </a:solidFill>
                <a:latin typeface="Arial"/>
              </a:rPr>
              <a:t>Without trust, even accurate models sit unused at the bedside.</a:t>
            </a:r>
          </a:p>
        </p:txBody>
      </p:sp>
      <p:sp>
        <p:nvSpPr>
          <p:cNvPr id="2060" name="TextBox 2059"/>
          <p:cNvSpPr txBox="1"/>
          <p:nvPr/>
        </p:nvSpPr>
        <p:spPr>
          <a:xfrm>
            <a:off x="457200" y="281635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40">
                <a:solidFill>
                  <a:srgbClr val="0E7490"/>
                </a:solidFill>
                <a:latin typeface="Arial"/>
              </a:rPr>
              <a:t>THE GAP, DECOMPOSED  ·  WHAT EVERY DEPLOYED TOOL LACKS</a:t>
            </a:r>
          </a:p>
        </p:txBody>
      </p:sp>
      <p:sp>
        <p:nvSpPr>
          <p:cNvPr id="2061" name="Rounded Rectangle 2060"/>
          <p:cNvSpPr/>
          <p:nvPr/>
        </p:nvSpPr>
        <p:spPr>
          <a:xfrm>
            <a:off x="457200" y="3054096"/>
            <a:ext cx="1947672" cy="1005840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1430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2" name="Rounded Rectangle 2061"/>
          <p:cNvSpPr/>
          <p:nvPr/>
        </p:nvSpPr>
        <p:spPr>
          <a:xfrm>
            <a:off x="603504" y="3182112"/>
            <a:ext cx="164592" cy="45720"/>
          </a:xfrm>
          <a:prstGeom prst="roundRect">
            <a:avLst>
              <a:gd name="adj" fmla="val 0"/>
            </a:avLst>
          </a:prstGeom>
          <a:solidFill>
            <a:srgbClr val="C05B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3" name="TextBox 2062"/>
          <p:cNvSpPr txBox="1"/>
          <p:nvPr/>
        </p:nvSpPr>
        <p:spPr>
          <a:xfrm>
            <a:off x="603504" y="3273552"/>
            <a:ext cx="16733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No WHY</a:t>
            </a:r>
          </a:p>
        </p:txBody>
      </p:sp>
      <p:sp>
        <p:nvSpPr>
          <p:cNvPr id="2064" name="TextBox 2063"/>
          <p:cNvSpPr txBox="1"/>
          <p:nvPr/>
        </p:nvSpPr>
        <p:spPr>
          <a:xfrm>
            <a:off x="603504" y="3529584"/>
            <a:ext cx="16916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5B6672"/>
                </a:solidFill>
                <a:latin typeface="Arial"/>
              </a:rPr>
              <a:t>Black-box; cognitive load + medical-liability exposure.</a:t>
            </a:r>
          </a:p>
        </p:txBody>
      </p:sp>
      <p:sp>
        <p:nvSpPr>
          <p:cNvPr id="2065" name="Rounded Rectangle 2064"/>
          <p:cNvSpPr/>
          <p:nvPr/>
        </p:nvSpPr>
        <p:spPr>
          <a:xfrm>
            <a:off x="2551176" y="3054096"/>
            <a:ext cx="1947672" cy="1005840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1430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6" name="Rounded Rectangle 2065"/>
          <p:cNvSpPr/>
          <p:nvPr/>
        </p:nvSpPr>
        <p:spPr>
          <a:xfrm>
            <a:off x="2697480" y="3182112"/>
            <a:ext cx="164592" cy="45720"/>
          </a:xfrm>
          <a:prstGeom prst="roundRect">
            <a:avLst>
              <a:gd name="adj" fmla="val 0"/>
            </a:avLst>
          </a:prstGeom>
          <a:solidFill>
            <a:srgbClr val="C05B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7" name="TextBox 2066"/>
          <p:cNvSpPr txBox="1"/>
          <p:nvPr/>
        </p:nvSpPr>
        <p:spPr>
          <a:xfrm>
            <a:off x="2697480" y="3273552"/>
            <a:ext cx="16733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No HOW SURE</a:t>
            </a:r>
          </a:p>
        </p:txBody>
      </p:sp>
      <p:sp>
        <p:nvSpPr>
          <p:cNvPr id="2068" name="TextBox 2067"/>
          <p:cNvSpPr txBox="1"/>
          <p:nvPr/>
        </p:nvSpPr>
        <p:spPr>
          <a:xfrm>
            <a:off x="2697480" y="3529584"/>
            <a:ext cx="16916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5B6672"/>
                </a:solidFill>
                <a:latin typeface="Arial"/>
              </a:rPr>
              <a:t>No uncertainty quantification → alert fatigue.</a:t>
            </a:r>
          </a:p>
        </p:txBody>
      </p:sp>
      <p:sp>
        <p:nvSpPr>
          <p:cNvPr id="2069" name="Rounded Rectangle 2068"/>
          <p:cNvSpPr/>
          <p:nvPr/>
        </p:nvSpPr>
        <p:spPr>
          <a:xfrm>
            <a:off x="4645152" y="3054096"/>
            <a:ext cx="1947672" cy="1005840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1430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0" name="Rounded Rectangle 2069"/>
          <p:cNvSpPr/>
          <p:nvPr/>
        </p:nvSpPr>
        <p:spPr>
          <a:xfrm>
            <a:off x="4791456" y="3182112"/>
            <a:ext cx="164592" cy="45720"/>
          </a:xfrm>
          <a:prstGeom prst="roundRect">
            <a:avLst>
              <a:gd name="adj" fmla="val 0"/>
            </a:avLst>
          </a:prstGeom>
          <a:solidFill>
            <a:srgbClr val="C05B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1" name="TextBox 2070"/>
          <p:cNvSpPr txBox="1"/>
          <p:nvPr/>
        </p:nvSpPr>
        <p:spPr>
          <a:xfrm>
            <a:off x="4791456" y="3273552"/>
            <a:ext cx="16733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No WHAT IF</a:t>
            </a:r>
          </a:p>
        </p:txBody>
      </p:sp>
      <p:sp>
        <p:nvSpPr>
          <p:cNvPr id="2072" name="TextBox 2071"/>
          <p:cNvSpPr txBox="1"/>
          <p:nvPr/>
        </p:nvSpPr>
        <p:spPr>
          <a:xfrm>
            <a:off x="4791456" y="3529584"/>
            <a:ext cx="16916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5B6672"/>
                </a:solidFill>
                <a:latin typeface="Arial"/>
              </a:rPr>
              <a:t>No counterfactual reasoning; edge cases fail silently.</a:t>
            </a:r>
          </a:p>
        </p:txBody>
      </p:sp>
      <p:sp>
        <p:nvSpPr>
          <p:cNvPr id="2073" name="Rounded Rectangle 2072"/>
          <p:cNvSpPr/>
          <p:nvPr/>
        </p:nvSpPr>
        <p:spPr>
          <a:xfrm>
            <a:off x="6739128" y="3054096"/>
            <a:ext cx="1947672" cy="1005840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1430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4" name="Rounded Rectangle 2073"/>
          <p:cNvSpPr/>
          <p:nvPr/>
        </p:nvSpPr>
        <p:spPr>
          <a:xfrm>
            <a:off x="6885432" y="3182112"/>
            <a:ext cx="164592" cy="45720"/>
          </a:xfrm>
          <a:prstGeom prst="roundRect">
            <a:avLst>
              <a:gd name="adj" fmla="val 0"/>
            </a:avLst>
          </a:prstGeom>
          <a:solidFill>
            <a:srgbClr val="C05B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5" name="TextBox 2074"/>
          <p:cNvSpPr txBox="1"/>
          <p:nvPr/>
        </p:nvSpPr>
        <p:spPr>
          <a:xfrm>
            <a:off x="6885432" y="3273552"/>
            <a:ext cx="16733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Arial"/>
              </a:rPr>
              <a:t>No WHAT NEXT</a:t>
            </a:r>
          </a:p>
        </p:txBody>
      </p:sp>
      <p:sp>
        <p:nvSpPr>
          <p:cNvPr id="2076" name="TextBox 2075"/>
          <p:cNvSpPr txBox="1"/>
          <p:nvPr/>
        </p:nvSpPr>
        <p:spPr>
          <a:xfrm>
            <a:off x="6885432" y="3529584"/>
            <a:ext cx="16916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5B6672"/>
                </a:solidFill>
                <a:latin typeface="Arial"/>
              </a:rPr>
              <a:t>Static score, not a workflow-integrated pathway.</a:t>
            </a:r>
          </a:p>
        </p:txBody>
      </p:sp>
      <p:sp>
        <p:nvSpPr>
          <p:cNvPr id="2077" name="TextBox 2076"/>
          <p:cNvSpPr txBox="1"/>
          <p:nvPr/>
        </p:nvSpPr>
        <p:spPr>
          <a:xfrm>
            <a:off x="457200" y="418795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20">
                <a:solidFill>
                  <a:srgbClr val="C05B52"/>
                </a:solidFill>
                <a:latin typeface="Arial"/>
              </a:rPr>
              <a:t>THE $2.27B AI GRAVEYARD  —  AND HOW AURA ENDS IT</a:t>
            </a:r>
          </a:p>
        </p:txBody>
      </p:sp>
      <p:sp>
        <p:nvSpPr>
          <p:cNvPr id="2078" name="Rounded Rectangle 2077"/>
          <p:cNvSpPr/>
          <p:nvPr/>
        </p:nvSpPr>
        <p:spPr>
          <a:xfrm>
            <a:off x="457200" y="4407408"/>
            <a:ext cx="3977639" cy="749808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13970">
            <a:solidFill>
              <a:srgbClr val="C05B5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9" name="TextBox 2078"/>
          <p:cNvSpPr txBox="1"/>
          <p:nvPr/>
        </p:nvSpPr>
        <p:spPr>
          <a:xfrm>
            <a:off x="621792" y="4407408"/>
            <a:ext cx="3675887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760" b="1" i="0">
                <a:solidFill>
                  <a:srgbClr val="C05B52"/>
                </a:solidFill>
                <a:latin typeface="Arial"/>
              </a:rPr>
              <a:t>950+ FDA-cleared tools — </a:t>
            </a:r>
            <a:r>
              <a:rPr sz="760" b="0" i="0">
                <a:solidFill>
                  <a:srgbClr val="0F172A"/>
                </a:solidFill>
                <a:latin typeface="Arial"/>
              </a:rPr>
              <a:t>every one a prediction calculator.</a:t>
            </a:r>
          </a:p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0F172A"/>
                </a:solidFill>
                <a:latin typeface="Arial"/>
              </a:rPr>
              <a:t>Each outputs a score and stops: no clinical reasoning layer, no trust.</a:t>
            </a:r>
          </a:p>
        </p:txBody>
      </p:sp>
      <p:cxnSp>
        <p:nvCxnSpPr>
          <p:cNvPr id="2080" name="Connector 2079"/>
          <p:cNvCxnSpPr/>
          <p:nvPr/>
        </p:nvCxnSpPr>
        <p:spPr>
          <a:xfrm>
            <a:off x="4498848" y="4782312"/>
            <a:ext cx="329184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</p:cxnSp>
      <p:sp>
        <p:nvSpPr>
          <p:cNvPr id="2081" name="Rounded Rectangle 2080"/>
          <p:cNvSpPr/>
          <p:nvPr/>
        </p:nvSpPr>
        <p:spPr>
          <a:xfrm>
            <a:off x="4892040" y="4407408"/>
            <a:ext cx="3794760" cy="749808"/>
          </a:xfrm>
          <a:prstGeom prst="roundRect">
            <a:avLst>
              <a:gd name="adj" fmla="val 10000"/>
            </a:avLst>
          </a:prstGeom>
          <a:solidFill>
            <a:srgbClr val="ECF8F7"/>
          </a:solidFill>
          <a:ln w="17780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2" name="TextBox 2081"/>
          <p:cNvSpPr txBox="1"/>
          <p:nvPr/>
        </p:nvSpPr>
        <p:spPr>
          <a:xfrm>
            <a:off x="5056632" y="4407408"/>
            <a:ext cx="34930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30" b="1" i="0">
                <a:solidFill>
                  <a:srgbClr val="0E7490"/>
                </a:solidFill>
                <a:latin typeface="Arial"/>
              </a:rPr>
              <a:t>AURA: THE CLINICAL REASONING ENGINE</a:t>
            </a:r>
          </a:p>
          <a:p>
            <a:pPr algn="l">
              <a:lnSpc>
                <a:spcPct val="106000"/>
              </a:lnSpc>
            </a:pPr>
            <a:r>
              <a:rPr sz="760" b="0" i="0">
                <a:solidFill>
                  <a:srgbClr val="0F172A"/>
                </a:solidFill>
                <a:latin typeface="Arial"/>
              </a:rPr>
              <a:t>Demystifies the read, quantifies uncertainty, drives the next action.  </a:t>
            </a:r>
            <a:r>
              <a:rPr sz="760" b="1" i="0">
                <a:solidFill>
                  <a:srgbClr val="0E7490"/>
                </a:solidFill>
                <a:latin typeface="Arial"/>
              </a:rPr>
              <a:t>The doctor decides.</a:t>
            </a:r>
          </a:p>
        </p:txBody>
      </p:sp>
      <p:sp>
        <p:nvSpPr>
          <p:cNvPr id="2083" name="TextBox 2082"/>
          <p:cNvSpPr txBox="1"/>
          <p:nvPr/>
        </p:nvSpPr>
        <p:spPr>
          <a:xfrm>
            <a:off x="457200" y="557784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1">
                <a:solidFill>
                  <a:srgbClr val="5B6672"/>
                </a:solidFill>
                <a:latin typeface="Arial"/>
              </a:rPr>
              <a:t>950+ FDA-cleared devices (2025) · radiology-AI market $2.27B by 2030, 24.5% CAGR (MarketsandMarkets) · India: 1 radiologist / 100k · Zech et al., PLOS Med (2018)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4" name="TextBox 2053"/>
          <p:cNvSpPr txBox="1"/>
          <p:nvPr/>
        </p:nvSpPr>
        <p:spPr>
          <a:xfrm>
            <a:off x="457200" y="113385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80">
                <a:solidFill>
                  <a:srgbClr val="5B6672"/>
                </a:solidFill>
                <a:latin typeface="Arial"/>
              </a:rPr>
              <a:t>02  ·  </a:t>
            </a:r>
            <a:r>
              <a:rPr sz="1050" b="1" i="0" spc="280">
                <a:solidFill>
                  <a:srgbClr val="0E7490"/>
                </a:solidFill>
                <a:latin typeface="Arial"/>
              </a:rPr>
              <a:t>PROTOTYPE — THE LIVE CONSOLE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332456" y="1351585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-20">
                <a:solidFill>
                  <a:srgbClr val="0F172A"/>
                </a:solidFill>
                <a:latin typeface="Arial"/>
              </a:rPr>
              <a:t>Inside the console: scan → reasoned sign-off</a:t>
            </a:r>
          </a:p>
        </p:txBody>
      </p:sp>
      <p:pic>
        <p:nvPicPr>
          <p:cNvPr id="2056" name="Picture 2055" descr="conso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975104"/>
            <a:ext cx="5486400" cy="3086100"/>
          </a:xfrm>
          <a:prstGeom prst="rect">
            <a:avLst/>
          </a:prstGeom>
          <a:ln w="15875">
            <a:solidFill>
              <a:srgbClr val="0D9488"/>
            </a:solidFill>
          </a:ln>
        </p:spPr>
      </p:pic>
      <p:sp>
        <p:nvSpPr>
          <p:cNvPr id="2057" name="TextBox 2056"/>
          <p:cNvSpPr txBox="1"/>
          <p:nvPr/>
        </p:nvSpPr>
        <p:spPr>
          <a:xfrm>
            <a:off x="457200" y="511606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 i="0">
                <a:solidFill>
                  <a:srgbClr val="0E7490"/>
                </a:solidFill>
                <a:latin typeface="Arial"/>
              </a:rPr>
              <a:t>localhost:8000 · AURA clinical console</a:t>
            </a:r>
            <a:r>
              <a:rPr sz="740" b="0" i="1">
                <a:solidFill>
                  <a:srgbClr val="5B6672"/>
                </a:solidFill>
                <a:latin typeface="Arial"/>
              </a:rPr>
              <a:t>  —  every value on screen is live model output, offline &amp; CPU-only</a:t>
            </a:r>
          </a:p>
        </p:txBody>
      </p:sp>
      <p:sp>
        <p:nvSpPr>
          <p:cNvPr id="2058" name="Oval 2057"/>
          <p:cNvSpPr/>
          <p:nvPr/>
        </p:nvSpPr>
        <p:spPr>
          <a:xfrm>
            <a:off x="804672" y="3275838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9" name="TextBox 2058"/>
          <p:cNvSpPr txBox="1"/>
          <p:nvPr/>
        </p:nvSpPr>
        <p:spPr>
          <a:xfrm>
            <a:off x="804672" y="327583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1</a:t>
            </a:r>
          </a:p>
        </p:txBody>
      </p:sp>
      <p:sp>
        <p:nvSpPr>
          <p:cNvPr id="2060" name="Oval 2059"/>
          <p:cNvSpPr/>
          <p:nvPr/>
        </p:nvSpPr>
        <p:spPr>
          <a:xfrm>
            <a:off x="2039112" y="2936367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1" name="TextBox 2060"/>
          <p:cNvSpPr txBox="1"/>
          <p:nvPr/>
        </p:nvSpPr>
        <p:spPr>
          <a:xfrm>
            <a:off x="2039112" y="293636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2</a:t>
            </a:r>
          </a:p>
        </p:txBody>
      </p:sp>
      <p:sp>
        <p:nvSpPr>
          <p:cNvPr id="2062" name="Oval 2061"/>
          <p:cNvSpPr/>
          <p:nvPr/>
        </p:nvSpPr>
        <p:spPr>
          <a:xfrm>
            <a:off x="2039112" y="4294251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3" name="TextBox 2062"/>
          <p:cNvSpPr txBox="1"/>
          <p:nvPr/>
        </p:nvSpPr>
        <p:spPr>
          <a:xfrm>
            <a:off x="2039112" y="4294251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3</a:t>
            </a:r>
          </a:p>
        </p:txBody>
      </p:sp>
      <p:sp>
        <p:nvSpPr>
          <p:cNvPr id="2064" name="Oval 2063"/>
          <p:cNvSpPr/>
          <p:nvPr/>
        </p:nvSpPr>
        <p:spPr>
          <a:xfrm>
            <a:off x="3739896" y="2998089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5" name="TextBox 2064"/>
          <p:cNvSpPr txBox="1"/>
          <p:nvPr/>
        </p:nvSpPr>
        <p:spPr>
          <a:xfrm>
            <a:off x="3739896" y="299808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4</a:t>
            </a:r>
          </a:p>
        </p:txBody>
      </p:sp>
      <p:sp>
        <p:nvSpPr>
          <p:cNvPr id="2066" name="Oval 2065"/>
          <p:cNvSpPr/>
          <p:nvPr/>
        </p:nvSpPr>
        <p:spPr>
          <a:xfrm>
            <a:off x="5221224" y="2689479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7" name="TextBox 2066"/>
          <p:cNvSpPr txBox="1"/>
          <p:nvPr/>
        </p:nvSpPr>
        <p:spPr>
          <a:xfrm>
            <a:off x="5221224" y="268947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5</a:t>
            </a:r>
          </a:p>
        </p:txBody>
      </p:sp>
      <p:sp>
        <p:nvSpPr>
          <p:cNvPr id="2068" name="Oval 2067"/>
          <p:cNvSpPr/>
          <p:nvPr/>
        </p:nvSpPr>
        <p:spPr>
          <a:xfrm>
            <a:off x="5001768" y="4325112"/>
            <a:ext cx="237744" cy="23774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5090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9" name="TextBox 2068"/>
          <p:cNvSpPr txBox="1"/>
          <p:nvPr/>
        </p:nvSpPr>
        <p:spPr>
          <a:xfrm>
            <a:off x="5001768" y="43251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90E"/>
                </a:solidFill>
                <a:latin typeface="Arial"/>
              </a:rPr>
              <a:t>6</a:t>
            </a:r>
          </a:p>
        </p:txBody>
      </p:sp>
      <p:sp>
        <p:nvSpPr>
          <p:cNvPr id="2070" name="TextBox 2069"/>
          <p:cNvSpPr txBox="1"/>
          <p:nvPr/>
        </p:nvSpPr>
        <p:spPr>
          <a:xfrm>
            <a:off x="6144768" y="1975104"/>
            <a:ext cx="2542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0E7490"/>
                </a:solidFill>
                <a:latin typeface="Arial"/>
              </a:rPr>
              <a:t>HOW THE PROTOTYPE WORKS</a:t>
            </a:r>
          </a:p>
        </p:txBody>
      </p:sp>
      <p:sp>
        <p:nvSpPr>
          <p:cNvPr id="2071" name="TextBox 2070"/>
          <p:cNvSpPr txBox="1"/>
          <p:nvPr/>
        </p:nvSpPr>
        <p:spPr>
          <a:xfrm>
            <a:off x="6144768" y="2286000"/>
            <a:ext cx="2542032" cy="450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dirty="0">
                <a:solidFill>
                  <a:srgbClr val="5EEAD4"/>
                </a:solidFill>
                <a:latin typeface="Arial"/>
              </a:rPr>
              <a:t>1  </a:t>
            </a:r>
            <a:r>
              <a:rPr sz="1100" b="1" i="0" spc="40" dirty="0">
                <a:solidFill>
                  <a:srgbClr val="0E7490"/>
                </a:solidFill>
                <a:latin typeface="Arial"/>
              </a:rPr>
              <a:t>WORKLIST</a:t>
            </a:r>
          </a:p>
          <a:p>
            <a:pPr algn="l">
              <a:lnSpc>
                <a:spcPct val="103000"/>
              </a:lnSpc>
            </a:pPr>
            <a:r>
              <a:rPr sz="900" b="0" i="0" dirty="0">
                <a:solidFill>
                  <a:srgbClr val="0F172A"/>
                </a:solidFill>
                <a:latin typeface="Arial"/>
              </a:rPr>
              <a:t>14 cases triaged by uncertainty; low-confidence studies flip to ABSTAINED.</a:t>
            </a:r>
          </a:p>
        </p:txBody>
      </p:sp>
      <p:sp>
        <p:nvSpPr>
          <p:cNvPr id="2072" name="TextBox 2071"/>
          <p:cNvSpPr txBox="1"/>
          <p:nvPr/>
        </p:nvSpPr>
        <p:spPr>
          <a:xfrm>
            <a:off x="6144768" y="2747772"/>
            <a:ext cx="2542032" cy="480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dirty="0">
                <a:solidFill>
                  <a:srgbClr val="5EEAD4"/>
                </a:solidFill>
                <a:latin typeface="Arial"/>
              </a:rPr>
              <a:t>2  </a:t>
            </a:r>
            <a:r>
              <a:rPr sz="1100" b="1" i="0" spc="40" dirty="0">
                <a:solidFill>
                  <a:srgbClr val="0E7490"/>
                </a:solidFill>
                <a:latin typeface="Arial"/>
              </a:rPr>
              <a:t>STUDY + SALIENCY</a:t>
            </a:r>
          </a:p>
          <a:p>
            <a:pPr algn="l">
              <a:lnSpc>
                <a:spcPct val="103000"/>
              </a:lnSpc>
            </a:pPr>
            <a:r>
              <a:rPr sz="1000" b="0" i="0" dirty="0">
                <a:solidFill>
                  <a:srgbClr val="0F172A"/>
                </a:solidFill>
                <a:latin typeface="Arial"/>
              </a:rPr>
              <a:t>Vision localizes the finding on the CXR; saliency shows where (</a:t>
            </a:r>
            <a:r>
              <a:rPr sz="1000" b="0" i="0">
                <a:solidFill>
                  <a:srgbClr val="0F172A"/>
                </a:solidFill>
                <a:latin typeface="Arial"/>
              </a:rPr>
              <a:t>0.99).</a:t>
            </a:r>
            <a:endParaRPr sz="1000" b="0" i="0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2073" name="TextBox 2072"/>
          <p:cNvSpPr txBox="1"/>
          <p:nvPr/>
        </p:nvSpPr>
        <p:spPr>
          <a:xfrm>
            <a:off x="6144768" y="3209544"/>
            <a:ext cx="2542032" cy="480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dirty="0">
                <a:solidFill>
                  <a:srgbClr val="5EEAD4"/>
                </a:solidFill>
                <a:latin typeface="Arial"/>
              </a:rPr>
              <a:t>3  </a:t>
            </a:r>
            <a:r>
              <a:rPr sz="1100" b="1" i="0" spc="40" dirty="0">
                <a:solidFill>
                  <a:srgbClr val="0E7490"/>
                </a:solidFill>
                <a:latin typeface="Arial"/>
              </a:rPr>
              <a:t>CALIBRATED DIFFERENTIAL</a:t>
            </a:r>
          </a:p>
          <a:p>
            <a:pPr algn="l">
              <a:lnSpc>
                <a:spcPct val="103000"/>
              </a:lnSpc>
            </a:pPr>
            <a:r>
              <a:rPr sz="1000" b="0" i="0" dirty="0">
                <a:solidFill>
                  <a:srgbClr val="0F172A"/>
                </a:solidFill>
                <a:latin typeface="Arial"/>
              </a:rPr>
              <a:t>8-qubit quantum fusion, 512 shots → calibrated probabilities (99.5%).</a:t>
            </a:r>
          </a:p>
        </p:txBody>
      </p:sp>
      <p:sp>
        <p:nvSpPr>
          <p:cNvPr id="2074" name="TextBox 2073"/>
          <p:cNvSpPr txBox="1"/>
          <p:nvPr/>
        </p:nvSpPr>
        <p:spPr>
          <a:xfrm>
            <a:off x="6144768" y="3671315"/>
            <a:ext cx="2542032" cy="473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1" i="0" dirty="0">
                <a:solidFill>
                  <a:srgbClr val="5EEAD4"/>
                </a:solidFill>
                <a:latin typeface="Arial"/>
              </a:rPr>
              <a:t>4  </a:t>
            </a:r>
            <a:r>
              <a:rPr sz="1050" b="1" i="0" spc="40" dirty="0">
                <a:solidFill>
                  <a:srgbClr val="0E7490"/>
                </a:solidFill>
                <a:latin typeface="Arial"/>
              </a:rPr>
              <a:t>EVIDENCE → REASONING</a:t>
            </a:r>
          </a:p>
          <a:p>
            <a:pPr algn="l">
              <a:lnSpc>
                <a:spcPct val="103000"/>
              </a:lnSpc>
            </a:pPr>
            <a:r>
              <a:rPr sz="1000" b="0" i="0" dirty="0">
                <a:solidFill>
                  <a:srgbClr val="0F172A"/>
                </a:solidFill>
                <a:latin typeface="Arial"/>
              </a:rPr>
              <a:t>Each finding's contribution is explicit; hover a node for live counterfactuals</a:t>
            </a:r>
            <a:r>
              <a:rPr sz="730" b="0" i="0" dirty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2075" name="TextBox 2074"/>
          <p:cNvSpPr txBox="1"/>
          <p:nvPr/>
        </p:nvSpPr>
        <p:spPr>
          <a:xfrm>
            <a:off x="6144768" y="4133087"/>
            <a:ext cx="2542032" cy="480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dirty="0">
                <a:solidFill>
                  <a:srgbClr val="5EEAD4"/>
                </a:solidFill>
                <a:latin typeface="Arial"/>
              </a:rPr>
              <a:t>5  </a:t>
            </a:r>
            <a:r>
              <a:rPr sz="1100" b="1" i="0" spc="40" dirty="0">
                <a:solidFill>
                  <a:srgbClr val="0E7490"/>
                </a:solidFill>
                <a:latin typeface="Arial"/>
              </a:rPr>
              <a:t>SAFETY</a:t>
            </a:r>
          </a:p>
          <a:p>
            <a:pPr algn="l">
              <a:lnSpc>
                <a:spcPct val="103000"/>
              </a:lnSpc>
            </a:pPr>
            <a:r>
              <a:rPr sz="1000" b="0" i="0" dirty="0">
                <a:solidFill>
                  <a:srgbClr val="0F172A"/>
                </a:solidFill>
                <a:latin typeface="Arial"/>
              </a:rPr>
              <a:t>Epistemic · aleatoric · OOD within envelope; 90% conformal set — abstains when unsure</a:t>
            </a:r>
            <a:r>
              <a:rPr sz="730" b="0" i="0" dirty="0">
                <a:solidFill>
                  <a:srgbClr val="0F172A"/>
                </a:solidFill>
                <a:latin typeface="Arial"/>
              </a:rPr>
              <a:t>.</a:t>
            </a:r>
          </a:p>
        </p:txBody>
      </p:sp>
      <p:sp>
        <p:nvSpPr>
          <p:cNvPr id="2076" name="TextBox 2075"/>
          <p:cNvSpPr txBox="1"/>
          <p:nvPr/>
        </p:nvSpPr>
        <p:spPr>
          <a:xfrm>
            <a:off x="6209514" y="4626925"/>
            <a:ext cx="2542032" cy="639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dirty="0">
                <a:solidFill>
                  <a:srgbClr val="5EEAD4"/>
                </a:solidFill>
                <a:latin typeface="Arial"/>
              </a:rPr>
              <a:t>6  </a:t>
            </a:r>
            <a:r>
              <a:rPr sz="1100" b="1" i="0" spc="40" dirty="0">
                <a:solidFill>
                  <a:srgbClr val="0E7490"/>
                </a:solidFill>
                <a:latin typeface="Arial"/>
              </a:rPr>
              <a:t>RECOMMEND &amp; SIGN</a:t>
            </a:r>
          </a:p>
          <a:p>
            <a:pPr algn="l">
              <a:lnSpc>
                <a:spcPct val="103000"/>
              </a:lnSpc>
            </a:pPr>
            <a:r>
              <a:rPr sz="1000" b="0" i="0" dirty="0">
                <a:solidFill>
                  <a:srgbClr val="0F172A"/>
                </a:solidFill>
                <a:latin typeface="Arial"/>
              </a:rPr>
              <a:t>EIG ranks the next best test; the doctor accepts · edits · signs — authority stays human</a:t>
            </a:r>
            <a:r>
              <a:rPr sz="730" b="0" i="0" dirty="0">
                <a:solidFill>
                  <a:srgbClr val="0F172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5" name="TextBox 2054"/>
          <p:cNvSpPr txBox="1"/>
          <p:nvPr/>
        </p:nvSpPr>
        <p:spPr>
          <a:xfrm>
            <a:off x="457200" y="1371600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-20">
                <a:solidFill>
                  <a:srgbClr val="0F172A"/>
                </a:solidFill>
                <a:latin typeface="Arial"/>
              </a:rPr>
              <a:t>The doctor's screen</a:t>
            </a:r>
          </a:p>
        </p:txBody>
      </p:sp>
      <p:sp>
        <p:nvSpPr>
          <p:cNvPr id="2056" name="Rounded Rectangle 2055"/>
          <p:cNvSpPr/>
          <p:nvPr/>
        </p:nvSpPr>
        <p:spPr>
          <a:xfrm>
            <a:off x="457200" y="1847088"/>
            <a:ext cx="8229600" cy="3584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8" name="Oval 2057"/>
          <p:cNvSpPr/>
          <p:nvPr/>
        </p:nvSpPr>
        <p:spPr>
          <a:xfrm>
            <a:off x="658368" y="1961388"/>
            <a:ext cx="82296" cy="82296"/>
          </a:xfrm>
          <a:prstGeom prst="ellipse">
            <a:avLst/>
          </a:prstGeom>
          <a:solidFill>
            <a:srgbClr val="C05B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9" name="Oval 2058"/>
          <p:cNvSpPr/>
          <p:nvPr/>
        </p:nvSpPr>
        <p:spPr>
          <a:xfrm>
            <a:off x="813816" y="1961388"/>
            <a:ext cx="82296" cy="82296"/>
          </a:xfrm>
          <a:prstGeom prst="ellipse">
            <a:avLst/>
          </a:prstGeom>
          <a:solidFill>
            <a:srgbClr val="B9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0" name="Oval 2059"/>
          <p:cNvSpPr/>
          <p:nvPr/>
        </p:nvSpPr>
        <p:spPr>
          <a:xfrm>
            <a:off x="969264" y="1961388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1" name="TextBox 2060"/>
          <p:cNvSpPr txBox="1"/>
          <p:nvPr/>
        </p:nvSpPr>
        <p:spPr>
          <a:xfrm>
            <a:off x="1234440" y="188366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localhost:8000  ·  AURA clinical console</a:t>
            </a:r>
          </a:p>
        </p:txBody>
      </p:sp>
      <p:sp>
        <p:nvSpPr>
          <p:cNvPr id="2063" name="Rounded Rectangle 2062"/>
          <p:cNvSpPr/>
          <p:nvPr/>
        </p:nvSpPr>
        <p:spPr>
          <a:xfrm>
            <a:off x="658368" y="2304288"/>
            <a:ext cx="2331720" cy="2926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4" name="Oval 2063"/>
          <p:cNvSpPr/>
          <p:nvPr/>
        </p:nvSpPr>
        <p:spPr>
          <a:xfrm>
            <a:off x="932688" y="2578608"/>
            <a:ext cx="777240" cy="1783080"/>
          </a:xfrm>
          <a:prstGeom prst="ellipse">
            <a:avLst/>
          </a:prstGeom>
          <a:noFill/>
          <a:ln w="15240">
            <a:solidFill>
              <a:srgbClr val="3C4A5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5" name="Oval 2064"/>
          <p:cNvSpPr/>
          <p:nvPr/>
        </p:nvSpPr>
        <p:spPr>
          <a:xfrm>
            <a:off x="1938528" y="2578608"/>
            <a:ext cx="777240" cy="1783080"/>
          </a:xfrm>
          <a:prstGeom prst="ellipse">
            <a:avLst/>
          </a:prstGeom>
          <a:noFill/>
          <a:ln w="15240">
            <a:solidFill>
              <a:srgbClr val="3C4A5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6" name="Oval 2065"/>
          <p:cNvSpPr/>
          <p:nvPr/>
        </p:nvSpPr>
        <p:spPr>
          <a:xfrm>
            <a:off x="1975104" y="3639312"/>
            <a:ext cx="566928" cy="502920"/>
          </a:xfrm>
          <a:prstGeom prst="ellipse">
            <a:avLst/>
          </a:prstGeom>
          <a:solidFill>
            <a:srgbClr val="2DD4BF">
              <a:alpha val="3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7" name="Oval 2066"/>
          <p:cNvSpPr/>
          <p:nvPr/>
        </p:nvSpPr>
        <p:spPr>
          <a:xfrm>
            <a:off x="2103120" y="3767328"/>
            <a:ext cx="310896" cy="256032"/>
          </a:xfrm>
          <a:prstGeom prst="ellipse">
            <a:avLst/>
          </a:prstGeom>
          <a:solidFill>
            <a:srgbClr val="5EEAD4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8" name="Oval 2067"/>
          <p:cNvSpPr/>
          <p:nvPr/>
        </p:nvSpPr>
        <p:spPr>
          <a:xfrm>
            <a:off x="1883664" y="3547872"/>
            <a:ext cx="749808" cy="685800"/>
          </a:xfrm>
          <a:prstGeom prst="ellipse">
            <a:avLst/>
          </a:prstGeom>
          <a:noFill/>
          <a:ln w="15240">
            <a:solidFill>
              <a:srgbClr val="C05B52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9" name="Rounded Rectangle 2068"/>
          <p:cNvSpPr/>
          <p:nvPr/>
        </p:nvSpPr>
        <p:spPr>
          <a:xfrm>
            <a:off x="804672" y="48646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D1922"/>
          </a:solidFill>
          <a:ln w="9525">
            <a:solidFill>
              <a:srgbClr val="2DD4B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0" name="TextBox 2069"/>
          <p:cNvSpPr txBox="1"/>
          <p:nvPr/>
        </p:nvSpPr>
        <p:spPr>
          <a:xfrm>
            <a:off x="804672" y="4864608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EEAD4"/>
                </a:solidFill>
                <a:latin typeface="Arial"/>
              </a:rPr>
              <a:t>saliency</a:t>
            </a:r>
          </a:p>
        </p:txBody>
      </p:sp>
      <p:sp>
        <p:nvSpPr>
          <p:cNvPr id="2071" name="Rounded Rectangle 2070"/>
          <p:cNvSpPr/>
          <p:nvPr/>
        </p:nvSpPr>
        <p:spPr>
          <a:xfrm>
            <a:off x="1847088" y="48646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D1922"/>
          </a:solidFill>
          <a:ln w="9525">
            <a:solidFill>
              <a:srgbClr val="C05B5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2" name="TextBox 2071"/>
          <p:cNvSpPr txBox="1"/>
          <p:nvPr/>
        </p:nvSpPr>
        <p:spPr>
          <a:xfrm>
            <a:off x="1847088" y="486460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E8A49C"/>
                </a:solidFill>
                <a:latin typeface="Arial"/>
              </a:rPr>
              <a:t>counterfactual</a:t>
            </a:r>
          </a:p>
        </p:txBody>
      </p:sp>
      <p:sp>
        <p:nvSpPr>
          <p:cNvPr id="2073" name="TextBox 2072"/>
          <p:cNvSpPr txBox="1"/>
          <p:nvPr/>
        </p:nvSpPr>
        <p:spPr>
          <a:xfrm>
            <a:off x="804672" y="237744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7FA8A5"/>
                </a:solidFill>
                <a:latin typeface="Arial"/>
              </a:rPr>
              <a:t>PA CHEST — AI READ</a:t>
            </a:r>
          </a:p>
        </p:txBody>
      </p:sp>
      <p:sp>
        <p:nvSpPr>
          <p:cNvPr id="2074" name="TextBox 2073"/>
          <p:cNvSpPr txBox="1"/>
          <p:nvPr/>
        </p:nvSpPr>
        <p:spPr>
          <a:xfrm>
            <a:off x="3218688" y="234086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0E7490"/>
                </a:solidFill>
                <a:latin typeface="Arial"/>
              </a:rPr>
              <a:t>DIFFERENTIAL — CALIBRATED</a:t>
            </a:r>
          </a:p>
        </p:txBody>
      </p:sp>
      <p:sp>
        <p:nvSpPr>
          <p:cNvPr id="2075" name="TextBox 2074"/>
          <p:cNvSpPr txBox="1"/>
          <p:nvPr/>
        </p:nvSpPr>
        <p:spPr>
          <a:xfrm>
            <a:off x="3218688" y="2596896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Arial"/>
              </a:rPr>
              <a:t>Pleural effusion</a:t>
            </a:r>
          </a:p>
        </p:txBody>
      </p:sp>
      <p:sp>
        <p:nvSpPr>
          <p:cNvPr id="2076" name="Rounded Rectangle 2075"/>
          <p:cNvSpPr/>
          <p:nvPr/>
        </p:nvSpPr>
        <p:spPr>
          <a:xfrm>
            <a:off x="3218688" y="2784348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7" name="Rounded Rectangle 2076"/>
          <p:cNvSpPr/>
          <p:nvPr/>
        </p:nvSpPr>
        <p:spPr>
          <a:xfrm>
            <a:off x="3218688" y="2784348"/>
            <a:ext cx="2033015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8" name="TextBox 2077"/>
          <p:cNvSpPr txBox="1"/>
          <p:nvPr/>
        </p:nvSpPr>
        <p:spPr>
          <a:xfrm>
            <a:off x="5394960" y="265176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0.58</a:t>
            </a:r>
          </a:p>
        </p:txBody>
      </p:sp>
      <p:sp>
        <p:nvSpPr>
          <p:cNvPr id="2079" name="TextBox 2078"/>
          <p:cNvSpPr txBox="1"/>
          <p:nvPr/>
        </p:nvSpPr>
        <p:spPr>
          <a:xfrm>
            <a:off x="3218688" y="2980944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Arial"/>
              </a:rPr>
              <a:t>Atelectasis</a:t>
            </a:r>
          </a:p>
        </p:txBody>
      </p:sp>
      <p:sp>
        <p:nvSpPr>
          <p:cNvPr id="2080" name="Rounded Rectangle 2079"/>
          <p:cNvSpPr/>
          <p:nvPr/>
        </p:nvSpPr>
        <p:spPr>
          <a:xfrm>
            <a:off x="3218688" y="3168396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1" name="Rounded Rectangle 2080"/>
          <p:cNvSpPr/>
          <p:nvPr/>
        </p:nvSpPr>
        <p:spPr>
          <a:xfrm>
            <a:off x="3218688" y="3168396"/>
            <a:ext cx="736092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2" name="TextBox 2081"/>
          <p:cNvSpPr txBox="1"/>
          <p:nvPr/>
        </p:nvSpPr>
        <p:spPr>
          <a:xfrm>
            <a:off x="5394960" y="30358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0.21</a:t>
            </a:r>
          </a:p>
        </p:txBody>
      </p:sp>
      <p:sp>
        <p:nvSpPr>
          <p:cNvPr id="2083" name="TextBox 2082"/>
          <p:cNvSpPr txBox="1"/>
          <p:nvPr/>
        </p:nvSpPr>
        <p:spPr>
          <a:xfrm>
            <a:off x="3218688" y="3364991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Arial"/>
              </a:rPr>
              <a:t>Pneumothorax</a:t>
            </a:r>
          </a:p>
        </p:txBody>
      </p:sp>
      <p:sp>
        <p:nvSpPr>
          <p:cNvPr id="2084" name="Rounded Rectangle 2083"/>
          <p:cNvSpPr/>
          <p:nvPr/>
        </p:nvSpPr>
        <p:spPr>
          <a:xfrm>
            <a:off x="3218688" y="3552444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5" name="Rounded Rectangle 2084"/>
          <p:cNvSpPr/>
          <p:nvPr/>
        </p:nvSpPr>
        <p:spPr>
          <a:xfrm>
            <a:off x="3218688" y="3552444"/>
            <a:ext cx="280416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6" name="TextBox 2085"/>
          <p:cNvSpPr txBox="1"/>
          <p:nvPr/>
        </p:nvSpPr>
        <p:spPr>
          <a:xfrm>
            <a:off x="5394960" y="341985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0.08</a:t>
            </a:r>
          </a:p>
        </p:txBody>
      </p:sp>
      <p:sp>
        <p:nvSpPr>
          <p:cNvPr id="2087" name="TextBox 2086"/>
          <p:cNvSpPr txBox="1"/>
          <p:nvPr/>
        </p:nvSpPr>
        <p:spPr>
          <a:xfrm>
            <a:off x="3218688" y="3749039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Arial"/>
              </a:rPr>
              <a:t>Nodule</a:t>
            </a:r>
          </a:p>
        </p:txBody>
      </p:sp>
      <p:sp>
        <p:nvSpPr>
          <p:cNvPr id="2088" name="Rounded Rectangle 2087"/>
          <p:cNvSpPr/>
          <p:nvPr/>
        </p:nvSpPr>
        <p:spPr>
          <a:xfrm>
            <a:off x="3218688" y="3936491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9" name="Rounded Rectangle 2088"/>
          <p:cNvSpPr/>
          <p:nvPr/>
        </p:nvSpPr>
        <p:spPr>
          <a:xfrm>
            <a:off x="3218688" y="3936491"/>
            <a:ext cx="210311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0" name="TextBox 2089"/>
          <p:cNvSpPr txBox="1"/>
          <p:nvPr/>
        </p:nvSpPr>
        <p:spPr>
          <a:xfrm>
            <a:off x="5394960" y="3803903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0.06</a:t>
            </a:r>
          </a:p>
        </p:txBody>
      </p:sp>
      <p:sp>
        <p:nvSpPr>
          <p:cNvPr id="2091" name="Rounded Rectangle 2090"/>
          <p:cNvSpPr/>
          <p:nvPr/>
        </p:nvSpPr>
        <p:spPr>
          <a:xfrm>
            <a:off x="3218688" y="4169663"/>
            <a:ext cx="2542032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2" name="TextBox 2091"/>
          <p:cNvSpPr txBox="1"/>
          <p:nvPr/>
        </p:nvSpPr>
        <p:spPr>
          <a:xfrm>
            <a:off x="3218688" y="4169663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 i="0">
                <a:solidFill>
                  <a:srgbClr val="0F172A"/>
                </a:solidFill>
                <a:latin typeface="Arial"/>
              </a:rPr>
              <a:t>90% conformal set:  { effusion, atelectasis }</a:t>
            </a:r>
          </a:p>
        </p:txBody>
      </p:sp>
      <p:sp>
        <p:nvSpPr>
          <p:cNvPr id="2093" name="TextBox 2092"/>
          <p:cNvSpPr txBox="1"/>
          <p:nvPr/>
        </p:nvSpPr>
        <p:spPr>
          <a:xfrm>
            <a:off x="3218688" y="455371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spc="140">
                <a:solidFill>
                  <a:srgbClr val="0E7490"/>
                </a:solidFill>
                <a:latin typeface="Arial"/>
              </a:rPr>
              <a:t>UNCERTAINTY SPLIT</a:t>
            </a:r>
          </a:p>
        </p:txBody>
      </p:sp>
      <p:sp>
        <p:nvSpPr>
          <p:cNvPr id="2094" name="Rounded Rectangle 2093"/>
          <p:cNvSpPr/>
          <p:nvPr/>
        </p:nvSpPr>
        <p:spPr>
          <a:xfrm>
            <a:off x="3218688" y="4754880"/>
            <a:ext cx="1572768" cy="1188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5" name="Rounded Rectangle 2094"/>
          <p:cNvSpPr/>
          <p:nvPr/>
        </p:nvSpPr>
        <p:spPr>
          <a:xfrm>
            <a:off x="4791456" y="4754880"/>
            <a:ext cx="566928" cy="118872"/>
          </a:xfrm>
          <a:prstGeom prst="roundRect">
            <a:avLst>
              <a:gd name="adj" fmla="val 50000"/>
            </a:avLst>
          </a:prstGeom>
          <a:solidFill>
            <a:srgbClr val="B9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6" name="TextBox 2095"/>
          <p:cNvSpPr txBox="1"/>
          <p:nvPr/>
        </p:nvSpPr>
        <p:spPr>
          <a:xfrm>
            <a:off x="3218688" y="490118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0E7490"/>
                </a:solidFill>
                <a:latin typeface="Arial"/>
              </a:rPr>
              <a:t>epistemic 0.09  </a:t>
            </a:r>
            <a:r>
              <a:rPr sz="750" b="1" i="0">
                <a:solidFill>
                  <a:srgbClr val="B98A2F"/>
                </a:solidFill>
                <a:latin typeface="Arial"/>
              </a:rPr>
              <a:t>aleatoric 0.04  </a:t>
            </a:r>
            <a:r>
              <a:rPr sz="750" b="0" i="0">
                <a:solidFill>
                  <a:srgbClr val="5B6672"/>
                </a:solidFill>
                <a:latin typeface="Arial"/>
              </a:rPr>
              <a:t>· in-distribution ✓</a:t>
            </a:r>
          </a:p>
        </p:txBody>
      </p:sp>
      <p:sp>
        <p:nvSpPr>
          <p:cNvPr id="2097" name="TextBox 2096"/>
          <p:cNvSpPr txBox="1"/>
          <p:nvPr/>
        </p:nvSpPr>
        <p:spPr>
          <a:xfrm>
            <a:off x="6053328" y="234086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0E7490"/>
                </a:solidFill>
                <a:latin typeface="Arial"/>
              </a:rPr>
              <a:t>NEXT BEST EVIDENCE (EIG)</a:t>
            </a:r>
          </a:p>
        </p:txBody>
      </p:sp>
      <p:sp>
        <p:nvSpPr>
          <p:cNvPr id="2098" name="TextBox 2097"/>
          <p:cNvSpPr txBox="1"/>
          <p:nvPr/>
        </p:nvSpPr>
        <p:spPr>
          <a:xfrm>
            <a:off x="6053328" y="2596896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Repeat PA X-ray</a:t>
            </a:r>
          </a:p>
        </p:txBody>
      </p:sp>
      <p:sp>
        <p:nvSpPr>
          <p:cNvPr id="2099" name="Rounded Rectangle 2098"/>
          <p:cNvSpPr/>
          <p:nvPr/>
        </p:nvSpPr>
        <p:spPr>
          <a:xfrm>
            <a:off x="6053328" y="2784348"/>
            <a:ext cx="1463039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0" name="TextBox 2099"/>
          <p:cNvSpPr txBox="1"/>
          <p:nvPr/>
        </p:nvSpPr>
        <p:spPr>
          <a:xfrm>
            <a:off x="8028432" y="265176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0.64</a:t>
            </a:r>
          </a:p>
        </p:txBody>
      </p:sp>
      <p:sp>
        <p:nvSpPr>
          <p:cNvPr id="2101" name="TextBox 2100"/>
          <p:cNvSpPr txBox="1"/>
          <p:nvPr/>
        </p:nvSpPr>
        <p:spPr>
          <a:xfrm>
            <a:off x="6053328" y="2980944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CT thorax</a:t>
            </a:r>
          </a:p>
        </p:txBody>
      </p:sp>
      <p:sp>
        <p:nvSpPr>
          <p:cNvPr id="2102" name="Rounded Rectangle 2101"/>
          <p:cNvSpPr/>
          <p:nvPr/>
        </p:nvSpPr>
        <p:spPr>
          <a:xfrm>
            <a:off x="6053328" y="3168396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9FD8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3" name="TextBox 2102"/>
          <p:cNvSpPr txBox="1"/>
          <p:nvPr/>
        </p:nvSpPr>
        <p:spPr>
          <a:xfrm>
            <a:off x="8028432" y="30358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0.82</a:t>
            </a:r>
          </a:p>
        </p:txBody>
      </p:sp>
      <p:sp>
        <p:nvSpPr>
          <p:cNvPr id="2104" name="TextBox 2103"/>
          <p:cNvSpPr txBox="1"/>
          <p:nvPr/>
        </p:nvSpPr>
        <p:spPr>
          <a:xfrm>
            <a:off x="6053328" y="3364991"/>
            <a:ext cx="13258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Arial"/>
              </a:rPr>
              <a:t>Ultrasound</a:t>
            </a:r>
          </a:p>
        </p:txBody>
      </p:sp>
      <p:sp>
        <p:nvSpPr>
          <p:cNvPr id="2105" name="Rounded Rectangle 2104"/>
          <p:cNvSpPr/>
          <p:nvPr/>
        </p:nvSpPr>
        <p:spPr>
          <a:xfrm>
            <a:off x="6053328" y="3552444"/>
            <a:ext cx="1165860" cy="91440"/>
          </a:xfrm>
          <a:prstGeom prst="roundRect">
            <a:avLst>
              <a:gd name="adj" fmla="val 50000"/>
            </a:avLst>
          </a:prstGeom>
          <a:solidFill>
            <a:srgbClr val="9FD8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6" name="TextBox 2105"/>
          <p:cNvSpPr txBox="1"/>
          <p:nvPr/>
        </p:nvSpPr>
        <p:spPr>
          <a:xfrm>
            <a:off x="8028432" y="341985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</a:rPr>
              <a:t>0.51</a:t>
            </a:r>
          </a:p>
        </p:txBody>
      </p:sp>
      <p:sp>
        <p:nvSpPr>
          <p:cNvPr id="2107" name="Rounded Rectangle 2106"/>
          <p:cNvSpPr/>
          <p:nvPr/>
        </p:nvSpPr>
        <p:spPr>
          <a:xfrm>
            <a:off x="6053328" y="3785615"/>
            <a:ext cx="2487168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8" name="TextBox 2107"/>
          <p:cNvSpPr txBox="1"/>
          <p:nvPr/>
        </p:nvSpPr>
        <p:spPr>
          <a:xfrm>
            <a:off x="6053328" y="3785615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60" b="1" i="0">
                <a:solidFill>
                  <a:srgbClr val="0E7490"/>
                </a:solidFill>
                <a:latin typeface="Arial"/>
              </a:rPr>
              <a:t>recommended: repeat X-ray (cost-aware)</a:t>
            </a:r>
          </a:p>
        </p:txBody>
      </p:sp>
      <p:sp>
        <p:nvSpPr>
          <p:cNvPr id="2109" name="TextBox 2108"/>
          <p:cNvSpPr txBox="1"/>
          <p:nvPr/>
        </p:nvSpPr>
        <p:spPr>
          <a:xfrm>
            <a:off x="6053328" y="4206240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0E7490"/>
                </a:solidFill>
                <a:latin typeface="Arial"/>
              </a:rPr>
              <a:t>GROUNDED REPORT</a:t>
            </a:r>
          </a:p>
        </p:txBody>
      </p:sp>
      <p:sp>
        <p:nvSpPr>
          <p:cNvPr id="2110" name="Rounded Rectangle 2109"/>
          <p:cNvSpPr/>
          <p:nvPr/>
        </p:nvSpPr>
        <p:spPr>
          <a:xfrm>
            <a:off x="6053328" y="4407408"/>
            <a:ext cx="2487168" cy="713232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9525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1" name="TextBox 2110"/>
          <p:cNvSpPr txBox="1"/>
          <p:nvPr/>
        </p:nvSpPr>
        <p:spPr>
          <a:xfrm>
            <a:off x="6163056" y="448056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i="1">
                <a:solidFill>
                  <a:srgbClr val="0F172A"/>
                </a:solidFill>
                <a:latin typeface="Arial"/>
              </a:rPr>
              <a:t>“Moderate right effusion; post-op context raises prior.” </a:t>
            </a:r>
          </a:p>
          <a:p>
            <a:pPr algn="l">
              <a:lnSpc>
                <a:spcPct val="115000"/>
              </a:lnSpc>
            </a:pPr>
            <a:r>
              <a:rPr sz="700" b="1" i="0">
                <a:solidFill>
                  <a:srgbClr val="0E7490"/>
                </a:solidFill>
                <a:latin typeface="Arial"/>
              </a:rPr>
              <a:t>[E1 saliency] [E2 prior] [sim 0.93]</a:t>
            </a:r>
          </a:p>
        </p:txBody>
      </p:sp>
      <p:sp>
        <p:nvSpPr>
          <p:cNvPr id="2112" name="Rounded Rectangle 2111"/>
          <p:cNvSpPr/>
          <p:nvPr/>
        </p:nvSpPr>
        <p:spPr>
          <a:xfrm>
            <a:off x="6053328" y="517550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5B5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3" name="TextBox 2112"/>
          <p:cNvSpPr txBox="1"/>
          <p:nvPr/>
        </p:nvSpPr>
        <p:spPr>
          <a:xfrm>
            <a:off x="6053328" y="5175504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C05B52"/>
                </a:solidFill>
                <a:latin typeface="Arial"/>
              </a:rPr>
              <a:t>abstains when unsure</a:t>
            </a:r>
          </a:p>
        </p:txBody>
      </p:sp>
      <p:sp>
        <p:nvSpPr>
          <p:cNvPr id="2114" name="TextBox 2113"/>
          <p:cNvSpPr txBox="1"/>
          <p:nvPr/>
        </p:nvSpPr>
        <p:spPr>
          <a:xfrm>
            <a:off x="457200" y="554126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E7490"/>
                </a:solidFill>
                <a:latin typeface="Arial"/>
              </a:rPr>
              <a:t>Every number on this screen is produced by the live system — ask for the 2-minute demo.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4" name="TextBox 2053"/>
          <p:cNvSpPr txBox="1"/>
          <p:nvPr/>
        </p:nvSpPr>
        <p:spPr>
          <a:xfrm>
            <a:off x="457200" y="113385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80">
                <a:solidFill>
                  <a:srgbClr val="5B6672"/>
                </a:solidFill>
                <a:latin typeface="Arial"/>
              </a:rPr>
              <a:t>04</a:t>
            </a:r>
            <a:r>
              <a:rPr sz="1050" b="1" i="0" spc="280">
                <a:solidFill>
                  <a:srgbClr val="5B6672"/>
                </a:solidFill>
                <a:latin typeface="Arial"/>
              </a:rPr>
              <a:t>  ·  </a:t>
            </a:r>
            <a:r>
              <a:rPr sz="1050" b="1" i="0" spc="280">
                <a:solidFill>
                  <a:srgbClr val="0E7490"/>
                </a:solidFill>
                <a:latin typeface="Arial"/>
              </a:rPr>
              <a:t>ARCHITECTURE &amp; STACK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457200" y="1371600"/>
            <a:ext cx="84124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 spc="-20">
                <a:solidFill>
                  <a:srgbClr val="0F172A"/>
                </a:solidFill>
                <a:latin typeface="Arial"/>
              </a:rPr>
              <a:t>Modular 3-tier — quantum as a swappable service</a:t>
            </a:r>
          </a:p>
        </p:txBody>
      </p:sp>
      <p:sp>
        <p:nvSpPr>
          <p:cNvPr id="2056" name="Rounded Rectangle 2055"/>
          <p:cNvSpPr/>
          <p:nvPr/>
        </p:nvSpPr>
        <p:spPr>
          <a:xfrm>
            <a:off x="365760" y="1883664"/>
            <a:ext cx="8412480" cy="3493008"/>
          </a:xfrm>
          <a:prstGeom prst="roundRect">
            <a:avLst>
              <a:gd name="adj" fmla="val 4000"/>
            </a:avLst>
          </a:prstGeom>
          <a:solidFill>
            <a:srgbClr val="05080D"/>
          </a:solidFill>
          <a:ln w="13970">
            <a:solidFill>
              <a:srgbClr val="2DD4BF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7" name="Rounded Rectangle 2056"/>
          <p:cNvSpPr/>
          <p:nvPr/>
        </p:nvSpPr>
        <p:spPr>
          <a:xfrm>
            <a:off x="365760" y="1883664"/>
            <a:ext cx="8412480" cy="3493008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2DD4B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8" name="Rectangle 2057"/>
          <p:cNvSpPr/>
          <p:nvPr/>
        </p:nvSpPr>
        <p:spPr>
          <a:xfrm>
            <a:off x="457200" y="1975104"/>
            <a:ext cx="310896" cy="25603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9" name="Rectangle 2058"/>
          <p:cNvSpPr/>
          <p:nvPr/>
        </p:nvSpPr>
        <p:spPr>
          <a:xfrm>
            <a:off x="457200" y="1975104"/>
            <a:ext cx="25603" cy="310896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0" name="Rectangle 2059"/>
          <p:cNvSpPr/>
          <p:nvPr/>
        </p:nvSpPr>
        <p:spPr>
          <a:xfrm>
            <a:off x="8375904" y="1975104"/>
            <a:ext cx="310896" cy="25603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1" name="Rectangle 2060"/>
          <p:cNvSpPr/>
          <p:nvPr/>
        </p:nvSpPr>
        <p:spPr>
          <a:xfrm>
            <a:off x="8661196" y="1975104"/>
            <a:ext cx="25603" cy="310896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2" name="Rectangle 2061"/>
          <p:cNvSpPr/>
          <p:nvPr/>
        </p:nvSpPr>
        <p:spPr>
          <a:xfrm>
            <a:off x="457200" y="5257800"/>
            <a:ext cx="310896" cy="25603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3" name="Rectangle 2062"/>
          <p:cNvSpPr/>
          <p:nvPr/>
        </p:nvSpPr>
        <p:spPr>
          <a:xfrm>
            <a:off x="457200" y="4974336"/>
            <a:ext cx="25603" cy="310896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4" name="Rectangle 2063"/>
          <p:cNvSpPr/>
          <p:nvPr/>
        </p:nvSpPr>
        <p:spPr>
          <a:xfrm>
            <a:off x="8375904" y="5257800"/>
            <a:ext cx="310896" cy="25603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5" name="Rectangle 2064"/>
          <p:cNvSpPr/>
          <p:nvPr/>
        </p:nvSpPr>
        <p:spPr>
          <a:xfrm>
            <a:off x="8661196" y="4974336"/>
            <a:ext cx="25603" cy="310896"/>
          </a:xfrm>
          <a:prstGeom prst="rect">
            <a:avLst/>
          </a:prstGeom>
          <a:solidFill>
            <a:srgbClr val="5EEAD4">
              <a:alpha val="7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66" name="Connector 2065"/>
          <p:cNvCxnSpPr/>
          <p:nvPr/>
        </p:nvCxnSpPr>
        <p:spPr>
          <a:xfrm>
            <a:off x="6309360" y="3291840"/>
            <a:ext cx="1828800" cy="0"/>
          </a:xfrm>
          <a:prstGeom prst="line">
            <a:avLst/>
          </a:prstGeom>
          <a:ln w="10160">
            <a:solidFill>
              <a:srgbClr val="2DD4BF">
                <a:alpha val="16000"/>
              </a:srgbClr>
            </a:solidFill>
          </a:ln>
          <a:effectLst/>
        </p:spPr>
      </p:cxnSp>
      <p:sp>
        <p:nvSpPr>
          <p:cNvPr id="2067" name="Oval 2066"/>
          <p:cNvSpPr/>
          <p:nvPr/>
        </p:nvSpPr>
        <p:spPr>
          <a:xfrm>
            <a:off x="8110728" y="3264408"/>
            <a:ext cx="54864" cy="54864"/>
          </a:xfrm>
          <a:prstGeom prst="ellipse">
            <a:avLst/>
          </a:prstGeom>
          <a:solidFill>
            <a:srgbClr val="2DD4BF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68" name="Connector 2067"/>
          <p:cNvCxnSpPr/>
          <p:nvPr/>
        </p:nvCxnSpPr>
        <p:spPr>
          <a:xfrm>
            <a:off x="6309360" y="3456432"/>
            <a:ext cx="1828800" cy="0"/>
          </a:xfrm>
          <a:prstGeom prst="line">
            <a:avLst/>
          </a:prstGeom>
          <a:ln w="10160">
            <a:solidFill>
              <a:srgbClr val="2DD4BF">
                <a:alpha val="16000"/>
              </a:srgbClr>
            </a:solidFill>
          </a:ln>
          <a:effectLst/>
        </p:spPr>
      </p:cxnSp>
      <p:sp>
        <p:nvSpPr>
          <p:cNvPr id="2069" name="Oval 2068"/>
          <p:cNvSpPr/>
          <p:nvPr/>
        </p:nvSpPr>
        <p:spPr>
          <a:xfrm>
            <a:off x="8110728" y="3429000"/>
            <a:ext cx="54864" cy="54864"/>
          </a:xfrm>
          <a:prstGeom prst="ellipse">
            <a:avLst/>
          </a:prstGeom>
          <a:solidFill>
            <a:srgbClr val="2DD4BF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70" name="Connector 2069"/>
          <p:cNvCxnSpPr/>
          <p:nvPr/>
        </p:nvCxnSpPr>
        <p:spPr>
          <a:xfrm>
            <a:off x="6766560" y="3291840"/>
            <a:ext cx="0" cy="164592"/>
          </a:xfrm>
          <a:prstGeom prst="line">
            <a:avLst/>
          </a:prstGeom>
          <a:ln w="10160">
            <a:solidFill>
              <a:srgbClr val="2DD4BF">
                <a:alpha val="16000"/>
              </a:srgbClr>
            </a:solidFill>
          </a:ln>
          <a:effectLst/>
        </p:spPr>
      </p:cxnSp>
      <p:sp>
        <p:nvSpPr>
          <p:cNvPr id="2071" name="TextBox 2070"/>
          <p:cNvSpPr txBox="1"/>
          <p:nvPr/>
        </p:nvSpPr>
        <p:spPr>
          <a:xfrm>
            <a:off x="658368" y="201168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90">
                <a:solidFill>
                  <a:srgbClr val="5EEAD4"/>
                </a:solidFill>
                <a:latin typeface="Arial"/>
              </a:rPr>
              <a:t>◇ THE HYBRID MACHINE   </a:t>
            </a:r>
            <a:r>
              <a:rPr sz="800" b="0" i="1">
                <a:solidFill>
                  <a:srgbClr val="8FB6B3"/>
                </a:solidFill>
                <a:latin typeface="Arial"/>
              </a:rPr>
              <a:t>— quantum docks into the fusion bay</a:t>
            </a:r>
          </a:p>
        </p:txBody>
      </p:sp>
      <p:sp>
        <p:nvSpPr>
          <p:cNvPr id="2072" name="TextBox 2071"/>
          <p:cNvSpPr txBox="1"/>
          <p:nvPr/>
        </p:nvSpPr>
        <p:spPr>
          <a:xfrm>
            <a:off x="5943600" y="20299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DD4BF"/>
                </a:solidFill>
                <a:latin typeface="Arial"/>
              </a:rPr>
              <a:t>● </a:t>
            </a:r>
            <a:r>
              <a:rPr sz="750" b="0" i="0">
                <a:solidFill>
                  <a:srgbClr val="8FB6B3"/>
                </a:solidFill>
                <a:latin typeface="Arial"/>
              </a:rPr>
              <a:t>classical   </a:t>
            </a:r>
            <a:r>
              <a:rPr sz="900" b="0" i="0">
                <a:solidFill>
                  <a:srgbClr val="D946EF"/>
                </a:solidFill>
                <a:latin typeface="Arial"/>
              </a:rPr>
              <a:t>● </a:t>
            </a:r>
            <a:r>
              <a:rPr sz="750" b="0" i="0">
                <a:solidFill>
                  <a:srgbClr val="8FB6B3"/>
                </a:solidFill>
                <a:latin typeface="Arial"/>
              </a:rPr>
              <a:t>quantum</a:t>
            </a:r>
          </a:p>
        </p:txBody>
      </p:sp>
      <p:cxnSp>
        <p:nvCxnSpPr>
          <p:cNvPr id="2073" name="Connector 2072"/>
          <p:cNvCxnSpPr/>
          <p:nvPr/>
        </p:nvCxnSpPr>
        <p:spPr>
          <a:xfrm>
            <a:off x="548640" y="2578608"/>
            <a:ext cx="0" cy="1965960"/>
          </a:xfrm>
          <a:prstGeom prst="line">
            <a:avLst/>
          </a:prstGeom>
          <a:ln w="17780">
            <a:solidFill>
              <a:srgbClr val="2DD4BF">
                <a:alpha val="50000"/>
              </a:srgbClr>
            </a:solidFill>
          </a:ln>
          <a:effectLst/>
        </p:spPr>
      </p:cxnSp>
      <p:sp>
        <p:nvSpPr>
          <p:cNvPr id="2074" name="Oval 2073"/>
          <p:cNvSpPr/>
          <p:nvPr/>
        </p:nvSpPr>
        <p:spPr>
          <a:xfrm>
            <a:off x="489203" y="2500884"/>
            <a:ext cx="118872" cy="118872"/>
          </a:xfrm>
          <a:prstGeom prst="ellipse">
            <a:avLst/>
          </a:prstGeom>
          <a:solidFill>
            <a:srgbClr val="2DD4B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5" name="Oval 2074"/>
          <p:cNvSpPr/>
          <p:nvPr/>
        </p:nvSpPr>
        <p:spPr>
          <a:xfrm>
            <a:off x="514350" y="2526029"/>
            <a:ext cx="68580" cy="6858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6" name="Oval 2075"/>
          <p:cNvSpPr/>
          <p:nvPr/>
        </p:nvSpPr>
        <p:spPr>
          <a:xfrm>
            <a:off x="489203" y="3506724"/>
            <a:ext cx="118872" cy="118872"/>
          </a:xfrm>
          <a:prstGeom prst="ellipse">
            <a:avLst/>
          </a:prstGeom>
          <a:solidFill>
            <a:srgbClr val="2DD4B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514350" y="3531870"/>
            <a:ext cx="68580" cy="6858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8" name="Oval 2077"/>
          <p:cNvSpPr/>
          <p:nvPr/>
        </p:nvSpPr>
        <p:spPr>
          <a:xfrm>
            <a:off x="489203" y="4485131"/>
            <a:ext cx="118872" cy="118872"/>
          </a:xfrm>
          <a:prstGeom prst="ellipse">
            <a:avLst/>
          </a:prstGeom>
          <a:solidFill>
            <a:srgbClr val="2DD4B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9" name="Oval 2078"/>
          <p:cNvSpPr/>
          <p:nvPr/>
        </p:nvSpPr>
        <p:spPr>
          <a:xfrm>
            <a:off x="514350" y="4510278"/>
            <a:ext cx="68580" cy="6858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0" name="Rounded Rectangle 2079"/>
          <p:cNvSpPr/>
          <p:nvPr/>
        </p:nvSpPr>
        <p:spPr>
          <a:xfrm>
            <a:off x="795528" y="2386584"/>
            <a:ext cx="7680960" cy="475488"/>
          </a:xfrm>
          <a:prstGeom prst="roundRect">
            <a:avLst>
              <a:gd name="adj" fmla="val 8000"/>
            </a:avLst>
          </a:prstGeom>
          <a:solidFill>
            <a:srgbClr val="2DD4BF">
              <a:alpha val="9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1" name="Rounded Rectangle 2080"/>
          <p:cNvSpPr/>
          <p:nvPr/>
        </p:nvSpPr>
        <p:spPr>
          <a:xfrm>
            <a:off x="731520" y="2322576"/>
            <a:ext cx="7680960" cy="475488"/>
          </a:xfrm>
          <a:prstGeom prst="roundRect">
            <a:avLst>
              <a:gd name="adj" fmla="val 8000"/>
            </a:avLst>
          </a:prstGeom>
          <a:solidFill>
            <a:srgbClr val="0C1720"/>
          </a:solidFill>
          <a:ln w="12700">
            <a:solidFill>
              <a:srgbClr val="2DD4BF">
                <a:alpha val="6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2" name="Rounded Rectangle 2081"/>
          <p:cNvSpPr/>
          <p:nvPr/>
        </p:nvSpPr>
        <p:spPr>
          <a:xfrm>
            <a:off x="731520" y="2322576"/>
            <a:ext cx="45720" cy="475488"/>
          </a:xfrm>
          <a:prstGeom prst="roundRect">
            <a:avLst>
              <a:gd name="adj" fmla="val 0"/>
            </a:avLst>
          </a:prstGeom>
          <a:solidFill>
            <a:srgbClr val="2DD4BF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3" name="TextBox 2082"/>
          <p:cNvSpPr txBox="1"/>
          <p:nvPr/>
        </p:nvSpPr>
        <p:spPr>
          <a:xfrm>
            <a:off x="932688" y="232257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 i="0" spc="60">
                <a:solidFill>
                  <a:srgbClr val="2DD4BF"/>
                </a:solidFill>
                <a:latin typeface="Arial"/>
              </a:rPr>
              <a:t>PRESENTATION</a:t>
            </a:r>
          </a:p>
        </p:txBody>
      </p:sp>
      <p:sp>
        <p:nvSpPr>
          <p:cNvPr id="2084" name="TextBox 2083"/>
          <p:cNvSpPr txBox="1"/>
          <p:nvPr/>
        </p:nvSpPr>
        <p:spPr>
          <a:xfrm>
            <a:off x="2697480" y="2322576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doctor dashboard · worklist · case console · report signing</a:t>
            </a:r>
          </a:p>
        </p:txBody>
      </p:sp>
      <p:sp>
        <p:nvSpPr>
          <p:cNvPr id="2085" name="Rounded Rectangle 2084"/>
          <p:cNvSpPr/>
          <p:nvPr/>
        </p:nvSpPr>
        <p:spPr>
          <a:xfrm>
            <a:off x="795528" y="2971800"/>
            <a:ext cx="7680960" cy="1335024"/>
          </a:xfrm>
          <a:prstGeom prst="roundRect">
            <a:avLst>
              <a:gd name="adj" fmla="val 8000"/>
            </a:avLst>
          </a:prstGeom>
          <a:solidFill>
            <a:srgbClr val="2DD4BF">
              <a:alpha val="9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6" name="Rounded Rectangle 2085"/>
          <p:cNvSpPr/>
          <p:nvPr/>
        </p:nvSpPr>
        <p:spPr>
          <a:xfrm>
            <a:off x="731520" y="2907792"/>
            <a:ext cx="7680960" cy="1335024"/>
          </a:xfrm>
          <a:prstGeom prst="roundRect">
            <a:avLst>
              <a:gd name="adj" fmla="val 8000"/>
            </a:avLst>
          </a:prstGeom>
          <a:solidFill>
            <a:srgbClr val="0C1720"/>
          </a:solidFill>
          <a:ln w="12700">
            <a:solidFill>
              <a:srgbClr val="2DD4BF">
                <a:alpha val="6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7" name="Rounded Rectangle 2086"/>
          <p:cNvSpPr/>
          <p:nvPr/>
        </p:nvSpPr>
        <p:spPr>
          <a:xfrm>
            <a:off x="731520" y="2907792"/>
            <a:ext cx="45720" cy="1335024"/>
          </a:xfrm>
          <a:prstGeom prst="roundRect">
            <a:avLst>
              <a:gd name="adj" fmla="val 0"/>
            </a:avLst>
          </a:prstGeom>
          <a:solidFill>
            <a:srgbClr val="2DD4BF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8" name="TextBox 2087"/>
          <p:cNvSpPr txBox="1"/>
          <p:nvPr/>
        </p:nvSpPr>
        <p:spPr>
          <a:xfrm>
            <a:off x="932688" y="29626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1" i="0" spc="60">
                <a:solidFill>
                  <a:srgbClr val="2DD4BF"/>
                </a:solidFill>
                <a:latin typeface="Arial"/>
              </a:rPr>
              <a:t>APPLICATION</a:t>
            </a:r>
          </a:p>
        </p:txBody>
      </p:sp>
      <p:sp>
        <p:nvSpPr>
          <p:cNvPr id="2089" name="TextBox 2088"/>
          <p:cNvSpPr txBox="1"/>
          <p:nvPr/>
        </p:nvSpPr>
        <p:spPr>
          <a:xfrm>
            <a:off x="2377440" y="296265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8FB6B3"/>
                </a:solidFill>
                <a:latin typeface="Arial"/>
              </a:rPr>
              <a:t>FastAPI gateway · async event bus · typed Pydantic contracts</a:t>
            </a:r>
          </a:p>
        </p:txBody>
      </p:sp>
      <p:sp>
        <p:nvSpPr>
          <p:cNvPr id="2090" name="Rounded Rectangle 2089"/>
          <p:cNvSpPr/>
          <p:nvPr/>
        </p:nvSpPr>
        <p:spPr>
          <a:xfrm>
            <a:off x="914400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1" name="Rectangle 2090"/>
          <p:cNvSpPr/>
          <p:nvPr/>
        </p:nvSpPr>
        <p:spPr>
          <a:xfrm>
            <a:off x="1005840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2" name="TextBox 2091"/>
          <p:cNvSpPr txBox="1"/>
          <p:nvPr/>
        </p:nvSpPr>
        <p:spPr>
          <a:xfrm>
            <a:off x="914400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vision</a:t>
            </a:r>
          </a:p>
        </p:txBody>
      </p:sp>
      <p:sp>
        <p:nvSpPr>
          <p:cNvPr id="2093" name="Oval 2092"/>
          <p:cNvSpPr/>
          <p:nvPr/>
        </p:nvSpPr>
        <p:spPr>
          <a:xfrm>
            <a:off x="1629917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4" name="Rounded Rectangle 2093"/>
          <p:cNvSpPr/>
          <p:nvPr/>
        </p:nvSpPr>
        <p:spPr>
          <a:xfrm>
            <a:off x="2761488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5" name="Rectangle 2094"/>
          <p:cNvSpPr/>
          <p:nvPr/>
        </p:nvSpPr>
        <p:spPr>
          <a:xfrm>
            <a:off x="2852928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6" name="TextBox 2095"/>
          <p:cNvSpPr txBox="1"/>
          <p:nvPr/>
        </p:nvSpPr>
        <p:spPr>
          <a:xfrm>
            <a:off x="2761488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safety</a:t>
            </a:r>
          </a:p>
        </p:txBody>
      </p:sp>
      <p:sp>
        <p:nvSpPr>
          <p:cNvPr id="2097" name="Oval 2096"/>
          <p:cNvSpPr/>
          <p:nvPr/>
        </p:nvSpPr>
        <p:spPr>
          <a:xfrm>
            <a:off x="3477006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8" name="Rounded Rectangle 2097"/>
          <p:cNvSpPr/>
          <p:nvPr/>
        </p:nvSpPr>
        <p:spPr>
          <a:xfrm>
            <a:off x="3685032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9" name="Rectangle 2098"/>
          <p:cNvSpPr/>
          <p:nvPr/>
        </p:nvSpPr>
        <p:spPr>
          <a:xfrm>
            <a:off x="3776472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0" name="TextBox 2099"/>
          <p:cNvSpPr txBox="1"/>
          <p:nvPr/>
        </p:nvSpPr>
        <p:spPr>
          <a:xfrm>
            <a:off x="3685032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explain</a:t>
            </a:r>
          </a:p>
        </p:txBody>
      </p:sp>
      <p:sp>
        <p:nvSpPr>
          <p:cNvPr id="2101" name="Oval 2100"/>
          <p:cNvSpPr/>
          <p:nvPr/>
        </p:nvSpPr>
        <p:spPr>
          <a:xfrm>
            <a:off x="4400550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2" name="Rounded Rectangle 2101"/>
          <p:cNvSpPr/>
          <p:nvPr/>
        </p:nvSpPr>
        <p:spPr>
          <a:xfrm>
            <a:off x="4608576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3" name="Rectangle 2102"/>
          <p:cNvSpPr/>
          <p:nvPr/>
        </p:nvSpPr>
        <p:spPr>
          <a:xfrm>
            <a:off x="4700016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4" name="TextBox 2103"/>
          <p:cNvSpPr txBox="1"/>
          <p:nvPr/>
        </p:nvSpPr>
        <p:spPr>
          <a:xfrm>
            <a:off x="4608576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recommend</a:t>
            </a:r>
          </a:p>
        </p:txBody>
      </p:sp>
      <p:sp>
        <p:nvSpPr>
          <p:cNvPr id="2105" name="Oval 2104"/>
          <p:cNvSpPr/>
          <p:nvPr/>
        </p:nvSpPr>
        <p:spPr>
          <a:xfrm>
            <a:off x="5324094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6" name="Rounded Rectangle 2105"/>
          <p:cNvSpPr/>
          <p:nvPr/>
        </p:nvSpPr>
        <p:spPr>
          <a:xfrm>
            <a:off x="5532120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7" name="Rectangle 2106"/>
          <p:cNvSpPr/>
          <p:nvPr/>
        </p:nvSpPr>
        <p:spPr>
          <a:xfrm>
            <a:off x="5623559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8" name="TextBox 2107"/>
          <p:cNvSpPr txBox="1"/>
          <p:nvPr/>
        </p:nvSpPr>
        <p:spPr>
          <a:xfrm>
            <a:off x="5532120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report</a:t>
            </a:r>
          </a:p>
        </p:txBody>
      </p:sp>
      <p:sp>
        <p:nvSpPr>
          <p:cNvPr id="2109" name="Oval 2108"/>
          <p:cNvSpPr/>
          <p:nvPr/>
        </p:nvSpPr>
        <p:spPr>
          <a:xfrm>
            <a:off x="6247638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0" name="Rounded Rectangle 2109"/>
          <p:cNvSpPr/>
          <p:nvPr/>
        </p:nvSpPr>
        <p:spPr>
          <a:xfrm>
            <a:off x="6455664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C1720"/>
          </a:solidFill>
          <a:ln w="12700">
            <a:solidFill>
              <a:srgbClr val="2DD4BF">
                <a:alpha val="7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1" name="Rectangle 2110"/>
          <p:cNvSpPr/>
          <p:nvPr/>
        </p:nvSpPr>
        <p:spPr>
          <a:xfrm>
            <a:off x="6547104" y="3758183"/>
            <a:ext cx="658368" cy="32004"/>
          </a:xfrm>
          <a:prstGeom prst="rect">
            <a:avLst/>
          </a:prstGeom>
          <a:solidFill>
            <a:srgbClr val="5EEAD4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2" name="TextBox 2111"/>
          <p:cNvSpPr txBox="1"/>
          <p:nvPr/>
        </p:nvSpPr>
        <p:spPr>
          <a:xfrm>
            <a:off x="6455664" y="3739896"/>
            <a:ext cx="84124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>
                <a:solidFill>
                  <a:srgbClr val="5EEAD4"/>
                </a:solidFill>
                <a:latin typeface="Arial"/>
              </a:rPr>
              <a:t>memory</a:t>
            </a:r>
          </a:p>
        </p:txBody>
      </p:sp>
      <p:sp>
        <p:nvSpPr>
          <p:cNvPr id="2113" name="Oval 2112"/>
          <p:cNvSpPr/>
          <p:nvPr/>
        </p:nvSpPr>
        <p:spPr>
          <a:xfrm>
            <a:off x="7171182" y="4025645"/>
            <a:ext cx="50292" cy="50292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4" name="Rounded Rectangle 2113"/>
          <p:cNvSpPr/>
          <p:nvPr/>
        </p:nvSpPr>
        <p:spPr>
          <a:xfrm>
            <a:off x="7379208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05080D"/>
          </a:solidFill>
          <a:ln w="12700">
            <a:solidFill>
              <a:srgbClr val="8FB6B3">
                <a:alpha val="55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5" name="TextBox 2114"/>
          <p:cNvSpPr txBox="1"/>
          <p:nvPr/>
        </p:nvSpPr>
        <p:spPr>
          <a:xfrm>
            <a:off x="7379208" y="3712463"/>
            <a:ext cx="841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8FB6B3"/>
                </a:solidFill>
                <a:latin typeface="Arial"/>
              </a:rPr>
              <a:t>OPEN BAY</a:t>
            </a:r>
          </a:p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5B6672"/>
                </a:solidFill>
                <a:latin typeface="Arial"/>
              </a:rPr>
              <a:t>add svc</a:t>
            </a:r>
          </a:p>
        </p:txBody>
      </p:sp>
      <p:sp>
        <p:nvSpPr>
          <p:cNvPr id="2116" name="Rounded Rectangle 2115"/>
          <p:cNvSpPr/>
          <p:nvPr/>
        </p:nvSpPr>
        <p:spPr>
          <a:xfrm>
            <a:off x="1947672" y="3767328"/>
            <a:ext cx="841248" cy="402336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2DD4BF">
                <a:alpha val="32000"/>
              </a:srgbClr>
            </a:solidFill>
            <a:prstDash val="sys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7" name="TextBox 2116"/>
          <p:cNvSpPr txBox="1"/>
          <p:nvPr/>
        </p:nvSpPr>
        <p:spPr>
          <a:xfrm>
            <a:off x="1947672" y="4023360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 i="1">
                <a:solidFill>
                  <a:srgbClr val="2DD4BF"/>
                </a:solidFill>
                <a:latin typeface="Arial"/>
              </a:rPr>
              <a:t>classical twin</a:t>
            </a:r>
          </a:p>
        </p:txBody>
      </p:sp>
      <p:sp>
        <p:nvSpPr>
          <p:cNvPr id="2118" name="Rounded Rectangle 2117"/>
          <p:cNvSpPr/>
          <p:nvPr/>
        </p:nvSpPr>
        <p:spPr>
          <a:xfrm>
            <a:off x="1837943" y="3712463"/>
            <a:ext cx="841248" cy="438912"/>
          </a:xfrm>
          <a:prstGeom prst="roundRect">
            <a:avLst>
              <a:gd name="adj" fmla="val 14000"/>
            </a:avLst>
          </a:prstGeom>
          <a:solidFill>
            <a:srgbClr val="14232C"/>
          </a:solidFill>
          <a:ln w="17780">
            <a:solidFill>
              <a:srgbClr val="D946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9" name="TextBox 2118"/>
          <p:cNvSpPr txBox="1"/>
          <p:nvPr/>
        </p:nvSpPr>
        <p:spPr>
          <a:xfrm>
            <a:off x="1837943" y="3712463"/>
            <a:ext cx="841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 i="0">
                <a:solidFill>
                  <a:srgbClr val="F4B6FB"/>
                </a:solidFill>
                <a:latin typeface="Arial"/>
              </a:rPr>
              <a:t>fusion</a:t>
            </a:r>
          </a:p>
        </p:txBody>
      </p:sp>
      <p:sp>
        <p:nvSpPr>
          <p:cNvPr id="2120" name="Oval 2119"/>
          <p:cNvSpPr/>
          <p:nvPr/>
        </p:nvSpPr>
        <p:spPr>
          <a:xfrm>
            <a:off x="2553462" y="3787902"/>
            <a:ext cx="50292" cy="50292"/>
          </a:xfrm>
          <a:prstGeom prst="ellipse">
            <a:avLst/>
          </a:prstGeom>
          <a:solidFill>
            <a:srgbClr val="F4B6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1" name="Rounded Rectangle 2120"/>
          <p:cNvSpPr/>
          <p:nvPr/>
        </p:nvSpPr>
        <p:spPr>
          <a:xfrm>
            <a:off x="1563623" y="3017520"/>
            <a:ext cx="1389888" cy="786384"/>
          </a:xfrm>
          <a:prstGeom prst="roundRect">
            <a:avLst>
              <a:gd name="adj" fmla="val 30000"/>
            </a:avLst>
          </a:prstGeom>
          <a:solidFill>
            <a:srgbClr val="D946EF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2" name="Rounded Rectangle 2121"/>
          <p:cNvSpPr/>
          <p:nvPr/>
        </p:nvSpPr>
        <p:spPr>
          <a:xfrm>
            <a:off x="1636775" y="3072384"/>
            <a:ext cx="1243584" cy="658368"/>
          </a:xfrm>
          <a:prstGeom prst="roundRect">
            <a:avLst>
              <a:gd name="adj" fmla="val 30000"/>
            </a:avLst>
          </a:prstGeom>
          <a:solidFill>
            <a:srgbClr val="D946EF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3" name="Rounded Rectangle 2122"/>
          <p:cNvSpPr/>
          <p:nvPr/>
        </p:nvSpPr>
        <p:spPr>
          <a:xfrm>
            <a:off x="1719072" y="3127248"/>
            <a:ext cx="1078992" cy="548640"/>
          </a:xfrm>
          <a:prstGeom prst="roundRect">
            <a:avLst>
              <a:gd name="adj" fmla="val 28000"/>
            </a:avLst>
          </a:prstGeom>
          <a:solidFill>
            <a:srgbClr val="D946EF">
              <a:alpha val="13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4" name="Oval 2123"/>
          <p:cNvSpPr/>
          <p:nvPr/>
        </p:nvSpPr>
        <p:spPr>
          <a:xfrm>
            <a:off x="1563623" y="2999232"/>
            <a:ext cx="1389888" cy="822960"/>
          </a:xfrm>
          <a:prstGeom prst="ellipse">
            <a:avLst/>
          </a:prstGeom>
          <a:noFill/>
          <a:ln w="12700">
            <a:solidFill>
              <a:srgbClr val="F4B6FB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5" name="Rounded Rectangle 2124"/>
          <p:cNvSpPr/>
          <p:nvPr/>
        </p:nvSpPr>
        <p:spPr>
          <a:xfrm>
            <a:off x="1819655" y="3200400"/>
            <a:ext cx="877824" cy="420624"/>
          </a:xfrm>
          <a:prstGeom prst="roundRect">
            <a:avLst>
              <a:gd name="adj" fmla="val 16000"/>
            </a:avLst>
          </a:prstGeom>
          <a:solidFill>
            <a:srgbClr val="3E1642"/>
          </a:solidFill>
          <a:ln w="17780">
            <a:solidFill>
              <a:srgbClr val="F4B6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6" name="TextBox 2125"/>
          <p:cNvSpPr txBox="1"/>
          <p:nvPr/>
        </p:nvSpPr>
        <p:spPr>
          <a:xfrm>
            <a:off x="1819655" y="3209544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 i="0">
                <a:solidFill>
                  <a:srgbClr val="F4B6FB"/>
                </a:solidFill>
                <a:latin typeface="Arial"/>
              </a:rPr>
              <a:t>◆ QPU</a:t>
            </a:r>
          </a:p>
          <a:p>
            <a:pPr algn="ctr">
              <a:lnSpc>
                <a:spcPct val="95000"/>
              </a:lnSpc>
            </a:pPr>
            <a:r>
              <a:rPr sz="600" b="0" i="0">
                <a:solidFill>
                  <a:srgbClr val="EBC4F2"/>
                </a:solidFill>
                <a:latin typeface="Arial"/>
              </a:rPr>
              <a:t>8-qubit VQC</a:t>
            </a:r>
          </a:p>
        </p:txBody>
      </p:sp>
      <p:sp>
        <p:nvSpPr>
          <p:cNvPr id="2127" name="Oval 2126"/>
          <p:cNvSpPr/>
          <p:nvPr/>
        </p:nvSpPr>
        <p:spPr>
          <a:xfrm>
            <a:off x="1961388" y="3515868"/>
            <a:ext cx="45720" cy="45720"/>
          </a:xfrm>
          <a:prstGeom prst="ellipse">
            <a:avLst/>
          </a:prstGeom>
          <a:solidFill>
            <a:srgbClr val="5EF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8" name="TextBox 2127"/>
          <p:cNvSpPr txBox="1"/>
          <p:nvPr/>
        </p:nvSpPr>
        <p:spPr>
          <a:xfrm>
            <a:off x="2039112" y="34655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i="0">
                <a:solidFill>
                  <a:srgbClr val="5EF08A"/>
                </a:solidFill>
                <a:latin typeface="Arial"/>
              </a:rPr>
              <a:t>ONLINE</a:t>
            </a:r>
          </a:p>
        </p:txBody>
      </p:sp>
      <p:cxnSp>
        <p:nvCxnSpPr>
          <p:cNvPr id="2129" name="Connector 2128"/>
          <p:cNvCxnSpPr/>
          <p:nvPr/>
        </p:nvCxnSpPr>
        <p:spPr>
          <a:xfrm>
            <a:off x="2258568" y="3621024"/>
            <a:ext cx="0" cy="91439"/>
          </a:xfrm>
          <a:prstGeom prst="line">
            <a:avLst/>
          </a:prstGeom>
          <a:ln w="22860">
            <a:solidFill>
              <a:srgbClr val="F4B6FB"/>
            </a:solidFill>
            <a:tailEnd type="triangle" w="med" len="med"/>
          </a:ln>
          <a:effectLst/>
        </p:spPr>
      </p:cxnSp>
      <p:sp>
        <p:nvSpPr>
          <p:cNvPr id="2130" name="Rounded Rectangle 2129"/>
          <p:cNvSpPr/>
          <p:nvPr/>
        </p:nvSpPr>
        <p:spPr>
          <a:xfrm>
            <a:off x="2862072" y="320040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D946EF">
              <a:alpha val="7000"/>
            </a:srgbClr>
          </a:solidFill>
          <a:ln w="11430">
            <a:solidFill>
              <a:srgbClr val="F4B6FB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1" name="TextBox 2130"/>
          <p:cNvSpPr txBox="1"/>
          <p:nvPr/>
        </p:nvSpPr>
        <p:spPr>
          <a:xfrm>
            <a:off x="2990087" y="3218688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4B6FB"/>
                </a:solidFill>
                <a:latin typeface="Consolas"/>
              </a:rPr>
              <a:t>k(x,x′) = |⟨φ(x)|φ(x′)⟩|²</a:t>
            </a:r>
          </a:p>
          <a:p>
            <a:pPr algn="l">
              <a:lnSpc>
                <a:spcPct val="110000"/>
              </a:lnSpc>
            </a:pPr>
            <a:r>
              <a:rPr sz="640" b="0" i="1">
                <a:solidFill>
                  <a:srgbClr val="8FB6B3"/>
                </a:solidFill>
                <a:latin typeface="Arial"/>
              </a:rPr>
              <a:t>fidelity kernel · classical twin sits behind the same interface</a:t>
            </a:r>
          </a:p>
        </p:txBody>
      </p:sp>
      <p:sp>
        <p:nvSpPr>
          <p:cNvPr id="2132" name="Rounded Rectangle 2131"/>
          <p:cNvSpPr/>
          <p:nvPr/>
        </p:nvSpPr>
        <p:spPr>
          <a:xfrm>
            <a:off x="795528" y="4379976"/>
            <a:ext cx="7680960" cy="457200"/>
          </a:xfrm>
          <a:prstGeom prst="roundRect">
            <a:avLst>
              <a:gd name="adj" fmla="val 8000"/>
            </a:avLst>
          </a:prstGeom>
          <a:solidFill>
            <a:srgbClr val="2DD4BF">
              <a:alpha val="9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3" name="Rounded Rectangle 2132"/>
          <p:cNvSpPr/>
          <p:nvPr/>
        </p:nvSpPr>
        <p:spPr>
          <a:xfrm>
            <a:off x="731520" y="4315968"/>
            <a:ext cx="7680960" cy="457200"/>
          </a:xfrm>
          <a:prstGeom prst="roundRect">
            <a:avLst>
              <a:gd name="adj" fmla="val 8000"/>
            </a:avLst>
          </a:prstGeom>
          <a:solidFill>
            <a:srgbClr val="0C1720"/>
          </a:solidFill>
          <a:ln w="12700">
            <a:solidFill>
              <a:srgbClr val="2DD4BF">
                <a:alpha val="6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4" name="Rounded Rectangle 2133"/>
          <p:cNvSpPr/>
          <p:nvPr/>
        </p:nvSpPr>
        <p:spPr>
          <a:xfrm>
            <a:off x="731520" y="4315968"/>
            <a:ext cx="45720" cy="457200"/>
          </a:xfrm>
          <a:prstGeom prst="roundRect">
            <a:avLst>
              <a:gd name="adj" fmla="val 0"/>
            </a:avLst>
          </a:prstGeom>
          <a:solidFill>
            <a:srgbClr val="2DD4BF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5" name="TextBox 2134"/>
          <p:cNvSpPr txBox="1"/>
          <p:nvPr/>
        </p:nvSpPr>
        <p:spPr>
          <a:xfrm>
            <a:off x="932688" y="4315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 i="0" spc="60">
                <a:solidFill>
                  <a:srgbClr val="2DD4BF"/>
                </a:solidFill>
                <a:latin typeface="Arial"/>
              </a:rPr>
              <a:t>DATA</a:t>
            </a:r>
          </a:p>
        </p:txBody>
      </p:sp>
      <p:sp>
        <p:nvSpPr>
          <p:cNvPr id="2136" name="TextBox 2135"/>
          <p:cNvSpPr txBox="1"/>
          <p:nvPr/>
        </p:nvSpPr>
        <p:spPr>
          <a:xfrm>
            <a:off x="2240280" y="4315968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 i="0">
                <a:solidFill>
                  <a:srgbClr val="FFFFFF"/>
                </a:solidFill>
                <a:latin typeface="Arial"/>
              </a:rPr>
              <a:t>audit ledger · case memory · model registry · provenance {seed · circuit · shots}</a:t>
            </a:r>
          </a:p>
        </p:txBody>
      </p:sp>
      <p:sp>
        <p:nvSpPr>
          <p:cNvPr id="2137" name="Rounded Rectangle 2136"/>
          <p:cNvSpPr/>
          <p:nvPr/>
        </p:nvSpPr>
        <p:spPr>
          <a:xfrm>
            <a:off x="731520" y="4846320"/>
            <a:ext cx="7680960" cy="310896"/>
          </a:xfrm>
          <a:prstGeom prst="roundRect">
            <a:avLst>
              <a:gd name="adj" fmla="val 10000"/>
            </a:avLst>
          </a:prstGeom>
          <a:solidFill>
            <a:srgbClr val="0A141B"/>
          </a:solidFill>
          <a:ln w="9525">
            <a:solidFill>
              <a:srgbClr val="2DD4BF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8" name="TextBox 2137"/>
          <p:cNvSpPr txBox="1"/>
          <p:nvPr/>
        </p:nvSpPr>
        <p:spPr>
          <a:xfrm>
            <a:off x="914400" y="4846320"/>
            <a:ext cx="7406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 i="0" spc="120">
                <a:solidFill>
                  <a:srgbClr val="2DD4BF"/>
                </a:solidFill>
                <a:latin typeface="Arial"/>
              </a:rPr>
              <a:t>▚ STACK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Python 3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FastAPI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PennyLane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NumPy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scikit-learn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SciPy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SQLite</a:t>
            </a:r>
            <a:r>
              <a:rPr sz="740" b="0" i="0">
                <a:solidFill>
                  <a:srgbClr val="2DD4BF"/>
                </a:solidFill>
                <a:latin typeface="Arial"/>
              </a:rPr>
              <a:t>   ·   </a:t>
            </a:r>
            <a:r>
              <a:rPr sz="740" b="0" i="0">
                <a:solidFill>
                  <a:srgbClr val="FFFFFF"/>
                </a:solidFill>
                <a:latin typeface="Arial"/>
              </a:rPr>
              <a:t>Pydantic</a:t>
            </a:r>
          </a:p>
        </p:txBody>
      </p:sp>
      <p:sp>
        <p:nvSpPr>
          <p:cNvPr id="2139" name="TextBox 2138"/>
          <p:cNvSpPr txBox="1"/>
          <p:nvPr/>
        </p:nvSpPr>
        <p:spPr>
          <a:xfrm>
            <a:off x="457200" y="5449824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5B6672"/>
                </a:solidFill>
                <a:latin typeface="Arial"/>
              </a:rPr>
              <a:t>Offline-capable · CPU-only · no PHI leaves the site · bus → Redis Streams, DB → Postgres in production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4" name="TextBox 2053"/>
          <p:cNvSpPr txBox="1"/>
          <p:nvPr/>
        </p:nvSpPr>
        <p:spPr>
          <a:xfrm>
            <a:off x="457200" y="113385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80">
                <a:solidFill>
                  <a:srgbClr val="5B6672"/>
                </a:solidFill>
                <a:latin typeface="Arial"/>
              </a:rPr>
              <a:t>05  ·  </a:t>
            </a:r>
            <a:r>
              <a:rPr sz="1050" b="1" i="0" spc="280">
                <a:solidFill>
                  <a:srgbClr val="0E7490"/>
                </a:solidFill>
                <a:latin typeface="Arial"/>
              </a:rPr>
              <a:t>QUANTUM STACK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457200" y="1371600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spc="-20">
                <a:solidFill>
                  <a:srgbClr val="0F172A"/>
                </a:solidFill>
                <a:latin typeface="Arial"/>
              </a:rPr>
              <a:t>What's quantum — and why it earns its seat</a:t>
            </a:r>
          </a:p>
        </p:txBody>
      </p:sp>
      <p:sp>
        <p:nvSpPr>
          <p:cNvPr id="2077" name="Rounded Rectangle 2076"/>
          <p:cNvSpPr/>
          <p:nvPr/>
        </p:nvSpPr>
        <p:spPr>
          <a:xfrm>
            <a:off x="4617720" y="1956816"/>
            <a:ext cx="4069080" cy="288950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9" name="TextBox 2078"/>
          <p:cNvSpPr txBox="1"/>
          <p:nvPr/>
        </p:nvSpPr>
        <p:spPr>
          <a:xfrm>
            <a:off x="4864608" y="238658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dirty="0">
                <a:solidFill>
                  <a:srgbClr val="7FA8A5"/>
                </a:solidFill>
                <a:latin typeface="Courier New"/>
              </a:rPr>
              <a:t>fusion benchmark - held-out test (seeded run)</a:t>
            </a:r>
          </a:p>
        </p:txBody>
      </p:sp>
      <p:sp>
        <p:nvSpPr>
          <p:cNvPr id="2080" name="TextBox 2079"/>
          <p:cNvSpPr txBox="1"/>
          <p:nvPr/>
        </p:nvSpPr>
        <p:spPr>
          <a:xfrm>
            <a:off x="4864608" y="263347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FFFF"/>
                </a:solidFill>
                <a:latin typeface="Courier New"/>
              </a:rPr>
              <a:t>            quantum   classical</a:t>
            </a:r>
          </a:p>
        </p:txBody>
      </p:sp>
      <p:sp>
        <p:nvSpPr>
          <p:cNvPr id="2081" name="TextBox 2080"/>
          <p:cNvSpPr txBox="1"/>
          <p:nvPr/>
        </p:nvSpPr>
        <p:spPr>
          <a:xfrm>
            <a:off x="4864608" y="28803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FFFFF"/>
                </a:solidFill>
                <a:latin typeface="Courier New"/>
              </a:rPr>
              <a:t>accuracy      0.87      0.85</a:t>
            </a:r>
          </a:p>
        </p:txBody>
      </p:sp>
      <p:sp>
        <p:nvSpPr>
          <p:cNvPr id="2082" name="TextBox 2081"/>
          <p:cNvSpPr txBox="1"/>
          <p:nvPr/>
        </p:nvSpPr>
        <p:spPr>
          <a:xfrm>
            <a:off x="4864608" y="31272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5EEAD4"/>
                </a:solidFill>
                <a:latin typeface="Courier New"/>
              </a:rPr>
              <a:t>ECE           0.031     0.048</a:t>
            </a:r>
          </a:p>
        </p:txBody>
      </p:sp>
      <p:sp>
        <p:nvSpPr>
          <p:cNvPr id="2083" name="TextBox 2082"/>
          <p:cNvSpPr txBox="1"/>
          <p:nvPr/>
        </p:nvSpPr>
        <p:spPr>
          <a:xfrm>
            <a:off x="4864608" y="337413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FFFFF"/>
                </a:solidFill>
                <a:latin typeface="Courier New"/>
              </a:rPr>
              <a:t>coverage@90%  0.91      0.88</a:t>
            </a:r>
          </a:p>
        </p:txBody>
      </p:sp>
      <p:sp>
        <p:nvSpPr>
          <p:cNvPr id="2084" name="TextBox 2083"/>
          <p:cNvSpPr txBox="1"/>
          <p:nvPr/>
        </p:nvSpPr>
        <p:spPr>
          <a:xfrm>
            <a:off x="4864608" y="362102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2DD4BF"/>
                </a:solidFill>
                <a:latin typeface="Courier New"/>
              </a:rPr>
              <a:t>→ quantum path ships this build ✓</a:t>
            </a:r>
          </a:p>
        </p:txBody>
      </p:sp>
      <p:sp>
        <p:nvSpPr>
          <p:cNvPr id="2085" name="TextBox 2084"/>
          <p:cNvSpPr txBox="1"/>
          <p:nvPr/>
        </p:nvSpPr>
        <p:spPr>
          <a:xfrm>
            <a:off x="4864608" y="386791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089" name="Rounded Rectangle 2088"/>
          <p:cNvSpPr/>
          <p:nvPr/>
        </p:nvSpPr>
        <p:spPr>
          <a:xfrm>
            <a:off x="4617720" y="502920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E749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0" name="TextBox 2089"/>
          <p:cNvSpPr txBox="1"/>
          <p:nvPr/>
        </p:nvSpPr>
        <p:spPr>
          <a:xfrm>
            <a:off x="4617720" y="5029200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7490"/>
                </a:solidFill>
                <a:latin typeface="Arial"/>
              </a:rPr>
              <a:t>LIVE DEMO ON REQUEST</a:t>
            </a:r>
          </a:p>
        </p:txBody>
      </p:sp>
      <p:sp>
        <p:nvSpPr>
          <p:cNvPr id="2091" name="TextBox 2090"/>
          <p:cNvSpPr txBox="1"/>
          <p:nvPr/>
        </p:nvSpPr>
        <p:spPr>
          <a:xfrm>
            <a:off x="6720840" y="5074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B6672"/>
                </a:solidFill>
                <a:latin typeface="Arial"/>
              </a:rPr>
              <a:t>3 commands · 2 minutes · offline</a:t>
            </a:r>
          </a:p>
        </p:txBody>
      </p:sp>
      <p:sp>
        <p:nvSpPr>
          <p:cNvPr id="2093" name="Rounded Rectangle 2092"/>
          <p:cNvSpPr/>
          <p:nvPr/>
        </p:nvSpPr>
        <p:spPr>
          <a:xfrm>
            <a:off x="457200" y="1956816"/>
            <a:ext cx="3977639" cy="1737360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9525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4" name="TextBox 2093"/>
          <p:cNvSpPr txBox="1"/>
          <p:nvPr/>
        </p:nvSpPr>
        <p:spPr>
          <a:xfrm>
            <a:off x="621792" y="20482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0E7490"/>
                </a:solidFill>
                <a:latin typeface="Arial"/>
              </a:rPr>
              <a:t>WHAT'S USED  ·  THE CIRCUIT (SHIPS TODAY)</a:t>
            </a:r>
          </a:p>
        </p:txBody>
      </p:sp>
      <p:sp>
        <p:nvSpPr>
          <p:cNvPr id="2095" name="TextBox 2094"/>
          <p:cNvSpPr txBox="1"/>
          <p:nvPr/>
        </p:nvSpPr>
        <p:spPr>
          <a:xfrm>
            <a:off x="621792" y="2340864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0E7490"/>
                </a:solidFill>
                <a:latin typeface="Arial"/>
              </a:rPr>
              <a:t>ENCODE</a:t>
            </a:r>
          </a:p>
        </p:txBody>
      </p:sp>
      <p:sp>
        <p:nvSpPr>
          <p:cNvPr id="2096" name="TextBox 2095"/>
          <p:cNvSpPr txBox="1"/>
          <p:nvPr/>
        </p:nvSpPr>
        <p:spPr>
          <a:xfrm>
            <a:off x="1481328" y="234086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RY(π·xᵢ)</a:t>
            </a:r>
            <a:r>
              <a:rPr sz="819" b="0" i="0">
                <a:solidFill>
                  <a:srgbClr val="0F172A"/>
                </a:solidFill>
                <a:latin typeface="Arial"/>
              </a:rPr>
              <a:t>  ·  1 qubit per evidence channel (8)</a:t>
            </a:r>
          </a:p>
        </p:txBody>
      </p:sp>
      <p:sp>
        <p:nvSpPr>
          <p:cNvPr id="2097" name="TextBox 2096"/>
          <p:cNvSpPr txBox="1"/>
          <p:nvPr/>
        </p:nvSpPr>
        <p:spPr>
          <a:xfrm>
            <a:off x="621792" y="2724912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0E7490"/>
                </a:solidFill>
                <a:latin typeface="Arial"/>
              </a:rPr>
              <a:t>ENTANGLE</a:t>
            </a:r>
          </a:p>
        </p:txBody>
      </p:sp>
      <p:sp>
        <p:nvSpPr>
          <p:cNvPr id="2098" name="TextBox 2097"/>
          <p:cNvSpPr txBox="1"/>
          <p:nvPr/>
        </p:nvSpPr>
        <p:spPr>
          <a:xfrm>
            <a:off x="1481328" y="272491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3×(RY·RZ + CNOT ring)</a:t>
            </a:r>
            <a:r>
              <a:rPr sz="819" b="0" i="0">
                <a:solidFill>
                  <a:srgbClr val="0F172A"/>
                </a:solidFill>
                <a:latin typeface="Arial"/>
              </a:rPr>
              <a:t>  →  higher-order interactions, 2⁸ space</a:t>
            </a:r>
          </a:p>
        </p:txBody>
      </p:sp>
      <p:sp>
        <p:nvSpPr>
          <p:cNvPr id="2099" name="TextBox 2098"/>
          <p:cNvSpPr txBox="1"/>
          <p:nvPr/>
        </p:nvSpPr>
        <p:spPr>
          <a:xfrm>
            <a:off x="621792" y="3108960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60">
                <a:solidFill>
                  <a:srgbClr val="0E7490"/>
                </a:solidFill>
                <a:latin typeface="Arial"/>
              </a:rPr>
              <a:t>READ</a:t>
            </a:r>
          </a:p>
        </p:txBody>
      </p:sp>
      <p:sp>
        <p:nvSpPr>
          <p:cNvPr id="2100" name="TextBox 2099"/>
          <p:cNvSpPr txBox="1"/>
          <p:nvPr/>
        </p:nvSpPr>
        <p:spPr>
          <a:xfrm>
            <a:off x="1481328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⟨Zᵢ⟩</a:t>
            </a:r>
            <a:r>
              <a:rPr sz="819" b="0" i="0">
                <a:solidFill>
                  <a:srgbClr val="0F172A"/>
                </a:solidFill>
                <a:latin typeface="Arial"/>
              </a:rPr>
              <a:t>  →  linear head  →  6-dx calibrated posterior</a:t>
            </a:r>
          </a:p>
        </p:txBody>
      </p:sp>
      <p:sp>
        <p:nvSpPr>
          <p:cNvPr id="2101" name="Rounded Rectangle 2100"/>
          <p:cNvSpPr/>
          <p:nvPr/>
        </p:nvSpPr>
        <p:spPr>
          <a:xfrm>
            <a:off x="621792" y="33101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2" name="TextBox 2101"/>
          <p:cNvSpPr txBox="1"/>
          <p:nvPr/>
        </p:nvSpPr>
        <p:spPr>
          <a:xfrm>
            <a:off x="621792" y="3310128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 i="0">
                <a:solidFill>
                  <a:srgbClr val="0E7490"/>
                </a:solidFill>
                <a:latin typeface="Arial"/>
              </a:rPr>
              <a:t>8 qubits</a:t>
            </a:r>
          </a:p>
        </p:txBody>
      </p:sp>
      <p:sp>
        <p:nvSpPr>
          <p:cNvPr id="2103" name="Rounded Rectangle 2102"/>
          <p:cNvSpPr/>
          <p:nvPr/>
        </p:nvSpPr>
        <p:spPr>
          <a:xfrm>
            <a:off x="1426464" y="33101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4" name="TextBox 2103"/>
          <p:cNvSpPr txBox="1"/>
          <p:nvPr/>
        </p:nvSpPr>
        <p:spPr>
          <a:xfrm>
            <a:off x="1426464" y="3310128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 i="0">
                <a:solidFill>
                  <a:srgbClr val="0E7490"/>
                </a:solidFill>
                <a:latin typeface="Arial"/>
              </a:rPr>
              <a:t>48 params</a:t>
            </a:r>
          </a:p>
        </p:txBody>
      </p:sp>
      <p:sp>
        <p:nvSpPr>
          <p:cNvPr id="2105" name="Rounded Rectangle 2104"/>
          <p:cNvSpPr/>
          <p:nvPr/>
        </p:nvSpPr>
        <p:spPr>
          <a:xfrm>
            <a:off x="2322576" y="331012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6" name="TextBox 2105"/>
          <p:cNvSpPr txBox="1"/>
          <p:nvPr/>
        </p:nvSpPr>
        <p:spPr>
          <a:xfrm>
            <a:off x="2322576" y="3310128"/>
            <a:ext cx="7863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 i="0">
                <a:solidFill>
                  <a:srgbClr val="0E7490"/>
                </a:solidFill>
                <a:latin typeface="Arial"/>
              </a:rPr>
              <a:t>512 shots</a:t>
            </a:r>
          </a:p>
        </p:txBody>
      </p:sp>
      <p:sp>
        <p:nvSpPr>
          <p:cNvPr id="2107" name="Rounded Rectangle 2106"/>
          <p:cNvSpPr/>
          <p:nvPr/>
        </p:nvSpPr>
        <p:spPr>
          <a:xfrm>
            <a:off x="3163824" y="331012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CF8F7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8" name="TextBox 2107"/>
          <p:cNvSpPr txBox="1"/>
          <p:nvPr/>
        </p:nvSpPr>
        <p:spPr>
          <a:xfrm>
            <a:off x="3163824" y="331012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 i="0">
                <a:solidFill>
                  <a:srgbClr val="0E7490"/>
                </a:solidFill>
                <a:latin typeface="Arial"/>
              </a:rPr>
              <a:t>CPU · default.qubit</a:t>
            </a:r>
          </a:p>
        </p:txBody>
      </p:sp>
      <p:sp>
        <p:nvSpPr>
          <p:cNvPr id="2109" name="Rounded Rectangle 2108"/>
          <p:cNvSpPr/>
          <p:nvPr/>
        </p:nvSpPr>
        <p:spPr>
          <a:xfrm>
            <a:off x="457200" y="3785615"/>
            <a:ext cx="3977639" cy="1627632"/>
          </a:xfrm>
          <a:prstGeom prst="roundRect">
            <a:avLst>
              <a:gd name="adj" fmla="val 10000"/>
            </a:avLst>
          </a:prstGeom>
          <a:solidFill>
            <a:srgbClr val="F6FAFA"/>
          </a:solidFill>
          <a:ln w="9525">
            <a:solidFill>
              <a:srgbClr val="C6E4E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0" name="TextBox 2109"/>
          <p:cNvSpPr txBox="1"/>
          <p:nvPr/>
        </p:nvSpPr>
        <p:spPr>
          <a:xfrm>
            <a:off x="621792" y="38770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0E7490"/>
                </a:solidFill>
                <a:latin typeface="Arial"/>
              </a:rPr>
              <a:t>USED EFFICIENTLY  ·  WHY IT HELPS</a:t>
            </a:r>
          </a:p>
        </p:txBody>
      </p:sp>
      <p:sp>
        <p:nvSpPr>
          <p:cNvPr id="2111" name="Rectangle 2110"/>
          <p:cNvSpPr/>
          <p:nvPr/>
        </p:nvSpPr>
        <p:spPr>
          <a:xfrm>
            <a:off x="621792" y="4187952"/>
            <a:ext cx="4572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2" name="TextBox 2111"/>
          <p:cNvSpPr txBox="1"/>
          <p:nvPr/>
        </p:nvSpPr>
        <p:spPr>
          <a:xfrm>
            <a:off x="786384" y="4151376"/>
            <a:ext cx="3584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1" i="0">
                <a:solidFill>
                  <a:srgbClr val="0E7490"/>
                </a:solidFill>
                <a:latin typeface="Arial"/>
              </a:rPr>
              <a:t>Compact.  </a:t>
            </a:r>
            <a:r>
              <a:rPr sz="819" b="0" i="0">
                <a:solidFill>
                  <a:srgbClr val="0F172A"/>
                </a:solidFill>
                <a:latin typeface="Arial"/>
              </a:rPr>
              <a:t>O(n·layers) params where a classical interaction model needs exponentially many terms.</a:t>
            </a:r>
          </a:p>
        </p:txBody>
      </p:sp>
      <p:sp>
        <p:nvSpPr>
          <p:cNvPr id="2113" name="Rectangle 2112"/>
          <p:cNvSpPr/>
          <p:nvPr/>
        </p:nvSpPr>
        <p:spPr>
          <a:xfrm>
            <a:off x="621792" y="4590288"/>
            <a:ext cx="4572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4" name="TextBox 2113"/>
          <p:cNvSpPr txBox="1"/>
          <p:nvPr/>
        </p:nvSpPr>
        <p:spPr>
          <a:xfrm>
            <a:off x="786384" y="4553712"/>
            <a:ext cx="3584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1" i="0">
                <a:solidFill>
                  <a:srgbClr val="0E7490"/>
                </a:solidFill>
                <a:latin typeface="Arial"/>
              </a:rPr>
              <a:t>Uncertainty for free.  </a:t>
            </a:r>
            <a:r>
              <a:rPr sz="819" b="0" i="0">
                <a:solidFill>
                  <a:srgbClr val="0F172A"/>
                </a:solidFill>
                <a:latin typeface="Arial"/>
              </a:rPr>
              <a:t>Shot variance (1−⟨Z⟩²)/N → posterior_std the safety layer already consumes.</a:t>
            </a:r>
          </a:p>
        </p:txBody>
      </p:sp>
      <p:sp>
        <p:nvSpPr>
          <p:cNvPr id="2115" name="Rectangle 2114"/>
          <p:cNvSpPr/>
          <p:nvPr/>
        </p:nvSpPr>
        <p:spPr>
          <a:xfrm>
            <a:off x="621792" y="4992624"/>
            <a:ext cx="4572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6" name="TextBox 2115"/>
          <p:cNvSpPr txBox="1"/>
          <p:nvPr/>
        </p:nvSpPr>
        <p:spPr>
          <a:xfrm>
            <a:off x="786384" y="4956048"/>
            <a:ext cx="3584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1" i="0">
                <a:solidFill>
                  <a:srgbClr val="0E7490"/>
                </a:solidFill>
                <a:latin typeface="Arial"/>
              </a:rPr>
              <a:t>Never pixels.  </a:t>
            </a:r>
            <a:r>
              <a:rPr sz="819" b="0" i="0">
                <a:solidFill>
                  <a:srgbClr val="0F172A"/>
                </a:solidFill>
                <a:latin typeface="Arial"/>
              </a:rPr>
              <a:t>8-dim compressed evidence — tractable now, hardware-credible later. Async, off the &lt;300 ms read path.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Arial Rounded MT Bold" pitchFamily="34" charset="0"/>
              </a:rPr>
              <a:t>RIT – QUANT-A-THAN 2026 (Innovate, Build, Transform)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  <p:sp>
        <p:nvSpPr>
          <p:cNvPr id="2054" name="Rectangle 2053"/>
          <p:cNvSpPr/>
          <p:nvPr/>
        </p:nvSpPr>
        <p:spPr>
          <a:xfrm>
            <a:off x="-45720" y="-45720"/>
            <a:ext cx="9235440" cy="6949440"/>
          </a:xfrm>
          <a:prstGeom prst="rect">
            <a:avLst/>
          </a:prstGeom>
          <a:solidFill>
            <a:srgbClr val="0509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5" name="Oval 2054"/>
          <p:cNvSpPr/>
          <p:nvPr/>
        </p:nvSpPr>
        <p:spPr>
          <a:xfrm>
            <a:off x="3108960" y="1280160"/>
            <a:ext cx="2926080" cy="2926080"/>
          </a:xfrm>
          <a:prstGeom prst="ellipse">
            <a:avLst/>
          </a:prstGeom>
          <a:noFill/>
          <a:ln w="12700">
            <a:solidFill>
              <a:srgbClr val="2DD4BF">
                <a:alpha val="16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6" name="Oval 2055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noFill/>
          <a:ln w="12700">
            <a:solidFill>
              <a:srgbClr val="2DD4BF">
                <a:alpha val="9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7" name="Oval 2056"/>
          <p:cNvSpPr/>
          <p:nvPr/>
        </p:nvSpPr>
        <p:spPr>
          <a:xfrm>
            <a:off x="1463040" y="-365759"/>
            <a:ext cx="6217920" cy="6217920"/>
          </a:xfrm>
          <a:prstGeom prst="ellipse">
            <a:avLst/>
          </a:prstGeom>
          <a:noFill/>
          <a:ln w="12700">
            <a:solidFill>
              <a:srgbClr val="2DD4BF">
                <a:alpha val="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8" name="TextBox 2057"/>
          <p:cNvSpPr txBox="1"/>
          <p:nvPr/>
        </p:nvSpPr>
        <p:spPr>
          <a:xfrm>
            <a:off x="457200" y="5669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7FA8A5"/>
                </a:solidFill>
                <a:latin typeface="Arial"/>
              </a:rPr>
              <a:t>06  ·  WHAT CHANGES</a:t>
            </a:r>
          </a:p>
        </p:txBody>
      </p:sp>
      <p:sp>
        <p:nvSpPr>
          <p:cNvPr id="2059" name="Rounded Rectangle 2058"/>
          <p:cNvSpPr/>
          <p:nvPr/>
        </p:nvSpPr>
        <p:spPr>
          <a:xfrm>
            <a:off x="502920" y="1042415"/>
            <a:ext cx="2670048" cy="877824"/>
          </a:xfrm>
          <a:prstGeom prst="roundRect">
            <a:avLst>
              <a:gd name="adj" fmla="val 10000"/>
            </a:avLst>
          </a:prstGeom>
          <a:solidFill>
            <a:srgbClr val="0D1922"/>
          </a:solidFill>
          <a:ln w="9525">
            <a:solidFill>
              <a:srgbClr val="2DD4BF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0" name="TextBox 2059"/>
          <p:cNvSpPr txBox="1"/>
          <p:nvPr/>
        </p:nvSpPr>
        <p:spPr>
          <a:xfrm>
            <a:off x="667512" y="117043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5EEAD4"/>
                </a:solidFill>
                <a:latin typeface="Arial"/>
              </a:rPr>
              <a:t>HOSPITALS</a:t>
            </a:r>
          </a:p>
        </p:txBody>
      </p:sp>
      <p:sp>
        <p:nvSpPr>
          <p:cNvPr id="2061" name="TextBox 2060"/>
          <p:cNvSpPr txBox="1"/>
          <p:nvPr/>
        </p:nvSpPr>
        <p:spPr>
          <a:xfrm>
            <a:off x="667512" y="142646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A8A5"/>
                </a:solidFill>
                <a:latin typeface="Arial"/>
              </a:rPr>
              <a:t>worklists triaged by uncertainty</a:t>
            </a:r>
          </a:p>
        </p:txBody>
      </p:sp>
      <p:sp>
        <p:nvSpPr>
          <p:cNvPr id="2062" name="Rounded Rectangle 2061"/>
          <p:cNvSpPr/>
          <p:nvPr/>
        </p:nvSpPr>
        <p:spPr>
          <a:xfrm>
            <a:off x="3282696" y="1042415"/>
            <a:ext cx="2670048" cy="877824"/>
          </a:xfrm>
          <a:prstGeom prst="roundRect">
            <a:avLst>
              <a:gd name="adj" fmla="val 10000"/>
            </a:avLst>
          </a:prstGeom>
          <a:solidFill>
            <a:srgbClr val="0D1922"/>
          </a:solidFill>
          <a:ln w="9525">
            <a:solidFill>
              <a:srgbClr val="2DD4BF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3" name="TextBox 2062"/>
          <p:cNvSpPr txBox="1"/>
          <p:nvPr/>
        </p:nvSpPr>
        <p:spPr>
          <a:xfrm>
            <a:off x="3447288" y="117043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5EEAD4"/>
                </a:solidFill>
                <a:latin typeface="Arial"/>
              </a:rPr>
              <a:t>PATIENTS</a:t>
            </a:r>
          </a:p>
        </p:txBody>
      </p:sp>
      <p:sp>
        <p:nvSpPr>
          <p:cNvPr id="2064" name="TextBox 2063"/>
          <p:cNvSpPr txBox="1"/>
          <p:nvPr/>
        </p:nvSpPr>
        <p:spPr>
          <a:xfrm>
            <a:off x="3447288" y="142646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A8A5"/>
                </a:solidFill>
                <a:latin typeface="Arial"/>
              </a:rPr>
              <a:t>fewer scans, faster answers</a:t>
            </a:r>
          </a:p>
        </p:txBody>
      </p:sp>
      <p:sp>
        <p:nvSpPr>
          <p:cNvPr id="2065" name="Rounded Rectangle 2064"/>
          <p:cNvSpPr/>
          <p:nvPr/>
        </p:nvSpPr>
        <p:spPr>
          <a:xfrm>
            <a:off x="6062472" y="1042415"/>
            <a:ext cx="2670048" cy="877824"/>
          </a:xfrm>
          <a:prstGeom prst="roundRect">
            <a:avLst>
              <a:gd name="adj" fmla="val 10000"/>
            </a:avLst>
          </a:prstGeom>
          <a:solidFill>
            <a:srgbClr val="0D1922"/>
          </a:solidFill>
          <a:ln w="9525">
            <a:solidFill>
              <a:srgbClr val="2DD4BF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6" name="TextBox 2065"/>
          <p:cNvSpPr txBox="1"/>
          <p:nvPr/>
        </p:nvSpPr>
        <p:spPr>
          <a:xfrm>
            <a:off x="6227064" y="117043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5EEAD4"/>
                </a:solidFill>
                <a:latin typeface="Arial"/>
              </a:rPr>
              <a:t>THE SYSTEM</a:t>
            </a:r>
          </a:p>
        </p:txBody>
      </p:sp>
      <p:sp>
        <p:nvSpPr>
          <p:cNvPr id="2067" name="TextBox 2066"/>
          <p:cNvSpPr txBox="1"/>
          <p:nvPr/>
        </p:nvSpPr>
        <p:spPr>
          <a:xfrm>
            <a:off x="6227064" y="142646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A8A5"/>
                </a:solidFill>
                <a:latin typeface="Arial"/>
              </a:rPr>
              <a:t>attacks diagnostic error - ~12M US adults/yr</a:t>
            </a:r>
          </a:p>
        </p:txBody>
      </p:sp>
      <p:cxnSp>
        <p:nvCxnSpPr>
          <p:cNvPr id="2068" name="Connector 2067"/>
          <p:cNvCxnSpPr/>
          <p:nvPr/>
        </p:nvCxnSpPr>
        <p:spPr>
          <a:xfrm>
            <a:off x="1188720" y="2450592"/>
            <a:ext cx="6766559" cy="0"/>
          </a:xfrm>
          <a:prstGeom prst="line">
            <a:avLst/>
          </a:prstGeom>
          <a:ln w="12700">
            <a:solidFill>
              <a:srgbClr val="2DD4BF">
                <a:alpha val="40000"/>
              </a:srgbClr>
            </a:solidFill>
            <a:prstDash val="sysDash"/>
          </a:ln>
          <a:effectLst/>
        </p:spPr>
      </p:cxnSp>
      <p:sp>
        <p:nvSpPr>
          <p:cNvPr id="2069" name="Oval 2068"/>
          <p:cNvSpPr/>
          <p:nvPr/>
        </p:nvSpPr>
        <p:spPr>
          <a:xfrm>
            <a:off x="1463039" y="240487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0" name="TextBox 2069"/>
          <p:cNvSpPr txBox="1"/>
          <p:nvPr/>
        </p:nvSpPr>
        <p:spPr>
          <a:xfrm>
            <a:off x="731519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EEAD4"/>
                </a:solidFill>
                <a:latin typeface="Arial"/>
              </a:rPr>
              <a:t>2026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FA8A5"/>
                </a:solidFill>
                <a:latin typeface="Arial"/>
              </a:rPr>
              <a:t>clinical pilot</a:t>
            </a:r>
          </a:p>
        </p:txBody>
      </p:sp>
      <p:sp>
        <p:nvSpPr>
          <p:cNvPr id="2071" name="Oval 2070"/>
          <p:cNvSpPr/>
          <p:nvPr/>
        </p:nvSpPr>
        <p:spPr>
          <a:xfrm>
            <a:off x="3401568" y="240487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2" name="TextBox 2071"/>
          <p:cNvSpPr txBox="1"/>
          <p:nvPr/>
        </p:nvSpPr>
        <p:spPr>
          <a:xfrm>
            <a:off x="2670048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EEAD4"/>
                </a:solidFill>
                <a:latin typeface="Arial"/>
              </a:rPr>
              <a:t>2027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FA8A5"/>
                </a:solidFill>
                <a:latin typeface="Arial"/>
              </a:rPr>
              <a:t>quantum federated learning</a:t>
            </a:r>
          </a:p>
        </p:txBody>
      </p:sp>
      <p:sp>
        <p:nvSpPr>
          <p:cNvPr id="2073" name="Oval 2072"/>
          <p:cNvSpPr/>
          <p:nvPr/>
        </p:nvSpPr>
        <p:spPr>
          <a:xfrm>
            <a:off x="5340096" y="240487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4" name="TextBox 2073"/>
          <p:cNvSpPr txBox="1"/>
          <p:nvPr/>
        </p:nvSpPr>
        <p:spPr>
          <a:xfrm>
            <a:off x="4608576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EEAD4"/>
                </a:solidFill>
                <a:latin typeface="Arial"/>
              </a:rPr>
              <a:t>2028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FA8A5"/>
                </a:solidFill>
                <a:latin typeface="Arial"/>
              </a:rPr>
              <a:t>hardware kernels</a:t>
            </a:r>
          </a:p>
        </p:txBody>
      </p:sp>
      <p:sp>
        <p:nvSpPr>
          <p:cNvPr id="2075" name="Oval 2074"/>
          <p:cNvSpPr/>
          <p:nvPr/>
        </p:nvSpPr>
        <p:spPr>
          <a:xfrm>
            <a:off x="7278624" y="2404872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6" name="TextBox 2075"/>
          <p:cNvSpPr txBox="1"/>
          <p:nvPr/>
        </p:nvSpPr>
        <p:spPr>
          <a:xfrm>
            <a:off x="6547104" y="257860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EEAD4"/>
                </a:solidFill>
                <a:latin typeface="Arial"/>
              </a:rPr>
              <a:t>2029</a:t>
            </a: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FA8A5"/>
                </a:solidFill>
                <a:latin typeface="Arial"/>
              </a:rPr>
              <a:t>ICU real-time agents</a:t>
            </a:r>
          </a:p>
        </p:txBody>
      </p:sp>
      <p:sp>
        <p:nvSpPr>
          <p:cNvPr id="2077" name="TextBox 2076"/>
          <p:cNvSpPr txBox="1"/>
          <p:nvPr/>
        </p:nvSpPr>
        <p:spPr>
          <a:xfrm>
            <a:off x="914400" y="3474720"/>
            <a:ext cx="73152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9FB3B1"/>
                </a:solidFill>
                <a:latin typeface="Arial"/>
              </a:rPr>
              <a:t>Artificial intelligence predicts.</a:t>
            </a:r>
          </a:p>
          <a:p>
            <a:pPr algn="ctr">
              <a:lnSpc>
                <a:spcPct val="130000"/>
              </a:lnSpc>
            </a:pPr>
            <a:r>
              <a:rPr sz="2300" b="0" i="0">
                <a:solidFill>
                  <a:srgbClr val="FFFFFF"/>
                </a:solidFill>
                <a:latin typeface="Arial"/>
              </a:rPr>
              <a:t>Clinical intelligence reasons.</a:t>
            </a:r>
          </a:p>
          <a:p>
            <a:pPr algn="ctr">
              <a:lnSpc>
                <a:spcPct val="130000"/>
              </a:lnSpc>
            </a:pPr>
            <a:r>
              <a:rPr sz="2700" b="1" i="0">
                <a:solidFill>
                  <a:srgbClr val="5EEAD4"/>
                </a:solidFill>
                <a:latin typeface="Arial"/>
              </a:rPr>
              <a:t>Quantum intelligence understands.</a:t>
            </a:r>
          </a:p>
        </p:txBody>
      </p:sp>
      <p:cxnSp>
        <p:nvCxnSpPr>
          <p:cNvPr id="2078" name="Connector 2077"/>
          <p:cNvCxnSpPr/>
          <p:nvPr/>
        </p:nvCxnSpPr>
        <p:spPr>
          <a:xfrm>
            <a:off x="3840480" y="5230368"/>
            <a:ext cx="1463040" cy="0"/>
          </a:xfrm>
          <a:prstGeom prst="line">
            <a:avLst/>
          </a:prstGeom>
          <a:ln w="12700">
            <a:solidFill>
              <a:srgbClr val="2DD4BF">
                <a:alpha val="45000"/>
              </a:srgbClr>
            </a:solidFill>
          </a:ln>
          <a:effectLst/>
        </p:spPr>
      </p:cxnSp>
      <p:sp>
        <p:nvSpPr>
          <p:cNvPr id="2079" name="TextBox 2078"/>
          <p:cNvSpPr txBox="1"/>
          <p:nvPr/>
        </p:nvSpPr>
        <p:spPr>
          <a:xfrm>
            <a:off x="914400" y="5376672"/>
            <a:ext cx="7315200" cy="41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1" i="0" spc="120" dirty="0">
                <a:solidFill>
                  <a:srgbClr val="FFFFFF"/>
                </a:solidFill>
                <a:latin typeface="Arial"/>
              </a:rPr>
              <a:t>AURA  ·  live demo on request  ·  every claim cited &amp; reproducible</a:t>
            </a:r>
          </a:p>
          <a:p>
            <a:pPr algn="ctr">
              <a:lnSpc>
                <a:spcPct val="150000"/>
              </a:lnSpc>
            </a:pPr>
            <a:r>
              <a:rPr sz="900" b="0" i="0" spc="100" dirty="0">
                <a:solidFill>
                  <a:srgbClr val="7FA8A5"/>
                </a:solidFill>
                <a:latin typeface="Arial"/>
              </a:rPr>
              <a:t>Sivaguru R.M  ·  </a:t>
            </a:r>
            <a:r>
              <a:rPr lang="en-IN" sz="900" spc="100" dirty="0">
                <a:solidFill>
                  <a:srgbClr val="7FA8A5"/>
                </a:solidFill>
                <a:latin typeface="Arial"/>
              </a:rPr>
              <a:t>Rajalakshmi Institute of Technology</a:t>
            </a:r>
            <a:r>
              <a:rPr sz="900" b="0" i="0" spc="100" dirty="0">
                <a:solidFill>
                  <a:srgbClr val="7FA8A5"/>
                </a:solidFill>
                <a:latin typeface="Arial"/>
              </a:rPr>
              <a:t> ·  sivagurumurugan1@gmail.com</a:t>
            </a:r>
          </a:p>
        </p:txBody>
      </p:sp>
      <p:sp>
        <p:nvSpPr>
          <p:cNvPr id="2080" name="Rounded Rectangle 2079"/>
          <p:cNvSpPr/>
          <p:nvPr/>
        </p:nvSpPr>
        <p:spPr>
          <a:xfrm>
            <a:off x="640080" y="2926080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0D1922"/>
          </a:solidFill>
          <a:ln w="9525">
            <a:solidFill>
              <a:srgbClr val="2DD4BF">
                <a:alpha val="32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1" name="TextBox 2080"/>
          <p:cNvSpPr txBox="1"/>
          <p:nvPr/>
        </p:nvSpPr>
        <p:spPr>
          <a:xfrm>
            <a:off x="640080" y="2944368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$110.6B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FA8A5"/>
                </a:solidFill>
                <a:latin typeface="Arial"/>
              </a:rPr>
              <a:t>TAM · Healthcare AI ’30</a:t>
            </a:r>
          </a:p>
        </p:txBody>
      </p:sp>
      <p:sp>
        <p:nvSpPr>
          <p:cNvPr id="2082" name="Rounded Rectangle 2081"/>
          <p:cNvSpPr/>
          <p:nvPr/>
        </p:nvSpPr>
        <p:spPr>
          <a:xfrm>
            <a:off x="3337560" y="2926080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0D1922"/>
          </a:solidFill>
          <a:ln w="9525">
            <a:solidFill>
              <a:srgbClr val="2DD4BF">
                <a:alpha val="32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3" name="TextBox 2082"/>
          <p:cNvSpPr txBox="1"/>
          <p:nvPr/>
        </p:nvSpPr>
        <p:spPr>
          <a:xfrm>
            <a:off x="3337560" y="2944368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$2.27B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FA8A5"/>
                </a:solidFill>
                <a:latin typeface="Arial"/>
              </a:rPr>
              <a:t>SAM · Radiology AI ’30</a:t>
            </a:r>
          </a:p>
        </p:txBody>
      </p:sp>
      <p:sp>
        <p:nvSpPr>
          <p:cNvPr id="2084" name="Rounded Rectangle 2083"/>
          <p:cNvSpPr/>
          <p:nvPr/>
        </p:nvSpPr>
        <p:spPr>
          <a:xfrm>
            <a:off x="6035040" y="2926080"/>
            <a:ext cx="2468880" cy="329184"/>
          </a:xfrm>
          <a:prstGeom prst="roundRect">
            <a:avLst>
              <a:gd name="adj" fmla="val 12000"/>
            </a:avLst>
          </a:prstGeom>
          <a:solidFill>
            <a:srgbClr val="0D1922"/>
          </a:solidFill>
          <a:ln w="9525">
            <a:solidFill>
              <a:srgbClr val="2DD4BF">
                <a:alpha val="32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5" name="TextBox 2084"/>
          <p:cNvSpPr txBox="1"/>
          <p:nvPr/>
        </p:nvSpPr>
        <p:spPr>
          <a:xfrm>
            <a:off x="6035040" y="2944368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37.9%</a:t>
            </a: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FA8A5"/>
                </a:solidFill>
                <a:latin typeface="Arial"/>
              </a:rPr>
              <a:t>Quantum-in-HC CAGR</a:t>
            </a:r>
          </a:p>
        </p:txBody>
      </p:sp>
      <p:sp>
        <p:nvSpPr>
          <p:cNvPr id="2086" name="TextBox 2085"/>
          <p:cNvSpPr txBox="1"/>
          <p:nvPr/>
        </p:nvSpPr>
        <p:spPr>
          <a:xfrm>
            <a:off x="457200" y="3273552"/>
            <a:ext cx="82296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220">
                <a:solidFill>
                  <a:srgbClr val="7FA8A5"/>
                </a:solidFill>
                <a:latin typeface="Arial"/>
              </a:rPr>
              <a:t>MARKET  ·  WHY NOW</a:t>
            </a:r>
            <a:r>
              <a:rPr sz="700" b="0" i="1">
                <a:solidFill>
                  <a:srgbClr val="5B6672"/>
                </a:solidFill>
                <a:latin typeface="Arial"/>
              </a:rPr>
              <a:t>      MarketsandMarkets, 2025   ·   SOM ≈ $45–70M ARR at 2–3% of SAM (illustrative)</a:t>
            </a:r>
          </a:p>
        </p:txBody>
      </p:sp>
    </p:spTree>
  </p:cSld>
  <p:clrMapOvr>
    <a:masterClrMapping/>
  </p:clrMapOvr>
  <p:transition>
    <p:fade/>
  </p:transition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72</TotalTime>
  <Words>1997</Words>
  <Application>Microsoft Office PowerPoint</Application>
  <PresentationFormat>On-screen Show (4:3)</PresentationFormat>
  <Paragraphs>191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Rounded MT Bold</vt:lpstr>
      <vt:lpstr>Calibri</vt:lpstr>
      <vt:lpstr>Consolas</vt:lpstr>
      <vt:lpstr>Courier New</vt:lpstr>
      <vt:lpstr>Georgia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SivaGuru R.M</cp:lastModifiedBy>
  <cp:revision>9</cp:revision>
  <dcterms:created xsi:type="dcterms:W3CDTF">2026-06-25T14:12:27Z</dcterms:created>
  <dcterms:modified xsi:type="dcterms:W3CDTF">2026-07-08T16:07:01Z</dcterms:modified>
</cp:coreProperties>
</file>