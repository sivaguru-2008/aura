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
  </p:notesMasterIdLst>
  <p:sldIdLst>
    <p:sldId id="256" r:id="rId2"/>
    <p:sldId id="257" r:id="rId3"/>
    <p:sldId id="258" r:id="rId9"/>
    <p:sldId id="259" r:id="rId10"/>
    <p:sldId id="260" r:id="rId11"/>
    <p:sldId id="261" r:id="rId12"/>
    <p:sldId id="262"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8" d="100"/>
          <a:sy n="88" d="100"/>
        </p:scale>
        <p:origin x="1068" y="5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B84611-C05A-4FE0-9E94-CECBDE5B39B4}" type="datetimeFigureOut">
              <a:rPr lang="en-US" smtClean="0"/>
              <a:t>6/25/2026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BDD5657-429F-4937-8DBC-7A2164C32DAC}"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t>THE PROBLEM  ·  1:00</a:t>
            </a:r>
          </a:p>
          <a:p>
            <a:r>
              <a:t>CheXNet beat radiologist-level F1 in 2017. Nine hundred fifty cleared devices later, radiology AI still sits outside the decision loop - because a softmax score answers none of the four questions a clinician actually asks: why, how certain, what would change your mind, what next. Everything in the red box is amputated by design in today's pipeline. And Zech showed these models collapse silently under distribution shift. India feels this hardest: one radiologist per hundred thousand people. The bottleneck is epistemic - trust - not accuracy.</a:t>
            </a:r>
          </a:p>
          <a:p/>
          <a:p>
            <a:r>
              <a:t>RUBRIC: problem significance ✓ quantified, cited, and reframed in a way judges haven't heard from a student team.</a:t>
            </a:r>
          </a:p>
          <a:p>
            <a:r>
              <a:t>JUDGES SHOULD FEEL: the diagnosis of the field's failure is itself novel - now they need the fix.</a:t>
            </a:r>
          </a:p>
        </p:txBody>
      </p:sp>
      <p:sp>
        <p:nvSpPr>
          <p:cNvPr id="4" name="Slide Number Placeholder 3"/>
          <p:cNvSpPr>
            <a:spLocks noGrp="1"/>
          </p:cNvSpPr>
          <p:nvPr>
            <p:ph type="sldNum" sz="quarter" idx="10"/>
          </p:nvPr>
        </p:nvSpPr>
        <p:spPr/>
        <p:txBody>
          <a:bodyPr/>
          <a:lstStyle/>
          <a:p>
            <a:fld id="{3BDD5657-429F-4937-8DBC-7A2164C32DAC}" type="slidenum">
              <a:rPr lang="en-IN" smtClean="0"/>
              <a:t>2</a:t>
            </a:fld>
            <a:endParaRPr lang="en-IN"/>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0:15</a:t>
            </a:r>
          </a:p>
          <a:p>
            <a:r>
              <a:t>Good morning. I am Sivaguru, and this is AURA - the Adaptive Uncertainty-aware Radiology Architecture: a system that treats diagnosis not as classification but as a reasoning process, with a quantum core that is mathematically earned, not marketed. Seven slides, one live system.</a:t>
            </a:r>
          </a:p>
          <a:p/>
          <a:p>
            <a:r>
              <a:t>RUBRIC: presentation - confident, zero filler, sets the honesty tone.</a:t>
            </a:r>
          </a:p>
          <a:p>
            <a:r>
              <a:t>JUDGES SHOULD FEEL: this team will not waste our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  1:10</a:t>
            </a:r>
          </a:p>
          <a:p>
            <a:r>
              <a:t>AURA replaces the classifier with a reasoning pipeline. The image enters; compressed clinical evidence is embedded in a quantum feature space; Bayesian agents update a belief graph over the differential; the posterior is calibrated with a coverage guarantee. Then AURA asks its own follow-ups - what would flip this call, and which test buys the most information for this patient - and emits a report where every sentence links to evidence. Under it: five layers, nine microservices over an async event bus with typed contracts. The quantum layer is one layer - deliberately not the whole story.</a:t>
            </a:r>
          </a:p>
          <a:p>
            <a:r>
              <a:t>Walk the flow with your hand. Do not read boxes.</a:t>
            </a:r>
          </a:p>
          <a:p/>
          <a:p>
            <a:r>
              <a:t>RUBRIC: innovation ✓ architecture-level, not model-level. Feasibility ✓ it is running code, offered for demo.</a:t>
            </a:r>
          </a:p>
          <a:p>
            <a:r>
              <a:t>JUDGES SHOULD FEEL: ambition with engineering discipline.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QUANTUM CORE  ·  1:30  - the slide that wins or loses the quantum jury</a:t>
            </a:r>
          </a:p>
          <a:p>
            <a:r>
              <a:t>We never put pixels in a circuit - perception stays classical, CNNs won imaging. What enters the quantum layer is a compressed 8-channel evidence vector: eight qubits, angle encoding, entangling layers - a 256-dimensional Hilbert space whose phase structure carries pairwise clinical interactions. The kernel is state fidelity: similarity in that geometry. Havlicek showed such kernels are conjectured hard to estimate classically; Liu, Arunachalam and Temme proved a rigorous separation for a related class. So our claim is representational - richer geometry over clinical evidence - never 'quantum is faster'. And because a conjecture is not evidence: every quantum service ships beside a classical twin, benchmarked head-to-head on six metrics. If the twin wins, the twin ships, and we say so on stage.</a:t>
            </a:r>
          </a:p>
          <a:p/>
          <a:p>
            <a:r>
              <a:t>RUBRIC: technical depth ✓ literature-exact. Scientific integrity ✓ the benchmark law is the disqualification-proof armor.</a:t>
            </a:r>
          </a:p>
          <a:p>
            <a:r>
              <a:t>JUDGES SHOULD FEEL: rare intellectual honesty; nothing to attack, because every attack is already conceded and measured.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EPISTEMIC ENGINE  ·  1:30</a:t>
            </a:r>
          </a:p>
          <a:p>
            <a:r>
              <a:t>One equation runs the top: predictive entropy decomposes into epistemic - mutual information between prediction and parameters - plus aleatoric. Why decompose? Because each doubt demands a different action: epistemic high, defer to the human; aleatoric high, re-image - more data will not help; out-of-distribution, abstain entirely. No silent failure, by policy. Below left: conformal prediction - the true label is inside the predicted set with probability at least one minus alpha, by theorem, distribution-free. Below right: the residual entropy is spent optimally - expected information gain per unit cost ranks the next test. Here CT resolves the most entropy, but a repeat X-ray buys 78 percent of that information at 4 percent of the cost - so that is the recommendation. This is Lindley's 1956 experimental design, running per patient.</a:t>
            </a:r>
          </a:p>
          <a:p/>
          <a:p>
            <a:r>
              <a:t>RUBRIC: technical depth ✓ three research fields composed correctly; impact ✓ the uncertainty-to-action mapping is clinically meaningful.</a:t>
            </a:r>
          </a:p>
          <a:p>
            <a:r>
              <a:t>JUDGES SHOULD FEEL: 'the AI asks for the right test' - the aha moment.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PROOF  ·  1:15</a:t>
            </a:r>
          </a:p>
          <a:p>
            <a:r>
              <a:t>Is this real? Everything on the left runs offline on this laptop - the VQC, its classical twin, the safety engine, the planner, the dashboard. Three commands: train, bench, serve. Ask us and we run it now. The benchmark law is our integrity mechanism: quantum versus classical twin, identical held-out data, six metrics - and the loser does not ship. On the right, honest positioning: CheXNet solved probability; MedPaLM-M can suggest follow-ups in free text - we mark that ourselves. But no published system combines decomposed uncertainty, guaranteed coverage, counterfactuals, information-theoretic planning, and a quantum representation in one auditable loop. The novelty is the column.</a:t>
            </a:r>
          </a:p>
          <a:p/>
          <a:p>
            <a:r>
              <a:t>RUBRIC: feasibility ✓ demo on request kills the vaporware doubt; novelty ✓ positioned against SOTA with self-declared '~' marks - nothing left to disqualify.</a:t>
            </a:r>
          </a:p>
          <a:p>
            <a:r>
              <a:t>JUDGES SHOULD FEEL: this team grades itself harder than we would.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IMPACT + CLOSE  ·  1:00</a:t>
            </a:r>
          </a:p>
          <a:p>
            <a:r>
              <a:t>What changes. Hospitals get uncertainty-triaged worklists - the confident criticals jump the queue. Patients get workups planned by information gain: fewer scans, less radiation, faster answers. And the system attacks diagnostic error - the costliest failure mode in medicine, twelve million affected adults a year in the US alone, more and less-measured in India. The roadmap is hardware-realistic: pilot next, federated quantum learning - where only kernel statistics ever leave a hospital - then hardware kernels and ICU streaming agents. No stage depends on a miracle.</a:t>
            </a:r>
          </a:p>
          <a:p>
            <a:r>
              <a:t>Then stop. Three sentences, slowly: AI predicts. Clinical intelligence reasons. Quantum intelligence understands. The system is live - we would love to show you. Thank you.</a:t>
            </a:r>
          </a:p>
          <a:p/>
          <a:p>
            <a:r>
              <a:t>RUBRIC: impact ✓ quantified per stakeholder; vision ✓ staged and realistic; presentation ✓ ends with goosebumps and a demo offer.</a:t>
            </a:r>
          </a:p>
          <a:p>
            <a:r>
              <a:t>JUDGES SHOULD FEEL: nothing left to ask except 'show us'.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F7088B4A-5E74-4E7B-8C78-CA63012A9A2F}" type="datetimeFigureOut">
              <a:rPr lang="en-US" smtClean="0"/>
              <a:t>6/25/2026</a:t>
            </a:fld>
            <a:endParaRPr lang="en-IN"/>
          </a:p>
        </p:txBody>
      </p:sp>
      <p:sp>
        <p:nvSpPr>
          <p:cNvPr id="17" name="Footer Placeholder 16"/>
          <p:cNvSpPr>
            <a:spLocks noGrp="1"/>
          </p:cNvSpPr>
          <p:nvPr>
            <p:ph type="ftr" sz="quarter" idx="11"/>
          </p:nvPr>
        </p:nvSpPr>
        <p:spPr/>
        <p:txBody>
          <a:bodyPr/>
          <a:lstStyle/>
          <a:p>
            <a:endParaRPr lang="en-IN"/>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4361688" y="1026372"/>
            <a:ext cx="457200" cy="441325"/>
          </a:xfrm>
        </p:spPr>
        <p:txBody>
          <a:bodyPr/>
          <a:lstStyle/>
          <a:p>
            <a:fld id="{D965746A-2488-49FC-9F89-55910A74292D}" type="slidenum">
              <a:rPr lang="en-IN" smtClean="0"/>
              <a:t>‹#›</a:t>
            </a:fld>
            <a:endParaRPr lang="en-IN"/>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IN"/>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965746A-2488-49FC-9F89-55910A74292D}" type="slidenum">
              <a:rPr lang="en-IN" smtClean="0"/>
              <a:t>‹#›</a:t>
            </a:fld>
            <a:endParaRPr lang="en-IN"/>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F7088B4A-5E74-4E7B-8C78-CA63012A9A2F}" type="datetimeFigureOut">
              <a:rPr lang="en-US" smtClean="0"/>
              <a:t>6/25/2026</a:t>
            </a:fld>
            <a:endParaRPr lang="en-IN"/>
          </a:p>
        </p:txBody>
      </p:sp>
      <p:sp>
        <p:nvSpPr>
          <p:cNvPr id="8" name="Footer Placeholder 7"/>
          <p:cNvSpPr>
            <a:spLocks noGrp="1"/>
          </p:cNvSpPr>
          <p:nvPr>
            <p:ph type="ftr" sz="quarter" idx="11"/>
          </p:nvPr>
        </p:nvSpPr>
        <p:spPr>
          <a:xfrm>
            <a:off x="304800" y="6409944"/>
            <a:ext cx="3581400" cy="365760"/>
          </a:xfrm>
        </p:spPr>
        <p:txBody>
          <a:bodyPr/>
          <a:lstStyle/>
          <a:p>
            <a:endParaRPr lang="en-IN"/>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D965746A-2488-49FC-9F89-55910A74292D}" type="slidenum">
              <a:rPr lang="en-IN" smtClean="0"/>
              <a:t>‹#›</a:t>
            </a:fld>
            <a:endParaRPr lang="en-IN"/>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F7088B4A-5E74-4E7B-8C78-CA63012A9A2F}" type="datetimeFigureOut">
              <a:rPr lang="en-US" smtClean="0"/>
              <a:t>6/25/2026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a:xfrm>
            <a:off x="4343400" y="1036020"/>
            <a:ext cx="457200" cy="441325"/>
          </a:xfrm>
        </p:spPr>
        <p:txBody>
          <a:bodyPr/>
          <a:lstStyle/>
          <a:p>
            <a:fld id="{D965746A-2488-49FC-9F89-55910A74292D}" type="slidenum">
              <a:rPr lang="en-IN" smtClean="0"/>
              <a:t>‹#›</a:t>
            </a:fld>
            <a:endParaRPr lang="en-IN"/>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F7088B4A-5E74-4E7B-8C78-CA63012A9A2F}" type="datetimeFigureOut">
              <a:rPr lang="en-US" smtClean="0"/>
              <a:t>6/25/2026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D965746A-2488-49FC-9F89-55910A74292D}" type="slidenum">
              <a:rPr lang="en-IN" smtClean="0"/>
              <a:t>‹#›</a:t>
            </a:fld>
            <a:endParaRPr lang="en-IN"/>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D965746A-2488-49FC-9F89-55910A74292D}" type="slidenum">
              <a:rPr lang="en-IN" smtClean="0"/>
              <a:t>‹#›</a:t>
            </a:fld>
            <a:endParaRPr lang="en-IN"/>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a:xfrm>
            <a:off x="301752" y="6410848"/>
            <a:ext cx="3383280" cy="365760"/>
          </a:xfrm>
        </p:spPr>
        <p:txBody>
          <a:bodyPr/>
          <a:lstStyle/>
          <a:p>
            <a:endParaRPr lang="en-I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D965746A-2488-49FC-9F89-55910A74292D}" type="slidenum">
              <a:rPr lang="en-IN" smtClean="0"/>
              <a:t>‹#›</a:t>
            </a:fld>
            <a:endParaRPr lang="en-IN"/>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F7088B4A-5E74-4E7B-8C78-CA63012A9A2F}" type="datetimeFigureOut">
              <a:rPr lang="en-US" smtClean="0"/>
              <a:t>6/25/2026</a:t>
            </a:fld>
            <a:endParaRPr lang="en-IN"/>
          </a:p>
        </p:txBody>
      </p:sp>
      <p:sp>
        <p:nvSpPr>
          <p:cNvPr id="6" name="Footer Placeholder 5"/>
          <p:cNvSpPr>
            <a:spLocks noGrp="1"/>
          </p:cNvSpPr>
          <p:nvPr>
            <p:ph type="ftr" sz="quarter" idx="11"/>
          </p:nvPr>
        </p:nvSpPr>
        <p:spPr>
          <a:xfrm>
            <a:off x="301752" y="6410848"/>
            <a:ext cx="3584448" cy="365760"/>
          </a:xfrm>
        </p:spPr>
        <p:txBody>
          <a:bodyPr/>
          <a:lstStyle/>
          <a:p>
            <a:endParaRPr lang="en-IN"/>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965746A-2488-49FC-9F89-55910A74292D}" type="slidenum">
              <a:rPr lang="en-IN" smtClean="0"/>
              <a:t>‹#›</a:t>
            </a:fld>
            <a:endParaRPr lang="en-IN"/>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D965746A-2488-49FC-9F89-55910A74292D}" type="slidenum">
              <a:rPr lang="en-IN" smtClean="0"/>
              <a:t>‹#›</a:t>
            </a:fld>
            <a:endParaRPr lang="en-IN"/>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F7088B4A-5E74-4E7B-8C78-CA63012A9A2F}" type="datetimeFigureOut">
              <a:rPr lang="en-US" smtClean="0"/>
              <a:t>6/25/2026</a:t>
            </a:fld>
            <a:endParaRPr lang="en-IN"/>
          </a:p>
        </p:txBody>
      </p:sp>
      <p:sp>
        <p:nvSpPr>
          <p:cNvPr id="5" name="Footer Placeholder 4"/>
          <p:cNvSpPr>
            <a:spLocks noGrp="1"/>
          </p:cNvSpPr>
          <p:nvPr>
            <p:ph type="ftr" sz="quarter" idx="11"/>
          </p:nvPr>
        </p:nvSpPr>
        <p:spPr/>
        <p:txBody>
          <a:bodyPr/>
          <a:lstStyle/>
          <a:p>
            <a:endParaRPr lang="en-IN"/>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F7088B4A-5E74-4E7B-8C78-CA63012A9A2F}" type="datetimeFigureOut">
              <a:rPr lang="en-US" smtClean="0"/>
              <a:t>6/25/2026</a:t>
            </a:fld>
            <a:endParaRPr lang="en-IN"/>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IN"/>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D965746A-2488-49FC-9F89-55910A74292D}" type="slidenum">
              <a:rPr lang="en-IN" smtClean="0"/>
              <a:t>‹#›</a:t>
            </a:fld>
            <a:endParaRPr lang="en-IN"/>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 Id="rId7" Type="http://schemas.openxmlformats.org/officeDocument/2006/relationships/image" Target="../media/image8.jpeg"/><Relationship Id="rId8" Type="http://schemas.openxmlformats.org/officeDocument/2006/relationships/notesSlide" Target="../notesSlides/notesSlide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jpeg"/><Relationship Id="rId4"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7.png"/><Relationship Id="rId8"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027" name="Picture 3" descr="C:\Users\Admin\Downloads\1764679326535-Photoroom.png"/>
          <p:cNvPicPr>
            <a:picLocks noChangeAspect="1" noChangeArrowheads="1"/>
          </p:cNvPicPr>
          <p:nvPr/>
        </p:nvPicPr>
        <p:blipFill>
          <a:blip r:embed="rId3"/>
          <a:srcRect/>
          <a:stretch>
            <a:fillRect/>
          </a:stretch>
        </p:blipFill>
        <p:spPr bwMode="auto">
          <a:xfrm>
            <a:off x="7072322" y="-214314"/>
            <a:ext cx="2071678" cy="2071678"/>
          </a:xfrm>
          <a:prstGeom prst="rect">
            <a:avLst/>
          </a:prstGeom>
          <a:noFill/>
        </p:spPr>
      </p:pic>
      <p:pic>
        <p:nvPicPr>
          <p:cNvPr id="7" name="Picture 6" descr="RIT white logo.png"/>
          <p:cNvPicPr>
            <a:picLocks noChangeAspect="1"/>
          </p:cNvPicPr>
          <p:nvPr/>
        </p:nvPicPr>
        <p:blipFill>
          <a:blip r:embed="rId4" cstate="print"/>
          <a:stretch>
            <a:fillRect/>
          </a:stretch>
        </p:blipFill>
        <p:spPr>
          <a:xfrm>
            <a:off x="1" y="0"/>
            <a:ext cx="5000628" cy="1291197"/>
          </a:xfrm>
          <a:prstGeom prst="rect">
            <a:avLst/>
          </a:prstGeom>
        </p:spPr>
      </p:pic>
      <p:sp>
        <p:nvSpPr>
          <p:cNvPr id="8" name="Rectangle 7"/>
          <p:cNvSpPr/>
          <p:nvPr/>
        </p:nvSpPr>
        <p:spPr>
          <a:xfrm>
            <a:off x="0" y="5072074"/>
            <a:ext cx="3071833"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Presented by</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pic>
        <p:nvPicPr>
          <p:cNvPr id="1029" name="Picture 5" descr="C:\Users\Admin\Downloads\IBM_logo.svg.png"/>
          <p:cNvPicPr>
            <a:picLocks noChangeAspect="1" noChangeArrowheads="1"/>
          </p:cNvPicPr>
          <p:nvPr/>
        </p:nvPicPr>
        <p:blipFill>
          <a:blip r:embed="rId5" cstate="print">
            <a:lum bright="40000"/>
          </a:blip>
          <a:srcRect/>
          <a:stretch>
            <a:fillRect/>
          </a:stretch>
        </p:blipFill>
        <p:spPr bwMode="auto">
          <a:xfrm>
            <a:off x="6588224" y="5885112"/>
            <a:ext cx="1285884" cy="480868"/>
          </a:xfrm>
          <a:prstGeom prst="rect">
            <a:avLst/>
          </a:prstGeom>
          <a:noFill/>
        </p:spPr>
      </p:pic>
      <p:pic>
        <p:nvPicPr>
          <p:cNvPr id="1030" name="Picture 6" descr="C:\Users\Admin\Downloads\logo-nqm.png"/>
          <p:cNvPicPr>
            <a:picLocks noChangeAspect="1" noChangeArrowheads="1"/>
          </p:cNvPicPr>
          <p:nvPr/>
        </p:nvPicPr>
        <p:blipFill>
          <a:blip r:embed="rId6">
            <a:lum bright="70000" contrast="-70000"/>
          </a:blip>
          <a:srcRect/>
          <a:stretch>
            <a:fillRect/>
          </a:stretch>
        </p:blipFill>
        <p:spPr bwMode="auto">
          <a:xfrm>
            <a:off x="5214942" y="5572140"/>
            <a:ext cx="1000132" cy="1106813"/>
          </a:xfrm>
          <a:prstGeom prst="rect">
            <a:avLst/>
          </a:prstGeom>
          <a:noFill/>
        </p:spPr>
      </p:pic>
      <p:sp>
        <p:nvSpPr>
          <p:cNvPr id="17" name="Rectangle 16"/>
          <p:cNvSpPr/>
          <p:nvPr/>
        </p:nvSpPr>
        <p:spPr>
          <a:xfrm>
            <a:off x="142876" y="5572140"/>
            <a:ext cx="4500562"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Sivaguru R.M</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sp>
        <p:nvSpPr>
          <p:cNvPr id="18" name="Rectangle 17"/>
          <p:cNvSpPr/>
          <p:nvPr/>
        </p:nvSpPr>
        <p:spPr>
          <a:xfrm>
            <a:off x="142844" y="6000768"/>
            <a:ext cx="4929222" cy="477054"/>
          </a:xfrm>
          <a:prstGeom prst="rect">
            <a:avLst/>
          </a:prstGeom>
          <a:noFill/>
          <a:ln>
            <a:noFill/>
          </a:ln>
        </p:spPr>
        <p:txBody>
          <a:bodyPr wrap="square" lIns="91440" tIns="45720" rIns="91440" bIns="45720">
            <a:spAutoFit/>
          </a:bodyPr>
          <a:lstStyle/>
          <a:p>
            <a:pPr algn="ctr"/>
            <a:r>
              <a:rPr lang="en-US" sz="2500" b="1" cap="none" spc="300" dirty="0" smtClean="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rPr>
              <a:t>Rajalakshmi Institute of Technology</a:t>
            </a:r>
            <a:endParaRPr lang="en-US" sz="2500" b="1" cap="none" spc="300" dirty="0">
              <a:ln w="11430" cmpd="sng">
                <a:noFill/>
                <a:prstDash val="solid"/>
                <a:miter lim="800000"/>
              </a:ln>
              <a:solidFill>
                <a:schemeClr val="bg1"/>
              </a:solidFill>
              <a:effectLst>
                <a:glow rad="45500">
                  <a:schemeClr val="accent1">
                    <a:satMod val="220000"/>
                    <a:alpha val="35000"/>
                  </a:schemeClr>
                </a:glow>
              </a:effectLst>
              <a:latin typeface="Arial" pitchFamily="34" charset="0"/>
              <a:cs typeface="Arial" pitchFamily="34" charset="0"/>
            </a:endParaRPr>
          </a:p>
        </p:txBody>
      </p:sp>
      <p:pic>
        <p:nvPicPr>
          <p:cNvPr id="10" name="Picture 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28384" y="5763447"/>
            <a:ext cx="866775" cy="714375"/>
          </a:xfrm>
          <a:prstGeom prst="rect">
            <a:avLst/>
          </a:prstGeom>
        </p:spPr>
      </p:pic>
      <p:sp>
        <p:nvSpPr>
          <p:cNvPr id="1031" name="TextBox 1030"/>
          <p:cNvSpPr txBox="1"/>
          <p:nvPr/>
        </p:nvSpPr>
        <p:spPr>
          <a:xfrm>
            <a:off x="5138928" y="4224528"/>
            <a:ext cx="3840480" cy="566928"/>
          </a:xfrm>
          <a:prstGeom prst="rect">
            <a:avLst/>
          </a:prstGeom>
          <a:noFill/>
        </p:spPr>
        <p:txBody>
          <a:bodyPr wrap="square" lIns="0" rIns="0" tIns="0" bIns="0" anchor="t">
            <a:spAutoFit/>
          </a:bodyPr>
          <a:lstStyle/>
          <a:p>
            <a:pPr algn="ctr"/>
            <a:r>
              <a:rPr sz="2100" b="1" i="0" spc="500">
                <a:solidFill>
                  <a:srgbClr val="5EEAD4"/>
                </a:solidFill>
                <a:latin typeface="Arial"/>
              </a:rPr>
              <a:t>AURA</a:t>
            </a:r>
          </a:p>
          <a:p>
            <a:pPr algn="ctr"/>
            <a:r>
              <a:rPr sz="850" b="0" i="0" spc="220">
                <a:solidFill>
                  <a:srgbClr val="FFFFFF"/>
                </a:solidFill>
                <a:latin typeface="Arial"/>
              </a:rPr>
              <a:t>ADAPTIVE UNCERTAINTY-AWARE RADIOLOGY ARCHITECTURE</a:t>
            </a:r>
          </a:p>
        </p:txBody>
      </p:sp>
    </p:spTree>
  </p:cSld>
  <p:clrMapOvr>
    <a:masterClrMapping/>
  </p:clrMapOvr>
  <p:transition>
    <p:fad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01  ·  </a:t>
            </a:r>
            <a:r>
              <a:rPr sz="1050" b="1" i="0" spc="280">
                <a:solidFill>
                  <a:srgbClr val="0E7490"/>
                </a:solidFill>
                <a:latin typeface="Arial"/>
              </a:rPr>
              <a:t>THE PROBLEM</a:t>
            </a:r>
          </a:p>
        </p:txBody>
      </p:sp>
      <p:sp>
        <p:nvSpPr>
          <p:cNvPr id="2055" name="TextBox 2054"/>
          <p:cNvSpPr txBox="1"/>
          <p:nvPr/>
        </p:nvSpPr>
        <p:spPr>
          <a:xfrm>
            <a:off x="457200" y="1371600"/>
            <a:ext cx="8412480" cy="475488"/>
          </a:xfrm>
          <a:prstGeom prst="rect">
            <a:avLst/>
          </a:prstGeom>
          <a:noFill/>
        </p:spPr>
        <p:txBody>
          <a:bodyPr wrap="square" lIns="0" rIns="0" tIns="0" bIns="0" anchor="t">
            <a:spAutoFit/>
          </a:bodyPr>
          <a:lstStyle/>
          <a:p>
            <a:pPr algn="l"/>
            <a:r>
              <a:rPr sz="2600" b="1" i="0" spc="-20">
                <a:solidFill>
                  <a:srgbClr val="0F172A"/>
                </a:solidFill>
                <a:latin typeface="Arial"/>
              </a:rPr>
              <a:t>95% accurate. Still not trusted.</a:t>
            </a:r>
          </a:p>
        </p:txBody>
      </p:sp>
      <p:sp>
        <p:nvSpPr>
          <p:cNvPr id="2056" name="TextBox 2055"/>
          <p:cNvSpPr txBox="1"/>
          <p:nvPr/>
        </p:nvSpPr>
        <p:spPr>
          <a:xfrm>
            <a:off x="457200" y="1865376"/>
            <a:ext cx="8229600" cy="256032"/>
          </a:xfrm>
          <a:prstGeom prst="rect">
            <a:avLst/>
          </a:prstGeom>
          <a:noFill/>
        </p:spPr>
        <p:txBody>
          <a:bodyPr wrap="square" lIns="0" rIns="0" tIns="0" bIns="0" anchor="t">
            <a:spAutoFit/>
          </a:bodyPr>
          <a:lstStyle/>
          <a:p>
            <a:pPr algn="l"/>
            <a:r>
              <a:rPr sz="1100" b="0" i="1">
                <a:solidFill>
                  <a:srgbClr val="5B6672"/>
                </a:solidFill>
                <a:latin typeface="Arial"/>
              </a:rPr>
              <a:t>Medical AI passed radiologist-level accuracy in 2017. Adoption still stalls - because accuracy was never the bottleneck.</a:t>
            </a:r>
          </a:p>
        </p:txBody>
      </p:sp>
      <p:sp>
        <p:nvSpPr>
          <p:cNvPr id="2057" name="Rounded Rectangle 2056"/>
          <p:cNvSpPr/>
          <p:nvPr/>
        </p:nvSpPr>
        <p:spPr>
          <a:xfrm>
            <a:off x="457200" y="2286000"/>
            <a:ext cx="3401568" cy="7315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21792" y="2395728"/>
            <a:ext cx="1188720" cy="512064"/>
          </a:xfrm>
          <a:prstGeom prst="rect">
            <a:avLst/>
          </a:prstGeom>
          <a:noFill/>
        </p:spPr>
        <p:txBody>
          <a:bodyPr wrap="square" lIns="0" rIns="0" tIns="0" bIns="0" anchor="ctr">
            <a:spAutoFit/>
          </a:bodyPr>
          <a:lstStyle/>
          <a:p>
            <a:pPr algn="l"/>
            <a:r>
              <a:rPr sz="2000" b="1" i="0">
                <a:solidFill>
                  <a:srgbClr val="0E7490"/>
                </a:solidFill>
                <a:latin typeface="Arial"/>
              </a:rPr>
              <a:t>950+</a:t>
            </a:r>
          </a:p>
        </p:txBody>
      </p:sp>
      <p:sp>
        <p:nvSpPr>
          <p:cNvPr id="2059" name="TextBox 2058"/>
          <p:cNvSpPr txBox="1"/>
          <p:nvPr/>
        </p:nvSpPr>
        <p:spPr>
          <a:xfrm>
            <a:off x="1810512" y="2377440"/>
            <a:ext cx="1938528" cy="566928"/>
          </a:xfrm>
          <a:prstGeom prst="rect">
            <a:avLst/>
          </a:prstGeom>
          <a:noFill/>
        </p:spPr>
        <p:txBody>
          <a:bodyPr wrap="square" lIns="0" rIns="0" tIns="0" bIns="0" anchor="ctr">
            <a:spAutoFit/>
          </a:bodyPr>
          <a:lstStyle/>
          <a:p>
            <a:pPr algn="l">
              <a:lnSpc>
                <a:spcPct val="100000"/>
              </a:lnSpc>
            </a:pPr>
            <a:r>
              <a:rPr sz="850" b="0" i="0">
                <a:solidFill>
                  <a:srgbClr val="5B6672"/>
                </a:solidFill>
                <a:latin typeface="Arial"/>
              </a:rPr>
              <a:t>FDA-cleared AI medical devices; &gt;75% in radiology (2025)</a:t>
            </a:r>
          </a:p>
        </p:txBody>
      </p:sp>
      <p:sp>
        <p:nvSpPr>
          <p:cNvPr id="2060" name="Rounded Rectangle 2059"/>
          <p:cNvSpPr/>
          <p:nvPr/>
        </p:nvSpPr>
        <p:spPr>
          <a:xfrm>
            <a:off x="457200" y="3127248"/>
            <a:ext cx="3401568" cy="7315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1" name="TextBox 2060"/>
          <p:cNvSpPr txBox="1"/>
          <p:nvPr/>
        </p:nvSpPr>
        <p:spPr>
          <a:xfrm>
            <a:off x="621792" y="3236976"/>
            <a:ext cx="1188720" cy="512064"/>
          </a:xfrm>
          <a:prstGeom prst="rect">
            <a:avLst/>
          </a:prstGeom>
          <a:noFill/>
        </p:spPr>
        <p:txBody>
          <a:bodyPr wrap="square" lIns="0" rIns="0" tIns="0" bIns="0" anchor="ctr">
            <a:spAutoFit/>
          </a:bodyPr>
          <a:lstStyle/>
          <a:p>
            <a:pPr algn="l"/>
            <a:r>
              <a:rPr sz="2000" b="1" i="0">
                <a:solidFill>
                  <a:srgbClr val="0E7490"/>
                </a:solidFill>
                <a:latin typeface="Arial"/>
              </a:rPr>
              <a:t>1 : 100k</a:t>
            </a:r>
          </a:p>
        </p:txBody>
      </p:sp>
      <p:sp>
        <p:nvSpPr>
          <p:cNvPr id="2062" name="TextBox 2061"/>
          <p:cNvSpPr txBox="1"/>
          <p:nvPr/>
        </p:nvSpPr>
        <p:spPr>
          <a:xfrm>
            <a:off x="1810512" y="3218688"/>
            <a:ext cx="1938528" cy="566928"/>
          </a:xfrm>
          <a:prstGeom prst="rect">
            <a:avLst/>
          </a:prstGeom>
          <a:noFill/>
        </p:spPr>
        <p:txBody>
          <a:bodyPr wrap="square" lIns="0" rIns="0" tIns="0" bIns="0" anchor="ctr">
            <a:spAutoFit/>
          </a:bodyPr>
          <a:lstStyle/>
          <a:p>
            <a:pPr algn="l">
              <a:lnSpc>
                <a:spcPct val="100000"/>
              </a:lnSpc>
            </a:pPr>
            <a:r>
              <a:rPr sz="850" b="0" i="0">
                <a:solidFill>
                  <a:srgbClr val="5B6672"/>
                </a:solidFill>
                <a:latin typeface="Arial"/>
              </a:rPr>
              <a:t>radiologist-to-population ratio in India (US ~1 : 10k)</a:t>
            </a:r>
          </a:p>
        </p:txBody>
      </p:sp>
      <p:sp>
        <p:nvSpPr>
          <p:cNvPr id="2063" name="Rounded Rectangle 2062"/>
          <p:cNvSpPr/>
          <p:nvPr/>
        </p:nvSpPr>
        <p:spPr>
          <a:xfrm>
            <a:off x="457200" y="3968496"/>
            <a:ext cx="3401568" cy="731520"/>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4" name="TextBox 2063"/>
          <p:cNvSpPr txBox="1"/>
          <p:nvPr/>
        </p:nvSpPr>
        <p:spPr>
          <a:xfrm>
            <a:off x="621792" y="4078224"/>
            <a:ext cx="1188720" cy="512064"/>
          </a:xfrm>
          <a:prstGeom prst="rect">
            <a:avLst/>
          </a:prstGeom>
          <a:noFill/>
        </p:spPr>
        <p:txBody>
          <a:bodyPr wrap="square" lIns="0" rIns="0" tIns="0" bIns="0" anchor="ctr">
            <a:spAutoFit/>
          </a:bodyPr>
          <a:lstStyle/>
          <a:p>
            <a:pPr algn="l"/>
            <a:r>
              <a:rPr sz="2000" b="1" i="0">
                <a:solidFill>
                  <a:srgbClr val="0E7490"/>
                </a:solidFill>
                <a:latin typeface="Arial"/>
              </a:rPr>
              <a:t>0</a:t>
            </a:r>
          </a:p>
        </p:txBody>
      </p:sp>
      <p:sp>
        <p:nvSpPr>
          <p:cNvPr id="2065" name="TextBox 2064"/>
          <p:cNvSpPr txBox="1"/>
          <p:nvPr/>
        </p:nvSpPr>
        <p:spPr>
          <a:xfrm>
            <a:off x="1810512" y="4059935"/>
            <a:ext cx="1938528" cy="566928"/>
          </a:xfrm>
          <a:prstGeom prst="rect">
            <a:avLst/>
          </a:prstGeom>
          <a:noFill/>
        </p:spPr>
        <p:txBody>
          <a:bodyPr wrap="square" lIns="0" rIns="0" tIns="0" bIns="0" anchor="ctr">
            <a:spAutoFit/>
          </a:bodyPr>
          <a:lstStyle/>
          <a:p>
            <a:pPr algn="l">
              <a:lnSpc>
                <a:spcPct val="100000"/>
              </a:lnSpc>
            </a:pPr>
            <a:r>
              <a:rPr sz="850" b="0" i="0">
                <a:solidFill>
                  <a:srgbClr val="5B6672"/>
                </a:solidFill>
                <a:latin typeface="Arial"/>
              </a:rPr>
              <a:t>deployed classifiers that report when their own output should not be trusted</a:t>
            </a:r>
          </a:p>
        </p:txBody>
      </p:sp>
      <p:sp>
        <p:nvSpPr>
          <p:cNvPr id="2066" name="Rounded Rectangle 2065"/>
          <p:cNvSpPr/>
          <p:nvPr/>
        </p:nvSpPr>
        <p:spPr>
          <a:xfrm>
            <a:off x="457200" y="4846320"/>
            <a:ext cx="3401568" cy="640080"/>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67" name="TextBox 2066"/>
          <p:cNvSpPr txBox="1"/>
          <p:nvPr/>
        </p:nvSpPr>
        <p:spPr>
          <a:xfrm>
            <a:off x="603504" y="4937760"/>
            <a:ext cx="3154680" cy="475488"/>
          </a:xfrm>
          <a:prstGeom prst="rect">
            <a:avLst/>
          </a:prstGeom>
          <a:noFill/>
        </p:spPr>
        <p:txBody>
          <a:bodyPr wrap="square" lIns="0" rIns="0" tIns="0" bIns="0" anchor="t">
            <a:spAutoFit/>
          </a:bodyPr>
          <a:lstStyle/>
          <a:p>
            <a:pPr algn="l">
              <a:lnSpc>
                <a:spcPct val="105000"/>
              </a:lnSpc>
            </a:pPr>
            <a:r>
              <a:rPr sz="950" b="1" i="0">
                <a:solidFill>
                  <a:srgbClr val="0F172A"/>
                </a:solidFill>
                <a:latin typeface="Arial"/>
              </a:rPr>
              <a:t>Clinicians ask: </a:t>
            </a:r>
            <a:r>
              <a:rPr sz="950" b="0" i="1">
                <a:solidFill>
                  <a:srgbClr val="0E7490"/>
                </a:solidFill>
                <a:latin typeface="Arial"/>
              </a:rPr>
              <a:t>why? how sure? what would change your mind? what next?</a:t>
            </a:r>
          </a:p>
        </p:txBody>
      </p:sp>
      <p:sp>
        <p:nvSpPr>
          <p:cNvPr id="2068" name="Rounded Rectangle 2067"/>
          <p:cNvSpPr/>
          <p:nvPr/>
        </p:nvSpPr>
        <p:spPr>
          <a:xfrm>
            <a:off x="4160520" y="2286000"/>
            <a:ext cx="100584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9" name="TextBox 2068"/>
          <p:cNvSpPr txBox="1"/>
          <p:nvPr/>
        </p:nvSpPr>
        <p:spPr>
          <a:xfrm>
            <a:off x="4160520" y="2450592"/>
            <a:ext cx="1005840" cy="256032"/>
          </a:xfrm>
          <a:prstGeom prst="rect">
            <a:avLst/>
          </a:prstGeom>
          <a:noFill/>
        </p:spPr>
        <p:txBody>
          <a:bodyPr wrap="square" lIns="0" rIns="0" tIns="0" bIns="0" anchor="t">
            <a:spAutoFit/>
          </a:bodyPr>
          <a:lstStyle/>
          <a:p>
            <a:pPr algn="ctr"/>
            <a:r>
              <a:rPr sz="1050" b="1" i="0">
                <a:solidFill>
                  <a:srgbClr val="0F172A"/>
                </a:solidFill>
                <a:latin typeface="Arial"/>
              </a:rPr>
              <a:t>IMAGE</a:t>
            </a:r>
          </a:p>
        </p:txBody>
      </p:sp>
      <p:cxnSp>
        <p:nvCxnSpPr>
          <p:cNvPr id="2070" name="Connector 2069"/>
          <p:cNvCxnSpPr/>
          <p:nvPr/>
        </p:nvCxnSpPr>
        <p:spPr>
          <a:xfrm>
            <a:off x="5193792" y="2569464"/>
            <a:ext cx="146304" cy="0"/>
          </a:xfrm>
          <a:prstGeom prst="line">
            <a:avLst/>
          </a:prstGeom>
          <a:ln w="15240">
            <a:solidFill>
              <a:srgbClr val="0D9488"/>
            </a:solidFill>
            <a:tailEnd type="triangle" w="med" len="med"/>
          </a:ln>
          <a:effectLst/>
        </p:spPr>
      </p:cxnSp>
      <p:sp>
        <p:nvSpPr>
          <p:cNvPr id="2071" name="Rounded Rectangle 2070"/>
          <p:cNvSpPr/>
          <p:nvPr/>
        </p:nvSpPr>
        <p:spPr>
          <a:xfrm>
            <a:off x="5367528" y="2286000"/>
            <a:ext cx="100584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2" name="TextBox 2071"/>
          <p:cNvSpPr txBox="1"/>
          <p:nvPr/>
        </p:nvSpPr>
        <p:spPr>
          <a:xfrm>
            <a:off x="5367528" y="2450592"/>
            <a:ext cx="1005840" cy="256032"/>
          </a:xfrm>
          <a:prstGeom prst="rect">
            <a:avLst/>
          </a:prstGeom>
          <a:noFill/>
        </p:spPr>
        <p:txBody>
          <a:bodyPr wrap="square" lIns="0" rIns="0" tIns="0" bIns="0" anchor="t">
            <a:spAutoFit/>
          </a:bodyPr>
          <a:lstStyle/>
          <a:p>
            <a:pPr algn="ctr"/>
            <a:r>
              <a:rPr sz="1050" b="1" i="0">
                <a:solidFill>
                  <a:srgbClr val="0F172A"/>
                </a:solidFill>
                <a:latin typeface="Arial"/>
              </a:rPr>
              <a:t>CNN</a:t>
            </a:r>
          </a:p>
        </p:txBody>
      </p:sp>
      <p:cxnSp>
        <p:nvCxnSpPr>
          <p:cNvPr id="2073" name="Connector 2072"/>
          <p:cNvCxnSpPr/>
          <p:nvPr/>
        </p:nvCxnSpPr>
        <p:spPr>
          <a:xfrm>
            <a:off x="6400800" y="2569464"/>
            <a:ext cx="146304" cy="0"/>
          </a:xfrm>
          <a:prstGeom prst="line">
            <a:avLst/>
          </a:prstGeom>
          <a:ln w="15240">
            <a:solidFill>
              <a:srgbClr val="0D9488"/>
            </a:solidFill>
            <a:tailEnd type="triangle" w="med" len="med"/>
          </a:ln>
          <a:effectLst/>
        </p:spPr>
      </p:cxnSp>
      <p:sp>
        <p:nvSpPr>
          <p:cNvPr id="2074" name="Rounded Rectangle 2073"/>
          <p:cNvSpPr/>
          <p:nvPr/>
        </p:nvSpPr>
        <p:spPr>
          <a:xfrm>
            <a:off x="6574536" y="2286000"/>
            <a:ext cx="100584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5" name="TextBox 2074"/>
          <p:cNvSpPr txBox="1"/>
          <p:nvPr/>
        </p:nvSpPr>
        <p:spPr>
          <a:xfrm>
            <a:off x="6574536" y="2450592"/>
            <a:ext cx="1005840" cy="256032"/>
          </a:xfrm>
          <a:prstGeom prst="rect">
            <a:avLst/>
          </a:prstGeom>
          <a:noFill/>
        </p:spPr>
        <p:txBody>
          <a:bodyPr wrap="square" lIns="0" rIns="0" tIns="0" bIns="0" anchor="t">
            <a:spAutoFit/>
          </a:bodyPr>
          <a:lstStyle/>
          <a:p>
            <a:pPr algn="ctr"/>
            <a:r>
              <a:rPr sz="1050" b="1" i="0">
                <a:solidFill>
                  <a:srgbClr val="0F172A"/>
                </a:solidFill>
                <a:latin typeface="Arial"/>
              </a:rPr>
              <a:t>p = 0.87</a:t>
            </a:r>
          </a:p>
        </p:txBody>
      </p:sp>
      <p:cxnSp>
        <p:nvCxnSpPr>
          <p:cNvPr id="2076" name="Connector 2075"/>
          <p:cNvCxnSpPr/>
          <p:nvPr/>
        </p:nvCxnSpPr>
        <p:spPr>
          <a:xfrm>
            <a:off x="7607807" y="2569464"/>
            <a:ext cx="146305" cy="0"/>
          </a:xfrm>
          <a:prstGeom prst="line">
            <a:avLst/>
          </a:prstGeom>
          <a:ln w="15240">
            <a:solidFill>
              <a:srgbClr val="0D9488"/>
            </a:solidFill>
            <a:tailEnd type="triangle" w="med" len="med"/>
          </a:ln>
          <a:effectLst/>
        </p:spPr>
      </p:cxnSp>
      <p:sp>
        <p:nvSpPr>
          <p:cNvPr id="2077" name="Rounded Rectangle 2076"/>
          <p:cNvSpPr/>
          <p:nvPr/>
        </p:nvSpPr>
        <p:spPr>
          <a:xfrm>
            <a:off x="7781544" y="2286000"/>
            <a:ext cx="1005840" cy="5669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8" name="TextBox 2077"/>
          <p:cNvSpPr txBox="1"/>
          <p:nvPr/>
        </p:nvSpPr>
        <p:spPr>
          <a:xfrm>
            <a:off x="7781544" y="2368296"/>
            <a:ext cx="1005840" cy="256032"/>
          </a:xfrm>
          <a:prstGeom prst="rect">
            <a:avLst/>
          </a:prstGeom>
          <a:noFill/>
        </p:spPr>
        <p:txBody>
          <a:bodyPr wrap="square" lIns="0" rIns="0" tIns="0" bIns="0" anchor="t">
            <a:spAutoFit/>
          </a:bodyPr>
          <a:lstStyle/>
          <a:p>
            <a:pPr algn="ctr"/>
            <a:r>
              <a:rPr sz="1050" b="1" i="0">
                <a:solidFill>
                  <a:srgbClr val="0F172A"/>
                </a:solidFill>
                <a:latin typeface="Arial"/>
              </a:rPr>
              <a:t>DOCTOR</a:t>
            </a:r>
          </a:p>
        </p:txBody>
      </p:sp>
      <p:sp>
        <p:nvSpPr>
          <p:cNvPr id="2079" name="TextBox 2078"/>
          <p:cNvSpPr txBox="1"/>
          <p:nvPr/>
        </p:nvSpPr>
        <p:spPr>
          <a:xfrm>
            <a:off x="7781544" y="2601468"/>
            <a:ext cx="1005840" cy="182880"/>
          </a:xfrm>
          <a:prstGeom prst="rect">
            <a:avLst/>
          </a:prstGeom>
          <a:noFill/>
        </p:spPr>
        <p:txBody>
          <a:bodyPr wrap="square" lIns="0" rIns="0" tIns="0" bIns="0" anchor="t">
            <a:spAutoFit/>
          </a:bodyPr>
          <a:lstStyle/>
          <a:p>
            <a:pPr algn="ctr"/>
            <a:r>
              <a:rPr sz="750" b="0" i="0">
                <a:solidFill>
                  <a:srgbClr val="5B6672"/>
                </a:solidFill>
                <a:latin typeface="Arial"/>
              </a:rPr>
              <a:t>alone</a:t>
            </a:r>
          </a:p>
        </p:txBody>
      </p:sp>
      <p:sp>
        <p:nvSpPr>
          <p:cNvPr id="2080" name="Rounded Rectangle 2079"/>
          <p:cNvSpPr/>
          <p:nvPr/>
        </p:nvSpPr>
        <p:spPr>
          <a:xfrm>
            <a:off x="4160520" y="3127248"/>
            <a:ext cx="4526280" cy="1481328"/>
          </a:xfrm>
          <a:prstGeom prst="roundRect">
            <a:avLst>
              <a:gd name="adj" fmla="val 10000"/>
            </a:avLst>
          </a:prstGeom>
          <a:noFill/>
          <a:ln w="15240">
            <a:solidFill>
              <a:srgbClr val="C05B52"/>
            </a:solidFill>
            <a:prstDash val="dash"/>
          </a:ln>
          <a:effectLst/>
        </p:spPr>
        <p:txBody>
          <a:bodyPr rtlCol="0" anchor="ctr"/>
          <a:lstStyle/>
          <a:p>
            <a:pPr algn="ctr"/>
          </a:p>
        </p:txBody>
      </p:sp>
      <p:sp>
        <p:nvSpPr>
          <p:cNvPr id="2081" name="TextBox 2080"/>
          <p:cNvSpPr txBox="1"/>
          <p:nvPr/>
        </p:nvSpPr>
        <p:spPr>
          <a:xfrm>
            <a:off x="4343400" y="3236976"/>
            <a:ext cx="4206240" cy="219456"/>
          </a:xfrm>
          <a:prstGeom prst="rect">
            <a:avLst/>
          </a:prstGeom>
          <a:noFill/>
        </p:spPr>
        <p:txBody>
          <a:bodyPr wrap="square" lIns="0" rIns="0" tIns="0" bIns="0" anchor="t">
            <a:spAutoFit/>
          </a:bodyPr>
          <a:lstStyle/>
          <a:p>
            <a:pPr algn="l"/>
            <a:r>
              <a:rPr sz="900" b="1" i="0" spc="140">
                <a:solidFill>
                  <a:srgbClr val="C05B52"/>
                </a:solidFill>
                <a:latin typeface="Arial"/>
              </a:rPr>
              <a:t>THE REASONING GAP - what one scalar amputates</a:t>
            </a:r>
          </a:p>
        </p:txBody>
      </p:sp>
      <p:sp>
        <p:nvSpPr>
          <p:cNvPr id="2082" name="TextBox 2081"/>
          <p:cNvSpPr txBox="1"/>
          <p:nvPr/>
        </p:nvSpPr>
        <p:spPr>
          <a:xfrm>
            <a:off x="4343400" y="3529584"/>
            <a:ext cx="2194560" cy="201168"/>
          </a:xfrm>
          <a:prstGeom prst="rect">
            <a:avLst/>
          </a:prstGeom>
          <a:noFill/>
        </p:spPr>
        <p:txBody>
          <a:bodyPr wrap="none" lIns="0" rIns="0" tIns="0" bIns="0" anchor="t">
            <a:spAutoFit/>
          </a:bodyPr>
          <a:lstStyle/>
          <a:p>
            <a:pPr algn="l"/>
            <a:r>
              <a:rPr sz="950" b="1" i="0">
                <a:solidFill>
                  <a:srgbClr val="C05B52"/>
                </a:solidFill>
                <a:latin typeface="Arial"/>
              </a:rPr>
              <a:t>✕ </a:t>
            </a:r>
            <a:r>
              <a:rPr sz="880" b="1" i="0">
                <a:solidFill>
                  <a:srgbClr val="0F172A"/>
                </a:solidFill>
                <a:latin typeface="Arial"/>
              </a:rPr>
              <a:t>uncertainty decomposition</a:t>
            </a:r>
          </a:p>
        </p:txBody>
      </p:sp>
      <p:sp>
        <p:nvSpPr>
          <p:cNvPr id="2083" name="TextBox 2082"/>
          <p:cNvSpPr txBox="1"/>
          <p:nvPr/>
        </p:nvSpPr>
        <p:spPr>
          <a:xfrm>
            <a:off x="4498848" y="3712463"/>
            <a:ext cx="2057400" cy="164592"/>
          </a:xfrm>
          <a:prstGeom prst="rect">
            <a:avLst/>
          </a:prstGeom>
          <a:noFill/>
        </p:spPr>
        <p:txBody>
          <a:bodyPr wrap="none" lIns="0" rIns="0" tIns="0" bIns="0" anchor="t">
            <a:spAutoFit/>
          </a:bodyPr>
          <a:lstStyle/>
          <a:p>
            <a:pPr algn="l"/>
            <a:r>
              <a:rPr sz="750" b="0" i="0">
                <a:solidFill>
                  <a:srgbClr val="5B6672"/>
                </a:solidFill>
                <a:latin typeface="Arial"/>
              </a:rPr>
              <a:t>epistemic vs aleatoric</a:t>
            </a:r>
          </a:p>
        </p:txBody>
      </p:sp>
      <p:sp>
        <p:nvSpPr>
          <p:cNvPr id="2084" name="TextBox 2083"/>
          <p:cNvSpPr txBox="1"/>
          <p:nvPr/>
        </p:nvSpPr>
        <p:spPr>
          <a:xfrm>
            <a:off x="6556248" y="3529584"/>
            <a:ext cx="2194560" cy="201168"/>
          </a:xfrm>
          <a:prstGeom prst="rect">
            <a:avLst/>
          </a:prstGeom>
          <a:noFill/>
        </p:spPr>
        <p:txBody>
          <a:bodyPr wrap="none" lIns="0" rIns="0" tIns="0" bIns="0" anchor="t">
            <a:spAutoFit/>
          </a:bodyPr>
          <a:lstStyle/>
          <a:p>
            <a:pPr algn="l"/>
            <a:r>
              <a:rPr sz="950" b="1" i="0">
                <a:solidFill>
                  <a:srgbClr val="C05B52"/>
                </a:solidFill>
                <a:latin typeface="Arial"/>
              </a:rPr>
              <a:t>✕ </a:t>
            </a:r>
            <a:r>
              <a:rPr sz="880" b="1" i="0">
                <a:solidFill>
                  <a:srgbClr val="0F172A"/>
                </a:solidFill>
                <a:latin typeface="Arial"/>
              </a:rPr>
              <a:t>calibration guarantee</a:t>
            </a:r>
          </a:p>
        </p:txBody>
      </p:sp>
      <p:sp>
        <p:nvSpPr>
          <p:cNvPr id="2085" name="TextBox 2084"/>
          <p:cNvSpPr txBox="1"/>
          <p:nvPr/>
        </p:nvSpPr>
        <p:spPr>
          <a:xfrm>
            <a:off x="6711696" y="3712463"/>
            <a:ext cx="2057400" cy="164592"/>
          </a:xfrm>
          <a:prstGeom prst="rect">
            <a:avLst/>
          </a:prstGeom>
          <a:noFill/>
        </p:spPr>
        <p:txBody>
          <a:bodyPr wrap="none" lIns="0" rIns="0" tIns="0" bIns="0" anchor="t">
            <a:spAutoFit/>
          </a:bodyPr>
          <a:lstStyle/>
          <a:p>
            <a:pPr algn="l"/>
            <a:r>
              <a:rPr sz="750" b="0" i="0">
                <a:solidFill>
                  <a:srgbClr val="5B6672"/>
                </a:solidFill>
                <a:latin typeface="Arial"/>
              </a:rPr>
              <a:t>is 0.87 actually 0.87?</a:t>
            </a:r>
          </a:p>
        </p:txBody>
      </p:sp>
      <p:sp>
        <p:nvSpPr>
          <p:cNvPr id="2086" name="TextBox 2085"/>
          <p:cNvSpPr txBox="1"/>
          <p:nvPr/>
        </p:nvSpPr>
        <p:spPr>
          <a:xfrm>
            <a:off x="4343400" y="4032504"/>
            <a:ext cx="2194560" cy="201168"/>
          </a:xfrm>
          <a:prstGeom prst="rect">
            <a:avLst/>
          </a:prstGeom>
          <a:noFill/>
        </p:spPr>
        <p:txBody>
          <a:bodyPr wrap="none" lIns="0" rIns="0" tIns="0" bIns="0" anchor="t">
            <a:spAutoFit/>
          </a:bodyPr>
          <a:lstStyle/>
          <a:p>
            <a:pPr algn="l"/>
            <a:r>
              <a:rPr sz="950" b="1" i="0">
                <a:solidFill>
                  <a:srgbClr val="C05B52"/>
                </a:solidFill>
                <a:latin typeface="Arial"/>
              </a:rPr>
              <a:t>✕ </a:t>
            </a:r>
            <a:r>
              <a:rPr sz="880" b="1" i="0">
                <a:solidFill>
                  <a:srgbClr val="0F172A"/>
                </a:solidFill>
                <a:latin typeface="Arial"/>
              </a:rPr>
              <a:t>counterfactual justification</a:t>
            </a:r>
          </a:p>
        </p:txBody>
      </p:sp>
      <p:sp>
        <p:nvSpPr>
          <p:cNvPr id="2087" name="TextBox 2086"/>
          <p:cNvSpPr txBox="1"/>
          <p:nvPr/>
        </p:nvSpPr>
        <p:spPr>
          <a:xfrm>
            <a:off x="4498848" y="4215384"/>
            <a:ext cx="2057400" cy="164592"/>
          </a:xfrm>
          <a:prstGeom prst="rect">
            <a:avLst/>
          </a:prstGeom>
          <a:noFill/>
        </p:spPr>
        <p:txBody>
          <a:bodyPr wrap="none" lIns="0" rIns="0" tIns="0" bIns="0" anchor="t">
            <a:spAutoFit/>
          </a:bodyPr>
          <a:lstStyle/>
          <a:p>
            <a:pPr algn="l"/>
            <a:r>
              <a:rPr sz="750" b="0" i="0">
                <a:solidFill>
                  <a:srgbClr val="5B6672"/>
                </a:solidFill>
                <a:latin typeface="Arial"/>
              </a:rPr>
              <a:t>what flips the call?</a:t>
            </a:r>
          </a:p>
        </p:txBody>
      </p:sp>
      <p:sp>
        <p:nvSpPr>
          <p:cNvPr id="2088" name="TextBox 2087"/>
          <p:cNvSpPr txBox="1"/>
          <p:nvPr/>
        </p:nvSpPr>
        <p:spPr>
          <a:xfrm>
            <a:off x="6556248" y="4032504"/>
            <a:ext cx="2194560" cy="201168"/>
          </a:xfrm>
          <a:prstGeom prst="rect">
            <a:avLst/>
          </a:prstGeom>
          <a:noFill/>
        </p:spPr>
        <p:txBody>
          <a:bodyPr wrap="none" lIns="0" rIns="0" tIns="0" bIns="0" anchor="t">
            <a:spAutoFit/>
          </a:bodyPr>
          <a:lstStyle/>
          <a:p>
            <a:pPr algn="l"/>
            <a:r>
              <a:rPr sz="950" b="1" i="0">
                <a:solidFill>
                  <a:srgbClr val="C05B52"/>
                </a:solidFill>
                <a:latin typeface="Arial"/>
              </a:rPr>
              <a:t>✕ </a:t>
            </a:r>
            <a:r>
              <a:rPr sz="880" b="1" i="0">
                <a:solidFill>
                  <a:srgbClr val="0F172A"/>
                </a:solidFill>
                <a:latin typeface="Arial"/>
              </a:rPr>
              <a:t>next-step planning</a:t>
            </a:r>
          </a:p>
        </p:txBody>
      </p:sp>
      <p:sp>
        <p:nvSpPr>
          <p:cNvPr id="2089" name="TextBox 2088"/>
          <p:cNvSpPr txBox="1"/>
          <p:nvPr/>
        </p:nvSpPr>
        <p:spPr>
          <a:xfrm>
            <a:off x="6711696" y="4215384"/>
            <a:ext cx="2057400" cy="164592"/>
          </a:xfrm>
          <a:prstGeom prst="rect">
            <a:avLst/>
          </a:prstGeom>
          <a:noFill/>
        </p:spPr>
        <p:txBody>
          <a:bodyPr wrap="none" lIns="0" rIns="0" tIns="0" bIns="0" anchor="t">
            <a:spAutoFit/>
          </a:bodyPr>
          <a:lstStyle/>
          <a:p>
            <a:pPr algn="l"/>
            <a:r>
              <a:rPr sz="750" b="0" i="0">
                <a:solidFill>
                  <a:srgbClr val="5B6672"/>
                </a:solidFill>
                <a:latin typeface="Arial"/>
              </a:rPr>
              <a:t>which test resolves doubt?</a:t>
            </a:r>
          </a:p>
        </p:txBody>
      </p:sp>
      <p:sp>
        <p:nvSpPr>
          <p:cNvPr id="2090" name="TextBox 2089"/>
          <p:cNvSpPr txBox="1"/>
          <p:nvPr/>
        </p:nvSpPr>
        <p:spPr>
          <a:xfrm>
            <a:off x="4160520" y="4846320"/>
            <a:ext cx="4526280" cy="640080"/>
          </a:xfrm>
          <a:prstGeom prst="rect">
            <a:avLst/>
          </a:prstGeom>
          <a:noFill/>
        </p:spPr>
        <p:txBody>
          <a:bodyPr wrap="square" lIns="0" rIns="0" tIns="0" bIns="0" anchor="t">
            <a:spAutoFit/>
          </a:bodyPr>
          <a:lstStyle/>
          <a:p>
            <a:pPr algn="l">
              <a:lnSpc>
                <a:spcPct val="110000"/>
              </a:lnSpc>
            </a:pPr>
            <a:r>
              <a:rPr sz="900" b="0" i="0">
                <a:solidFill>
                  <a:srgbClr val="5B6672"/>
                </a:solidFill>
                <a:latin typeface="Arial"/>
              </a:rPr>
              <a:t>Zech et al. (PLOS Med 2018): these models fail silently under distribution shift - and do not know they failed. </a:t>
            </a:r>
          </a:p>
          <a:p>
            <a:pPr algn="l">
              <a:lnSpc>
                <a:spcPct val="110000"/>
              </a:lnSpc>
            </a:pPr>
            <a:r>
              <a:rPr sz="1000" b="1" i="1">
                <a:solidFill>
                  <a:srgbClr val="0E7490"/>
                </a:solidFill>
                <a:latin typeface="Arial"/>
              </a:rPr>
              <a:t>The gap is epistemic, not statistical.</a:t>
            </a:r>
          </a:p>
        </p:txBody>
      </p:sp>
      <p:sp>
        <p:nvSpPr>
          <p:cNvPr id="2091" name="TextBox 2090"/>
          <p:cNvSpPr txBox="1"/>
          <p:nvPr/>
        </p:nvSpPr>
        <p:spPr>
          <a:xfrm>
            <a:off x="457200" y="5559552"/>
            <a:ext cx="8229600" cy="219456"/>
          </a:xfrm>
          <a:prstGeom prst="rect">
            <a:avLst/>
          </a:prstGeom>
          <a:noFill/>
        </p:spPr>
        <p:txBody>
          <a:bodyPr wrap="square" lIns="0" rIns="0" tIns="0" bIns="0" anchor="t">
            <a:spAutoFit/>
          </a:bodyPr>
          <a:lstStyle/>
          <a:p>
            <a:pPr algn="l"/>
            <a:r>
              <a:rPr sz="800" b="0" i="1">
                <a:solidFill>
                  <a:srgbClr val="5B6672"/>
                </a:solidFill>
                <a:latin typeface="Arial"/>
              </a:rPr>
              <a:t>Rajpurkar et al., arXiv:1711.05225 (2017)  ·  Zech et al., PLOS Medicine 15(11) (2018)  ·  US FDA, AI-Enabled Medical Device List (2025)</a:t>
            </a:r>
          </a:p>
        </p:txBody>
      </p:sp>
    </p:spTree>
  </p:cSld>
  <p:clrMapOvr>
    <a:masterClrMapping/>
  </p:clrMapOvr>
  <p:transition>
    <p:fad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02  ·  </a:t>
            </a:r>
            <a:r>
              <a:rPr sz="1050" b="1" i="0" spc="280">
                <a:solidFill>
                  <a:srgbClr val="0E7490"/>
                </a:solidFill>
                <a:latin typeface="Arial"/>
              </a:rPr>
              <a:t>THE SYSTEM</a:t>
            </a:r>
          </a:p>
        </p:txBody>
      </p:sp>
      <p:sp>
        <p:nvSpPr>
          <p:cNvPr id="2055" name="TextBox 2054"/>
          <p:cNvSpPr txBox="1"/>
          <p:nvPr/>
        </p:nvSpPr>
        <p:spPr>
          <a:xfrm>
            <a:off x="457200" y="1371600"/>
            <a:ext cx="8412480" cy="475488"/>
          </a:xfrm>
          <a:prstGeom prst="rect">
            <a:avLst/>
          </a:prstGeom>
          <a:noFill/>
        </p:spPr>
        <p:txBody>
          <a:bodyPr wrap="square" lIns="0" rIns="0" tIns="0" bIns="0" anchor="t">
            <a:spAutoFit/>
          </a:bodyPr>
          <a:lstStyle/>
          <a:p>
            <a:pPr algn="l"/>
            <a:r>
              <a:rPr sz="2600" b="1" i="0" spc="-20">
                <a:solidFill>
                  <a:srgbClr val="0F172A"/>
                </a:solidFill>
                <a:latin typeface="Arial"/>
              </a:rPr>
              <a:t>A diagnostic operating system, not a classifier</a:t>
            </a:r>
          </a:p>
        </p:txBody>
      </p:sp>
      <p:sp>
        <p:nvSpPr>
          <p:cNvPr id="2056" name="Rounded Rectangle 2055"/>
          <p:cNvSpPr/>
          <p:nvPr/>
        </p:nvSpPr>
        <p:spPr>
          <a:xfrm>
            <a:off x="502920" y="1993392"/>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7" name="TextBox 2056"/>
          <p:cNvSpPr txBox="1"/>
          <p:nvPr/>
        </p:nvSpPr>
        <p:spPr>
          <a:xfrm>
            <a:off x="621792" y="2066544"/>
            <a:ext cx="457200" cy="182880"/>
          </a:xfrm>
          <a:prstGeom prst="rect">
            <a:avLst/>
          </a:prstGeom>
          <a:noFill/>
        </p:spPr>
        <p:txBody>
          <a:bodyPr wrap="square" lIns="0" rIns="0" tIns="0" bIns="0" anchor="t">
            <a:spAutoFit/>
          </a:bodyPr>
          <a:lstStyle/>
          <a:p>
            <a:pPr algn="l"/>
            <a:r>
              <a:rPr sz="800" b="1" i="0">
                <a:solidFill>
                  <a:srgbClr val="0E7490"/>
                </a:solidFill>
                <a:latin typeface="Arial"/>
              </a:rPr>
              <a:t>01</a:t>
            </a:r>
          </a:p>
        </p:txBody>
      </p:sp>
      <p:sp>
        <p:nvSpPr>
          <p:cNvPr id="2058" name="TextBox 2057"/>
          <p:cNvSpPr txBox="1"/>
          <p:nvPr/>
        </p:nvSpPr>
        <p:spPr>
          <a:xfrm>
            <a:off x="621792" y="2231136"/>
            <a:ext cx="1609344" cy="256032"/>
          </a:xfrm>
          <a:prstGeom prst="rect">
            <a:avLst/>
          </a:prstGeom>
          <a:noFill/>
        </p:spPr>
        <p:txBody>
          <a:bodyPr wrap="square" lIns="0" rIns="0" tIns="0" bIns="0" anchor="t">
            <a:spAutoFit/>
          </a:bodyPr>
          <a:lstStyle/>
          <a:p>
            <a:pPr algn="l"/>
            <a:r>
              <a:rPr sz="1150" b="1" i="0">
                <a:solidFill>
                  <a:srgbClr val="0F172A"/>
                </a:solidFill>
                <a:latin typeface="Arial"/>
              </a:rPr>
              <a:t>Image</a:t>
            </a:r>
          </a:p>
        </p:txBody>
      </p:sp>
      <p:sp>
        <p:nvSpPr>
          <p:cNvPr id="2059" name="TextBox 2058"/>
          <p:cNvSpPr txBox="1"/>
          <p:nvPr/>
        </p:nvSpPr>
        <p:spPr>
          <a:xfrm>
            <a:off x="621792" y="2505456"/>
            <a:ext cx="1609344" cy="256032"/>
          </a:xfrm>
          <a:prstGeom prst="rect">
            <a:avLst/>
          </a:prstGeom>
          <a:noFill/>
        </p:spPr>
        <p:txBody>
          <a:bodyPr wrap="square" lIns="0" rIns="0" tIns="0" bIns="0" anchor="t">
            <a:spAutoFit/>
          </a:bodyPr>
          <a:lstStyle/>
          <a:p>
            <a:pPr algn="l"/>
            <a:r>
              <a:rPr sz="850" b="0" i="0">
                <a:solidFill>
                  <a:srgbClr val="5B6672"/>
                </a:solidFill>
                <a:latin typeface="Arial"/>
              </a:rPr>
              <a:t>DICOM + context</a:t>
            </a:r>
          </a:p>
        </p:txBody>
      </p:sp>
      <p:cxnSp>
        <p:nvCxnSpPr>
          <p:cNvPr id="2060" name="Connector 2059"/>
          <p:cNvCxnSpPr/>
          <p:nvPr/>
        </p:nvCxnSpPr>
        <p:spPr>
          <a:xfrm>
            <a:off x="2377440" y="2414016"/>
            <a:ext cx="201168" cy="0"/>
          </a:xfrm>
          <a:prstGeom prst="line">
            <a:avLst/>
          </a:prstGeom>
          <a:ln w="17780">
            <a:solidFill>
              <a:srgbClr val="0D9488"/>
            </a:solidFill>
            <a:tailEnd type="triangle" w="med" len="med"/>
          </a:ln>
          <a:effectLst/>
        </p:spPr>
      </p:cxnSp>
      <p:sp>
        <p:nvSpPr>
          <p:cNvPr id="2061" name="Rounded Rectangle 2060"/>
          <p:cNvSpPr/>
          <p:nvPr/>
        </p:nvSpPr>
        <p:spPr>
          <a:xfrm>
            <a:off x="2606039" y="1993392"/>
            <a:ext cx="1847088" cy="841248"/>
          </a:xfrm>
          <a:prstGeom prst="roundRect">
            <a:avLst>
              <a:gd name="adj" fmla="val 10000"/>
            </a:avLst>
          </a:prstGeom>
          <a:solidFill>
            <a:srgbClr val="ECF8F7"/>
          </a:solidFill>
          <a:ln w="15240">
            <a:solidFill>
              <a:srgbClr val="0D9488"/>
            </a:solidFill>
          </a:ln>
          <a:effectLst/>
        </p:spPr>
        <p:txBody>
          <a:bodyPr rtlCol="0" anchor="ctr"/>
          <a:lstStyle/>
          <a:p>
            <a:pPr algn="ctr"/>
          </a:p>
        </p:txBody>
      </p:sp>
      <p:sp>
        <p:nvSpPr>
          <p:cNvPr id="2062" name="TextBox 2061"/>
          <p:cNvSpPr txBox="1"/>
          <p:nvPr/>
        </p:nvSpPr>
        <p:spPr>
          <a:xfrm>
            <a:off x="2724911" y="2066544"/>
            <a:ext cx="457200" cy="182880"/>
          </a:xfrm>
          <a:prstGeom prst="rect">
            <a:avLst/>
          </a:prstGeom>
          <a:noFill/>
        </p:spPr>
        <p:txBody>
          <a:bodyPr wrap="square" lIns="0" rIns="0" tIns="0" bIns="0" anchor="t">
            <a:spAutoFit/>
          </a:bodyPr>
          <a:lstStyle/>
          <a:p>
            <a:pPr algn="l"/>
            <a:r>
              <a:rPr sz="800" b="1" i="0">
                <a:solidFill>
                  <a:srgbClr val="0E7490"/>
                </a:solidFill>
                <a:latin typeface="Arial"/>
              </a:rPr>
              <a:t>02</a:t>
            </a:r>
          </a:p>
        </p:txBody>
      </p:sp>
      <p:sp>
        <p:nvSpPr>
          <p:cNvPr id="2063" name="TextBox 2062"/>
          <p:cNvSpPr txBox="1"/>
          <p:nvPr/>
        </p:nvSpPr>
        <p:spPr>
          <a:xfrm>
            <a:off x="2724911" y="2231136"/>
            <a:ext cx="1609344" cy="256032"/>
          </a:xfrm>
          <a:prstGeom prst="rect">
            <a:avLst/>
          </a:prstGeom>
          <a:noFill/>
        </p:spPr>
        <p:txBody>
          <a:bodyPr wrap="square" lIns="0" rIns="0" tIns="0" bIns="0" anchor="t">
            <a:spAutoFit/>
          </a:bodyPr>
          <a:lstStyle/>
          <a:p>
            <a:pPr algn="l"/>
            <a:r>
              <a:rPr sz="1150" b="1" i="0">
                <a:solidFill>
                  <a:srgbClr val="0F172A"/>
                </a:solidFill>
                <a:latin typeface="Arial"/>
              </a:rPr>
              <a:t>Quantum encoding</a:t>
            </a:r>
          </a:p>
        </p:txBody>
      </p:sp>
      <p:sp>
        <p:nvSpPr>
          <p:cNvPr id="2064" name="TextBox 2063"/>
          <p:cNvSpPr txBox="1"/>
          <p:nvPr/>
        </p:nvSpPr>
        <p:spPr>
          <a:xfrm>
            <a:off x="2724911" y="2505456"/>
            <a:ext cx="1609344" cy="256032"/>
          </a:xfrm>
          <a:prstGeom prst="rect">
            <a:avLst/>
          </a:prstGeom>
          <a:noFill/>
        </p:spPr>
        <p:txBody>
          <a:bodyPr wrap="square" lIns="0" rIns="0" tIns="0" bIns="0" anchor="t">
            <a:spAutoFit/>
          </a:bodyPr>
          <a:lstStyle/>
          <a:p>
            <a:pPr algn="l"/>
            <a:r>
              <a:rPr sz="850" b="0" i="0">
                <a:solidFill>
                  <a:srgbClr val="5B6672"/>
                </a:solidFill>
                <a:latin typeface="Arial"/>
              </a:rPr>
              <a:t>feature map Uφ(x)</a:t>
            </a:r>
          </a:p>
        </p:txBody>
      </p:sp>
      <p:cxnSp>
        <p:nvCxnSpPr>
          <p:cNvPr id="2065" name="Connector 2064"/>
          <p:cNvCxnSpPr/>
          <p:nvPr/>
        </p:nvCxnSpPr>
        <p:spPr>
          <a:xfrm>
            <a:off x="4480559" y="2414016"/>
            <a:ext cx="201168" cy="0"/>
          </a:xfrm>
          <a:prstGeom prst="line">
            <a:avLst/>
          </a:prstGeom>
          <a:ln w="17780">
            <a:solidFill>
              <a:srgbClr val="0D9488"/>
            </a:solidFill>
            <a:tailEnd type="triangle" w="med" len="med"/>
          </a:ln>
          <a:effectLst/>
        </p:spPr>
      </p:cxnSp>
      <p:sp>
        <p:nvSpPr>
          <p:cNvPr id="2066" name="Rounded Rectangle 2065"/>
          <p:cNvSpPr/>
          <p:nvPr/>
        </p:nvSpPr>
        <p:spPr>
          <a:xfrm>
            <a:off x="4709159" y="1993392"/>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7" name="TextBox 2066"/>
          <p:cNvSpPr txBox="1"/>
          <p:nvPr/>
        </p:nvSpPr>
        <p:spPr>
          <a:xfrm>
            <a:off x="4828031" y="2066544"/>
            <a:ext cx="457200" cy="182880"/>
          </a:xfrm>
          <a:prstGeom prst="rect">
            <a:avLst/>
          </a:prstGeom>
          <a:noFill/>
        </p:spPr>
        <p:txBody>
          <a:bodyPr wrap="square" lIns="0" rIns="0" tIns="0" bIns="0" anchor="t">
            <a:spAutoFit/>
          </a:bodyPr>
          <a:lstStyle/>
          <a:p>
            <a:pPr algn="l"/>
            <a:r>
              <a:rPr sz="800" b="1" i="0">
                <a:solidFill>
                  <a:srgbClr val="0E7490"/>
                </a:solidFill>
                <a:latin typeface="Arial"/>
              </a:rPr>
              <a:t>03</a:t>
            </a:r>
          </a:p>
        </p:txBody>
      </p:sp>
      <p:sp>
        <p:nvSpPr>
          <p:cNvPr id="2068" name="TextBox 2067"/>
          <p:cNvSpPr txBox="1"/>
          <p:nvPr/>
        </p:nvSpPr>
        <p:spPr>
          <a:xfrm>
            <a:off x="4828031" y="2231136"/>
            <a:ext cx="1609344" cy="256032"/>
          </a:xfrm>
          <a:prstGeom prst="rect">
            <a:avLst/>
          </a:prstGeom>
          <a:noFill/>
        </p:spPr>
        <p:txBody>
          <a:bodyPr wrap="square" lIns="0" rIns="0" tIns="0" bIns="0" anchor="t">
            <a:spAutoFit/>
          </a:bodyPr>
          <a:lstStyle/>
          <a:p>
            <a:pPr algn="l"/>
            <a:r>
              <a:rPr sz="1150" b="1" i="0">
                <a:solidFill>
                  <a:srgbClr val="0F172A"/>
                </a:solidFill>
                <a:latin typeface="Arial"/>
              </a:rPr>
              <a:t>Bayesian agents</a:t>
            </a:r>
          </a:p>
        </p:txBody>
      </p:sp>
      <p:sp>
        <p:nvSpPr>
          <p:cNvPr id="2069" name="TextBox 2068"/>
          <p:cNvSpPr txBox="1"/>
          <p:nvPr/>
        </p:nvSpPr>
        <p:spPr>
          <a:xfrm>
            <a:off x="4828031" y="2505456"/>
            <a:ext cx="1609344" cy="256032"/>
          </a:xfrm>
          <a:prstGeom prst="rect">
            <a:avLst/>
          </a:prstGeom>
          <a:noFill/>
        </p:spPr>
        <p:txBody>
          <a:bodyPr wrap="square" lIns="0" rIns="0" tIns="0" bIns="0" anchor="t">
            <a:spAutoFit/>
          </a:bodyPr>
          <a:lstStyle/>
          <a:p>
            <a:pPr algn="l"/>
            <a:r>
              <a:rPr sz="850" b="0" i="0">
                <a:solidFill>
                  <a:srgbClr val="5B6672"/>
                </a:solidFill>
                <a:latin typeface="Arial"/>
              </a:rPr>
              <a:t>belief graph over DDx</a:t>
            </a:r>
          </a:p>
        </p:txBody>
      </p:sp>
      <p:cxnSp>
        <p:nvCxnSpPr>
          <p:cNvPr id="2070" name="Connector 2069"/>
          <p:cNvCxnSpPr/>
          <p:nvPr/>
        </p:nvCxnSpPr>
        <p:spPr>
          <a:xfrm>
            <a:off x="6583680" y="2414016"/>
            <a:ext cx="201168" cy="0"/>
          </a:xfrm>
          <a:prstGeom prst="line">
            <a:avLst/>
          </a:prstGeom>
          <a:ln w="17780">
            <a:solidFill>
              <a:srgbClr val="0D9488"/>
            </a:solidFill>
            <a:tailEnd type="triangle" w="med" len="med"/>
          </a:ln>
          <a:effectLst/>
        </p:spPr>
      </p:cxnSp>
      <p:sp>
        <p:nvSpPr>
          <p:cNvPr id="2071" name="Rounded Rectangle 2070"/>
          <p:cNvSpPr/>
          <p:nvPr/>
        </p:nvSpPr>
        <p:spPr>
          <a:xfrm>
            <a:off x="6812279" y="1993392"/>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2" name="TextBox 2071"/>
          <p:cNvSpPr txBox="1"/>
          <p:nvPr/>
        </p:nvSpPr>
        <p:spPr>
          <a:xfrm>
            <a:off x="6931151" y="2066544"/>
            <a:ext cx="457200" cy="182880"/>
          </a:xfrm>
          <a:prstGeom prst="rect">
            <a:avLst/>
          </a:prstGeom>
          <a:noFill/>
        </p:spPr>
        <p:txBody>
          <a:bodyPr wrap="square" lIns="0" rIns="0" tIns="0" bIns="0" anchor="t">
            <a:spAutoFit/>
          </a:bodyPr>
          <a:lstStyle/>
          <a:p>
            <a:pPr algn="l"/>
            <a:r>
              <a:rPr sz="800" b="1" i="0">
                <a:solidFill>
                  <a:srgbClr val="0E7490"/>
                </a:solidFill>
                <a:latin typeface="Arial"/>
              </a:rPr>
              <a:t>04</a:t>
            </a:r>
          </a:p>
        </p:txBody>
      </p:sp>
      <p:sp>
        <p:nvSpPr>
          <p:cNvPr id="2073" name="TextBox 2072"/>
          <p:cNvSpPr txBox="1"/>
          <p:nvPr/>
        </p:nvSpPr>
        <p:spPr>
          <a:xfrm>
            <a:off x="6931151" y="2231136"/>
            <a:ext cx="1609344" cy="256032"/>
          </a:xfrm>
          <a:prstGeom prst="rect">
            <a:avLst/>
          </a:prstGeom>
          <a:noFill/>
        </p:spPr>
        <p:txBody>
          <a:bodyPr wrap="square" lIns="0" rIns="0" tIns="0" bIns="0" anchor="t">
            <a:spAutoFit/>
          </a:bodyPr>
          <a:lstStyle/>
          <a:p>
            <a:pPr algn="l"/>
            <a:r>
              <a:rPr sz="1150" b="1" i="0">
                <a:solidFill>
                  <a:srgbClr val="0F172A"/>
                </a:solidFill>
                <a:latin typeface="Arial"/>
              </a:rPr>
              <a:t>Calibration</a:t>
            </a:r>
          </a:p>
        </p:txBody>
      </p:sp>
      <p:sp>
        <p:nvSpPr>
          <p:cNvPr id="2074" name="TextBox 2073"/>
          <p:cNvSpPr txBox="1"/>
          <p:nvPr/>
        </p:nvSpPr>
        <p:spPr>
          <a:xfrm>
            <a:off x="6931151" y="2505456"/>
            <a:ext cx="1609344" cy="256032"/>
          </a:xfrm>
          <a:prstGeom prst="rect">
            <a:avLst/>
          </a:prstGeom>
          <a:noFill/>
        </p:spPr>
        <p:txBody>
          <a:bodyPr wrap="square" lIns="0" rIns="0" tIns="0" bIns="0" anchor="t">
            <a:spAutoFit/>
          </a:bodyPr>
          <a:lstStyle/>
          <a:p>
            <a:pPr algn="l"/>
            <a:r>
              <a:rPr sz="850" b="0" i="0">
                <a:solidFill>
                  <a:srgbClr val="5B6672"/>
                </a:solidFill>
                <a:latin typeface="Arial"/>
              </a:rPr>
              <a:t>conformal + temperature</a:t>
            </a:r>
          </a:p>
        </p:txBody>
      </p:sp>
      <p:sp>
        <p:nvSpPr>
          <p:cNvPr id="2075" name="Rounded Rectangle 2074"/>
          <p:cNvSpPr/>
          <p:nvPr/>
        </p:nvSpPr>
        <p:spPr>
          <a:xfrm>
            <a:off x="502920" y="3218688"/>
            <a:ext cx="1847088" cy="841248"/>
          </a:xfrm>
          <a:prstGeom prst="roundRect">
            <a:avLst>
              <a:gd name="adj" fmla="val 10000"/>
            </a:avLst>
          </a:prstGeom>
          <a:solidFill>
            <a:srgbClr val="ECF8F7"/>
          </a:solidFill>
          <a:ln w="15240">
            <a:solidFill>
              <a:srgbClr val="0D9488"/>
            </a:solidFill>
          </a:ln>
          <a:effectLst/>
        </p:spPr>
        <p:txBody>
          <a:bodyPr rtlCol="0" anchor="ctr"/>
          <a:lstStyle/>
          <a:p>
            <a:pPr algn="ctr"/>
          </a:p>
        </p:txBody>
      </p:sp>
      <p:sp>
        <p:nvSpPr>
          <p:cNvPr id="2076" name="TextBox 2075"/>
          <p:cNvSpPr txBox="1"/>
          <p:nvPr/>
        </p:nvSpPr>
        <p:spPr>
          <a:xfrm>
            <a:off x="621792" y="3291840"/>
            <a:ext cx="457200" cy="182880"/>
          </a:xfrm>
          <a:prstGeom prst="rect">
            <a:avLst/>
          </a:prstGeom>
          <a:noFill/>
        </p:spPr>
        <p:txBody>
          <a:bodyPr wrap="square" lIns="0" rIns="0" tIns="0" bIns="0" anchor="t">
            <a:spAutoFit/>
          </a:bodyPr>
          <a:lstStyle/>
          <a:p>
            <a:pPr algn="l"/>
            <a:r>
              <a:rPr sz="800" b="1" i="0">
                <a:solidFill>
                  <a:srgbClr val="0E7490"/>
                </a:solidFill>
                <a:latin typeface="Arial"/>
              </a:rPr>
              <a:t>08</a:t>
            </a:r>
          </a:p>
        </p:txBody>
      </p:sp>
      <p:sp>
        <p:nvSpPr>
          <p:cNvPr id="2077" name="TextBox 2076"/>
          <p:cNvSpPr txBox="1"/>
          <p:nvPr/>
        </p:nvSpPr>
        <p:spPr>
          <a:xfrm>
            <a:off x="621792" y="3456432"/>
            <a:ext cx="1609344" cy="256032"/>
          </a:xfrm>
          <a:prstGeom prst="rect">
            <a:avLst/>
          </a:prstGeom>
          <a:noFill/>
        </p:spPr>
        <p:txBody>
          <a:bodyPr wrap="square" lIns="0" rIns="0" tIns="0" bIns="0" anchor="t">
            <a:spAutoFit/>
          </a:bodyPr>
          <a:lstStyle/>
          <a:p>
            <a:pPr algn="l"/>
            <a:r>
              <a:rPr sz="1150" b="1" i="0">
                <a:solidFill>
                  <a:srgbClr val="0F172A"/>
                </a:solidFill>
                <a:latin typeface="Arial"/>
              </a:rPr>
              <a:t>Clinician</a:t>
            </a:r>
          </a:p>
        </p:txBody>
      </p:sp>
      <p:sp>
        <p:nvSpPr>
          <p:cNvPr id="2078" name="TextBox 2077"/>
          <p:cNvSpPr txBox="1"/>
          <p:nvPr/>
        </p:nvSpPr>
        <p:spPr>
          <a:xfrm>
            <a:off x="621792" y="3730752"/>
            <a:ext cx="1609344" cy="256032"/>
          </a:xfrm>
          <a:prstGeom prst="rect">
            <a:avLst/>
          </a:prstGeom>
          <a:noFill/>
        </p:spPr>
        <p:txBody>
          <a:bodyPr wrap="square" lIns="0" rIns="0" tIns="0" bIns="0" anchor="t">
            <a:spAutoFit/>
          </a:bodyPr>
          <a:lstStyle/>
          <a:p>
            <a:pPr algn="l"/>
            <a:r>
              <a:rPr sz="850" b="0" i="0">
                <a:solidFill>
                  <a:srgbClr val="5B6672"/>
                </a:solidFill>
                <a:latin typeface="Arial"/>
              </a:rPr>
              <a:t>decides - with evidence</a:t>
            </a:r>
          </a:p>
        </p:txBody>
      </p:sp>
      <p:sp>
        <p:nvSpPr>
          <p:cNvPr id="2079" name="Rounded Rectangle 2078"/>
          <p:cNvSpPr/>
          <p:nvPr/>
        </p:nvSpPr>
        <p:spPr>
          <a:xfrm>
            <a:off x="2606039" y="3218688"/>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0" name="TextBox 2079"/>
          <p:cNvSpPr txBox="1"/>
          <p:nvPr/>
        </p:nvSpPr>
        <p:spPr>
          <a:xfrm>
            <a:off x="2724911" y="3291840"/>
            <a:ext cx="457200" cy="182880"/>
          </a:xfrm>
          <a:prstGeom prst="rect">
            <a:avLst/>
          </a:prstGeom>
          <a:noFill/>
        </p:spPr>
        <p:txBody>
          <a:bodyPr wrap="square" lIns="0" rIns="0" tIns="0" bIns="0" anchor="t">
            <a:spAutoFit/>
          </a:bodyPr>
          <a:lstStyle/>
          <a:p>
            <a:pPr algn="l"/>
            <a:r>
              <a:rPr sz="800" b="1" i="0">
                <a:solidFill>
                  <a:srgbClr val="0E7490"/>
                </a:solidFill>
                <a:latin typeface="Arial"/>
              </a:rPr>
              <a:t>07</a:t>
            </a:r>
          </a:p>
        </p:txBody>
      </p:sp>
      <p:sp>
        <p:nvSpPr>
          <p:cNvPr id="2081" name="TextBox 2080"/>
          <p:cNvSpPr txBox="1"/>
          <p:nvPr/>
        </p:nvSpPr>
        <p:spPr>
          <a:xfrm>
            <a:off x="2724911" y="3456432"/>
            <a:ext cx="1609344" cy="256032"/>
          </a:xfrm>
          <a:prstGeom prst="rect">
            <a:avLst/>
          </a:prstGeom>
          <a:noFill/>
        </p:spPr>
        <p:txBody>
          <a:bodyPr wrap="square" lIns="0" rIns="0" tIns="0" bIns="0" anchor="t">
            <a:spAutoFit/>
          </a:bodyPr>
          <a:lstStyle/>
          <a:p>
            <a:pPr algn="l"/>
            <a:r>
              <a:rPr sz="1150" b="1" i="0">
                <a:solidFill>
                  <a:srgbClr val="0F172A"/>
                </a:solidFill>
                <a:latin typeface="Arial"/>
              </a:rPr>
              <a:t>Grounded report</a:t>
            </a:r>
          </a:p>
        </p:txBody>
      </p:sp>
      <p:sp>
        <p:nvSpPr>
          <p:cNvPr id="2082" name="TextBox 2081"/>
          <p:cNvSpPr txBox="1"/>
          <p:nvPr/>
        </p:nvSpPr>
        <p:spPr>
          <a:xfrm>
            <a:off x="2724911" y="3730752"/>
            <a:ext cx="1609344" cy="256032"/>
          </a:xfrm>
          <a:prstGeom prst="rect">
            <a:avLst/>
          </a:prstGeom>
          <a:noFill/>
        </p:spPr>
        <p:txBody>
          <a:bodyPr wrap="square" lIns="0" rIns="0" tIns="0" bIns="0" anchor="t">
            <a:spAutoFit/>
          </a:bodyPr>
          <a:lstStyle/>
          <a:p>
            <a:pPr algn="l"/>
            <a:r>
              <a:rPr sz="850" b="0" i="0">
                <a:solidFill>
                  <a:srgbClr val="5B6672"/>
                </a:solidFill>
                <a:latin typeface="Arial"/>
              </a:rPr>
              <a:t>every claim cited</a:t>
            </a:r>
          </a:p>
        </p:txBody>
      </p:sp>
      <p:cxnSp>
        <p:nvCxnSpPr>
          <p:cNvPr id="2083" name="Connector 2082"/>
          <p:cNvCxnSpPr/>
          <p:nvPr/>
        </p:nvCxnSpPr>
        <p:spPr>
          <a:xfrm flipH="1">
            <a:off x="4480559" y="3639312"/>
            <a:ext cx="201168" cy="0"/>
          </a:xfrm>
          <a:prstGeom prst="line">
            <a:avLst/>
          </a:prstGeom>
          <a:ln w="17780">
            <a:solidFill>
              <a:srgbClr val="0D9488"/>
            </a:solidFill>
            <a:tailEnd type="triangle" w="med" len="med"/>
          </a:ln>
          <a:effectLst/>
        </p:spPr>
      </p:cxnSp>
      <p:sp>
        <p:nvSpPr>
          <p:cNvPr id="2084" name="Rounded Rectangle 2083"/>
          <p:cNvSpPr/>
          <p:nvPr/>
        </p:nvSpPr>
        <p:spPr>
          <a:xfrm>
            <a:off x="4709159" y="3218688"/>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85" name="TextBox 2084"/>
          <p:cNvSpPr txBox="1"/>
          <p:nvPr/>
        </p:nvSpPr>
        <p:spPr>
          <a:xfrm>
            <a:off x="4828031" y="3291840"/>
            <a:ext cx="457200" cy="182880"/>
          </a:xfrm>
          <a:prstGeom prst="rect">
            <a:avLst/>
          </a:prstGeom>
          <a:noFill/>
        </p:spPr>
        <p:txBody>
          <a:bodyPr wrap="square" lIns="0" rIns="0" tIns="0" bIns="0" anchor="t">
            <a:spAutoFit/>
          </a:bodyPr>
          <a:lstStyle/>
          <a:p>
            <a:pPr algn="l"/>
            <a:r>
              <a:rPr sz="800" b="1" i="0">
                <a:solidFill>
                  <a:srgbClr val="0E7490"/>
                </a:solidFill>
                <a:latin typeface="Arial"/>
              </a:rPr>
              <a:t>06</a:t>
            </a:r>
          </a:p>
        </p:txBody>
      </p:sp>
      <p:sp>
        <p:nvSpPr>
          <p:cNvPr id="2086" name="TextBox 2085"/>
          <p:cNvSpPr txBox="1"/>
          <p:nvPr/>
        </p:nvSpPr>
        <p:spPr>
          <a:xfrm>
            <a:off x="4828031" y="3456432"/>
            <a:ext cx="1609344" cy="256032"/>
          </a:xfrm>
          <a:prstGeom prst="rect">
            <a:avLst/>
          </a:prstGeom>
          <a:noFill/>
        </p:spPr>
        <p:txBody>
          <a:bodyPr wrap="square" lIns="0" rIns="0" tIns="0" bIns="0" anchor="t">
            <a:spAutoFit/>
          </a:bodyPr>
          <a:lstStyle/>
          <a:p>
            <a:pPr algn="l"/>
            <a:r>
              <a:rPr sz="1150" b="1" i="0">
                <a:solidFill>
                  <a:srgbClr val="0F172A"/>
                </a:solidFill>
                <a:latin typeface="Arial"/>
              </a:rPr>
              <a:t>Evidence planner</a:t>
            </a:r>
          </a:p>
        </p:txBody>
      </p:sp>
      <p:sp>
        <p:nvSpPr>
          <p:cNvPr id="2087" name="TextBox 2086"/>
          <p:cNvSpPr txBox="1"/>
          <p:nvPr/>
        </p:nvSpPr>
        <p:spPr>
          <a:xfrm>
            <a:off x="4828031" y="3730752"/>
            <a:ext cx="1609344" cy="256032"/>
          </a:xfrm>
          <a:prstGeom prst="rect">
            <a:avLst/>
          </a:prstGeom>
          <a:noFill/>
        </p:spPr>
        <p:txBody>
          <a:bodyPr wrap="square" lIns="0" rIns="0" tIns="0" bIns="0" anchor="t">
            <a:spAutoFit/>
          </a:bodyPr>
          <a:lstStyle/>
          <a:p>
            <a:pPr algn="l"/>
            <a:r>
              <a:rPr sz="850" b="0" i="0">
                <a:solidFill>
                  <a:srgbClr val="5B6672"/>
                </a:solidFill>
                <a:latin typeface="Arial"/>
              </a:rPr>
              <a:t>next test by EIG</a:t>
            </a:r>
          </a:p>
        </p:txBody>
      </p:sp>
      <p:cxnSp>
        <p:nvCxnSpPr>
          <p:cNvPr id="2088" name="Connector 2087"/>
          <p:cNvCxnSpPr/>
          <p:nvPr/>
        </p:nvCxnSpPr>
        <p:spPr>
          <a:xfrm flipH="1">
            <a:off x="6583680" y="3639312"/>
            <a:ext cx="201168" cy="0"/>
          </a:xfrm>
          <a:prstGeom prst="line">
            <a:avLst/>
          </a:prstGeom>
          <a:ln w="17780">
            <a:solidFill>
              <a:srgbClr val="0D9488"/>
            </a:solidFill>
            <a:tailEnd type="triangle" w="med" len="med"/>
          </a:ln>
          <a:effectLst/>
        </p:spPr>
      </p:cxnSp>
      <p:sp>
        <p:nvSpPr>
          <p:cNvPr id="2089" name="Rounded Rectangle 2088"/>
          <p:cNvSpPr/>
          <p:nvPr/>
        </p:nvSpPr>
        <p:spPr>
          <a:xfrm>
            <a:off x="6812279" y="3218688"/>
            <a:ext cx="1847088" cy="84124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0" name="TextBox 2089"/>
          <p:cNvSpPr txBox="1"/>
          <p:nvPr/>
        </p:nvSpPr>
        <p:spPr>
          <a:xfrm>
            <a:off x="6931151" y="3291840"/>
            <a:ext cx="457200" cy="182880"/>
          </a:xfrm>
          <a:prstGeom prst="rect">
            <a:avLst/>
          </a:prstGeom>
          <a:noFill/>
        </p:spPr>
        <p:txBody>
          <a:bodyPr wrap="square" lIns="0" rIns="0" tIns="0" bIns="0" anchor="t">
            <a:spAutoFit/>
          </a:bodyPr>
          <a:lstStyle/>
          <a:p>
            <a:pPr algn="l"/>
            <a:r>
              <a:rPr sz="800" b="1" i="0">
                <a:solidFill>
                  <a:srgbClr val="0E7490"/>
                </a:solidFill>
                <a:latin typeface="Arial"/>
              </a:rPr>
              <a:t>05</a:t>
            </a:r>
          </a:p>
        </p:txBody>
      </p:sp>
      <p:sp>
        <p:nvSpPr>
          <p:cNvPr id="2091" name="TextBox 2090"/>
          <p:cNvSpPr txBox="1"/>
          <p:nvPr/>
        </p:nvSpPr>
        <p:spPr>
          <a:xfrm>
            <a:off x="6931151" y="3456432"/>
            <a:ext cx="1609344" cy="256032"/>
          </a:xfrm>
          <a:prstGeom prst="rect">
            <a:avLst/>
          </a:prstGeom>
          <a:noFill/>
        </p:spPr>
        <p:txBody>
          <a:bodyPr wrap="square" lIns="0" rIns="0" tIns="0" bIns="0" anchor="t">
            <a:spAutoFit/>
          </a:bodyPr>
          <a:lstStyle/>
          <a:p>
            <a:pPr algn="l"/>
            <a:r>
              <a:rPr sz="1150" b="1" i="0">
                <a:solidFill>
                  <a:srgbClr val="0F172A"/>
                </a:solidFill>
                <a:latin typeface="Arial"/>
              </a:rPr>
              <a:t>Counterfactuals</a:t>
            </a:r>
          </a:p>
        </p:txBody>
      </p:sp>
      <p:sp>
        <p:nvSpPr>
          <p:cNvPr id="2092" name="TextBox 2091"/>
          <p:cNvSpPr txBox="1"/>
          <p:nvPr/>
        </p:nvSpPr>
        <p:spPr>
          <a:xfrm>
            <a:off x="6931151" y="3730752"/>
            <a:ext cx="1609344" cy="256032"/>
          </a:xfrm>
          <a:prstGeom prst="rect">
            <a:avLst/>
          </a:prstGeom>
          <a:noFill/>
        </p:spPr>
        <p:txBody>
          <a:bodyPr wrap="square" lIns="0" rIns="0" tIns="0" bIns="0" anchor="t">
            <a:spAutoFit/>
          </a:bodyPr>
          <a:lstStyle/>
          <a:p>
            <a:pPr algn="l"/>
            <a:r>
              <a:rPr sz="850" b="0" i="0">
                <a:solidFill>
                  <a:srgbClr val="5B6672"/>
                </a:solidFill>
                <a:latin typeface="Arial"/>
              </a:rPr>
              <a:t>what flips the call</a:t>
            </a:r>
          </a:p>
        </p:txBody>
      </p:sp>
      <p:cxnSp>
        <p:nvCxnSpPr>
          <p:cNvPr id="2093" name="Connector 2092"/>
          <p:cNvCxnSpPr/>
          <p:nvPr/>
        </p:nvCxnSpPr>
        <p:spPr>
          <a:xfrm>
            <a:off x="7735823" y="2871216"/>
            <a:ext cx="0" cy="310896"/>
          </a:xfrm>
          <a:prstGeom prst="line">
            <a:avLst/>
          </a:prstGeom>
          <a:ln w="17780">
            <a:solidFill>
              <a:srgbClr val="0D9488"/>
            </a:solidFill>
            <a:tailEnd type="triangle" w="med" len="med"/>
          </a:ln>
          <a:effectLst/>
        </p:spPr>
      </p:cxnSp>
      <p:sp>
        <p:nvSpPr>
          <p:cNvPr id="2094" name="TextBox 2093"/>
          <p:cNvSpPr txBox="1"/>
          <p:nvPr/>
        </p:nvSpPr>
        <p:spPr>
          <a:xfrm>
            <a:off x="502920" y="4297680"/>
            <a:ext cx="8138160" cy="219456"/>
          </a:xfrm>
          <a:prstGeom prst="rect">
            <a:avLst/>
          </a:prstGeom>
          <a:noFill/>
        </p:spPr>
        <p:txBody>
          <a:bodyPr wrap="square" lIns="0" rIns="0" tIns="0" bIns="0" anchor="t">
            <a:spAutoFit/>
          </a:bodyPr>
          <a:lstStyle/>
          <a:p>
            <a:pPr algn="l"/>
            <a:r>
              <a:rPr sz="850" b="1" i="0" spc="160">
                <a:solidFill>
                  <a:srgbClr val="0E7490"/>
                </a:solidFill>
                <a:latin typeface="Arial"/>
              </a:rPr>
              <a:t>RUNS AS FIVE LAYERS - NINE REPLACEABLE SERVICES, TYPED CONTRACTS, ASYNC EVENT BUS</a:t>
            </a:r>
          </a:p>
        </p:txBody>
      </p:sp>
      <p:sp>
        <p:nvSpPr>
          <p:cNvPr id="2095" name="Rounded Rectangle 2094"/>
          <p:cNvSpPr/>
          <p:nvPr/>
        </p:nvSpPr>
        <p:spPr>
          <a:xfrm>
            <a:off x="502920" y="4572000"/>
            <a:ext cx="1572768" cy="60350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6" name="TextBox 2095"/>
          <p:cNvSpPr txBox="1"/>
          <p:nvPr/>
        </p:nvSpPr>
        <p:spPr>
          <a:xfrm>
            <a:off x="603504" y="4654296"/>
            <a:ext cx="1371600" cy="182880"/>
          </a:xfrm>
          <a:prstGeom prst="rect">
            <a:avLst/>
          </a:prstGeom>
          <a:noFill/>
        </p:spPr>
        <p:txBody>
          <a:bodyPr wrap="square" lIns="0" rIns="0" tIns="0" bIns="0" anchor="t">
            <a:spAutoFit/>
          </a:bodyPr>
          <a:lstStyle/>
          <a:p>
            <a:pPr algn="l"/>
            <a:r>
              <a:rPr sz="850" b="1" i="0" spc="120">
                <a:solidFill>
                  <a:srgbClr val="0F172A"/>
                </a:solidFill>
                <a:latin typeface="Arial"/>
              </a:rPr>
              <a:t>CLINICAL</a:t>
            </a:r>
          </a:p>
        </p:txBody>
      </p:sp>
      <p:sp>
        <p:nvSpPr>
          <p:cNvPr id="2097" name="TextBox 2096"/>
          <p:cNvSpPr txBox="1"/>
          <p:nvPr/>
        </p:nvSpPr>
        <p:spPr>
          <a:xfrm>
            <a:off x="603504" y="4855464"/>
            <a:ext cx="1389888" cy="274320"/>
          </a:xfrm>
          <a:prstGeom prst="rect">
            <a:avLst/>
          </a:prstGeom>
          <a:noFill/>
        </p:spPr>
        <p:txBody>
          <a:bodyPr wrap="square" lIns="0" rIns="0" tIns="0" bIns="0" anchor="t">
            <a:spAutoFit/>
          </a:bodyPr>
          <a:lstStyle/>
          <a:p>
            <a:pPr algn="l"/>
            <a:r>
              <a:rPr sz="750" b="0" i="0">
                <a:solidFill>
                  <a:srgbClr val="5B6672"/>
                </a:solidFill>
                <a:latin typeface="Arial"/>
              </a:rPr>
              <a:t>dashboard · signing</a:t>
            </a:r>
          </a:p>
        </p:txBody>
      </p:sp>
      <p:sp>
        <p:nvSpPr>
          <p:cNvPr id="2098" name="Rounded Rectangle 2097"/>
          <p:cNvSpPr/>
          <p:nvPr/>
        </p:nvSpPr>
        <p:spPr>
          <a:xfrm>
            <a:off x="2139696" y="4572000"/>
            <a:ext cx="1572768" cy="60350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99" name="TextBox 2098"/>
          <p:cNvSpPr txBox="1"/>
          <p:nvPr/>
        </p:nvSpPr>
        <p:spPr>
          <a:xfrm>
            <a:off x="2240279" y="4654296"/>
            <a:ext cx="1371600" cy="182880"/>
          </a:xfrm>
          <a:prstGeom prst="rect">
            <a:avLst/>
          </a:prstGeom>
          <a:noFill/>
        </p:spPr>
        <p:txBody>
          <a:bodyPr wrap="square" lIns="0" rIns="0" tIns="0" bIns="0" anchor="t">
            <a:spAutoFit/>
          </a:bodyPr>
          <a:lstStyle/>
          <a:p>
            <a:pPr algn="l"/>
            <a:r>
              <a:rPr sz="850" b="1" i="0" spc="120">
                <a:solidFill>
                  <a:srgbClr val="0F172A"/>
                </a:solidFill>
                <a:latin typeface="Arial"/>
              </a:rPr>
              <a:t>KNOWLEDGE</a:t>
            </a:r>
          </a:p>
        </p:txBody>
      </p:sp>
      <p:sp>
        <p:nvSpPr>
          <p:cNvPr id="2100" name="TextBox 2099"/>
          <p:cNvSpPr txBox="1"/>
          <p:nvPr/>
        </p:nvSpPr>
        <p:spPr>
          <a:xfrm>
            <a:off x="2240279" y="4855464"/>
            <a:ext cx="1389888" cy="274320"/>
          </a:xfrm>
          <a:prstGeom prst="rect">
            <a:avLst/>
          </a:prstGeom>
          <a:noFill/>
        </p:spPr>
        <p:txBody>
          <a:bodyPr wrap="square" lIns="0" rIns="0" tIns="0" bIns="0" anchor="t">
            <a:spAutoFit/>
          </a:bodyPr>
          <a:lstStyle/>
          <a:p>
            <a:pPr algn="l"/>
            <a:r>
              <a:rPr sz="750" b="0" i="0">
                <a:solidFill>
                  <a:srgbClr val="5B6672"/>
                </a:solidFill>
                <a:latin typeface="Arial"/>
              </a:rPr>
              <a:t>ontology · memory</a:t>
            </a:r>
          </a:p>
        </p:txBody>
      </p:sp>
      <p:sp>
        <p:nvSpPr>
          <p:cNvPr id="2101" name="Rounded Rectangle 2100"/>
          <p:cNvSpPr/>
          <p:nvPr/>
        </p:nvSpPr>
        <p:spPr>
          <a:xfrm>
            <a:off x="3776472" y="4572000"/>
            <a:ext cx="1572768" cy="60350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102" name="TextBox 2101"/>
          <p:cNvSpPr txBox="1"/>
          <p:nvPr/>
        </p:nvSpPr>
        <p:spPr>
          <a:xfrm>
            <a:off x="3877056" y="4654296"/>
            <a:ext cx="1371600" cy="182880"/>
          </a:xfrm>
          <a:prstGeom prst="rect">
            <a:avLst/>
          </a:prstGeom>
          <a:noFill/>
        </p:spPr>
        <p:txBody>
          <a:bodyPr wrap="square" lIns="0" rIns="0" tIns="0" bIns="0" anchor="t">
            <a:spAutoFit/>
          </a:bodyPr>
          <a:lstStyle/>
          <a:p>
            <a:pPr algn="l"/>
            <a:r>
              <a:rPr sz="850" b="1" i="0" spc="120">
                <a:solidFill>
                  <a:srgbClr val="0F172A"/>
                </a:solidFill>
                <a:latin typeface="Arial"/>
              </a:rPr>
              <a:t>AI</a:t>
            </a:r>
          </a:p>
        </p:txBody>
      </p:sp>
      <p:sp>
        <p:nvSpPr>
          <p:cNvPr id="2103" name="TextBox 2102"/>
          <p:cNvSpPr txBox="1"/>
          <p:nvPr/>
        </p:nvSpPr>
        <p:spPr>
          <a:xfrm>
            <a:off x="3877056" y="4855464"/>
            <a:ext cx="1389888" cy="274320"/>
          </a:xfrm>
          <a:prstGeom prst="rect">
            <a:avLst/>
          </a:prstGeom>
          <a:noFill/>
        </p:spPr>
        <p:txBody>
          <a:bodyPr wrap="square" lIns="0" rIns="0" tIns="0" bIns="0" anchor="t">
            <a:spAutoFit/>
          </a:bodyPr>
          <a:lstStyle/>
          <a:p>
            <a:pPr algn="l"/>
            <a:r>
              <a:rPr sz="750" b="0" i="0">
                <a:solidFill>
                  <a:srgbClr val="5B6672"/>
                </a:solidFill>
                <a:latin typeface="Arial"/>
              </a:rPr>
              <a:t>vision · agents · safety</a:t>
            </a:r>
          </a:p>
        </p:txBody>
      </p:sp>
      <p:sp>
        <p:nvSpPr>
          <p:cNvPr id="2104" name="Rounded Rectangle 2103"/>
          <p:cNvSpPr/>
          <p:nvPr/>
        </p:nvSpPr>
        <p:spPr>
          <a:xfrm>
            <a:off x="5413248" y="4572000"/>
            <a:ext cx="1572768" cy="603504"/>
          </a:xfrm>
          <a:prstGeom prst="roundRect">
            <a:avLst>
              <a:gd name="adj" fmla="val 10000"/>
            </a:avLst>
          </a:prstGeom>
          <a:solidFill>
            <a:srgbClr val="ECF8F7"/>
          </a:solidFill>
          <a:ln w="15240">
            <a:solidFill>
              <a:srgbClr val="0D9488"/>
            </a:solidFill>
          </a:ln>
          <a:effectLst/>
        </p:spPr>
        <p:txBody>
          <a:bodyPr rtlCol="0" anchor="ctr"/>
          <a:lstStyle/>
          <a:p>
            <a:pPr algn="ctr"/>
          </a:p>
        </p:txBody>
      </p:sp>
      <p:sp>
        <p:nvSpPr>
          <p:cNvPr id="2105" name="TextBox 2104"/>
          <p:cNvSpPr txBox="1"/>
          <p:nvPr/>
        </p:nvSpPr>
        <p:spPr>
          <a:xfrm>
            <a:off x="5513832" y="4654296"/>
            <a:ext cx="1371600" cy="182880"/>
          </a:xfrm>
          <a:prstGeom prst="rect">
            <a:avLst/>
          </a:prstGeom>
          <a:noFill/>
        </p:spPr>
        <p:txBody>
          <a:bodyPr wrap="square" lIns="0" rIns="0" tIns="0" bIns="0" anchor="t">
            <a:spAutoFit/>
          </a:bodyPr>
          <a:lstStyle/>
          <a:p>
            <a:pPr algn="l"/>
            <a:r>
              <a:rPr sz="850" b="1" i="0" spc="120">
                <a:solidFill>
                  <a:srgbClr val="0E7490"/>
                </a:solidFill>
                <a:latin typeface="Arial"/>
              </a:rPr>
              <a:t>QUANTUM</a:t>
            </a:r>
          </a:p>
        </p:txBody>
      </p:sp>
      <p:sp>
        <p:nvSpPr>
          <p:cNvPr id="2106" name="TextBox 2105"/>
          <p:cNvSpPr txBox="1"/>
          <p:nvPr/>
        </p:nvSpPr>
        <p:spPr>
          <a:xfrm>
            <a:off x="5513832" y="4855464"/>
            <a:ext cx="1389888" cy="274320"/>
          </a:xfrm>
          <a:prstGeom prst="rect">
            <a:avLst/>
          </a:prstGeom>
          <a:noFill/>
        </p:spPr>
        <p:txBody>
          <a:bodyPr wrap="square" lIns="0" rIns="0" tIns="0" bIns="0" anchor="t">
            <a:spAutoFit/>
          </a:bodyPr>
          <a:lstStyle/>
          <a:p>
            <a:pPr algn="l"/>
            <a:r>
              <a:rPr sz="750" b="0" i="0">
                <a:solidFill>
                  <a:srgbClr val="5B6672"/>
                </a:solidFill>
                <a:latin typeface="Arial"/>
              </a:rPr>
              <a:t>kernels · VQC fusion</a:t>
            </a:r>
          </a:p>
        </p:txBody>
      </p:sp>
      <p:sp>
        <p:nvSpPr>
          <p:cNvPr id="2107" name="Rounded Rectangle 2106"/>
          <p:cNvSpPr/>
          <p:nvPr/>
        </p:nvSpPr>
        <p:spPr>
          <a:xfrm>
            <a:off x="7050024" y="4572000"/>
            <a:ext cx="1572768" cy="60350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108" name="TextBox 2107"/>
          <p:cNvSpPr txBox="1"/>
          <p:nvPr/>
        </p:nvSpPr>
        <p:spPr>
          <a:xfrm>
            <a:off x="7150608" y="4654296"/>
            <a:ext cx="1371600" cy="182880"/>
          </a:xfrm>
          <a:prstGeom prst="rect">
            <a:avLst/>
          </a:prstGeom>
          <a:noFill/>
        </p:spPr>
        <p:txBody>
          <a:bodyPr wrap="square" lIns="0" rIns="0" tIns="0" bIns="0" anchor="t">
            <a:spAutoFit/>
          </a:bodyPr>
          <a:lstStyle/>
          <a:p>
            <a:pPr algn="l"/>
            <a:r>
              <a:rPr sz="850" b="1" i="0" spc="120">
                <a:solidFill>
                  <a:srgbClr val="0F172A"/>
                </a:solidFill>
                <a:latin typeface="Arial"/>
              </a:rPr>
              <a:t>GATEWAY</a:t>
            </a:r>
          </a:p>
        </p:txBody>
      </p:sp>
      <p:sp>
        <p:nvSpPr>
          <p:cNvPr id="2109" name="TextBox 2108"/>
          <p:cNvSpPr txBox="1"/>
          <p:nvPr/>
        </p:nvSpPr>
        <p:spPr>
          <a:xfrm>
            <a:off x="7150608" y="4855464"/>
            <a:ext cx="1389888" cy="274320"/>
          </a:xfrm>
          <a:prstGeom prst="rect">
            <a:avLst/>
          </a:prstGeom>
          <a:noFill/>
        </p:spPr>
        <p:txBody>
          <a:bodyPr wrap="square" lIns="0" rIns="0" tIns="0" bIns="0" anchor="t">
            <a:spAutoFit/>
          </a:bodyPr>
          <a:lstStyle/>
          <a:p>
            <a:pPr algn="l"/>
            <a:r>
              <a:rPr sz="750" b="0" i="0">
                <a:solidFill>
                  <a:srgbClr val="5B6672"/>
                </a:solidFill>
                <a:latin typeface="Arial"/>
              </a:rPr>
              <a:t>PACS-EHR · audit</a:t>
            </a:r>
          </a:p>
        </p:txBody>
      </p:sp>
      <p:sp>
        <p:nvSpPr>
          <p:cNvPr id="2110" name="TextBox 2109"/>
          <p:cNvSpPr txBox="1"/>
          <p:nvPr/>
        </p:nvSpPr>
        <p:spPr>
          <a:xfrm>
            <a:off x="457200" y="5340096"/>
            <a:ext cx="8229600" cy="237744"/>
          </a:xfrm>
          <a:prstGeom prst="rect">
            <a:avLst/>
          </a:prstGeom>
          <a:noFill/>
        </p:spPr>
        <p:txBody>
          <a:bodyPr wrap="square" lIns="0" rIns="0" tIns="0" bIns="0" anchor="t">
            <a:spAutoFit/>
          </a:bodyPr>
          <a:lstStyle/>
          <a:p>
            <a:pPr algn="ctr"/>
            <a:r>
              <a:rPr sz="1000" b="0" i="1">
                <a:solidFill>
                  <a:srgbClr val="0E7490"/>
                </a:solidFill>
                <a:latin typeface="Arial"/>
              </a:rPr>
              <a:t>The clinician is stage 8 - the decision-maker, never a rubber stamp. Every stage is a real, swappable subsystem.</a:t>
            </a:r>
          </a:p>
        </p:txBody>
      </p:sp>
      <p:sp>
        <p:nvSpPr>
          <p:cNvPr id="2111" name="TextBox 2110"/>
          <p:cNvSpPr txBox="1"/>
          <p:nvPr/>
        </p:nvSpPr>
        <p:spPr>
          <a:xfrm>
            <a:off x="457200" y="5559552"/>
            <a:ext cx="8229600" cy="219456"/>
          </a:xfrm>
          <a:prstGeom prst="rect">
            <a:avLst/>
          </a:prstGeom>
          <a:noFill/>
        </p:spPr>
        <p:txBody>
          <a:bodyPr wrap="square" lIns="0" rIns="0" tIns="0" bIns="0" anchor="t">
            <a:spAutoFit/>
          </a:bodyPr>
          <a:lstStyle/>
          <a:p>
            <a:pPr algn="l"/>
            <a:r>
              <a:rPr sz="800" b="0" i="1">
                <a:solidFill>
                  <a:srgbClr val="5B6672"/>
                </a:solidFill>
                <a:latin typeface="Arial"/>
              </a:rPr>
              <a:t>Implemented end-to-end in services/{vision, fusion, safety, explain, recommend, report, memory} - live demo available.</a:t>
            </a:r>
          </a:p>
        </p:txBody>
      </p:sp>
    </p:spTree>
  </p:cSld>
  <p:clrMapOvr>
    <a:masterClrMapping/>
  </p:clrMapOvr>
  <p:transition>
    <p:fade/>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03  ·  </a:t>
            </a:r>
            <a:r>
              <a:rPr sz="1050" b="1" i="0" spc="280">
                <a:solidFill>
                  <a:srgbClr val="0E7490"/>
                </a:solidFill>
                <a:latin typeface="Arial"/>
              </a:rPr>
              <a:t>QUANTUM CORE</a:t>
            </a:r>
          </a:p>
        </p:txBody>
      </p:sp>
      <p:sp>
        <p:nvSpPr>
          <p:cNvPr id="2055" name="TextBox 2054"/>
          <p:cNvSpPr txBox="1"/>
          <p:nvPr/>
        </p:nvSpPr>
        <p:spPr>
          <a:xfrm>
            <a:off x="457200" y="1371600"/>
            <a:ext cx="8412480" cy="475488"/>
          </a:xfrm>
          <a:prstGeom prst="rect">
            <a:avLst/>
          </a:prstGeom>
          <a:noFill/>
        </p:spPr>
        <p:txBody>
          <a:bodyPr wrap="square" lIns="0" rIns="0" tIns="0" bIns="0" anchor="t">
            <a:spAutoFit/>
          </a:bodyPr>
          <a:lstStyle/>
          <a:p>
            <a:pPr algn="l"/>
            <a:r>
              <a:rPr sz="2600" b="1" i="0" spc="-20">
                <a:solidFill>
                  <a:srgbClr val="0F172A"/>
                </a:solidFill>
                <a:latin typeface="Arial"/>
              </a:rPr>
              <a:t>Why Hilbert space - the mathematical case</a:t>
            </a:r>
          </a:p>
        </p:txBody>
      </p:sp>
      <p:sp>
        <p:nvSpPr>
          <p:cNvPr id="2056" name="TextBox 2055"/>
          <p:cNvSpPr txBox="1"/>
          <p:nvPr/>
        </p:nvSpPr>
        <p:spPr>
          <a:xfrm>
            <a:off x="457200" y="1865376"/>
            <a:ext cx="8229600" cy="256032"/>
          </a:xfrm>
          <a:prstGeom prst="rect">
            <a:avLst/>
          </a:prstGeom>
          <a:noFill/>
        </p:spPr>
        <p:txBody>
          <a:bodyPr wrap="square" lIns="0" rIns="0" tIns="0" bIns="0" anchor="t">
            <a:spAutoFit/>
          </a:bodyPr>
          <a:lstStyle/>
          <a:p>
            <a:pPr algn="l"/>
            <a:r>
              <a:rPr sz="1100" b="0" i="1">
                <a:solidFill>
                  <a:srgbClr val="5B6672"/>
                </a:solidFill>
                <a:latin typeface="Arial"/>
              </a:rPr>
              <a:t>The claim is geometric, never about speed - and it is benchmarked, not assumed.</a:t>
            </a:r>
          </a:p>
        </p:txBody>
      </p:sp>
      <p:sp>
        <p:nvSpPr>
          <p:cNvPr id="2057" name="Rounded Rectangle 2056"/>
          <p:cNvSpPr/>
          <p:nvPr/>
        </p:nvSpPr>
        <p:spPr>
          <a:xfrm>
            <a:off x="457200" y="2267712"/>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8" name="TextBox 2057"/>
          <p:cNvSpPr txBox="1"/>
          <p:nvPr/>
        </p:nvSpPr>
        <p:spPr>
          <a:xfrm>
            <a:off x="621792" y="2318004"/>
            <a:ext cx="3291840" cy="219456"/>
          </a:xfrm>
          <a:prstGeom prst="rect">
            <a:avLst/>
          </a:prstGeom>
          <a:noFill/>
        </p:spPr>
        <p:txBody>
          <a:bodyPr wrap="square" lIns="0" rIns="0" tIns="0" bIns="0" anchor="t">
            <a:spAutoFit/>
          </a:bodyPr>
          <a:lstStyle/>
          <a:p>
            <a:pPr algn="l"/>
            <a:r>
              <a:rPr sz="1150" b="1" i="0">
                <a:solidFill>
                  <a:srgbClr val="0E7490"/>
                </a:solidFill>
                <a:latin typeface="Cambria"/>
              </a:rPr>
              <a:t>x ∈ R⁸</a:t>
            </a:r>
          </a:p>
        </p:txBody>
      </p:sp>
      <p:sp>
        <p:nvSpPr>
          <p:cNvPr id="2059" name="TextBox 2058"/>
          <p:cNvSpPr txBox="1"/>
          <p:nvPr/>
        </p:nvSpPr>
        <p:spPr>
          <a:xfrm>
            <a:off x="621792" y="2542032"/>
            <a:ext cx="3310128" cy="201168"/>
          </a:xfrm>
          <a:prstGeom prst="rect">
            <a:avLst/>
          </a:prstGeom>
          <a:noFill/>
        </p:spPr>
        <p:txBody>
          <a:bodyPr wrap="square" lIns="0" rIns="0" tIns="0" bIns="0" anchor="t">
            <a:spAutoFit/>
          </a:bodyPr>
          <a:lstStyle/>
          <a:p>
            <a:pPr algn="l"/>
            <a:r>
              <a:rPr sz="780" b="0" i="0">
                <a:solidFill>
                  <a:srgbClr val="5B6672"/>
                </a:solidFill>
                <a:latin typeface="Arial"/>
              </a:rPr>
              <a:t>compressed evidence vector - 8 clinical channels, never raw pixels</a:t>
            </a:r>
          </a:p>
        </p:txBody>
      </p:sp>
      <p:cxnSp>
        <p:nvCxnSpPr>
          <p:cNvPr id="2060" name="Connector 2059"/>
          <p:cNvCxnSpPr/>
          <p:nvPr/>
        </p:nvCxnSpPr>
        <p:spPr>
          <a:xfrm>
            <a:off x="2258568" y="2779776"/>
            <a:ext cx="0" cy="96012"/>
          </a:xfrm>
          <a:prstGeom prst="line">
            <a:avLst/>
          </a:prstGeom>
          <a:ln w="15240">
            <a:solidFill>
              <a:srgbClr val="0D9488"/>
            </a:solidFill>
            <a:tailEnd type="triangle" w="med" len="med"/>
          </a:ln>
          <a:effectLst/>
        </p:spPr>
      </p:cxnSp>
      <p:sp>
        <p:nvSpPr>
          <p:cNvPr id="2061" name="Rounded Rectangle 2060"/>
          <p:cNvSpPr/>
          <p:nvPr/>
        </p:nvSpPr>
        <p:spPr>
          <a:xfrm>
            <a:off x="457200" y="2880360"/>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2" name="TextBox 2061"/>
          <p:cNvSpPr txBox="1"/>
          <p:nvPr/>
        </p:nvSpPr>
        <p:spPr>
          <a:xfrm>
            <a:off x="621792" y="2930652"/>
            <a:ext cx="3291840" cy="219456"/>
          </a:xfrm>
          <a:prstGeom prst="rect">
            <a:avLst/>
          </a:prstGeom>
          <a:noFill/>
        </p:spPr>
        <p:txBody>
          <a:bodyPr wrap="square" lIns="0" rIns="0" tIns="0" bIns="0" anchor="t">
            <a:spAutoFit/>
          </a:bodyPr>
          <a:lstStyle/>
          <a:p>
            <a:pPr algn="l"/>
            <a:r>
              <a:rPr sz="1150" b="1" i="0">
                <a:solidFill>
                  <a:srgbClr val="0E7490"/>
                </a:solidFill>
                <a:latin typeface="Cambria"/>
              </a:rPr>
              <a:t>Uφ(x) |0⟩⊗⁸</a:t>
            </a:r>
          </a:p>
        </p:txBody>
      </p:sp>
      <p:sp>
        <p:nvSpPr>
          <p:cNvPr id="2063" name="TextBox 2062"/>
          <p:cNvSpPr txBox="1"/>
          <p:nvPr/>
        </p:nvSpPr>
        <p:spPr>
          <a:xfrm>
            <a:off x="621792" y="3154679"/>
            <a:ext cx="3310128" cy="201168"/>
          </a:xfrm>
          <a:prstGeom prst="rect">
            <a:avLst/>
          </a:prstGeom>
          <a:noFill/>
        </p:spPr>
        <p:txBody>
          <a:bodyPr wrap="square" lIns="0" rIns="0" tIns="0" bIns="0" anchor="t">
            <a:spAutoFit/>
          </a:bodyPr>
          <a:lstStyle/>
          <a:p>
            <a:pPr algn="l"/>
            <a:r>
              <a:rPr sz="780" b="0" i="0">
                <a:solidFill>
                  <a:srgbClr val="5B6672"/>
                </a:solidFill>
                <a:latin typeface="Arial"/>
              </a:rPr>
              <a:t>parameterized quantum circuit angle-encodes evidence</a:t>
            </a:r>
          </a:p>
        </p:txBody>
      </p:sp>
      <p:cxnSp>
        <p:nvCxnSpPr>
          <p:cNvPr id="2064" name="Connector 2063"/>
          <p:cNvCxnSpPr/>
          <p:nvPr/>
        </p:nvCxnSpPr>
        <p:spPr>
          <a:xfrm>
            <a:off x="2258568" y="3392424"/>
            <a:ext cx="0" cy="96012"/>
          </a:xfrm>
          <a:prstGeom prst="line">
            <a:avLst/>
          </a:prstGeom>
          <a:ln w="15240">
            <a:solidFill>
              <a:srgbClr val="0D9488"/>
            </a:solidFill>
            <a:tailEnd type="triangle" w="med" len="med"/>
          </a:ln>
          <a:effectLst/>
        </p:spPr>
      </p:cxnSp>
      <p:sp>
        <p:nvSpPr>
          <p:cNvPr id="2065" name="Rounded Rectangle 2064"/>
          <p:cNvSpPr/>
          <p:nvPr/>
        </p:nvSpPr>
        <p:spPr>
          <a:xfrm>
            <a:off x="457200" y="3493008"/>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6" name="TextBox 2065"/>
          <p:cNvSpPr txBox="1"/>
          <p:nvPr/>
        </p:nvSpPr>
        <p:spPr>
          <a:xfrm>
            <a:off x="621792" y="3543300"/>
            <a:ext cx="3291840" cy="219456"/>
          </a:xfrm>
          <a:prstGeom prst="rect">
            <a:avLst/>
          </a:prstGeom>
          <a:noFill/>
        </p:spPr>
        <p:txBody>
          <a:bodyPr wrap="square" lIns="0" rIns="0" tIns="0" bIns="0" anchor="t">
            <a:spAutoFit/>
          </a:bodyPr>
          <a:lstStyle/>
          <a:p>
            <a:pPr algn="l"/>
            <a:r>
              <a:rPr sz="1150" b="1" i="0">
                <a:solidFill>
                  <a:srgbClr val="0E7490"/>
                </a:solidFill>
                <a:latin typeface="Cambria"/>
              </a:rPr>
              <a:t>|φ(x)⟩ ∈ H,  dim = 2⁸</a:t>
            </a:r>
          </a:p>
        </p:txBody>
      </p:sp>
      <p:sp>
        <p:nvSpPr>
          <p:cNvPr id="2067" name="TextBox 2066"/>
          <p:cNvSpPr txBox="1"/>
          <p:nvPr/>
        </p:nvSpPr>
        <p:spPr>
          <a:xfrm>
            <a:off x="621792" y="3767328"/>
            <a:ext cx="3310128" cy="201168"/>
          </a:xfrm>
          <a:prstGeom prst="rect">
            <a:avLst/>
          </a:prstGeom>
          <a:noFill/>
        </p:spPr>
        <p:txBody>
          <a:bodyPr wrap="square" lIns="0" rIns="0" tIns="0" bIns="0" anchor="t">
            <a:spAutoFit/>
          </a:bodyPr>
          <a:lstStyle/>
          <a:p>
            <a:pPr algn="l"/>
            <a:r>
              <a:rPr sz="780" b="0" i="0">
                <a:solidFill>
                  <a:srgbClr val="5B6672"/>
                </a:solidFill>
                <a:latin typeface="Arial"/>
              </a:rPr>
              <a:t>entangling layers spread data across a 256-dim state space</a:t>
            </a:r>
          </a:p>
        </p:txBody>
      </p:sp>
      <p:cxnSp>
        <p:nvCxnSpPr>
          <p:cNvPr id="2068" name="Connector 2067"/>
          <p:cNvCxnSpPr/>
          <p:nvPr/>
        </p:nvCxnSpPr>
        <p:spPr>
          <a:xfrm>
            <a:off x="2258568" y="4005072"/>
            <a:ext cx="0" cy="96011"/>
          </a:xfrm>
          <a:prstGeom prst="line">
            <a:avLst/>
          </a:prstGeom>
          <a:ln w="15240">
            <a:solidFill>
              <a:srgbClr val="0D9488"/>
            </a:solidFill>
            <a:tailEnd type="triangle" w="med" len="med"/>
          </a:ln>
          <a:effectLst/>
        </p:spPr>
      </p:cxnSp>
      <p:sp>
        <p:nvSpPr>
          <p:cNvPr id="2069" name="Rounded Rectangle 2068"/>
          <p:cNvSpPr/>
          <p:nvPr/>
        </p:nvSpPr>
        <p:spPr>
          <a:xfrm>
            <a:off x="457200" y="4105656"/>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0" name="TextBox 2069"/>
          <p:cNvSpPr txBox="1"/>
          <p:nvPr/>
        </p:nvSpPr>
        <p:spPr>
          <a:xfrm>
            <a:off x="621792" y="4155948"/>
            <a:ext cx="3291840" cy="219456"/>
          </a:xfrm>
          <a:prstGeom prst="rect">
            <a:avLst/>
          </a:prstGeom>
          <a:noFill/>
        </p:spPr>
        <p:txBody>
          <a:bodyPr wrap="square" lIns="0" rIns="0" tIns="0" bIns="0" anchor="t">
            <a:spAutoFit/>
          </a:bodyPr>
          <a:lstStyle/>
          <a:p>
            <a:pPr algn="l"/>
            <a:r>
              <a:rPr sz="1150" b="1" i="0">
                <a:solidFill>
                  <a:srgbClr val="0E7490"/>
                </a:solidFill>
                <a:latin typeface="Cambria"/>
              </a:rPr>
              <a:t>k(x, x′) = |⟨φ(x)|φ(x′)⟩|²</a:t>
            </a:r>
          </a:p>
        </p:txBody>
      </p:sp>
      <p:sp>
        <p:nvSpPr>
          <p:cNvPr id="2071" name="TextBox 2070"/>
          <p:cNvSpPr txBox="1"/>
          <p:nvPr/>
        </p:nvSpPr>
        <p:spPr>
          <a:xfrm>
            <a:off x="621792" y="4379976"/>
            <a:ext cx="3310128" cy="201168"/>
          </a:xfrm>
          <a:prstGeom prst="rect">
            <a:avLst/>
          </a:prstGeom>
          <a:noFill/>
        </p:spPr>
        <p:txBody>
          <a:bodyPr wrap="square" lIns="0" rIns="0" tIns="0" bIns="0" anchor="t">
            <a:spAutoFit/>
          </a:bodyPr>
          <a:lstStyle/>
          <a:p>
            <a:pPr algn="l"/>
            <a:r>
              <a:rPr sz="780" b="0" i="0">
                <a:solidFill>
                  <a:srgbClr val="5B6672"/>
                </a:solidFill>
                <a:latin typeface="Arial"/>
              </a:rPr>
              <a:t>quantum kernel - fidelity between diagnostic states</a:t>
            </a:r>
          </a:p>
        </p:txBody>
      </p:sp>
      <p:cxnSp>
        <p:nvCxnSpPr>
          <p:cNvPr id="2072" name="Connector 2071"/>
          <p:cNvCxnSpPr/>
          <p:nvPr/>
        </p:nvCxnSpPr>
        <p:spPr>
          <a:xfrm>
            <a:off x="2258568" y="4617720"/>
            <a:ext cx="0" cy="96012"/>
          </a:xfrm>
          <a:prstGeom prst="line">
            <a:avLst/>
          </a:prstGeom>
          <a:ln w="15240">
            <a:solidFill>
              <a:srgbClr val="0D9488"/>
            </a:solidFill>
            <a:tailEnd type="triangle" w="med" len="med"/>
          </a:ln>
          <a:effectLst/>
        </p:spPr>
      </p:cxnSp>
      <p:sp>
        <p:nvSpPr>
          <p:cNvPr id="2073" name="Rounded Rectangle 2072"/>
          <p:cNvSpPr/>
          <p:nvPr/>
        </p:nvSpPr>
        <p:spPr>
          <a:xfrm>
            <a:off x="457200" y="4718304"/>
            <a:ext cx="3611880" cy="5120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74" name="TextBox 2073"/>
          <p:cNvSpPr txBox="1"/>
          <p:nvPr/>
        </p:nvSpPr>
        <p:spPr>
          <a:xfrm>
            <a:off x="621792" y="4768596"/>
            <a:ext cx="3291840" cy="219456"/>
          </a:xfrm>
          <a:prstGeom prst="rect">
            <a:avLst/>
          </a:prstGeom>
          <a:noFill/>
        </p:spPr>
        <p:txBody>
          <a:bodyPr wrap="square" lIns="0" rIns="0" tIns="0" bIns="0" anchor="t">
            <a:spAutoFit/>
          </a:bodyPr>
          <a:lstStyle/>
          <a:p>
            <a:pPr algn="l"/>
            <a:r>
              <a:rPr sz="1150" b="1" i="0">
                <a:solidFill>
                  <a:srgbClr val="0E7490"/>
                </a:solidFill>
                <a:latin typeface="Cambria"/>
              </a:rPr>
              <a:t>p(d | e)  via VQC fusion</a:t>
            </a:r>
          </a:p>
        </p:txBody>
      </p:sp>
      <p:sp>
        <p:nvSpPr>
          <p:cNvPr id="2075" name="TextBox 2074"/>
          <p:cNvSpPr txBox="1"/>
          <p:nvPr/>
        </p:nvSpPr>
        <p:spPr>
          <a:xfrm>
            <a:off x="621792" y="4992624"/>
            <a:ext cx="3310128" cy="201168"/>
          </a:xfrm>
          <a:prstGeom prst="rect">
            <a:avLst/>
          </a:prstGeom>
          <a:noFill/>
        </p:spPr>
        <p:txBody>
          <a:bodyPr wrap="square" lIns="0" rIns="0" tIns="0" bIns="0" anchor="t">
            <a:spAutoFit/>
          </a:bodyPr>
          <a:lstStyle/>
          <a:p>
            <a:pPr algn="l"/>
            <a:r>
              <a:rPr sz="780" b="0" i="0">
                <a:solidFill>
                  <a:srgbClr val="5B6672"/>
                </a:solidFill>
                <a:latin typeface="Arial"/>
              </a:rPr>
              <a:t>hybrid Bayesian update over the differential</a:t>
            </a:r>
          </a:p>
        </p:txBody>
      </p:sp>
      <p:sp>
        <p:nvSpPr>
          <p:cNvPr id="2076" name="Rounded Rectangle 2075"/>
          <p:cNvSpPr/>
          <p:nvPr/>
        </p:nvSpPr>
        <p:spPr>
          <a:xfrm>
            <a:off x="4343400" y="2267712"/>
            <a:ext cx="4343400" cy="1389888"/>
          </a:xfrm>
          <a:prstGeom prst="roundRect">
            <a:avLst>
              <a:gd name="adj" fmla="val 10000"/>
            </a:avLst>
          </a:prstGeom>
          <a:solidFill>
            <a:srgbClr val="ECF8F7"/>
          </a:solidFill>
          <a:ln w="13970">
            <a:solidFill>
              <a:srgbClr val="0D9488"/>
            </a:solidFill>
          </a:ln>
          <a:effectLst/>
        </p:spPr>
        <p:txBody>
          <a:bodyPr rtlCol="0" anchor="ctr"/>
          <a:lstStyle/>
          <a:p>
            <a:pPr algn="ctr"/>
          </a:p>
        </p:txBody>
      </p:sp>
      <p:sp>
        <p:nvSpPr>
          <p:cNvPr id="2077" name="TextBox 2076"/>
          <p:cNvSpPr txBox="1"/>
          <p:nvPr/>
        </p:nvSpPr>
        <p:spPr>
          <a:xfrm>
            <a:off x="4572000" y="2395728"/>
            <a:ext cx="3931920" cy="237744"/>
          </a:xfrm>
          <a:prstGeom prst="rect">
            <a:avLst/>
          </a:prstGeom>
          <a:noFill/>
        </p:spPr>
        <p:txBody>
          <a:bodyPr wrap="square" lIns="0" rIns="0" tIns="0" bIns="0" anchor="t">
            <a:spAutoFit/>
          </a:bodyPr>
          <a:lstStyle/>
          <a:p>
            <a:pPr algn="l"/>
            <a:r>
              <a:rPr sz="900" b="1" i="0" spc="220">
                <a:solidFill>
                  <a:srgbClr val="0E7490"/>
                </a:solidFill>
                <a:latin typeface="Arial"/>
              </a:rPr>
              <a:t>ENTANGLING FEATURE MAP</a:t>
            </a:r>
          </a:p>
        </p:txBody>
      </p:sp>
      <p:sp>
        <p:nvSpPr>
          <p:cNvPr id="2078" name="TextBox 2077"/>
          <p:cNvSpPr txBox="1"/>
          <p:nvPr/>
        </p:nvSpPr>
        <p:spPr>
          <a:xfrm>
            <a:off x="4572000" y="2651760"/>
            <a:ext cx="3931920" cy="365760"/>
          </a:xfrm>
          <a:prstGeom prst="rect">
            <a:avLst/>
          </a:prstGeom>
          <a:noFill/>
        </p:spPr>
        <p:txBody>
          <a:bodyPr wrap="square" lIns="0" rIns="0" tIns="0" bIns="0" anchor="t">
            <a:spAutoFit/>
          </a:bodyPr>
          <a:lstStyle/>
          <a:p>
            <a:pPr algn="ctr"/>
            <a:r>
              <a:rPr sz="1450" b="1" i="0">
                <a:solidFill>
                  <a:srgbClr val="0F172A"/>
                </a:solidFill>
                <a:latin typeface="Cambria"/>
              </a:rPr>
              <a:t>Uφ(x) = exp( i Σ_S φ_S(x) Π_k∈S Z_k )</a:t>
            </a:r>
          </a:p>
        </p:txBody>
      </p:sp>
      <p:sp>
        <p:nvSpPr>
          <p:cNvPr id="2079" name="TextBox 2078"/>
          <p:cNvSpPr txBox="1"/>
          <p:nvPr/>
        </p:nvSpPr>
        <p:spPr>
          <a:xfrm>
            <a:off x="4572000" y="3090672"/>
            <a:ext cx="3913632" cy="512064"/>
          </a:xfrm>
          <a:prstGeom prst="rect">
            <a:avLst/>
          </a:prstGeom>
          <a:noFill/>
        </p:spPr>
        <p:txBody>
          <a:bodyPr wrap="square" lIns="0" rIns="0" tIns="0" bIns="0" anchor="t">
            <a:spAutoFit/>
          </a:bodyPr>
          <a:lstStyle/>
          <a:p>
            <a:pPr algn="l">
              <a:lnSpc>
                <a:spcPct val="105000"/>
              </a:lnSpc>
            </a:pPr>
            <a:r>
              <a:rPr sz="900" b="0" i="0">
                <a:solidFill>
                  <a:srgbClr val="5B6672"/>
                </a:solidFill>
                <a:latin typeface="Arial"/>
              </a:rPr>
              <a:t>Second-order phases φ_{jk}(x) = (π − x_j)(π − x_k) write pairwise evidence interactions - e.g. opacity × fever - directly into the state.</a:t>
            </a:r>
          </a:p>
        </p:txBody>
      </p:sp>
      <p:sp>
        <p:nvSpPr>
          <p:cNvPr id="2080" name="Rounded Rectangle 2079"/>
          <p:cNvSpPr/>
          <p:nvPr/>
        </p:nvSpPr>
        <p:spPr>
          <a:xfrm>
            <a:off x="4343400" y="3785615"/>
            <a:ext cx="4343400" cy="14813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81" name="TextBox 2080"/>
          <p:cNvSpPr txBox="1"/>
          <p:nvPr/>
        </p:nvSpPr>
        <p:spPr>
          <a:xfrm>
            <a:off x="4572000" y="3895344"/>
            <a:ext cx="3931920" cy="237744"/>
          </a:xfrm>
          <a:prstGeom prst="rect">
            <a:avLst/>
          </a:prstGeom>
          <a:noFill/>
        </p:spPr>
        <p:txBody>
          <a:bodyPr wrap="square" lIns="0" rIns="0" tIns="0" bIns="0" anchor="t">
            <a:spAutoFit/>
          </a:bodyPr>
          <a:lstStyle/>
          <a:p>
            <a:pPr algn="l"/>
            <a:r>
              <a:rPr sz="900" b="1" i="0" spc="160">
                <a:solidFill>
                  <a:srgbClr val="0E7490"/>
                </a:solidFill>
                <a:latin typeface="Arial"/>
              </a:rPr>
              <a:t>THE HONEST CLAIM - AND THE BENCHMARK LAW</a:t>
            </a:r>
          </a:p>
        </p:txBody>
      </p:sp>
      <p:sp>
        <p:nvSpPr>
          <p:cNvPr id="2082" name="TextBox 2081"/>
          <p:cNvSpPr txBox="1"/>
          <p:nvPr/>
        </p:nvSpPr>
        <p:spPr>
          <a:xfrm>
            <a:off x="4572000" y="4151376"/>
            <a:ext cx="3913632" cy="1060704"/>
          </a:xfrm>
          <a:prstGeom prst="rect">
            <a:avLst/>
          </a:prstGeom>
          <a:noFill/>
        </p:spPr>
        <p:txBody>
          <a:bodyPr wrap="square" lIns="0" rIns="0" tIns="0" bIns="0" anchor="t">
            <a:spAutoFit/>
          </a:bodyPr>
          <a:lstStyle/>
          <a:p>
            <a:pPr algn="l">
              <a:lnSpc>
                <a:spcPct val="110000"/>
              </a:lnSpc>
            </a:pPr>
            <a:r>
              <a:rPr sz="950" b="1" i="0">
                <a:solidFill>
                  <a:srgbClr val="0F172A"/>
                </a:solidFill>
                <a:latin typeface="Arial"/>
              </a:rPr>
              <a:t>Richer similarity geometry, not speed. </a:t>
            </a:r>
            <a:r>
              <a:rPr sz="950" b="0" i="0">
                <a:solidFill>
                  <a:srgbClr val="5B6672"/>
                </a:solidFill>
                <a:latin typeface="Arial"/>
              </a:rPr>
              <a:t>Entangling-circuit kernels are conjectured classically hard to estimate (Havlíček 2019); a rigorous separation exists for a related family (Liu 2021).</a:t>
            </a:r>
          </a:p>
          <a:p>
            <a:pPr algn="l">
              <a:lnSpc>
                <a:spcPct val="110000"/>
              </a:lnSpc>
            </a:pPr>
            <a:r>
              <a:rPr sz="950" b="1" i="1">
                <a:solidFill>
                  <a:srgbClr val="0E7490"/>
                </a:solidFill>
                <a:latin typeface="Arial"/>
              </a:rPr>
              <a:t>Every quantum service ships beside a classical twin - if the twin wins on our benchmark, the twin ships.</a:t>
            </a:r>
          </a:p>
        </p:txBody>
      </p:sp>
      <p:sp>
        <p:nvSpPr>
          <p:cNvPr id="2083" name="TextBox 2082"/>
          <p:cNvSpPr txBox="1"/>
          <p:nvPr/>
        </p:nvSpPr>
        <p:spPr>
          <a:xfrm>
            <a:off x="457200" y="5559552"/>
            <a:ext cx="8229600" cy="219456"/>
          </a:xfrm>
          <a:prstGeom prst="rect">
            <a:avLst/>
          </a:prstGeom>
          <a:noFill/>
        </p:spPr>
        <p:txBody>
          <a:bodyPr wrap="square" lIns="0" rIns="0" tIns="0" bIns="0" anchor="t">
            <a:spAutoFit/>
          </a:bodyPr>
          <a:lstStyle/>
          <a:p>
            <a:pPr algn="l"/>
            <a:r>
              <a:rPr sz="800" b="0" i="1">
                <a:solidFill>
                  <a:srgbClr val="5B6672"/>
                </a:solidFill>
                <a:latin typeface="Arial"/>
              </a:rPr>
              <a:t>Havlíček et al., Nature 567, 209 (2019)  ·  Schuld &amp; Killoran, PRL 122, 040504 (2019)  ·  Liu, Arunachalam &amp; Temme, Nature Physics 17, 1013 (2021)</a:t>
            </a:r>
          </a:p>
        </p:txBody>
      </p:sp>
    </p:spTree>
  </p:cSld>
  <p:clrMapOvr>
    <a:masterClrMapping/>
  </p:clrMapOvr>
  <p:transition>
    <p:fade/>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04  ·  </a:t>
            </a:r>
            <a:r>
              <a:rPr sz="1050" b="1" i="0" spc="280">
                <a:solidFill>
                  <a:srgbClr val="0E7490"/>
                </a:solidFill>
                <a:latin typeface="Arial"/>
              </a:rPr>
              <a:t>EPISTEMIC ENGINE</a:t>
            </a:r>
          </a:p>
        </p:txBody>
      </p:sp>
      <p:sp>
        <p:nvSpPr>
          <p:cNvPr id="2055" name="TextBox 2054"/>
          <p:cNvSpPr txBox="1"/>
          <p:nvPr/>
        </p:nvSpPr>
        <p:spPr>
          <a:xfrm>
            <a:off x="457200" y="1371600"/>
            <a:ext cx="8412480" cy="475488"/>
          </a:xfrm>
          <a:prstGeom prst="rect">
            <a:avLst/>
          </a:prstGeom>
          <a:noFill/>
        </p:spPr>
        <p:txBody>
          <a:bodyPr wrap="square" lIns="0" rIns="0" tIns="0" bIns="0" anchor="t">
            <a:spAutoFit/>
          </a:bodyPr>
          <a:lstStyle/>
          <a:p>
            <a:pPr algn="l"/>
            <a:r>
              <a:rPr sz="2600" b="1" i="0" spc="-20">
                <a:solidFill>
                  <a:srgbClr val="0F172A"/>
                </a:solidFill>
                <a:latin typeface="Arial"/>
              </a:rPr>
              <a:t>Knowing which kind of 'unsure' - then acting on it</a:t>
            </a:r>
          </a:p>
        </p:txBody>
      </p:sp>
      <p:sp>
        <p:nvSpPr>
          <p:cNvPr id="2056" name="Rounded Rectangle 2055"/>
          <p:cNvSpPr/>
          <p:nvPr/>
        </p:nvSpPr>
        <p:spPr>
          <a:xfrm>
            <a:off x="457200" y="1956816"/>
            <a:ext cx="8229600" cy="548640"/>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57" name="TextBox 2056"/>
          <p:cNvSpPr txBox="1"/>
          <p:nvPr/>
        </p:nvSpPr>
        <p:spPr>
          <a:xfrm>
            <a:off x="457200" y="2048256"/>
            <a:ext cx="8229600" cy="365760"/>
          </a:xfrm>
          <a:prstGeom prst="rect">
            <a:avLst/>
          </a:prstGeom>
          <a:noFill/>
        </p:spPr>
        <p:txBody>
          <a:bodyPr wrap="square" lIns="0" rIns="0" tIns="0" bIns="0" anchor="t">
            <a:spAutoFit/>
          </a:bodyPr>
          <a:lstStyle/>
          <a:p>
            <a:pPr algn="ctr"/>
            <a:r>
              <a:rPr sz="1400" b="1" i="0">
                <a:solidFill>
                  <a:srgbClr val="0F172A"/>
                </a:solidFill>
                <a:latin typeface="Cambria"/>
              </a:rPr>
              <a:t>H[ p(y|x) ]</a:t>
            </a:r>
            <a:r>
              <a:rPr sz="1400" b="0" i="0">
                <a:solidFill>
                  <a:srgbClr val="5B6672"/>
                </a:solidFill>
                <a:latin typeface="Cambria"/>
              </a:rPr>
              <a:t>  =  </a:t>
            </a:r>
            <a:r>
              <a:rPr sz="1400" b="1" i="0">
                <a:solidFill>
                  <a:srgbClr val="0E7490"/>
                </a:solidFill>
                <a:latin typeface="Cambria"/>
              </a:rPr>
              <a:t>I(y ; θ | x)</a:t>
            </a:r>
            <a:r>
              <a:rPr sz="1400" b="0" i="0">
                <a:solidFill>
                  <a:srgbClr val="5B6672"/>
                </a:solidFill>
                <a:latin typeface="Cambria"/>
              </a:rPr>
              <a:t>  +  </a:t>
            </a:r>
            <a:r>
              <a:rPr sz="1400" b="1" i="0">
                <a:solidFill>
                  <a:srgbClr val="0D9488"/>
                </a:solidFill>
                <a:latin typeface="Cambria"/>
              </a:rPr>
              <a:t>Eθ H[ p(y|x,θ) ]</a:t>
            </a:r>
            <a:r>
              <a:rPr sz="950" b="0" i="1">
                <a:solidFill>
                  <a:srgbClr val="5B6672"/>
                </a:solidFill>
                <a:latin typeface="Cambria"/>
              </a:rPr>
              <a:t>      total = epistemic + aleatoric</a:t>
            </a:r>
          </a:p>
        </p:txBody>
      </p:sp>
      <p:sp>
        <p:nvSpPr>
          <p:cNvPr id="2058" name="Rounded Rectangle 2057"/>
          <p:cNvSpPr/>
          <p:nvPr/>
        </p:nvSpPr>
        <p:spPr>
          <a:xfrm>
            <a:off x="457200" y="2633472"/>
            <a:ext cx="267004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9" name="TextBox 2058"/>
          <p:cNvSpPr txBox="1"/>
          <p:nvPr/>
        </p:nvSpPr>
        <p:spPr>
          <a:xfrm>
            <a:off x="603504" y="2734056"/>
            <a:ext cx="2395728" cy="201168"/>
          </a:xfrm>
          <a:prstGeom prst="rect">
            <a:avLst/>
          </a:prstGeom>
          <a:noFill/>
        </p:spPr>
        <p:txBody>
          <a:bodyPr wrap="square" lIns="0" rIns="0" tIns="0" bIns="0" anchor="t">
            <a:spAutoFit/>
          </a:bodyPr>
          <a:lstStyle/>
          <a:p>
            <a:pPr algn="l"/>
            <a:r>
              <a:rPr sz="1000" b="1" i="0">
                <a:solidFill>
                  <a:srgbClr val="0F172A"/>
                </a:solidFill>
                <a:latin typeface="Arial"/>
              </a:rPr>
              <a:t>EPISTEMIC </a:t>
            </a:r>
            <a:r>
              <a:rPr sz="850" b="0" i="1">
                <a:solidFill>
                  <a:srgbClr val="5B6672"/>
                </a:solidFill>
                <a:latin typeface="Arial"/>
              </a:rPr>
              <a:t>- model doubt</a:t>
            </a:r>
          </a:p>
        </p:txBody>
      </p:sp>
      <p:sp>
        <p:nvSpPr>
          <p:cNvPr id="2060" name="TextBox 2059"/>
          <p:cNvSpPr txBox="1"/>
          <p:nvPr/>
        </p:nvSpPr>
        <p:spPr>
          <a:xfrm>
            <a:off x="603504" y="2971800"/>
            <a:ext cx="2377440" cy="201168"/>
          </a:xfrm>
          <a:prstGeom prst="rect">
            <a:avLst/>
          </a:prstGeom>
          <a:noFill/>
        </p:spPr>
        <p:txBody>
          <a:bodyPr wrap="square" lIns="0" rIns="0" tIns="0" bIns="0" anchor="t">
            <a:spAutoFit/>
          </a:bodyPr>
          <a:lstStyle/>
          <a:p>
            <a:pPr algn="l"/>
            <a:r>
              <a:rPr sz="819" b="0" i="0">
                <a:solidFill>
                  <a:srgbClr val="5B6672"/>
                </a:solidFill>
                <a:latin typeface="Arial"/>
              </a:rPr>
              <a:t>ensembles + MC-dropout</a:t>
            </a:r>
          </a:p>
        </p:txBody>
      </p:sp>
      <p:sp>
        <p:nvSpPr>
          <p:cNvPr id="2061" name="TextBox 2060"/>
          <p:cNvSpPr txBox="1"/>
          <p:nvPr/>
        </p:nvSpPr>
        <p:spPr>
          <a:xfrm>
            <a:off x="603504" y="3246120"/>
            <a:ext cx="2377440" cy="219456"/>
          </a:xfrm>
          <a:prstGeom prst="rect">
            <a:avLst/>
          </a:prstGeom>
          <a:noFill/>
        </p:spPr>
        <p:txBody>
          <a:bodyPr wrap="square" lIns="0" rIns="0" tIns="0" bIns="0" anchor="t">
            <a:spAutoFit/>
          </a:bodyPr>
          <a:lstStyle/>
          <a:p>
            <a:pPr algn="l"/>
            <a:r>
              <a:rPr sz="900" b="1" i="0">
                <a:solidFill>
                  <a:srgbClr val="0E7490"/>
                </a:solidFill>
                <a:latin typeface="Arial"/>
              </a:rPr>
              <a:t>→ defer to radiologist</a:t>
            </a:r>
          </a:p>
        </p:txBody>
      </p:sp>
      <p:sp>
        <p:nvSpPr>
          <p:cNvPr id="2062" name="Rounded Rectangle 2061"/>
          <p:cNvSpPr/>
          <p:nvPr/>
        </p:nvSpPr>
        <p:spPr>
          <a:xfrm>
            <a:off x="3236976" y="2633472"/>
            <a:ext cx="267004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3" name="TextBox 2062"/>
          <p:cNvSpPr txBox="1"/>
          <p:nvPr/>
        </p:nvSpPr>
        <p:spPr>
          <a:xfrm>
            <a:off x="3383280" y="2734056"/>
            <a:ext cx="2395728" cy="201168"/>
          </a:xfrm>
          <a:prstGeom prst="rect">
            <a:avLst/>
          </a:prstGeom>
          <a:noFill/>
        </p:spPr>
        <p:txBody>
          <a:bodyPr wrap="square" lIns="0" rIns="0" tIns="0" bIns="0" anchor="t">
            <a:spAutoFit/>
          </a:bodyPr>
          <a:lstStyle/>
          <a:p>
            <a:pPr algn="l"/>
            <a:r>
              <a:rPr sz="1000" b="1" i="0">
                <a:solidFill>
                  <a:srgbClr val="0F172A"/>
                </a:solidFill>
                <a:latin typeface="Arial"/>
              </a:rPr>
              <a:t>ALEATORIC </a:t>
            </a:r>
            <a:r>
              <a:rPr sz="850" b="0" i="1">
                <a:solidFill>
                  <a:srgbClr val="5B6672"/>
                </a:solidFill>
                <a:latin typeface="Arial"/>
              </a:rPr>
              <a:t>- data noise</a:t>
            </a:r>
          </a:p>
        </p:txBody>
      </p:sp>
      <p:sp>
        <p:nvSpPr>
          <p:cNvPr id="2064" name="TextBox 2063"/>
          <p:cNvSpPr txBox="1"/>
          <p:nvPr/>
        </p:nvSpPr>
        <p:spPr>
          <a:xfrm>
            <a:off x="3383280" y="2971800"/>
            <a:ext cx="2377440" cy="201168"/>
          </a:xfrm>
          <a:prstGeom prst="rect">
            <a:avLst/>
          </a:prstGeom>
          <a:noFill/>
        </p:spPr>
        <p:txBody>
          <a:bodyPr wrap="square" lIns="0" rIns="0" tIns="0" bIns="0" anchor="t">
            <a:spAutoFit/>
          </a:bodyPr>
          <a:lstStyle/>
          <a:p>
            <a:pPr algn="l"/>
            <a:r>
              <a:rPr sz="819" b="0" i="0">
                <a:solidFill>
                  <a:srgbClr val="5B6672"/>
                </a:solidFill>
                <a:latin typeface="Arial"/>
              </a:rPr>
              <a:t>ambiguity in the image itself</a:t>
            </a:r>
          </a:p>
        </p:txBody>
      </p:sp>
      <p:sp>
        <p:nvSpPr>
          <p:cNvPr id="2065" name="TextBox 2064"/>
          <p:cNvSpPr txBox="1"/>
          <p:nvPr/>
        </p:nvSpPr>
        <p:spPr>
          <a:xfrm>
            <a:off x="3383280" y="3246120"/>
            <a:ext cx="2377440" cy="219456"/>
          </a:xfrm>
          <a:prstGeom prst="rect">
            <a:avLst/>
          </a:prstGeom>
          <a:noFill/>
        </p:spPr>
        <p:txBody>
          <a:bodyPr wrap="square" lIns="0" rIns="0" tIns="0" bIns="0" anchor="t">
            <a:spAutoFit/>
          </a:bodyPr>
          <a:lstStyle/>
          <a:p>
            <a:pPr algn="l"/>
            <a:r>
              <a:rPr sz="900" b="1" i="0">
                <a:solidFill>
                  <a:srgbClr val="0E7490"/>
                </a:solidFill>
                <a:latin typeface="Arial"/>
              </a:rPr>
              <a:t>→ recommend re-imaging</a:t>
            </a:r>
          </a:p>
        </p:txBody>
      </p:sp>
      <p:sp>
        <p:nvSpPr>
          <p:cNvPr id="2066" name="Rounded Rectangle 2065"/>
          <p:cNvSpPr/>
          <p:nvPr/>
        </p:nvSpPr>
        <p:spPr>
          <a:xfrm>
            <a:off x="6016752" y="2633472"/>
            <a:ext cx="2670048" cy="969264"/>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67" name="TextBox 2066"/>
          <p:cNvSpPr txBox="1"/>
          <p:nvPr/>
        </p:nvSpPr>
        <p:spPr>
          <a:xfrm>
            <a:off x="6163056" y="2734056"/>
            <a:ext cx="2395728" cy="201168"/>
          </a:xfrm>
          <a:prstGeom prst="rect">
            <a:avLst/>
          </a:prstGeom>
          <a:noFill/>
        </p:spPr>
        <p:txBody>
          <a:bodyPr wrap="square" lIns="0" rIns="0" tIns="0" bIns="0" anchor="t">
            <a:spAutoFit/>
          </a:bodyPr>
          <a:lstStyle/>
          <a:p>
            <a:pPr algn="l"/>
            <a:r>
              <a:rPr sz="1000" b="1" i="0">
                <a:solidFill>
                  <a:srgbClr val="0F172A"/>
                </a:solidFill>
                <a:latin typeface="Arial"/>
              </a:rPr>
              <a:t>OUT-OF-DIST. </a:t>
            </a:r>
            <a:r>
              <a:rPr sz="850" b="0" i="1">
                <a:solidFill>
                  <a:srgbClr val="5B6672"/>
                </a:solidFill>
                <a:latin typeface="Arial"/>
              </a:rPr>
              <a:t>- wrong input</a:t>
            </a:r>
          </a:p>
        </p:txBody>
      </p:sp>
      <p:sp>
        <p:nvSpPr>
          <p:cNvPr id="2068" name="TextBox 2067"/>
          <p:cNvSpPr txBox="1"/>
          <p:nvPr/>
        </p:nvSpPr>
        <p:spPr>
          <a:xfrm>
            <a:off x="6163056" y="2971800"/>
            <a:ext cx="2377440" cy="201168"/>
          </a:xfrm>
          <a:prstGeom prst="rect">
            <a:avLst/>
          </a:prstGeom>
          <a:noFill/>
        </p:spPr>
        <p:txBody>
          <a:bodyPr wrap="square" lIns="0" rIns="0" tIns="0" bIns="0" anchor="t">
            <a:spAutoFit/>
          </a:bodyPr>
          <a:lstStyle/>
          <a:p>
            <a:pPr algn="l"/>
            <a:r>
              <a:rPr sz="819" b="0" i="0">
                <a:solidFill>
                  <a:srgbClr val="5B6672"/>
                </a:solidFill>
                <a:latin typeface="Arial"/>
              </a:rPr>
              <a:t>energy score + latent density</a:t>
            </a:r>
          </a:p>
        </p:txBody>
      </p:sp>
      <p:sp>
        <p:nvSpPr>
          <p:cNvPr id="2069" name="TextBox 2068"/>
          <p:cNvSpPr txBox="1"/>
          <p:nvPr/>
        </p:nvSpPr>
        <p:spPr>
          <a:xfrm>
            <a:off x="6163056" y="3246120"/>
            <a:ext cx="2377440" cy="219456"/>
          </a:xfrm>
          <a:prstGeom prst="rect">
            <a:avLst/>
          </a:prstGeom>
          <a:noFill/>
        </p:spPr>
        <p:txBody>
          <a:bodyPr wrap="square" lIns="0" rIns="0" tIns="0" bIns="0" anchor="t">
            <a:spAutoFit/>
          </a:bodyPr>
          <a:lstStyle/>
          <a:p>
            <a:pPr algn="l"/>
            <a:r>
              <a:rPr sz="900" b="1" i="0">
                <a:solidFill>
                  <a:srgbClr val="0E7490"/>
                </a:solidFill>
                <a:latin typeface="Arial"/>
              </a:rPr>
              <a:t>→ abstain, flag input</a:t>
            </a:r>
          </a:p>
        </p:txBody>
      </p:sp>
      <p:sp>
        <p:nvSpPr>
          <p:cNvPr id="2070" name="Rounded Rectangle 2069"/>
          <p:cNvSpPr/>
          <p:nvPr/>
        </p:nvSpPr>
        <p:spPr>
          <a:xfrm>
            <a:off x="457200" y="3749039"/>
            <a:ext cx="3950208" cy="1481328"/>
          </a:xfrm>
          <a:prstGeom prst="roundRect">
            <a:avLst>
              <a:gd name="adj" fmla="val 10000"/>
            </a:avLst>
          </a:prstGeom>
          <a:solidFill>
            <a:srgbClr val="FFFFFF"/>
          </a:solidFill>
          <a:ln w="9525">
            <a:solidFill>
              <a:srgbClr val="C6E4E1"/>
            </a:solidFill>
          </a:ln>
          <a:effectLst/>
        </p:spPr>
        <p:txBody>
          <a:bodyPr rtlCol="0" anchor="ctr"/>
          <a:lstStyle/>
          <a:p>
            <a:pPr algn="ctr"/>
          </a:p>
        </p:txBody>
      </p:sp>
      <p:sp>
        <p:nvSpPr>
          <p:cNvPr id="2071" name="TextBox 2070"/>
          <p:cNvSpPr txBox="1"/>
          <p:nvPr/>
        </p:nvSpPr>
        <p:spPr>
          <a:xfrm>
            <a:off x="621792" y="3858768"/>
            <a:ext cx="3657600" cy="219456"/>
          </a:xfrm>
          <a:prstGeom prst="rect">
            <a:avLst/>
          </a:prstGeom>
          <a:noFill/>
        </p:spPr>
        <p:txBody>
          <a:bodyPr wrap="square" lIns="0" rIns="0" tIns="0" bIns="0" anchor="t">
            <a:spAutoFit/>
          </a:bodyPr>
          <a:lstStyle/>
          <a:p>
            <a:pPr algn="l"/>
            <a:r>
              <a:rPr sz="850" b="1" i="0" spc="160">
                <a:solidFill>
                  <a:srgbClr val="0E7490"/>
                </a:solidFill>
                <a:latin typeface="Arial"/>
              </a:rPr>
              <a:t>CONFORMAL GUARANTEE - BY THEOREM</a:t>
            </a:r>
          </a:p>
        </p:txBody>
      </p:sp>
      <p:sp>
        <p:nvSpPr>
          <p:cNvPr id="2072" name="TextBox 2071"/>
          <p:cNvSpPr txBox="1"/>
          <p:nvPr/>
        </p:nvSpPr>
        <p:spPr>
          <a:xfrm>
            <a:off x="621792" y="4114800"/>
            <a:ext cx="3657600" cy="292608"/>
          </a:xfrm>
          <a:prstGeom prst="rect">
            <a:avLst/>
          </a:prstGeom>
          <a:noFill/>
        </p:spPr>
        <p:txBody>
          <a:bodyPr wrap="square" lIns="0" rIns="0" tIns="0" bIns="0" anchor="t">
            <a:spAutoFit/>
          </a:bodyPr>
          <a:lstStyle/>
          <a:p>
            <a:pPr algn="l"/>
            <a:r>
              <a:rPr sz="1300" b="1" i="0">
                <a:solidFill>
                  <a:srgbClr val="0F172A"/>
                </a:solidFill>
                <a:latin typeface="Cambria"/>
              </a:rPr>
              <a:t>C(x) = { y : s(x,y) ≤ q̂₁₋α }</a:t>
            </a:r>
          </a:p>
        </p:txBody>
      </p:sp>
      <p:sp>
        <p:nvSpPr>
          <p:cNvPr id="2073" name="TextBox 2072"/>
          <p:cNvSpPr txBox="1"/>
          <p:nvPr/>
        </p:nvSpPr>
        <p:spPr>
          <a:xfrm>
            <a:off x="621792" y="4443984"/>
            <a:ext cx="3657600" cy="292608"/>
          </a:xfrm>
          <a:prstGeom prst="rect">
            <a:avLst/>
          </a:prstGeom>
          <a:noFill/>
        </p:spPr>
        <p:txBody>
          <a:bodyPr wrap="square" lIns="0" rIns="0" tIns="0" bIns="0" anchor="t">
            <a:spAutoFit/>
          </a:bodyPr>
          <a:lstStyle/>
          <a:p>
            <a:pPr algn="l"/>
            <a:r>
              <a:rPr sz="1150" b="1" i="0">
                <a:solidFill>
                  <a:srgbClr val="0E7490"/>
                </a:solidFill>
                <a:latin typeface="Cambria"/>
              </a:rPr>
              <a:t>P( y ∈ C(x) ) ≥ 1 − α,  distribution-free</a:t>
            </a:r>
          </a:p>
        </p:txBody>
      </p:sp>
      <p:sp>
        <p:nvSpPr>
          <p:cNvPr id="2074" name="TextBox 2073"/>
          <p:cNvSpPr txBox="1"/>
          <p:nvPr/>
        </p:nvSpPr>
        <p:spPr>
          <a:xfrm>
            <a:off x="621792" y="4809744"/>
            <a:ext cx="3611880" cy="365760"/>
          </a:xfrm>
          <a:prstGeom prst="rect">
            <a:avLst/>
          </a:prstGeom>
          <a:noFill/>
        </p:spPr>
        <p:txBody>
          <a:bodyPr wrap="square" lIns="0" rIns="0" tIns="0" bIns="0" anchor="t">
            <a:spAutoFit/>
          </a:bodyPr>
          <a:lstStyle/>
          <a:p>
            <a:pPr algn="l">
              <a:lnSpc>
                <a:spcPct val="105000"/>
              </a:lnSpc>
            </a:pPr>
            <a:r>
              <a:rPr sz="850" b="0" i="0">
                <a:solidFill>
                  <a:srgbClr val="5B6672"/>
                </a:solidFill>
                <a:latin typeface="Arial"/>
              </a:rPr>
              <a:t>sets, not points - {effusion, atelectasis} at 90% coverage; ECE 0.142 → 0.031 after temperature scaling</a:t>
            </a:r>
          </a:p>
        </p:txBody>
      </p:sp>
      <p:sp>
        <p:nvSpPr>
          <p:cNvPr id="2075" name="Rounded Rectangle 2074"/>
          <p:cNvSpPr/>
          <p:nvPr/>
        </p:nvSpPr>
        <p:spPr>
          <a:xfrm>
            <a:off x="4590288" y="3749039"/>
            <a:ext cx="4096512" cy="1554480"/>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76" name="TextBox 2075"/>
          <p:cNvSpPr txBox="1"/>
          <p:nvPr/>
        </p:nvSpPr>
        <p:spPr>
          <a:xfrm>
            <a:off x="4754880" y="3858768"/>
            <a:ext cx="3749039" cy="219456"/>
          </a:xfrm>
          <a:prstGeom prst="rect">
            <a:avLst/>
          </a:prstGeom>
          <a:noFill/>
        </p:spPr>
        <p:txBody>
          <a:bodyPr wrap="square" lIns="0" rIns="0" tIns="0" bIns="0" anchor="t">
            <a:spAutoFit/>
          </a:bodyPr>
          <a:lstStyle/>
          <a:p>
            <a:pPr algn="l"/>
            <a:r>
              <a:rPr sz="850" b="1" i="0" spc="160">
                <a:solidFill>
                  <a:srgbClr val="0E7490"/>
                </a:solidFill>
                <a:latin typeface="Arial"/>
              </a:rPr>
              <a:t>NEXT-BEST EVIDENCE (EIG)</a:t>
            </a:r>
          </a:p>
        </p:txBody>
      </p:sp>
      <p:sp>
        <p:nvSpPr>
          <p:cNvPr id="2077" name="TextBox 2076"/>
          <p:cNvSpPr txBox="1"/>
          <p:nvPr/>
        </p:nvSpPr>
        <p:spPr>
          <a:xfrm>
            <a:off x="4754880" y="4096512"/>
            <a:ext cx="3749039" cy="274320"/>
          </a:xfrm>
          <a:prstGeom prst="rect">
            <a:avLst/>
          </a:prstGeom>
          <a:noFill/>
        </p:spPr>
        <p:txBody>
          <a:bodyPr wrap="square" lIns="0" rIns="0" tIns="0" bIns="0" anchor="t">
            <a:spAutoFit/>
          </a:bodyPr>
          <a:lstStyle/>
          <a:p>
            <a:pPr algn="l"/>
            <a:r>
              <a:rPr sz="1150" b="1" i="0">
                <a:solidFill>
                  <a:srgbClr val="0F172A"/>
                </a:solidFill>
                <a:latin typeface="Cambria"/>
              </a:rPr>
              <a:t>a* = argmaxₐ { H[p(d)] − Eₒ H[p(d|o)] − λ c(a) }</a:t>
            </a:r>
          </a:p>
        </p:txBody>
      </p:sp>
      <p:sp>
        <p:nvSpPr>
          <p:cNvPr id="2078" name="TextBox 2077"/>
          <p:cNvSpPr txBox="1"/>
          <p:nvPr/>
        </p:nvSpPr>
        <p:spPr>
          <a:xfrm>
            <a:off x="4754880" y="4407408"/>
            <a:ext cx="1325880" cy="182880"/>
          </a:xfrm>
          <a:prstGeom prst="rect">
            <a:avLst/>
          </a:prstGeom>
          <a:noFill/>
        </p:spPr>
        <p:txBody>
          <a:bodyPr wrap="none" lIns="0" rIns="0" tIns="0" bIns="0" anchor="ctr">
            <a:spAutoFit/>
          </a:bodyPr>
          <a:lstStyle/>
          <a:p>
            <a:pPr algn="l"/>
            <a:r>
              <a:rPr sz="850" b="1" i="0">
                <a:solidFill>
                  <a:srgbClr val="0F172A"/>
                </a:solidFill>
                <a:latin typeface="Arial"/>
              </a:rPr>
              <a:t>CT thorax</a:t>
            </a:r>
          </a:p>
        </p:txBody>
      </p:sp>
      <p:sp>
        <p:nvSpPr>
          <p:cNvPr id="2079" name="Rounded Rectangle 2078"/>
          <p:cNvSpPr/>
          <p:nvPr/>
        </p:nvSpPr>
        <p:spPr>
          <a:xfrm>
            <a:off x="6126480" y="4430268"/>
            <a:ext cx="1828800" cy="118872"/>
          </a:xfrm>
          <a:prstGeom prst="roundRect">
            <a:avLst>
              <a:gd name="adj" fmla="val 50000"/>
            </a:avLst>
          </a:prstGeom>
          <a:solidFill>
            <a:srgbClr val="2DD4BF"/>
          </a:solidFill>
          <a:ln>
            <a:noFill/>
          </a:ln>
          <a:effectLst/>
        </p:spPr>
        <p:txBody>
          <a:bodyPr rtlCol="0" anchor="ctr"/>
          <a:lstStyle/>
          <a:p>
            <a:pPr algn="ctr"/>
          </a:p>
        </p:txBody>
      </p:sp>
      <p:sp>
        <p:nvSpPr>
          <p:cNvPr id="2080" name="TextBox 2079"/>
          <p:cNvSpPr txBox="1"/>
          <p:nvPr/>
        </p:nvSpPr>
        <p:spPr>
          <a:xfrm>
            <a:off x="8138160" y="4407408"/>
            <a:ext cx="457200" cy="182880"/>
          </a:xfrm>
          <a:prstGeom prst="rect">
            <a:avLst/>
          </a:prstGeom>
          <a:noFill/>
        </p:spPr>
        <p:txBody>
          <a:bodyPr wrap="square" lIns="0" rIns="0" tIns="0" bIns="0" anchor="ctr">
            <a:spAutoFit/>
          </a:bodyPr>
          <a:lstStyle/>
          <a:p>
            <a:pPr algn="l"/>
            <a:r>
              <a:rPr sz="850" b="1" i="0">
                <a:solidFill>
                  <a:srgbClr val="0E7490"/>
                </a:solidFill>
                <a:latin typeface="Arial"/>
              </a:rPr>
              <a:t>0.82</a:t>
            </a:r>
          </a:p>
        </p:txBody>
      </p:sp>
      <p:sp>
        <p:nvSpPr>
          <p:cNvPr id="2081" name="TextBox 2080"/>
          <p:cNvSpPr txBox="1"/>
          <p:nvPr/>
        </p:nvSpPr>
        <p:spPr>
          <a:xfrm>
            <a:off x="4754880" y="4645152"/>
            <a:ext cx="1325880" cy="182880"/>
          </a:xfrm>
          <a:prstGeom prst="rect">
            <a:avLst/>
          </a:prstGeom>
          <a:noFill/>
        </p:spPr>
        <p:txBody>
          <a:bodyPr wrap="none" lIns="0" rIns="0" tIns="0" bIns="0" anchor="ctr">
            <a:spAutoFit/>
          </a:bodyPr>
          <a:lstStyle/>
          <a:p>
            <a:pPr algn="l"/>
            <a:r>
              <a:rPr sz="850" b="1" i="0">
                <a:solidFill>
                  <a:srgbClr val="0F172A"/>
                </a:solidFill>
                <a:latin typeface="Arial"/>
              </a:rPr>
              <a:t>Repeat PA X-ray</a:t>
            </a:r>
          </a:p>
        </p:txBody>
      </p:sp>
      <p:sp>
        <p:nvSpPr>
          <p:cNvPr id="2082" name="Rounded Rectangle 2081"/>
          <p:cNvSpPr/>
          <p:nvPr/>
        </p:nvSpPr>
        <p:spPr>
          <a:xfrm>
            <a:off x="6126480" y="4668012"/>
            <a:ext cx="1427356" cy="118872"/>
          </a:xfrm>
          <a:prstGeom prst="roundRect">
            <a:avLst>
              <a:gd name="adj" fmla="val 50000"/>
            </a:avLst>
          </a:prstGeom>
          <a:solidFill>
            <a:srgbClr val="2DD4BF"/>
          </a:solidFill>
          <a:ln>
            <a:noFill/>
          </a:ln>
          <a:effectLst/>
        </p:spPr>
        <p:txBody>
          <a:bodyPr rtlCol="0" anchor="ctr"/>
          <a:lstStyle/>
          <a:p>
            <a:pPr algn="ctr"/>
          </a:p>
        </p:txBody>
      </p:sp>
      <p:sp>
        <p:nvSpPr>
          <p:cNvPr id="2083" name="TextBox 2082"/>
          <p:cNvSpPr txBox="1"/>
          <p:nvPr/>
        </p:nvSpPr>
        <p:spPr>
          <a:xfrm>
            <a:off x="8138160" y="4645152"/>
            <a:ext cx="457200" cy="182880"/>
          </a:xfrm>
          <a:prstGeom prst="rect">
            <a:avLst/>
          </a:prstGeom>
          <a:noFill/>
        </p:spPr>
        <p:txBody>
          <a:bodyPr wrap="square" lIns="0" rIns="0" tIns="0" bIns="0" anchor="ctr">
            <a:spAutoFit/>
          </a:bodyPr>
          <a:lstStyle/>
          <a:p>
            <a:pPr algn="l"/>
            <a:r>
              <a:rPr sz="850" b="1" i="0">
                <a:solidFill>
                  <a:srgbClr val="0E7490"/>
                </a:solidFill>
                <a:latin typeface="Arial"/>
              </a:rPr>
              <a:t>0.64</a:t>
            </a:r>
          </a:p>
        </p:txBody>
      </p:sp>
      <p:sp>
        <p:nvSpPr>
          <p:cNvPr id="2084" name="TextBox 2083"/>
          <p:cNvSpPr txBox="1"/>
          <p:nvPr/>
        </p:nvSpPr>
        <p:spPr>
          <a:xfrm>
            <a:off x="4754880" y="4882896"/>
            <a:ext cx="1325880" cy="182880"/>
          </a:xfrm>
          <a:prstGeom prst="rect">
            <a:avLst/>
          </a:prstGeom>
          <a:noFill/>
        </p:spPr>
        <p:txBody>
          <a:bodyPr wrap="none" lIns="0" rIns="0" tIns="0" bIns="0" anchor="ctr">
            <a:spAutoFit/>
          </a:bodyPr>
          <a:lstStyle/>
          <a:p>
            <a:pPr algn="l"/>
            <a:r>
              <a:rPr sz="850" b="1" i="0">
                <a:solidFill>
                  <a:srgbClr val="0F172A"/>
                </a:solidFill>
                <a:latin typeface="Arial"/>
              </a:rPr>
              <a:t>Ultrasound</a:t>
            </a:r>
          </a:p>
        </p:txBody>
      </p:sp>
      <p:sp>
        <p:nvSpPr>
          <p:cNvPr id="2085" name="Rounded Rectangle 2084"/>
          <p:cNvSpPr/>
          <p:nvPr/>
        </p:nvSpPr>
        <p:spPr>
          <a:xfrm>
            <a:off x="6126480" y="4905756"/>
            <a:ext cx="1137424" cy="118872"/>
          </a:xfrm>
          <a:prstGeom prst="roundRect">
            <a:avLst>
              <a:gd name="adj" fmla="val 50000"/>
            </a:avLst>
          </a:prstGeom>
          <a:solidFill>
            <a:srgbClr val="2DD4BF"/>
          </a:solidFill>
          <a:ln>
            <a:noFill/>
          </a:ln>
          <a:effectLst/>
        </p:spPr>
        <p:txBody>
          <a:bodyPr rtlCol="0" anchor="ctr"/>
          <a:lstStyle/>
          <a:p>
            <a:pPr algn="ctr"/>
          </a:p>
        </p:txBody>
      </p:sp>
      <p:sp>
        <p:nvSpPr>
          <p:cNvPr id="2086" name="TextBox 2085"/>
          <p:cNvSpPr txBox="1"/>
          <p:nvPr/>
        </p:nvSpPr>
        <p:spPr>
          <a:xfrm>
            <a:off x="8138160" y="4882896"/>
            <a:ext cx="457200" cy="182880"/>
          </a:xfrm>
          <a:prstGeom prst="rect">
            <a:avLst/>
          </a:prstGeom>
          <a:noFill/>
        </p:spPr>
        <p:txBody>
          <a:bodyPr wrap="square" lIns="0" rIns="0" tIns="0" bIns="0" anchor="ctr">
            <a:spAutoFit/>
          </a:bodyPr>
          <a:lstStyle/>
          <a:p>
            <a:pPr algn="l"/>
            <a:r>
              <a:rPr sz="850" b="1" i="0">
                <a:solidFill>
                  <a:srgbClr val="0E7490"/>
                </a:solidFill>
                <a:latin typeface="Arial"/>
              </a:rPr>
              <a:t>0.51</a:t>
            </a:r>
          </a:p>
        </p:txBody>
      </p:sp>
      <p:sp>
        <p:nvSpPr>
          <p:cNvPr id="2087" name="TextBox 2086"/>
          <p:cNvSpPr txBox="1"/>
          <p:nvPr/>
        </p:nvSpPr>
        <p:spPr>
          <a:xfrm>
            <a:off x="4754880" y="5065776"/>
            <a:ext cx="3794760" cy="201168"/>
          </a:xfrm>
          <a:prstGeom prst="rect">
            <a:avLst/>
          </a:prstGeom>
          <a:noFill/>
        </p:spPr>
        <p:txBody>
          <a:bodyPr wrap="none" lIns="0" rIns="0" tIns="0" bIns="0" anchor="t">
            <a:spAutoFit/>
          </a:bodyPr>
          <a:lstStyle/>
          <a:p>
            <a:pPr algn="l"/>
            <a:r>
              <a:rPr sz="850" b="1" i="0">
                <a:solidFill>
                  <a:srgbClr val="0F172A"/>
                </a:solidFill>
                <a:latin typeface="Arial"/>
              </a:rPr>
              <a:t>→ repeat X-ray: </a:t>
            </a:r>
            <a:r>
              <a:rPr sz="850" b="0" i="1">
                <a:solidFill>
                  <a:srgbClr val="0E7490"/>
                </a:solidFill>
                <a:latin typeface="Arial"/>
              </a:rPr>
              <a:t>78% of CT's information at 4% of its cost</a:t>
            </a:r>
          </a:p>
        </p:txBody>
      </p:sp>
      <p:sp>
        <p:nvSpPr>
          <p:cNvPr id="2088" name="TextBox 2087"/>
          <p:cNvSpPr txBox="1"/>
          <p:nvPr/>
        </p:nvSpPr>
        <p:spPr>
          <a:xfrm>
            <a:off x="457200" y="5486400"/>
            <a:ext cx="8229600" cy="219456"/>
          </a:xfrm>
          <a:prstGeom prst="rect">
            <a:avLst/>
          </a:prstGeom>
          <a:noFill/>
        </p:spPr>
        <p:txBody>
          <a:bodyPr wrap="square" lIns="0" rIns="0" tIns="0" bIns="0" anchor="t">
            <a:spAutoFit/>
          </a:bodyPr>
          <a:lstStyle/>
          <a:p>
            <a:pPr algn="l"/>
            <a:r>
              <a:rPr sz="800" b="0" i="1">
                <a:solidFill>
                  <a:srgbClr val="5B6672"/>
                </a:solidFill>
                <a:latin typeface="Arial"/>
              </a:rPr>
              <a:t>Kendall &amp; Gal, NeurIPS (2017)  ·  Angelopoulos &amp; Bates, FnT-ML 16(4) (2023)  ·  Guo et al., ICML (2017)  ·  Lindley, Ann. Math. Statist. 27 (1956)</a:t>
            </a:r>
          </a:p>
        </p:txBody>
      </p:sp>
    </p:spTree>
  </p:cSld>
  <p:clrMapOvr>
    <a:masterClrMapping/>
  </p:clrMapOvr>
  <p:transition>
    <p:fade/>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TextBox 2053"/>
          <p:cNvSpPr txBox="1"/>
          <p:nvPr/>
        </p:nvSpPr>
        <p:spPr>
          <a:xfrm>
            <a:off x="457200" y="1133856"/>
            <a:ext cx="8229600" cy="237744"/>
          </a:xfrm>
          <a:prstGeom prst="rect">
            <a:avLst/>
          </a:prstGeom>
          <a:noFill/>
        </p:spPr>
        <p:txBody>
          <a:bodyPr wrap="square" lIns="0" rIns="0" tIns="0" bIns="0" anchor="t">
            <a:spAutoFit/>
          </a:bodyPr>
          <a:lstStyle/>
          <a:p>
            <a:pPr algn="l"/>
            <a:r>
              <a:rPr sz="1050" b="1" i="0" spc="280">
                <a:solidFill>
                  <a:srgbClr val="5B6672"/>
                </a:solidFill>
                <a:latin typeface="Arial"/>
              </a:rPr>
              <a:t>05  ·  </a:t>
            </a:r>
            <a:r>
              <a:rPr sz="1050" b="1" i="0" spc="280">
                <a:solidFill>
                  <a:srgbClr val="0E7490"/>
                </a:solidFill>
                <a:latin typeface="Arial"/>
              </a:rPr>
              <a:t>PROOF</a:t>
            </a:r>
          </a:p>
        </p:txBody>
      </p:sp>
      <p:sp>
        <p:nvSpPr>
          <p:cNvPr id="2055" name="TextBox 2054"/>
          <p:cNvSpPr txBox="1"/>
          <p:nvPr/>
        </p:nvSpPr>
        <p:spPr>
          <a:xfrm>
            <a:off x="457200" y="1371600"/>
            <a:ext cx="8412480" cy="475488"/>
          </a:xfrm>
          <a:prstGeom prst="rect">
            <a:avLst/>
          </a:prstGeom>
          <a:noFill/>
        </p:spPr>
        <p:txBody>
          <a:bodyPr wrap="square" lIns="0" rIns="0" tIns="0" bIns="0" anchor="t">
            <a:spAutoFit/>
          </a:bodyPr>
          <a:lstStyle/>
          <a:p>
            <a:pPr algn="l"/>
            <a:r>
              <a:rPr sz="2600" b="1" i="0" spc="-20">
                <a:solidFill>
                  <a:srgbClr val="0F172A"/>
                </a:solidFill>
                <a:latin typeface="Arial"/>
              </a:rPr>
              <a:t>Built and benchmarked - not proposed</a:t>
            </a:r>
          </a:p>
        </p:txBody>
      </p:sp>
      <p:sp>
        <p:nvSpPr>
          <p:cNvPr id="2056" name="Rounded Rectangle 2055"/>
          <p:cNvSpPr/>
          <p:nvPr/>
        </p:nvSpPr>
        <p:spPr>
          <a:xfrm>
            <a:off x="457200" y="1956816"/>
            <a:ext cx="3977639" cy="2395728"/>
          </a:xfrm>
          <a:prstGeom prst="roundRect">
            <a:avLst>
              <a:gd name="adj" fmla="val 10000"/>
            </a:avLst>
          </a:prstGeom>
          <a:solidFill>
            <a:srgbClr val="F6FAFA"/>
          </a:solidFill>
          <a:ln w="9525">
            <a:solidFill>
              <a:srgbClr val="C6E4E1"/>
            </a:solidFill>
          </a:ln>
          <a:effectLst/>
        </p:spPr>
        <p:txBody>
          <a:bodyPr rtlCol="0" anchor="ctr"/>
          <a:lstStyle/>
          <a:p>
            <a:pPr algn="ctr"/>
          </a:p>
        </p:txBody>
      </p:sp>
      <p:sp>
        <p:nvSpPr>
          <p:cNvPr id="2057" name="TextBox 2056"/>
          <p:cNvSpPr txBox="1"/>
          <p:nvPr/>
        </p:nvSpPr>
        <p:spPr>
          <a:xfrm>
            <a:off x="621792" y="2066543"/>
            <a:ext cx="3657600" cy="201168"/>
          </a:xfrm>
          <a:prstGeom prst="rect">
            <a:avLst/>
          </a:prstGeom>
          <a:noFill/>
        </p:spPr>
        <p:txBody>
          <a:bodyPr wrap="square" lIns="0" rIns="0" tIns="0" bIns="0" anchor="t">
            <a:spAutoFit/>
          </a:bodyPr>
          <a:lstStyle/>
          <a:p>
            <a:pPr algn="l"/>
            <a:r>
              <a:rPr sz="850" b="1" i="0" spc="160">
                <a:solidFill>
                  <a:srgbClr val="0E7490"/>
                </a:solidFill>
                <a:latin typeface="Arial"/>
              </a:rPr>
              <a:t>RUNS TODAY, OFFLINE, ON A LAPTOP</a:t>
            </a:r>
          </a:p>
        </p:txBody>
      </p:sp>
      <p:sp>
        <p:nvSpPr>
          <p:cNvPr id="2058" name="TextBox 2057"/>
          <p:cNvSpPr txBox="1"/>
          <p:nvPr/>
        </p:nvSpPr>
        <p:spPr>
          <a:xfrm>
            <a:off x="621792" y="2322576"/>
            <a:ext cx="1170432" cy="329184"/>
          </a:xfrm>
          <a:prstGeom prst="rect">
            <a:avLst/>
          </a:prstGeom>
          <a:noFill/>
        </p:spPr>
        <p:txBody>
          <a:bodyPr wrap="square" lIns="0" rIns="0" tIns="0" bIns="0" anchor="t">
            <a:spAutoFit/>
          </a:bodyPr>
          <a:lstStyle/>
          <a:p>
            <a:pPr algn="l"/>
            <a:r>
              <a:rPr sz="819" b="1" i="0">
                <a:solidFill>
                  <a:srgbClr val="0F172A"/>
                </a:solidFill>
                <a:latin typeface="Arial"/>
              </a:rPr>
              <a:t>Quantum fusion</a:t>
            </a:r>
          </a:p>
        </p:txBody>
      </p:sp>
      <p:sp>
        <p:nvSpPr>
          <p:cNvPr id="2059" name="TextBox 2058"/>
          <p:cNvSpPr txBox="1"/>
          <p:nvPr/>
        </p:nvSpPr>
        <p:spPr>
          <a:xfrm>
            <a:off x="1810512" y="2322576"/>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PennyLane VQC - 8-qubit angle encoding + entangling layers</a:t>
            </a:r>
          </a:p>
        </p:txBody>
      </p:sp>
      <p:sp>
        <p:nvSpPr>
          <p:cNvPr id="2060" name="TextBox 2059"/>
          <p:cNvSpPr txBox="1"/>
          <p:nvPr/>
        </p:nvSpPr>
        <p:spPr>
          <a:xfrm>
            <a:off x="621792" y="2656332"/>
            <a:ext cx="1170432" cy="329184"/>
          </a:xfrm>
          <a:prstGeom prst="rect">
            <a:avLst/>
          </a:prstGeom>
          <a:noFill/>
        </p:spPr>
        <p:txBody>
          <a:bodyPr wrap="square" lIns="0" rIns="0" tIns="0" bIns="0" anchor="t">
            <a:spAutoFit/>
          </a:bodyPr>
          <a:lstStyle/>
          <a:p>
            <a:pPr algn="l"/>
            <a:r>
              <a:rPr sz="819" b="1" i="0">
                <a:solidFill>
                  <a:srgbClr val="0F172A"/>
                </a:solidFill>
                <a:latin typeface="Arial"/>
              </a:rPr>
              <a:t>Classical twin</a:t>
            </a:r>
          </a:p>
        </p:txBody>
      </p:sp>
      <p:sp>
        <p:nvSpPr>
          <p:cNvPr id="2061" name="TextBox 2060"/>
          <p:cNvSpPr txBox="1"/>
          <p:nvPr/>
        </p:nvSpPr>
        <p:spPr>
          <a:xfrm>
            <a:off x="1810512" y="2656332"/>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Bayesian product-of-experts, same interface</a:t>
            </a:r>
          </a:p>
        </p:txBody>
      </p:sp>
      <p:sp>
        <p:nvSpPr>
          <p:cNvPr id="2062" name="TextBox 2061"/>
          <p:cNvSpPr txBox="1"/>
          <p:nvPr/>
        </p:nvSpPr>
        <p:spPr>
          <a:xfrm>
            <a:off x="621792" y="2990088"/>
            <a:ext cx="1170432" cy="329184"/>
          </a:xfrm>
          <a:prstGeom prst="rect">
            <a:avLst/>
          </a:prstGeom>
          <a:noFill/>
        </p:spPr>
        <p:txBody>
          <a:bodyPr wrap="square" lIns="0" rIns="0" tIns="0" bIns="0" anchor="t">
            <a:spAutoFit/>
          </a:bodyPr>
          <a:lstStyle/>
          <a:p>
            <a:pPr algn="l"/>
            <a:r>
              <a:rPr sz="819" b="1" i="0">
                <a:solidFill>
                  <a:srgbClr val="0F172A"/>
                </a:solidFill>
                <a:latin typeface="Arial"/>
              </a:rPr>
              <a:t>Safety engine</a:t>
            </a:r>
          </a:p>
        </p:txBody>
      </p:sp>
      <p:sp>
        <p:nvSpPr>
          <p:cNvPr id="2063" name="TextBox 2062"/>
          <p:cNvSpPr txBox="1"/>
          <p:nvPr/>
        </p:nvSpPr>
        <p:spPr>
          <a:xfrm>
            <a:off x="1810512" y="2990088"/>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ensembles · temperature scaling · conformal sets · OOD · abstention</a:t>
            </a:r>
          </a:p>
        </p:txBody>
      </p:sp>
      <p:sp>
        <p:nvSpPr>
          <p:cNvPr id="2064" name="TextBox 2063"/>
          <p:cNvSpPr txBox="1"/>
          <p:nvPr/>
        </p:nvSpPr>
        <p:spPr>
          <a:xfrm>
            <a:off x="621792" y="3323844"/>
            <a:ext cx="1170432" cy="329184"/>
          </a:xfrm>
          <a:prstGeom prst="rect">
            <a:avLst/>
          </a:prstGeom>
          <a:noFill/>
        </p:spPr>
        <p:txBody>
          <a:bodyPr wrap="square" lIns="0" rIns="0" tIns="0" bIns="0" anchor="t">
            <a:spAutoFit/>
          </a:bodyPr>
          <a:lstStyle/>
          <a:p>
            <a:pPr algn="l"/>
            <a:r>
              <a:rPr sz="819" b="1" i="0">
                <a:solidFill>
                  <a:srgbClr val="0F172A"/>
                </a:solidFill>
                <a:latin typeface="Arial"/>
              </a:rPr>
              <a:t>Explainability</a:t>
            </a:r>
          </a:p>
        </p:txBody>
      </p:sp>
      <p:sp>
        <p:nvSpPr>
          <p:cNvPr id="2065" name="TextBox 2064"/>
          <p:cNvSpPr txBox="1"/>
          <p:nvPr/>
        </p:nvSpPr>
        <p:spPr>
          <a:xfrm>
            <a:off x="1810512" y="3323844"/>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occlusion saliency · evidence attribution · counterfactuals</a:t>
            </a:r>
          </a:p>
        </p:txBody>
      </p:sp>
      <p:sp>
        <p:nvSpPr>
          <p:cNvPr id="2066" name="TextBox 2065"/>
          <p:cNvSpPr txBox="1"/>
          <p:nvPr/>
        </p:nvSpPr>
        <p:spPr>
          <a:xfrm>
            <a:off x="621792" y="3657600"/>
            <a:ext cx="1170432" cy="329184"/>
          </a:xfrm>
          <a:prstGeom prst="rect">
            <a:avLst/>
          </a:prstGeom>
          <a:noFill/>
        </p:spPr>
        <p:txBody>
          <a:bodyPr wrap="square" lIns="0" rIns="0" tIns="0" bIns="0" anchor="t">
            <a:spAutoFit/>
          </a:bodyPr>
          <a:lstStyle/>
          <a:p>
            <a:pPr algn="l"/>
            <a:r>
              <a:rPr sz="819" b="1" i="0">
                <a:solidFill>
                  <a:srgbClr val="0F172A"/>
                </a:solidFill>
                <a:latin typeface="Arial"/>
              </a:rPr>
              <a:t>Recommender</a:t>
            </a:r>
          </a:p>
        </p:txBody>
      </p:sp>
      <p:sp>
        <p:nvSpPr>
          <p:cNvPr id="2067" name="TextBox 2066"/>
          <p:cNvSpPr txBox="1"/>
          <p:nvPr/>
        </p:nvSpPr>
        <p:spPr>
          <a:xfrm>
            <a:off x="1810512" y="3657600"/>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EIG next-test ranking per cost/risk</a:t>
            </a:r>
          </a:p>
        </p:txBody>
      </p:sp>
      <p:sp>
        <p:nvSpPr>
          <p:cNvPr id="2068" name="TextBox 2067"/>
          <p:cNvSpPr txBox="1"/>
          <p:nvPr/>
        </p:nvSpPr>
        <p:spPr>
          <a:xfrm>
            <a:off x="621792" y="3991356"/>
            <a:ext cx="1170432" cy="329184"/>
          </a:xfrm>
          <a:prstGeom prst="rect">
            <a:avLst/>
          </a:prstGeom>
          <a:noFill/>
        </p:spPr>
        <p:txBody>
          <a:bodyPr wrap="square" lIns="0" rIns="0" tIns="0" bIns="0" anchor="t">
            <a:spAutoFit/>
          </a:bodyPr>
          <a:lstStyle/>
          <a:p>
            <a:pPr algn="l"/>
            <a:r>
              <a:rPr sz="819" b="1" i="0">
                <a:solidFill>
                  <a:srgbClr val="0F172A"/>
                </a:solidFill>
                <a:latin typeface="Arial"/>
              </a:rPr>
              <a:t>Platform</a:t>
            </a:r>
          </a:p>
        </p:txBody>
      </p:sp>
      <p:sp>
        <p:nvSpPr>
          <p:cNvPr id="2069" name="TextBox 2068"/>
          <p:cNvSpPr txBox="1"/>
          <p:nvPr/>
        </p:nvSpPr>
        <p:spPr>
          <a:xfrm>
            <a:off x="1810512" y="3991356"/>
            <a:ext cx="2542032" cy="329184"/>
          </a:xfrm>
          <a:prstGeom prst="rect">
            <a:avLst/>
          </a:prstGeom>
          <a:noFill/>
        </p:spPr>
        <p:txBody>
          <a:bodyPr wrap="square" lIns="0" rIns="0" tIns="0" bIns="0" anchor="t">
            <a:spAutoFit/>
          </a:bodyPr>
          <a:lstStyle/>
          <a:p>
            <a:pPr algn="l">
              <a:lnSpc>
                <a:spcPct val="95000"/>
              </a:lnSpc>
            </a:pPr>
            <a:r>
              <a:rPr sz="760" b="0" i="0">
                <a:solidFill>
                  <a:srgbClr val="5B6672"/>
                </a:solidFill>
                <a:latin typeface="Arial"/>
              </a:rPr>
              <a:t>FastAPI microservices · event bus · audit ledger · dashboard</a:t>
            </a:r>
          </a:p>
        </p:txBody>
      </p:sp>
      <p:sp>
        <p:nvSpPr>
          <p:cNvPr id="2070" name="Rounded Rectangle 2069"/>
          <p:cNvSpPr/>
          <p:nvPr/>
        </p:nvSpPr>
        <p:spPr>
          <a:xfrm>
            <a:off x="457200" y="4480560"/>
            <a:ext cx="3977639" cy="841248"/>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71" name="TextBox 2070"/>
          <p:cNvSpPr txBox="1"/>
          <p:nvPr/>
        </p:nvSpPr>
        <p:spPr>
          <a:xfrm>
            <a:off x="621792" y="4572000"/>
            <a:ext cx="3703320" cy="201168"/>
          </a:xfrm>
          <a:prstGeom prst="rect">
            <a:avLst/>
          </a:prstGeom>
          <a:noFill/>
        </p:spPr>
        <p:txBody>
          <a:bodyPr wrap="square" lIns="0" rIns="0" tIns="0" bIns="0" anchor="t">
            <a:spAutoFit/>
          </a:bodyPr>
          <a:lstStyle/>
          <a:p>
            <a:pPr algn="l"/>
            <a:r>
              <a:rPr sz="850" b="1" i="0" spc="140">
                <a:solidFill>
                  <a:srgbClr val="0E7490"/>
                </a:solidFill>
                <a:latin typeface="Arial"/>
              </a:rPr>
              <a:t>LIVE DEMO - THREE COMMANDS, TWO MINUTES</a:t>
            </a:r>
          </a:p>
        </p:txBody>
      </p:sp>
      <p:sp>
        <p:nvSpPr>
          <p:cNvPr id="2072" name="TextBox 2071"/>
          <p:cNvSpPr txBox="1"/>
          <p:nvPr/>
        </p:nvSpPr>
        <p:spPr>
          <a:xfrm>
            <a:off x="621792" y="4791456"/>
            <a:ext cx="3703320" cy="457200"/>
          </a:xfrm>
          <a:prstGeom prst="rect">
            <a:avLst/>
          </a:prstGeom>
          <a:noFill/>
        </p:spPr>
        <p:txBody>
          <a:bodyPr wrap="square" lIns="0" rIns="0" tIns="0" bIns="0" anchor="t">
            <a:spAutoFit/>
          </a:bodyPr>
          <a:lstStyle/>
          <a:p>
            <a:pPr algn="l">
              <a:lnSpc>
                <a:spcPct val="115000"/>
              </a:lnSpc>
            </a:pPr>
            <a:r>
              <a:rPr sz="1000" b="1" i="0">
                <a:solidFill>
                  <a:srgbClr val="0F172A"/>
                </a:solidFill>
                <a:latin typeface="Courier New"/>
              </a:rPr>
              <a:t>aura_cli train · bench · serve</a:t>
            </a:r>
          </a:p>
          <a:p>
            <a:pPr algn="l">
              <a:lnSpc>
                <a:spcPct val="115000"/>
              </a:lnSpc>
            </a:pPr>
            <a:r>
              <a:rPr sz="800" b="0" i="1">
                <a:solidFill>
                  <a:srgbClr val="5B6672"/>
                </a:solidFill>
                <a:latin typeface="Arial"/>
              </a:rPr>
              <a:t>doctor dashboard on :8000 - ask us to run it</a:t>
            </a:r>
          </a:p>
        </p:txBody>
      </p:sp>
      <p:sp>
        <p:nvSpPr>
          <p:cNvPr id="2073" name="Rounded Rectangle 2072"/>
          <p:cNvSpPr/>
          <p:nvPr/>
        </p:nvSpPr>
        <p:spPr>
          <a:xfrm>
            <a:off x="4617720" y="1956816"/>
            <a:ext cx="4069080" cy="1188720"/>
          </a:xfrm>
          <a:prstGeom prst="roundRect">
            <a:avLst>
              <a:gd name="adj" fmla="val 10000"/>
            </a:avLst>
          </a:prstGeom>
          <a:solidFill>
            <a:srgbClr val="ECF8F7"/>
          </a:solidFill>
          <a:ln w="12700">
            <a:solidFill>
              <a:srgbClr val="0D9488"/>
            </a:solidFill>
          </a:ln>
          <a:effectLst/>
        </p:spPr>
        <p:txBody>
          <a:bodyPr rtlCol="0" anchor="ctr"/>
          <a:lstStyle/>
          <a:p>
            <a:pPr algn="ctr"/>
          </a:p>
        </p:txBody>
      </p:sp>
      <p:sp>
        <p:nvSpPr>
          <p:cNvPr id="2074" name="TextBox 2073"/>
          <p:cNvSpPr txBox="1"/>
          <p:nvPr/>
        </p:nvSpPr>
        <p:spPr>
          <a:xfrm>
            <a:off x="4782312" y="2066543"/>
            <a:ext cx="3749039" cy="201168"/>
          </a:xfrm>
          <a:prstGeom prst="rect">
            <a:avLst/>
          </a:prstGeom>
          <a:noFill/>
        </p:spPr>
        <p:txBody>
          <a:bodyPr wrap="square" lIns="0" rIns="0" tIns="0" bIns="0" anchor="t">
            <a:spAutoFit/>
          </a:bodyPr>
          <a:lstStyle/>
          <a:p>
            <a:pPr algn="l"/>
            <a:r>
              <a:rPr sz="850" b="1" i="0" spc="200">
                <a:solidFill>
                  <a:srgbClr val="0E7490"/>
                </a:solidFill>
                <a:latin typeface="Arial"/>
              </a:rPr>
              <a:t>THE BENCHMARK LAW</a:t>
            </a:r>
          </a:p>
        </p:txBody>
      </p:sp>
      <p:sp>
        <p:nvSpPr>
          <p:cNvPr id="2075" name="TextBox 2074"/>
          <p:cNvSpPr txBox="1"/>
          <p:nvPr/>
        </p:nvSpPr>
        <p:spPr>
          <a:xfrm>
            <a:off x="4782312" y="2286000"/>
            <a:ext cx="3749039" cy="786384"/>
          </a:xfrm>
          <a:prstGeom prst="rect">
            <a:avLst/>
          </a:prstGeom>
          <a:noFill/>
        </p:spPr>
        <p:txBody>
          <a:bodyPr wrap="square" lIns="0" rIns="0" tIns="0" bIns="0" anchor="t">
            <a:spAutoFit/>
          </a:bodyPr>
          <a:lstStyle/>
          <a:p>
            <a:pPr algn="l">
              <a:lnSpc>
                <a:spcPct val="115000"/>
              </a:lnSpc>
            </a:pPr>
            <a:r>
              <a:rPr sz="880" b="0" i="0">
                <a:solidFill>
                  <a:srgbClr val="5B6672"/>
                </a:solidFill>
                <a:latin typeface="Arial"/>
              </a:rPr>
              <a:t>Quantum vs classical twin on identical held-out data: </a:t>
            </a:r>
            <a:r>
              <a:rPr sz="880" b="1" i="0">
                <a:solidFill>
                  <a:srgbClr val="0F172A"/>
                </a:solidFill>
                <a:latin typeface="Arial"/>
              </a:rPr>
              <a:t>accuracy · NLL · ECE · Brier · coverage · set size.</a:t>
            </a:r>
          </a:p>
          <a:p>
            <a:pPr algn="l">
              <a:lnSpc>
                <a:spcPct val="115000"/>
              </a:lnSpc>
            </a:pPr>
            <a:r>
              <a:rPr sz="950" b="1" i="1">
                <a:solidFill>
                  <a:srgbClr val="0E7490"/>
                </a:solidFill>
                <a:latin typeface="Arial"/>
              </a:rPr>
              <a:t>If the classical twin wins, the classical twin ships.</a:t>
            </a:r>
          </a:p>
        </p:txBody>
      </p:sp>
      <p:sp>
        <p:nvSpPr>
          <p:cNvPr id="2076" name="TextBox 2075"/>
          <p:cNvSpPr txBox="1"/>
          <p:nvPr/>
        </p:nvSpPr>
        <p:spPr>
          <a:xfrm>
            <a:off x="4617720" y="3291840"/>
            <a:ext cx="4069080" cy="201168"/>
          </a:xfrm>
          <a:prstGeom prst="rect">
            <a:avLst/>
          </a:prstGeom>
          <a:noFill/>
        </p:spPr>
        <p:txBody>
          <a:bodyPr wrap="square" lIns="0" rIns="0" tIns="0" bIns="0" anchor="t">
            <a:spAutoFit/>
          </a:bodyPr>
          <a:lstStyle/>
          <a:p>
            <a:pPr algn="l"/>
            <a:r>
              <a:rPr sz="850" b="1" i="0" spc="140">
                <a:solidFill>
                  <a:srgbClr val="0E7490"/>
                </a:solidFill>
                <a:latin typeface="Arial"/>
              </a:rPr>
              <a:t>AGAINST THE STRONGEST PUBLISHED BASELINES</a:t>
            </a:r>
          </a:p>
        </p:txBody>
      </p:sp>
      <p:sp>
        <p:nvSpPr>
          <p:cNvPr id="2077" name="Rounded Rectangle 2076"/>
          <p:cNvSpPr/>
          <p:nvPr/>
        </p:nvSpPr>
        <p:spPr>
          <a:xfrm>
            <a:off x="6556248" y="3547872"/>
            <a:ext cx="621792" cy="256032"/>
          </a:xfrm>
          <a:prstGeom prst="roundRect">
            <a:avLst>
              <a:gd name="adj" fmla="val 12000"/>
            </a:avLst>
          </a:prstGeom>
          <a:solidFill>
            <a:srgbClr val="0F172A"/>
          </a:solidFill>
          <a:ln>
            <a:noFill/>
          </a:ln>
          <a:effectLst/>
        </p:spPr>
        <p:txBody>
          <a:bodyPr rtlCol="0" anchor="ctr"/>
          <a:lstStyle/>
          <a:p>
            <a:pPr algn="ctr"/>
          </a:p>
        </p:txBody>
      </p:sp>
      <p:sp>
        <p:nvSpPr>
          <p:cNvPr id="2078" name="TextBox 2077"/>
          <p:cNvSpPr txBox="1"/>
          <p:nvPr/>
        </p:nvSpPr>
        <p:spPr>
          <a:xfrm>
            <a:off x="6537960" y="3589020"/>
            <a:ext cx="658368" cy="182880"/>
          </a:xfrm>
          <a:prstGeom prst="rect">
            <a:avLst/>
          </a:prstGeom>
          <a:noFill/>
        </p:spPr>
        <p:txBody>
          <a:bodyPr wrap="square" lIns="0" rIns="0" tIns="0" bIns="0" anchor="t">
            <a:spAutoFit/>
          </a:bodyPr>
          <a:lstStyle/>
          <a:p>
            <a:pPr algn="ctr"/>
            <a:r>
              <a:rPr sz="750" b="1" i="0">
                <a:solidFill>
                  <a:srgbClr val="FFFFFF"/>
                </a:solidFill>
                <a:latin typeface="Arial"/>
              </a:rPr>
              <a:t>CheXNet</a:t>
            </a:r>
          </a:p>
        </p:txBody>
      </p:sp>
      <p:sp>
        <p:nvSpPr>
          <p:cNvPr id="2079" name="Rounded Rectangle 2078"/>
          <p:cNvSpPr/>
          <p:nvPr/>
        </p:nvSpPr>
        <p:spPr>
          <a:xfrm>
            <a:off x="7214616" y="3547872"/>
            <a:ext cx="749808" cy="256032"/>
          </a:xfrm>
          <a:prstGeom prst="roundRect">
            <a:avLst>
              <a:gd name="adj" fmla="val 12000"/>
            </a:avLst>
          </a:prstGeom>
          <a:solidFill>
            <a:srgbClr val="0F172A"/>
          </a:solidFill>
          <a:ln>
            <a:noFill/>
          </a:ln>
          <a:effectLst/>
        </p:spPr>
        <p:txBody>
          <a:bodyPr rtlCol="0" anchor="ctr"/>
          <a:lstStyle/>
          <a:p>
            <a:pPr algn="ctr"/>
          </a:p>
        </p:txBody>
      </p:sp>
      <p:sp>
        <p:nvSpPr>
          <p:cNvPr id="2080" name="TextBox 2079"/>
          <p:cNvSpPr txBox="1"/>
          <p:nvPr/>
        </p:nvSpPr>
        <p:spPr>
          <a:xfrm>
            <a:off x="7196328" y="3589020"/>
            <a:ext cx="786384" cy="182880"/>
          </a:xfrm>
          <a:prstGeom prst="rect">
            <a:avLst/>
          </a:prstGeom>
          <a:noFill/>
        </p:spPr>
        <p:txBody>
          <a:bodyPr wrap="square" lIns="0" rIns="0" tIns="0" bIns="0" anchor="t">
            <a:spAutoFit/>
          </a:bodyPr>
          <a:lstStyle/>
          <a:p>
            <a:pPr algn="ctr"/>
            <a:r>
              <a:rPr sz="750" b="1" i="0">
                <a:solidFill>
                  <a:srgbClr val="FFFFFF"/>
                </a:solidFill>
                <a:latin typeface="Arial"/>
              </a:rPr>
              <a:t>MedPaLM-M</a:t>
            </a:r>
          </a:p>
        </p:txBody>
      </p:sp>
      <p:sp>
        <p:nvSpPr>
          <p:cNvPr id="2081" name="Rounded Rectangle 2080"/>
          <p:cNvSpPr/>
          <p:nvPr/>
        </p:nvSpPr>
        <p:spPr>
          <a:xfrm>
            <a:off x="8001000" y="3547872"/>
            <a:ext cx="621792" cy="256032"/>
          </a:xfrm>
          <a:prstGeom prst="roundRect">
            <a:avLst>
              <a:gd name="adj" fmla="val 12000"/>
            </a:avLst>
          </a:prstGeom>
          <a:solidFill>
            <a:srgbClr val="0E7490"/>
          </a:solidFill>
          <a:ln>
            <a:noFill/>
          </a:ln>
          <a:effectLst/>
        </p:spPr>
        <p:txBody>
          <a:bodyPr rtlCol="0" anchor="ctr"/>
          <a:lstStyle/>
          <a:p>
            <a:pPr algn="ctr"/>
          </a:p>
        </p:txBody>
      </p:sp>
      <p:sp>
        <p:nvSpPr>
          <p:cNvPr id="2082" name="TextBox 2081"/>
          <p:cNvSpPr txBox="1"/>
          <p:nvPr/>
        </p:nvSpPr>
        <p:spPr>
          <a:xfrm>
            <a:off x="7982712" y="3589020"/>
            <a:ext cx="658368" cy="182880"/>
          </a:xfrm>
          <a:prstGeom prst="rect">
            <a:avLst/>
          </a:prstGeom>
          <a:noFill/>
        </p:spPr>
        <p:txBody>
          <a:bodyPr wrap="square" lIns="0" rIns="0" tIns="0" bIns="0" anchor="t">
            <a:spAutoFit/>
          </a:bodyPr>
          <a:lstStyle/>
          <a:p>
            <a:pPr algn="ctr"/>
            <a:r>
              <a:rPr sz="750" b="1" i="0">
                <a:solidFill>
                  <a:srgbClr val="FFFFFF"/>
                </a:solidFill>
                <a:latin typeface="Arial"/>
              </a:rPr>
              <a:t>AURA</a:t>
            </a:r>
          </a:p>
        </p:txBody>
      </p:sp>
      <p:sp>
        <p:nvSpPr>
          <p:cNvPr id="2083" name="Rectangle 2082"/>
          <p:cNvSpPr/>
          <p:nvPr/>
        </p:nvSpPr>
        <p:spPr>
          <a:xfrm>
            <a:off x="4617720" y="3826764"/>
            <a:ext cx="4023360" cy="274320"/>
          </a:xfrm>
          <a:prstGeom prst="rect">
            <a:avLst/>
          </a:prstGeom>
          <a:solidFill>
            <a:srgbClr val="F6FAFA"/>
          </a:solidFill>
          <a:ln>
            <a:noFill/>
          </a:ln>
          <a:effectLst/>
        </p:spPr>
        <p:txBody>
          <a:bodyPr rtlCol="0" anchor="ctr"/>
          <a:lstStyle/>
          <a:p>
            <a:pPr algn="ctr"/>
          </a:p>
        </p:txBody>
      </p:sp>
      <p:sp>
        <p:nvSpPr>
          <p:cNvPr id="2084" name="TextBox 2083"/>
          <p:cNvSpPr txBox="1"/>
          <p:nvPr/>
        </p:nvSpPr>
        <p:spPr>
          <a:xfrm>
            <a:off x="4672583" y="3840480"/>
            <a:ext cx="1828800" cy="274320"/>
          </a:xfrm>
          <a:prstGeom prst="rect">
            <a:avLst/>
          </a:prstGeom>
          <a:noFill/>
        </p:spPr>
        <p:txBody>
          <a:bodyPr wrap="square" lIns="0" rIns="0" tIns="0" bIns="0" anchor="ctr">
            <a:spAutoFit/>
          </a:bodyPr>
          <a:lstStyle/>
          <a:p>
            <a:pPr algn="l"/>
            <a:r>
              <a:rPr sz="800" b="1" i="0">
                <a:solidFill>
                  <a:srgbClr val="0F172A"/>
                </a:solidFill>
                <a:latin typeface="Arial"/>
              </a:rPr>
              <a:t>Uncertainty decomposition</a:t>
            </a:r>
          </a:p>
        </p:txBody>
      </p:sp>
      <p:sp>
        <p:nvSpPr>
          <p:cNvPr id="2085" name="TextBox 2084"/>
          <p:cNvSpPr txBox="1"/>
          <p:nvPr/>
        </p:nvSpPr>
        <p:spPr>
          <a:xfrm>
            <a:off x="6537960" y="384048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86" name="TextBox 2085"/>
          <p:cNvSpPr txBox="1"/>
          <p:nvPr/>
        </p:nvSpPr>
        <p:spPr>
          <a:xfrm>
            <a:off x="7196328" y="3840480"/>
            <a:ext cx="786384"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87" name="TextBox 2086"/>
          <p:cNvSpPr txBox="1"/>
          <p:nvPr/>
        </p:nvSpPr>
        <p:spPr>
          <a:xfrm>
            <a:off x="7982712" y="384048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088" name="TextBox 2087"/>
          <p:cNvSpPr txBox="1"/>
          <p:nvPr/>
        </p:nvSpPr>
        <p:spPr>
          <a:xfrm>
            <a:off x="4672583" y="4114800"/>
            <a:ext cx="1828800" cy="274320"/>
          </a:xfrm>
          <a:prstGeom prst="rect">
            <a:avLst/>
          </a:prstGeom>
          <a:noFill/>
        </p:spPr>
        <p:txBody>
          <a:bodyPr wrap="square" lIns="0" rIns="0" tIns="0" bIns="0" anchor="ctr">
            <a:spAutoFit/>
          </a:bodyPr>
          <a:lstStyle/>
          <a:p>
            <a:pPr algn="l"/>
            <a:r>
              <a:rPr sz="800" b="1" i="0">
                <a:solidFill>
                  <a:srgbClr val="0F172A"/>
                </a:solidFill>
                <a:latin typeface="Arial"/>
              </a:rPr>
              <a:t>Coverage-guaranteed sets</a:t>
            </a:r>
          </a:p>
        </p:txBody>
      </p:sp>
      <p:sp>
        <p:nvSpPr>
          <p:cNvPr id="2089" name="TextBox 2088"/>
          <p:cNvSpPr txBox="1"/>
          <p:nvPr/>
        </p:nvSpPr>
        <p:spPr>
          <a:xfrm>
            <a:off x="6537960" y="411480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90" name="TextBox 2089"/>
          <p:cNvSpPr txBox="1"/>
          <p:nvPr/>
        </p:nvSpPr>
        <p:spPr>
          <a:xfrm>
            <a:off x="7196328" y="4114800"/>
            <a:ext cx="786384"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91" name="TextBox 2090"/>
          <p:cNvSpPr txBox="1"/>
          <p:nvPr/>
        </p:nvSpPr>
        <p:spPr>
          <a:xfrm>
            <a:off x="7982712" y="411480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092" name="Rectangle 2091"/>
          <p:cNvSpPr/>
          <p:nvPr/>
        </p:nvSpPr>
        <p:spPr>
          <a:xfrm>
            <a:off x="4617720" y="4375404"/>
            <a:ext cx="4023360" cy="274320"/>
          </a:xfrm>
          <a:prstGeom prst="rect">
            <a:avLst/>
          </a:prstGeom>
          <a:solidFill>
            <a:srgbClr val="F6FAFA"/>
          </a:solidFill>
          <a:ln>
            <a:noFill/>
          </a:ln>
          <a:effectLst/>
        </p:spPr>
        <p:txBody>
          <a:bodyPr rtlCol="0" anchor="ctr"/>
          <a:lstStyle/>
          <a:p>
            <a:pPr algn="ctr"/>
          </a:p>
        </p:txBody>
      </p:sp>
      <p:sp>
        <p:nvSpPr>
          <p:cNvPr id="2093" name="TextBox 2092"/>
          <p:cNvSpPr txBox="1"/>
          <p:nvPr/>
        </p:nvSpPr>
        <p:spPr>
          <a:xfrm>
            <a:off x="4672583" y="4389120"/>
            <a:ext cx="1828800" cy="274320"/>
          </a:xfrm>
          <a:prstGeom prst="rect">
            <a:avLst/>
          </a:prstGeom>
          <a:noFill/>
        </p:spPr>
        <p:txBody>
          <a:bodyPr wrap="square" lIns="0" rIns="0" tIns="0" bIns="0" anchor="ctr">
            <a:spAutoFit/>
          </a:bodyPr>
          <a:lstStyle/>
          <a:p>
            <a:pPr algn="l"/>
            <a:r>
              <a:rPr sz="800" b="1" i="0">
                <a:solidFill>
                  <a:srgbClr val="0F172A"/>
                </a:solidFill>
                <a:latin typeface="Arial"/>
              </a:rPr>
              <a:t>Counterfactual explanation</a:t>
            </a:r>
          </a:p>
        </p:txBody>
      </p:sp>
      <p:sp>
        <p:nvSpPr>
          <p:cNvPr id="2094" name="TextBox 2093"/>
          <p:cNvSpPr txBox="1"/>
          <p:nvPr/>
        </p:nvSpPr>
        <p:spPr>
          <a:xfrm>
            <a:off x="6537960" y="438912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95" name="TextBox 2094"/>
          <p:cNvSpPr txBox="1"/>
          <p:nvPr/>
        </p:nvSpPr>
        <p:spPr>
          <a:xfrm>
            <a:off x="7196328" y="4389120"/>
            <a:ext cx="786384"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96" name="TextBox 2095"/>
          <p:cNvSpPr txBox="1"/>
          <p:nvPr/>
        </p:nvSpPr>
        <p:spPr>
          <a:xfrm>
            <a:off x="7982712" y="438912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097" name="TextBox 2096"/>
          <p:cNvSpPr txBox="1"/>
          <p:nvPr/>
        </p:nvSpPr>
        <p:spPr>
          <a:xfrm>
            <a:off x="4672583" y="4663440"/>
            <a:ext cx="1828800" cy="274320"/>
          </a:xfrm>
          <a:prstGeom prst="rect">
            <a:avLst/>
          </a:prstGeom>
          <a:noFill/>
        </p:spPr>
        <p:txBody>
          <a:bodyPr wrap="square" lIns="0" rIns="0" tIns="0" bIns="0" anchor="ctr">
            <a:spAutoFit/>
          </a:bodyPr>
          <a:lstStyle/>
          <a:p>
            <a:pPr algn="l"/>
            <a:r>
              <a:rPr sz="800" b="1" i="0">
                <a:solidFill>
                  <a:srgbClr val="0F172A"/>
                </a:solidFill>
                <a:latin typeface="Arial"/>
              </a:rPr>
              <a:t>Next-test planning (EIG)</a:t>
            </a:r>
          </a:p>
        </p:txBody>
      </p:sp>
      <p:sp>
        <p:nvSpPr>
          <p:cNvPr id="2098" name="TextBox 2097"/>
          <p:cNvSpPr txBox="1"/>
          <p:nvPr/>
        </p:nvSpPr>
        <p:spPr>
          <a:xfrm>
            <a:off x="6537960" y="466344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099" name="TextBox 2098"/>
          <p:cNvSpPr txBox="1"/>
          <p:nvPr/>
        </p:nvSpPr>
        <p:spPr>
          <a:xfrm>
            <a:off x="7196328" y="4663440"/>
            <a:ext cx="786384" cy="274320"/>
          </a:xfrm>
          <a:prstGeom prst="rect">
            <a:avLst/>
          </a:prstGeom>
          <a:noFill/>
        </p:spPr>
        <p:txBody>
          <a:bodyPr wrap="square" lIns="0" rIns="0" tIns="0" bIns="0" anchor="ctr">
            <a:spAutoFit/>
          </a:bodyPr>
          <a:lstStyle/>
          <a:p>
            <a:pPr algn="ctr"/>
            <a:r>
              <a:rPr sz="900" b="1" i="0">
                <a:solidFill>
                  <a:srgbClr val="B98A2F"/>
                </a:solidFill>
                <a:latin typeface="Arial"/>
              </a:rPr>
              <a:t>~</a:t>
            </a:r>
          </a:p>
        </p:txBody>
      </p:sp>
      <p:sp>
        <p:nvSpPr>
          <p:cNvPr id="2100" name="TextBox 2099"/>
          <p:cNvSpPr txBox="1"/>
          <p:nvPr/>
        </p:nvSpPr>
        <p:spPr>
          <a:xfrm>
            <a:off x="7982712" y="466344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101" name="Rectangle 2100"/>
          <p:cNvSpPr/>
          <p:nvPr/>
        </p:nvSpPr>
        <p:spPr>
          <a:xfrm>
            <a:off x="4617720" y="4924044"/>
            <a:ext cx="4023360" cy="274320"/>
          </a:xfrm>
          <a:prstGeom prst="rect">
            <a:avLst/>
          </a:prstGeom>
          <a:solidFill>
            <a:srgbClr val="F6FAFA"/>
          </a:solidFill>
          <a:ln>
            <a:noFill/>
          </a:ln>
          <a:effectLst/>
        </p:spPr>
        <p:txBody>
          <a:bodyPr rtlCol="0" anchor="ctr"/>
          <a:lstStyle/>
          <a:p>
            <a:pPr algn="ctr"/>
          </a:p>
        </p:txBody>
      </p:sp>
      <p:sp>
        <p:nvSpPr>
          <p:cNvPr id="2102" name="TextBox 2101"/>
          <p:cNvSpPr txBox="1"/>
          <p:nvPr/>
        </p:nvSpPr>
        <p:spPr>
          <a:xfrm>
            <a:off x="4672583" y="4937760"/>
            <a:ext cx="1828800" cy="274320"/>
          </a:xfrm>
          <a:prstGeom prst="rect">
            <a:avLst/>
          </a:prstGeom>
          <a:noFill/>
        </p:spPr>
        <p:txBody>
          <a:bodyPr wrap="square" lIns="0" rIns="0" tIns="0" bIns="0" anchor="ctr">
            <a:spAutoFit/>
          </a:bodyPr>
          <a:lstStyle/>
          <a:p>
            <a:pPr algn="l"/>
            <a:r>
              <a:rPr sz="800" b="1" i="0">
                <a:solidFill>
                  <a:srgbClr val="0F172A"/>
                </a:solidFill>
                <a:latin typeface="Arial"/>
              </a:rPr>
              <a:t>Quantum-kernel latent space</a:t>
            </a:r>
          </a:p>
        </p:txBody>
      </p:sp>
      <p:sp>
        <p:nvSpPr>
          <p:cNvPr id="2103" name="TextBox 2102"/>
          <p:cNvSpPr txBox="1"/>
          <p:nvPr/>
        </p:nvSpPr>
        <p:spPr>
          <a:xfrm>
            <a:off x="6537960" y="493776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104" name="TextBox 2103"/>
          <p:cNvSpPr txBox="1"/>
          <p:nvPr/>
        </p:nvSpPr>
        <p:spPr>
          <a:xfrm>
            <a:off x="7196328" y="4937760"/>
            <a:ext cx="786384"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105" name="TextBox 2104"/>
          <p:cNvSpPr txBox="1"/>
          <p:nvPr/>
        </p:nvSpPr>
        <p:spPr>
          <a:xfrm>
            <a:off x="7982712" y="493776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106" name="TextBox 2105"/>
          <p:cNvSpPr txBox="1"/>
          <p:nvPr/>
        </p:nvSpPr>
        <p:spPr>
          <a:xfrm>
            <a:off x="4672583" y="5212080"/>
            <a:ext cx="1828800" cy="274320"/>
          </a:xfrm>
          <a:prstGeom prst="rect">
            <a:avLst/>
          </a:prstGeom>
          <a:noFill/>
        </p:spPr>
        <p:txBody>
          <a:bodyPr wrap="square" lIns="0" rIns="0" tIns="0" bIns="0" anchor="ctr">
            <a:spAutoFit/>
          </a:bodyPr>
          <a:lstStyle/>
          <a:p>
            <a:pPr algn="l"/>
            <a:r>
              <a:rPr sz="800" b="1" i="0">
                <a:solidFill>
                  <a:srgbClr val="0F172A"/>
                </a:solidFill>
                <a:latin typeface="Arial"/>
              </a:rPr>
              <a:t>Grounded, auditable report</a:t>
            </a:r>
          </a:p>
        </p:txBody>
      </p:sp>
      <p:sp>
        <p:nvSpPr>
          <p:cNvPr id="2107" name="TextBox 2106"/>
          <p:cNvSpPr txBox="1"/>
          <p:nvPr/>
        </p:nvSpPr>
        <p:spPr>
          <a:xfrm>
            <a:off x="6537960" y="5212080"/>
            <a:ext cx="658368" cy="274320"/>
          </a:xfrm>
          <a:prstGeom prst="rect">
            <a:avLst/>
          </a:prstGeom>
          <a:noFill/>
        </p:spPr>
        <p:txBody>
          <a:bodyPr wrap="square" lIns="0" rIns="0" tIns="0" bIns="0" anchor="ctr">
            <a:spAutoFit/>
          </a:bodyPr>
          <a:lstStyle/>
          <a:p>
            <a:pPr algn="ctr"/>
            <a:r>
              <a:rPr sz="900" b="1" i="0">
                <a:solidFill>
                  <a:srgbClr val="B9C2C9"/>
                </a:solidFill>
                <a:latin typeface="Arial"/>
              </a:rPr>
              <a:t>—</a:t>
            </a:r>
          </a:p>
        </p:txBody>
      </p:sp>
      <p:sp>
        <p:nvSpPr>
          <p:cNvPr id="2108" name="TextBox 2107"/>
          <p:cNvSpPr txBox="1"/>
          <p:nvPr/>
        </p:nvSpPr>
        <p:spPr>
          <a:xfrm>
            <a:off x="7196328" y="5212080"/>
            <a:ext cx="786384" cy="274320"/>
          </a:xfrm>
          <a:prstGeom prst="rect">
            <a:avLst/>
          </a:prstGeom>
          <a:noFill/>
        </p:spPr>
        <p:txBody>
          <a:bodyPr wrap="square" lIns="0" rIns="0" tIns="0" bIns="0" anchor="ctr">
            <a:spAutoFit/>
          </a:bodyPr>
          <a:lstStyle/>
          <a:p>
            <a:pPr algn="ctr"/>
            <a:r>
              <a:rPr sz="900" b="1" i="0">
                <a:solidFill>
                  <a:srgbClr val="B98A2F"/>
                </a:solidFill>
                <a:latin typeface="Arial"/>
              </a:rPr>
              <a:t>~</a:t>
            </a:r>
          </a:p>
        </p:txBody>
      </p:sp>
      <p:sp>
        <p:nvSpPr>
          <p:cNvPr id="2109" name="TextBox 2108"/>
          <p:cNvSpPr txBox="1"/>
          <p:nvPr/>
        </p:nvSpPr>
        <p:spPr>
          <a:xfrm>
            <a:off x="7982712" y="5212080"/>
            <a:ext cx="658368" cy="274320"/>
          </a:xfrm>
          <a:prstGeom prst="rect">
            <a:avLst/>
          </a:prstGeom>
          <a:noFill/>
        </p:spPr>
        <p:txBody>
          <a:bodyPr wrap="square" lIns="0" rIns="0" tIns="0" bIns="0" anchor="ctr">
            <a:spAutoFit/>
          </a:bodyPr>
          <a:lstStyle/>
          <a:p>
            <a:pPr algn="ctr"/>
            <a:r>
              <a:rPr sz="950" b="1" i="0">
                <a:solidFill>
                  <a:srgbClr val="0E7490"/>
                </a:solidFill>
                <a:latin typeface="Arial"/>
              </a:rPr>
              <a:t>✓</a:t>
            </a:r>
          </a:p>
        </p:txBody>
      </p:sp>
      <p:sp>
        <p:nvSpPr>
          <p:cNvPr id="2110" name="Rounded Rectangle 2109"/>
          <p:cNvSpPr/>
          <p:nvPr/>
        </p:nvSpPr>
        <p:spPr>
          <a:xfrm>
            <a:off x="7982712" y="3529584"/>
            <a:ext cx="658368" cy="1938527"/>
          </a:xfrm>
          <a:prstGeom prst="roundRect">
            <a:avLst>
              <a:gd name="adj" fmla="val 8000"/>
            </a:avLst>
          </a:prstGeom>
          <a:noFill/>
          <a:ln w="19050">
            <a:solidFill>
              <a:srgbClr val="0E7490"/>
            </a:solidFill>
          </a:ln>
          <a:effectLst/>
        </p:spPr>
        <p:txBody>
          <a:bodyPr rtlCol="0" anchor="ctr"/>
          <a:lstStyle/>
          <a:p>
            <a:pPr algn="ctr"/>
          </a:p>
        </p:txBody>
      </p:sp>
      <p:sp>
        <p:nvSpPr>
          <p:cNvPr id="2111" name="TextBox 2110"/>
          <p:cNvSpPr txBox="1"/>
          <p:nvPr/>
        </p:nvSpPr>
        <p:spPr>
          <a:xfrm>
            <a:off x="457200" y="5559552"/>
            <a:ext cx="8229600" cy="219456"/>
          </a:xfrm>
          <a:prstGeom prst="rect">
            <a:avLst/>
          </a:prstGeom>
          <a:noFill/>
        </p:spPr>
        <p:txBody>
          <a:bodyPr wrap="square" lIns="0" rIns="0" tIns="0" bIns="0" anchor="t">
            <a:spAutoFit/>
          </a:bodyPr>
          <a:lstStyle/>
          <a:p>
            <a:pPr algn="l"/>
            <a:r>
              <a:rPr sz="800" b="0" i="1">
                <a:solidFill>
                  <a:srgbClr val="5B6672"/>
                </a:solidFill>
                <a:latin typeface="Arial"/>
              </a:rPr>
              <a:t>Rajpurkar 2017 · Tu et al., arXiv:2307.14334 (2023) · full provenance per result: {backend, circuit version, seed, shots} pinned to every belief snapshot.</a:t>
            </a:r>
          </a:p>
        </p:txBody>
      </p:sp>
    </p:spTree>
  </p:cSld>
  <p:clrMapOvr>
    <a:masterClrMapping/>
  </p:clrMapOvr>
  <p:transition>
    <p:fad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cstate="print">
            <a:lum/>
          </a:blip>
          <a:srcRect/>
          <a:stretch>
            <a:fillRect l="-24000" r="-24000"/>
          </a:stretch>
        </a:blipFill>
        <a:effectLst/>
      </p:bgPr>
    </p:bg>
    <p:spTree>
      <p:nvGrpSpPr>
        <p:cNvPr id="1" name=""/>
        <p:cNvGrpSpPr/>
        <p:nvPr/>
      </p:nvGrpSpPr>
      <p:grpSpPr>
        <a:xfrm>
          <a:off x="0" y="0"/>
          <a:ext cx="0" cy="0"/>
          <a:chOff x="0" y="0"/>
          <a:chExt cx="0" cy="0"/>
        </a:xfrm>
      </p:grpSpPr>
      <p:pic>
        <p:nvPicPr>
          <p:cNvPr id="2" name="Picture 3" descr="C:\Users\Admin\Downloads\1764679326535-Photoroom.png"/>
          <p:cNvPicPr>
            <a:picLocks noChangeAspect="1" noChangeArrowheads="1"/>
          </p:cNvPicPr>
          <p:nvPr/>
        </p:nvPicPr>
        <p:blipFill>
          <a:blip r:embed="rId4"/>
          <a:srcRect/>
          <a:stretch>
            <a:fillRect/>
          </a:stretch>
        </p:blipFill>
        <p:spPr bwMode="auto">
          <a:xfrm>
            <a:off x="4108831" y="35671"/>
            <a:ext cx="1285884" cy="1285884"/>
          </a:xfrm>
          <a:prstGeom prst="rect">
            <a:avLst/>
          </a:prstGeom>
          <a:noFill/>
        </p:spPr>
      </p:pic>
      <p:pic>
        <p:nvPicPr>
          <p:cNvPr id="2050" name="Picture 2" descr="C:\Users\Admin\Downloads\RIT.png"/>
          <p:cNvPicPr>
            <a:picLocks noChangeAspect="1" noChangeArrowheads="1"/>
          </p:cNvPicPr>
          <p:nvPr/>
        </p:nvPicPr>
        <p:blipFill>
          <a:blip r:embed="rId5" cstate="print"/>
          <a:srcRect/>
          <a:stretch>
            <a:fillRect/>
          </a:stretch>
        </p:blipFill>
        <p:spPr bwMode="auto">
          <a:xfrm>
            <a:off x="252062" y="285704"/>
            <a:ext cx="3043364" cy="785818"/>
          </a:xfrm>
          <a:prstGeom prst="rect">
            <a:avLst/>
          </a:prstGeom>
          <a:noFill/>
        </p:spPr>
      </p:pic>
      <p:pic>
        <p:nvPicPr>
          <p:cNvPr id="2051" name="Picture 3" descr="C:\Users\Admin\Downloads\IBM_logo.svg.png"/>
          <p:cNvPicPr>
            <a:picLocks noChangeAspect="1" noChangeArrowheads="1"/>
          </p:cNvPicPr>
          <p:nvPr/>
        </p:nvPicPr>
        <p:blipFill>
          <a:blip r:embed="rId6"/>
          <a:srcRect/>
          <a:stretch>
            <a:fillRect/>
          </a:stretch>
        </p:blipFill>
        <p:spPr bwMode="auto">
          <a:xfrm>
            <a:off x="7380312" y="357139"/>
            <a:ext cx="1528257" cy="571504"/>
          </a:xfrm>
          <a:prstGeom prst="rect">
            <a:avLst/>
          </a:prstGeom>
          <a:noFill/>
        </p:spPr>
      </p:pic>
      <p:pic>
        <p:nvPicPr>
          <p:cNvPr id="2053" name="Picture 5" descr="C:\Users\Admin\Downloads\logo-nqm.png"/>
          <p:cNvPicPr>
            <a:picLocks noChangeAspect="1" noChangeArrowheads="1"/>
          </p:cNvPicPr>
          <p:nvPr/>
        </p:nvPicPr>
        <p:blipFill>
          <a:blip r:embed="rId7"/>
          <a:srcRect/>
          <a:stretch>
            <a:fillRect/>
          </a:stretch>
        </p:blipFill>
        <p:spPr bwMode="auto">
          <a:xfrm>
            <a:off x="5519518" y="249994"/>
            <a:ext cx="710054" cy="785794"/>
          </a:xfrm>
          <a:prstGeom prst="rect">
            <a:avLst/>
          </a:prstGeom>
          <a:noFill/>
        </p:spPr>
      </p:pic>
      <p:sp>
        <p:nvSpPr>
          <p:cNvPr id="11" name="Footer Placeholder 10"/>
          <p:cNvSpPr>
            <a:spLocks noGrp="1"/>
          </p:cNvSpPr>
          <p:nvPr>
            <p:ph type="ftr" sz="quarter" idx="11"/>
          </p:nvPr>
        </p:nvSpPr>
        <p:spPr>
          <a:xfrm>
            <a:off x="304800" y="6410848"/>
            <a:ext cx="6196026" cy="232862"/>
          </a:xfrm>
        </p:spPr>
        <p:txBody>
          <a:bodyPr/>
          <a:lstStyle/>
          <a:p>
            <a:r>
              <a:rPr lang="en-IN" i="1" dirty="0" smtClean="0">
                <a:solidFill>
                  <a:schemeClr val="tx1"/>
                </a:solidFill>
                <a:latin typeface="Arial Rounded MT Bold" pitchFamily="34" charset="0"/>
              </a:rPr>
              <a:t>RIT – QUANT-A-THAN- 2026 (Innovate, Build, Transform)</a:t>
            </a:r>
            <a:endParaRPr lang="en-IN" i="1" dirty="0">
              <a:solidFill>
                <a:schemeClr val="tx1"/>
              </a:solidFill>
              <a:latin typeface="Arial Rounded MT Bold" pitchFamily="34" charset="0"/>
            </a:endParaRPr>
          </a:p>
        </p:txBody>
      </p:sp>
      <p:pic>
        <p:nvPicPr>
          <p:cNvPr id="5" name="Picture 4"/>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388734" y="285704"/>
            <a:ext cx="866775" cy="714375"/>
          </a:xfrm>
          <a:prstGeom prst="rect">
            <a:avLst/>
          </a:prstGeom>
        </p:spPr>
      </p:pic>
      <p:sp>
        <p:nvSpPr>
          <p:cNvPr id="2054" name="Rectangle 2053"/>
          <p:cNvSpPr/>
          <p:nvPr/>
        </p:nvSpPr>
        <p:spPr>
          <a:xfrm>
            <a:off x="-45720" y="-45720"/>
            <a:ext cx="9235440" cy="6949440"/>
          </a:xfrm>
          <a:prstGeom prst="rect">
            <a:avLst/>
          </a:prstGeom>
          <a:solidFill>
            <a:srgbClr val="05090E"/>
          </a:solidFill>
          <a:ln>
            <a:noFill/>
          </a:ln>
          <a:effectLst/>
        </p:spPr>
        <p:txBody>
          <a:bodyPr rtlCol="0" anchor="ctr"/>
          <a:lstStyle/>
          <a:p>
            <a:pPr algn="ctr"/>
          </a:p>
        </p:txBody>
      </p:sp>
      <p:sp>
        <p:nvSpPr>
          <p:cNvPr id="2055" name="Oval 2054"/>
          <p:cNvSpPr/>
          <p:nvPr/>
        </p:nvSpPr>
        <p:spPr>
          <a:xfrm>
            <a:off x="3108960" y="1280160"/>
            <a:ext cx="2926080" cy="2926080"/>
          </a:xfrm>
          <a:prstGeom prst="ellipse">
            <a:avLst/>
          </a:prstGeom>
          <a:noFill/>
          <a:ln w="12700">
            <a:solidFill>
              <a:srgbClr val="2DD4BF">
                <a:alpha val="16000"/>
              </a:srgbClr>
            </a:solidFill>
          </a:ln>
          <a:effectLst/>
        </p:spPr>
        <p:txBody>
          <a:bodyPr rtlCol="0" anchor="ctr"/>
          <a:lstStyle/>
          <a:p>
            <a:pPr algn="ctr"/>
          </a:p>
        </p:txBody>
      </p:sp>
      <p:sp>
        <p:nvSpPr>
          <p:cNvPr id="2056" name="Oval 2055"/>
          <p:cNvSpPr/>
          <p:nvPr/>
        </p:nvSpPr>
        <p:spPr>
          <a:xfrm>
            <a:off x="2286000" y="457200"/>
            <a:ext cx="4572000" cy="4572000"/>
          </a:xfrm>
          <a:prstGeom prst="ellipse">
            <a:avLst/>
          </a:prstGeom>
          <a:noFill/>
          <a:ln w="12700">
            <a:solidFill>
              <a:srgbClr val="2DD4BF">
                <a:alpha val="9000"/>
              </a:srgbClr>
            </a:solidFill>
          </a:ln>
          <a:effectLst/>
        </p:spPr>
        <p:txBody>
          <a:bodyPr rtlCol="0" anchor="ctr"/>
          <a:lstStyle/>
          <a:p>
            <a:pPr algn="ctr"/>
          </a:p>
        </p:txBody>
      </p:sp>
      <p:sp>
        <p:nvSpPr>
          <p:cNvPr id="2057" name="Oval 2056"/>
          <p:cNvSpPr/>
          <p:nvPr/>
        </p:nvSpPr>
        <p:spPr>
          <a:xfrm>
            <a:off x="1463040" y="-365759"/>
            <a:ext cx="6217920" cy="6217920"/>
          </a:xfrm>
          <a:prstGeom prst="ellipse">
            <a:avLst/>
          </a:prstGeom>
          <a:noFill/>
          <a:ln w="12700">
            <a:solidFill>
              <a:srgbClr val="2DD4BF">
                <a:alpha val="5000"/>
              </a:srgbClr>
            </a:solidFill>
          </a:ln>
          <a:effectLst/>
        </p:spPr>
        <p:txBody>
          <a:bodyPr rtlCol="0" anchor="ctr"/>
          <a:lstStyle/>
          <a:p>
            <a:pPr algn="ctr"/>
          </a:p>
        </p:txBody>
      </p:sp>
      <p:sp>
        <p:nvSpPr>
          <p:cNvPr id="2058" name="TextBox 2057"/>
          <p:cNvSpPr txBox="1"/>
          <p:nvPr/>
        </p:nvSpPr>
        <p:spPr>
          <a:xfrm>
            <a:off x="457200" y="566928"/>
            <a:ext cx="8229600" cy="237744"/>
          </a:xfrm>
          <a:prstGeom prst="rect">
            <a:avLst/>
          </a:prstGeom>
          <a:noFill/>
        </p:spPr>
        <p:txBody>
          <a:bodyPr wrap="square" lIns="0" rIns="0" tIns="0" bIns="0" anchor="t">
            <a:spAutoFit/>
          </a:bodyPr>
          <a:lstStyle/>
          <a:p>
            <a:pPr algn="ctr"/>
            <a:r>
              <a:rPr sz="1000" b="1" i="0" spc="300">
                <a:solidFill>
                  <a:srgbClr val="7FA8A5"/>
                </a:solidFill>
                <a:latin typeface="Arial"/>
              </a:rPr>
              <a:t>06  ·  WHAT CHANGES</a:t>
            </a:r>
          </a:p>
        </p:txBody>
      </p:sp>
      <p:sp>
        <p:nvSpPr>
          <p:cNvPr id="2059" name="Rounded Rectangle 2058"/>
          <p:cNvSpPr/>
          <p:nvPr/>
        </p:nvSpPr>
        <p:spPr>
          <a:xfrm>
            <a:off x="502920" y="1042415"/>
            <a:ext cx="2670048" cy="1005840"/>
          </a:xfrm>
          <a:prstGeom prst="roundRect">
            <a:avLst>
              <a:gd name="adj" fmla="val 10000"/>
            </a:avLst>
          </a:prstGeom>
          <a:solidFill>
            <a:srgbClr val="0D1922"/>
          </a:solidFill>
          <a:ln w="9525">
            <a:solidFill>
              <a:srgbClr val="2DD4BF">
                <a:alpha val="45000"/>
              </a:srgbClr>
            </a:solidFill>
          </a:ln>
          <a:effectLst/>
        </p:spPr>
        <p:txBody>
          <a:bodyPr rtlCol="0" anchor="ctr"/>
          <a:lstStyle/>
          <a:p>
            <a:pPr algn="ctr"/>
          </a:p>
        </p:txBody>
      </p:sp>
      <p:sp>
        <p:nvSpPr>
          <p:cNvPr id="2060" name="TextBox 2059"/>
          <p:cNvSpPr txBox="1"/>
          <p:nvPr/>
        </p:nvSpPr>
        <p:spPr>
          <a:xfrm>
            <a:off x="667512" y="1170432"/>
            <a:ext cx="2377440" cy="201168"/>
          </a:xfrm>
          <a:prstGeom prst="rect">
            <a:avLst/>
          </a:prstGeom>
          <a:noFill/>
        </p:spPr>
        <p:txBody>
          <a:bodyPr wrap="square" lIns="0" rIns="0" tIns="0" bIns="0" anchor="t">
            <a:spAutoFit/>
          </a:bodyPr>
          <a:lstStyle/>
          <a:p>
            <a:pPr algn="l"/>
            <a:r>
              <a:rPr sz="950" b="1" i="0" spc="160">
                <a:solidFill>
                  <a:srgbClr val="5EEAD4"/>
                </a:solidFill>
                <a:latin typeface="Arial"/>
              </a:rPr>
              <a:t>HOSPITALS</a:t>
            </a:r>
          </a:p>
        </p:txBody>
      </p:sp>
      <p:sp>
        <p:nvSpPr>
          <p:cNvPr id="2061" name="TextBox 2060"/>
          <p:cNvSpPr txBox="1"/>
          <p:nvPr/>
        </p:nvSpPr>
        <p:spPr>
          <a:xfrm>
            <a:off x="667512" y="1408176"/>
            <a:ext cx="2377440" cy="566928"/>
          </a:xfrm>
          <a:prstGeom prst="rect">
            <a:avLst/>
          </a:prstGeom>
          <a:noFill/>
        </p:spPr>
        <p:txBody>
          <a:bodyPr wrap="square" lIns="0" rIns="0" tIns="0" bIns="0" anchor="t">
            <a:spAutoFit/>
          </a:bodyPr>
          <a:lstStyle/>
          <a:p>
            <a:pPr algn="l">
              <a:lnSpc>
                <a:spcPct val="110000"/>
              </a:lnSpc>
            </a:pPr>
            <a:r>
              <a:rPr sz="850" b="0" i="0">
                <a:solidFill>
                  <a:srgbClr val="7FA8A5"/>
                </a:solidFill>
                <a:latin typeface="Arial"/>
              </a:rPr>
              <a:t>worklists triaged by uncertainty - confident criticals jump the queue</a:t>
            </a:r>
          </a:p>
        </p:txBody>
      </p:sp>
      <p:sp>
        <p:nvSpPr>
          <p:cNvPr id="2062" name="Rounded Rectangle 2061"/>
          <p:cNvSpPr/>
          <p:nvPr/>
        </p:nvSpPr>
        <p:spPr>
          <a:xfrm>
            <a:off x="3282696" y="1042415"/>
            <a:ext cx="2670048" cy="1005840"/>
          </a:xfrm>
          <a:prstGeom prst="roundRect">
            <a:avLst>
              <a:gd name="adj" fmla="val 10000"/>
            </a:avLst>
          </a:prstGeom>
          <a:solidFill>
            <a:srgbClr val="0D1922"/>
          </a:solidFill>
          <a:ln w="9525">
            <a:solidFill>
              <a:srgbClr val="2DD4BF">
                <a:alpha val="45000"/>
              </a:srgbClr>
            </a:solidFill>
          </a:ln>
          <a:effectLst/>
        </p:spPr>
        <p:txBody>
          <a:bodyPr rtlCol="0" anchor="ctr"/>
          <a:lstStyle/>
          <a:p>
            <a:pPr algn="ctr"/>
          </a:p>
        </p:txBody>
      </p:sp>
      <p:sp>
        <p:nvSpPr>
          <p:cNvPr id="2063" name="TextBox 2062"/>
          <p:cNvSpPr txBox="1"/>
          <p:nvPr/>
        </p:nvSpPr>
        <p:spPr>
          <a:xfrm>
            <a:off x="3447288" y="1170432"/>
            <a:ext cx="2377440" cy="201168"/>
          </a:xfrm>
          <a:prstGeom prst="rect">
            <a:avLst/>
          </a:prstGeom>
          <a:noFill/>
        </p:spPr>
        <p:txBody>
          <a:bodyPr wrap="square" lIns="0" rIns="0" tIns="0" bIns="0" anchor="t">
            <a:spAutoFit/>
          </a:bodyPr>
          <a:lstStyle/>
          <a:p>
            <a:pPr algn="l"/>
            <a:r>
              <a:rPr sz="950" b="1" i="0" spc="160">
                <a:solidFill>
                  <a:srgbClr val="5EEAD4"/>
                </a:solidFill>
                <a:latin typeface="Arial"/>
              </a:rPr>
              <a:t>PATIENTS</a:t>
            </a:r>
          </a:p>
        </p:txBody>
      </p:sp>
      <p:sp>
        <p:nvSpPr>
          <p:cNvPr id="2064" name="TextBox 2063"/>
          <p:cNvSpPr txBox="1"/>
          <p:nvPr/>
        </p:nvSpPr>
        <p:spPr>
          <a:xfrm>
            <a:off x="3447288" y="1408176"/>
            <a:ext cx="2377440" cy="566928"/>
          </a:xfrm>
          <a:prstGeom prst="rect">
            <a:avLst/>
          </a:prstGeom>
          <a:noFill/>
        </p:spPr>
        <p:txBody>
          <a:bodyPr wrap="square" lIns="0" rIns="0" tIns="0" bIns="0" anchor="t">
            <a:spAutoFit/>
          </a:bodyPr>
          <a:lstStyle/>
          <a:p>
            <a:pPr algn="l">
              <a:lnSpc>
                <a:spcPct val="110000"/>
              </a:lnSpc>
            </a:pPr>
            <a:r>
              <a:rPr sz="850" b="0" i="0">
                <a:solidFill>
                  <a:srgbClr val="7FA8A5"/>
                </a:solidFill>
                <a:latin typeface="Arial"/>
              </a:rPr>
              <a:t>EIG-planned workups: fewer scans, less radiation, faster answers</a:t>
            </a:r>
          </a:p>
        </p:txBody>
      </p:sp>
      <p:sp>
        <p:nvSpPr>
          <p:cNvPr id="2065" name="Rounded Rectangle 2064"/>
          <p:cNvSpPr/>
          <p:nvPr/>
        </p:nvSpPr>
        <p:spPr>
          <a:xfrm>
            <a:off x="6062472" y="1042415"/>
            <a:ext cx="2670048" cy="1005840"/>
          </a:xfrm>
          <a:prstGeom prst="roundRect">
            <a:avLst>
              <a:gd name="adj" fmla="val 10000"/>
            </a:avLst>
          </a:prstGeom>
          <a:solidFill>
            <a:srgbClr val="0D1922"/>
          </a:solidFill>
          <a:ln w="9525">
            <a:solidFill>
              <a:srgbClr val="2DD4BF">
                <a:alpha val="45000"/>
              </a:srgbClr>
            </a:solidFill>
          </a:ln>
          <a:effectLst/>
        </p:spPr>
        <p:txBody>
          <a:bodyPr rtlCol="0" anchor="ctr"/>
          <a:lstStyle/>
          <a:p>
            <a:pPr algn="ctr"/>
          </a:p>
        </p:txBody>
      </p:sp>
      <p:sp>
        <p:nvSpPr>
          <p:cNvPr id="2066" name="TextBox 2065"/>
          <p:cNvSpPr txBox="1"/>
          <p:nvPr/>
        </p:nvSpPr>
        <p:spPr>
          <a:xfrm>
            <a:off x="6227064" y="1170432"/>
            <a:ext cx="2377440" cy="201168"/>
          </a:xfrm>
          <a:prstGeom prst="rect">
            <a:avLst/>
          </a:prstGeom>
          <a:noFill/>
        </p:spPr>
        <p:txBody>
          <a:bodyPr wrap="square" lIns="0" rIns="0" tIns="0" bIns="0" anchor="t">
            <a:spAutoFit/>
          </a:bodyPr>
          <a:lstStyle/>
          <a:p>
            <a:pPr algn="l"/>
            <a:r>
              <a:rPr sz="950" b="1" i="0" spc="160">
                <a:solidFill>
                  <a:srgbClr val="5EEAD4"/>
                </a:solidFill>
                <a:latin typeface="Arial"/>
              </a:rPr>
              <a:t>THE SYSTEM</a:t>
            </a:r>
          </a:p>
        </p:txBody>
      </p:sp>
      <p:sp>
        <p:nvSpPr>
          <p:cNvPr id="2067" name="TextBox 2066"/>
          <p:cNvSpPr txBox="1"/>
          <p:nvPr/>
        </p:nvSpPr>
        <p:spPr>
          <a:xfrm>
            <a:off x="6227064" y="1408176"/>
            <a:ext cx="2377440" cy="566928"/>
          </a:xfrm>
          <a:prstGeom prst="rect">
            <a:avLst/>
          </a:prstGeom>
          <a:noFill/>
        </p:spPr>
        <p:txBody>
          <a:bodyPr wrap="square" lIns="0" rIns="0" tIns="0" bIns="0" anchor="t">
            <a:spAutoFit/>
          </a:bodyPr>
          <a:lstStyle/>
          <a:p>
            <a:pPr algn="l">
              <a:lnSpc>
                <a:spcPct val="110000"/>
              </a:lnSpc>
            </a:pPr>
            <a:r>
              <a:rPr sz="850" b="0" i="0">
                <a:solidFill>
                  <a:srgbClr val="7FA8A5"/>
                </a:solidFill>
                <a:latin typeface="Arial"/>
              </a:rPr>
              <a:t>aimed at diagnostic error - medicine's costliest failure (~12M US adults/yr)</a:t>
            </a:r>
          </a:p>
        </p:txBody>
      </p:sp>
      <p:cxnSp>
        <p:nvCxnSpPr>
          <p:cNvPr id="2068" name="Connector 2067"/>
          <p:cNvCxnSpPr/>
          <p:nvPr/>
        </p:nvCxnSpPr>
        <p:spPr>
          <a:xfrm>
            <a:off x="1188720" y="2542032"/>
            <a:ext cx="6766559" cy="0"/>
          </a:xfrm>
          <a:prstGeom prst="line">
            <a:avLst/>
          </a:prstGeom>
          <a:ln w="12700">
            <a:solidFill>
              <a:srgbClr val="2DD4BF">
                <a:alpha val="40000"/>
              </a:srgbClr>
            </a:solidFill>
            <a:prstDash val="sysDash"/>
          </a:ln>
          <a:effectLst/>
        </p:spPr>
      </p:cxnSp>
      <p:sp>
        <p:nvSpPr>
          <p:cNvPr id="2069" name="Oval 2068"/>
          <p:cNvSpPr/>
          <p:nvPr/>
        </p:nvSpPr>
        <p:spPr>
          <a:xfrm>
            <a:off x="1463039" y="2496312"/>
            <a:ext cx="91440" cy="91440"/>
          </a:xfrm>
          <a:prstGeom prst="ellipse">
            <a:avLst/>
          </a:prstGeom>
          <a:solidFill>
            <a:srgbClr val="2DD4BF"/>
          </a:solidFill>
          <a:ln>
            <a:noFill/>
          </a:ln>
          <a:effectLst/>
        </p:spPr>
        <p:txBody>
          <a:bodyPr rtlCol="0" anchor="ctr"/>
          <a:lstStyle/>
          <a:p>
            <a:pPr algn="ctr"/>
          </a:p>
        </p:txBody>
      </p:sp>
      <p:sp>
        <p:nvSpPr>
          <p:cNvPr id="2070" name="TextBox 2069"/>
          <p:cNvSpPr txBox="1"/>
          <p:nvPr/>
        </p:nvSpPr>
        <p:spPr>
          <a:xfrm>
            <a:off x="731519" y="2670048"/>
            <a:ext cx="1554480" cy="365760"/>
          </a:xfrm>
          <a:prstGeom prst="rect">
            <a:avLst/>
          </a:prstGeom>
          <a:noFill/>
        </p:spPr>
        <p:txBody>
          <a:bodyPr wrap="square" lIns="0" rIns="0" tIns="0" bIns="0" anchor="t">
            <a:spAutoFit/>
          </a:bodyPr>
          <a:lstStyle/>
          <a:p>
            <a:pPr algn="ctr">
              <a:lnSpc>
                <a:spcPct val="100000"/>
              </a:lnSpc>
            </a:pPr>
            <a:r>
              <a:rPr sz="850" b="1" i="0">
                <a:solidFill>
                  <a:srgbClr val="5EEAD4"/>
                </a:solidFill>
                <a:latin typeface="Arial"/>
              </a:rPr>
              <a:t>2026</a:t>
            </a:r>
          </a:p>
          <a:p>
            <a:pPr algn="ctr">
              <a:lnSpc>
                <a:spcPct val="100000"/>
              </a:lnSpc>
            </a:pPr>
            <a:r>
              <a:rPr sz="750" b="0" i="0">
                <a:solidFill>
                  <a:srgbClr val="7FA8A5"/>
                </a:solidFill>
                <a:latin typeface="Arial"/>
              </a:rPr>
              <a:t>clinical pilot</a:t>
            </a:r>
          </a:p>
        </p:txBody>
      </p:sp>
      <p:sp>
        <p:nvSpPr>
          <p:cNvPr id="2071" name="Oval 2070"/>
          <p:cNvSpPr/>
          <p:nvPr/>
        </p:nvSpPr>
        <p:spPr>
          <a:xfrm>
            <a:off x="3401568" y="2496312"/>
            <a:ext cx="91440" cy="91440"/>
          </a:xfrm>
          <a:prstGeom prst="ellipse">
            <a:avLst/>
          </a:prstGeom>
          <a:solidFill>
            <a:srgbClr val="2DD4BF"/>
          </a:solidFill>
          <a:ln>
            <a:noFill/>
          </a:ln>
          <a:effectLst/>
        </p:spPr>
        <p:txBody>
          <a:bodyPr rtlCol="0" anchor="ctr"/>
          <a:lstStyle/>
          <a:p>
            <a:pPr algn="ctr"/>
          </a:p>
        </p:txBody>
      </p:sp>
      <p:sp>
        <p:nvSpPr>
          <p:cNvPr id="2072" name="TextBox 2071"/>
          <p:cNvSpPr txBox="1"/>
          <p:nvPr/>
        </p:nvSpPr>
        <p:spPr>
          <a:xfrm>
            <a:off x="2670048" y="2670048"/>
            <a:ext cx="1554480" cy="365760"/>
          </a:xfrm>
          <a:prstGeom prst="rect">
            <a:avLst/>
          </a:prstGeom>
          <a:noFill/>
        </p:spPr>
        <p:txBody>
          <a:bodyPr wrap="square" lIns="0" rIns="0" tIns="0" bIns="0" anchor="t">
            <a:spAutoFit/>
          </a:bodyPr>
          <a:lstStyle/>
          <a:p>
            <a:pPr algn="ctr">
              <a:lnSpc>
                <a:spcPct val="100000"/>
              </a:lnSpc>
            </a:pPr>
            <a:r>
              <a:rPr sz="850" b="1" i="0">
                <a:solidFill>
                  <a:srgbClr val="5EEAD4"/>
                </a:solidFill>
                <a:latin typeface="Arial"/>
              </a:rPr>
              <a:t>2027</a:t>
            </a:r>
          </a:p>
          <a:p>
            <a:pPr algn="ctr">
              <a:lnSpc>
                <a:spcPct val="100000"/>
              </a:lnSpc>
            </a:pPr>
            <a:r>
              <a:rPr sz="750" b="0" i="0">
                <a:solidFill>
                  <a:srgbClr val="7FA8A5"/>
                </a:solidFill>
                <a:latin typeface="Arial"/>
              </a:rPr>
              <a:t>quantum federated learning</a:t>
            </a:r>
          </a:p>
        </p:txBody>
      </p:sp>
      <p:sp>
        <p:nvSpPr>
          <p:cNvPr id="2073" name="Oval 2072"/>
          <p:cNvSpPr/>
          <p:nvPr/>
        </p:nvSpPr>
        <p:spPr>
          <a:xfrm>
            <a:off x="5340096" y="2496312"/>
            <a:ext cx="91440" cy="91440"/>
          </a:xfrm>
          <a:prstGeom prst="ellipse">
            <a:avLst/>
          </a:prstGeom>
          <a:solidFill>
            <a:srgbClr val="2DD4BF"/>
          </a:solidFill>
          <a:ln>
            <a:noFill/>
          </a:ln>
          <a:effectLst/>
        </p:spPr>
        <p:txBody>
          <a:bodyPr rtlCol="0" anchor="ctr"/>
          <a:lstStyle/>
          <a:p>
            <a:pPr algn="ctr"/>
          </a:p>
        </p:txBody>
      </p:sp>
      <p:sp>
        <p:nvSpPr>
          <p:cNvPr id="2074" name="TextBox 2073"/>
          <p:cNvSpPr txBox="1"/>
          <p:nvPr/>
        </p:nvSpPr>
        <p:spPr>
          <a:xfrm>
            <a:off x="4608576" y="2670048"/>
            <a:ext cx="1554480" cy="365760"/>
          </a:xfrm>
          <a:prstGeom prst="rect">
            <a:avLst/>
          </a:prstGeom>
          <a:noFill/>
        </p:spPr>
        <p:txBody>
          <a:bodyPr wrap="square" lIns="0" rIns="0" tIns="0" bIns="0" anchor="t">
            <a:spAutoFit/>
          </a:bodyPr>
          <a:lstStyle/>
          <a:p>
            <a:pPr algn="ctr">
              <a:lnSpc>
                <a:spcPct val="100000"/>
              </a:lnSpc>
            </a:pPr>
            <a:r>
              <a:rPr sz="850" b="1" i="0">
                <a:solidFill>
                  <a:srgbClr val="5EEAD4"/>
                </a:solidFill>
                <a:latin typeface="Arial"/>
              </a:rPr>
              <a:t>2028</a:t>
            </a:r>
          </a:p>
          <a:p>
            <a:pPr algn="ctr">
              <a:lnSpc>
                <a:spcPct val="100000"/>
              </a:lnSpc>
            </a:pPr>
            <a:r>
              <a:rPr sz="750" b="0" i="0">
                <a:solidFill>
                  <a:srgbClr val="7FA8A5"/>
                </a:solidFill>
                <a:latin typeface="Arial"/>
              </a:rPr>
              <a:t>hardware kernels</a:t>
            </a:r>
          </a:p>
        </p:txBody>
      </p:sp>
      <p:sp>
        <p:nvSpPr>
          <p:cNvPr id="2075" name="Oval 2074"/>
          <p:cNvSpPr/>
          <p:nvPr/>
        </p:nvSpPr>
        <p:spPr>
          <a:xfrm>
            <a:off x="7278624" y="2496312"/>
            <a:ext cx="91440" cy="91440"/>
          </a:xfrm>
          <a:prstGeom prst="ellipse">
            <a:avLst/>
          </a:prstGeom>
          <a:solidFill>
            <a:srgbClr val="2DD4BF"/>
          </a:solidFill>
          <a:ln>
            <a:noFill/>
          </a:ln>
          <a:effectLst/>
        </p:spPr>
        <p:txBody>
          <a:bodyPr rtlCol="0" anchor="ctr"/>
          <a:lstStyle/>
          <a:p>
            <a:pPr algn="ctr"/>
          </a:p>
        </p:txBody>
      </p:sp>
      <p:sp>
        <p:nvSpPr>
          <p:cNvPr id="2076" name="TextBox 2075"/>
          <p:cNvSpPr txBox="1"/>
          <p:nvPr/>
        </p:nvSpPr>
        <p:spPr>
          <a:xfrm>
            <a:off x="6547104" y="2670048"/>
            <a:ext cx="1554480" cy="365760"/>
          </a:xfrm>
          <a:prstGeom prst="rect">
            <a:avLst/>
          </a:prstGeom>
          <a:noFill/>
        </p:spPr>
        <p:txBody>
          <a:bodyPr wrap="square" lIns="0" rIns="0" tIns="0" bIns="0" anchor="t">
            <a:spAutoFit/>
          </a:bodyPr>
          <a:lstStyle/>
          <a:p>
            <a:pPr algn="ctr">
              <a:lnSpc>
                <a:spcPct val="100000"/>
              </a:lnSpc>
            </a:pPr>
            <a:r>
              <a:rPr sz="850" b="1" i="0">
                <a:solidFill>
                  <a:srgbClr val="5EEAD4"/>
                </a:solidFill>
                <a:latin typeface="Arial"/>
              </a:rPr>
              <a:t>2029</a:t>
            </a:r>
          </a:p>
          <a:p>
            <a:pPr algn="ctr">
              <a:lnSpc>
                <a:spcPct val="100000"/>
              </a:lnSpc>
            </a:pPr>
            <a:r>
              <a:rPr sz="750" b="0" i="0">
                <a:solidFill>
                  <a:srgbClr val="7FA8A5"/>
                </a:solidFill>
                <a:latin typeface="Arial"/>
              </a:rPr>
              <a:t>ICU real-time agents</a:t>
            </a:r>
          </a:p>
        </p:txBody>
      </p:sp>
      <p:sp>
        <p:nvSpPr>
          <p:cNvPr id="2077" name="TextBox 2076"/>
          <p:cNvSpPr txBox="1"/>
          <p:nvPr/>
        </p:nvSpPr>
        <p:spPr>
          <a:xfrm>
            <a:off x="914400" y="3529584"/>
            <a:ext cx="7315200" cy="1508760"/>
          </a:xfrm>
          <a:prstGeom prst="rect">
            <a:avLst/>
          </a:prstGeom>
          <a:noFill/>
        </p:spPr>
        <p:txBody>
          <a:bodyPr wrap="square" lIns="0" rIns="0" tIns="0" bIns="0" anchor="t">
            <a:spAutoFit/>
          </a:bodyPr>
          <a:lstStyle/>
          <a:p>
            <a:pPr algn="ctr">
              <a:lnSpc>
                <a:spcPct val="130000"/>
              </a:lnSpc>
            </a:pPr>
            <a:r>
              <a:rPr sz="1900" b="0" i="0">
                <a:solidFill>
                  <a:srgbClr val="9FB3B1"/>
                </a:solidFill>
                <a:latin typeface="Arial"/>
              </a:rPr>
              <a:t>Artificial intelligence predicts.</a:t>
            </a:r>
          </a:p>
          <a:p>
            <a:pPr algn="ctr">
              <a:lnSpc>
                <a:spcPct val="130000"/>
              </a:lnSpc>
            </a:pPr>
            <a:r>
              <a:rPr sz="2300" b="0" i="0">
                <a:solidFill>
                  <a:srgbClr val="FFFFFF"/>
                </a:solidFill>
                <a:latin typeface="Arial"/>
              </a:rPr>
              <a:t>Clinical intelligence reasons.</a:t>
            </a:r>
          </a:p>
          <a:p>
            <a:pPr algn="ctr">
              <a:lnSpc>
                <a:spcPct val="130000"/>
              </a:lnSpc>
            </a:pPr>
            <a:r>
              <a:rPr sz="2700" b="1" i="0">
                <a:solidFill>
                  <a:srgbClr val="5EEAD4"/>
                </a:solidFill>
                <a:latin typeface="Arial"/>
              </a:rPr>
              <a:t>Quantum intelligence understands.</a:t>
            </a:r>
          </a:p>
        </p:txBody>
      </p:sp>
      <p:cxnSp>
        <p:nvCxnSpPr>
          <p:cNvPr id="2078" name="Connector 2077"/>
          <p:cNvCxnSpPr/>
          <p:nvPr/>
        </p:nvCxnSpPr>
        <p:spPr>
          <a:xfrm>
            <a:off x="3840480" y="5285232"/>
            <a:ext cx="1463040" cy="0"/>
          </a:xfrm>
          <a:prstGeom prst="line">
            <a:avLst/>
          </a:prstGeom>
          <a:ln w="12700">
            <a:solidFill>
              <a:srgbClr val="2DD4BF">
                <a:alpha val="45000"/>
              </a:srgbClr>
            </a:solidFill>
          </a:ln>
          <a:effectLst/>
        </p:spPr>
      </p:cxnSp>
      <p:sp>
        <p:nvSpPr>
          <p:cNvPr id="2079" name="TextBox 2078"/>
          <p:cNvSpPr txBox="1"/>
          <p:nvPr/>
        </p:nvSpPr>
        <p:spPr>
          <a:xfrm>
            <a:off x="914400" y="5431536"/>
            <a:ext cx="7315200" cy="566928"/>
          </a:xfrm>
          <a:prstGeom prst="rect">
            <a:avLst/>
          </a:prstGeom>
          <a:noFill/>
        </p:spPr>
        <p:txBody>
          <a:bodyPr wrap="square" lIns="0" rIns="0" tIns="0" bIns="0" anchor="t">
            <a:spAutoFit/>
          </a:bodyPr>
          <a:lstStyle/>
          <a:p>
            <a:pPr algn="ctr">
              <a:lnSpc>
                <a:spcPct val="150000"/>
              </a:lnSpc>
            </a:pPr>
            <a:r>
              <a:rPr sz="1000" b="1" i="0" spc="120">
                <a:solidFill>
                  <a:srgbClr val="FFFFFF"/>
                </a:solidFill>
                <a:latin typeface="Arial"/>
              </a:rPr>
              <a:t>AURA  ·  live demo on request  ·  every claim on these slides is cited and reproducible</a:t>
            </a:r>
          </a:p>
          <a:p>
            <a:pPr algn="ctr">
              <a:lnSpc>
                <a:spcPct val="150000"/>
              </a:lnSpc>
            </a:pPr>
            <a:r>
              <a:rPr sz="900" b="0" i="0" spc="100">
                <a:solidFill>
                  <a:srgbClr val="7FA8A5"/>
                </a:solidFill>
                <a:latin typeface="Arial"/>
              </a:rPr>
              <a:t>Sivaguru R.M  ·  Rajalakshmi Institute of Technology  ·  sivagurumurugan1@gmail.com</a:t>
            </a:r>
          </a:p>
        </p:txBody>
      </p:sp>
    </p:spTree>
  </p:cSld>
  <p:clrMapOvr>
    <a:masterClrMapping/>
  </p:clrMapOvr>
  <p:transition>
    <p:fade/>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 Id="rId2" Type="http://schemas.openxmlformats.org/officeDocument/2006/relationships/image" Target="../media/image2.jpeg"/></Relationships>
</file>

<file path=ppt/theme/theme1.xml><?xml version="1.0" encoding="utf-8"?>
<a:theme xmlns:a="http://schemas.openxmlformats.org/drawingml/2006/main" name="Civic">
  <a:themeElements>
    <a:clrScheme name="Opulent">
      <a:dk1>
        <a:sysClr val="windowText" lastClr="000000"/>
      </a:dk1>
      <a:lt1>
        <a:sysClr val="window" lastClr="FFFFFF"/>
      </a:lt1>
      <a:dk2>
        <a:srgbClr val="B13F9A"/>
      </a:dk2>
      <a:lt2>
        <a:srgbClr val="F4E7ED"/>
      </a:lt2>
      <a:accent1>
        <a:srgbClr val="B83D68"/>
      </a:accent1>
      <a:accent2>
        <a:srgbClr val="AC66BB"/>
      </a:accent2>
      <a:accent3>
        <a:srgbClr val="DE6C36"/>
      </a:accent3>
      <a:accent4>
        <a:srgbClr val="F9B639"/>
      </a:accent4>
      <a:accent5>
        <a:srgbClr val="CF6DA4"/>
      </a:accent5>
      <a:accent6>
        <a:srgbClr val="FA8D3D"/>
      </a:accent6>
      <a:hlink>
        <a:srgbClr val="FFDE66"/>
      </a:hlink>
      <a:folHlink>
        <a:srgbClr val="D490C5"/>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61</TotalTime>
  <Words>21</Words>
  <Application>Microsoft Office PowerPoint</Application>
  <PresentationFormat>On-screen Show (4:3)</PresentationFormat>
  <Paragraphs>5</Paragraphs>
  <Slides>2</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vt:i4>
      </vt:variant>
    </vt:vector>
  </HeadingPairs>
  <TitlesOfParts>
    <vt:vector size="9" baseType="lpstr">
      <vt:lpstr>Arial</vt:lpstr>
      <vt:lpstr>Arial Rounded MT Bold</vt:lpstr>
      <vt:lpstr>Calibri</vt:lpstr>
      <vt:lpstr>Georgia</vt:lpstr>
      <vt:lpstr>Wingdings</vt:lpstr>
      <vt:lpstr>Wingdings 2</vt:lpstr>
      <vt:lpstr>Civic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Admin</dc:creator>
  <cp:lastModifiedBy>HP</cp:lastModifiedBy>
  <cp:revision>9</cp:revision>
  <dcterms:created xsi:type="dcterms:W3CDTF">2026-06-25T14:12:27Z</dcterms:created>
  <dcterms:modified xsi:type="dcterms:W3CDTF">2026-06-25T17:33:27Z</dcterms:modified>
</cp:coreProperties>
</file>