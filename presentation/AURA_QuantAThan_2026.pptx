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
  </p:notesMasterIdLst>
  <p:sldIdLst>
    <p:sldId id="256" r:id="rId2"/>
    <p:sldId id="257" r:id="rId3"/>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8" d="100"/>
          <a:sy n="88" d="100"/>
        </p:scale>
        <p:origin x="1068" y="5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2B84611-C05A-4FE0-9E94-CECBDE5B39B4}" type="datetimeFigureOut">
              <a:rPr lang="en-US" smtClean="0"/>
              <a:t>6/25/2026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BDD5657-429F-4937-8DBC-7A2164C32DAC}"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OPENING  ·  0:25</a:t>
            </a:r>
          </a:p>
          <a:p>
            <a:r>
              <a:t>Every medical AI you have seen outputs a probability. No radiologist on earth reasons that way. A radiologist forms hypotheses, weighs evidence, quantifies doubt, and decides what to look at next. AURA is that process, built as software - with a quantum representation layer where the mathematics genuinely rewards it.</a:t>
            </a:r>
          </a:p>
          <a:p/>
          <a:p>
            <a:r>
              <a:t>JUDGES SHOULD FEEL: this is a keynote, not a slideshow. Curiosity spike.</a:t>
            </a:r>
          </a:p>
          <a:p>
            <a:r>
              <a:t>ANIMATION: fade transition (already set). Suggest 'It is clinical intelligence' appears on click with a slow fade (0.5 s).</a:t>
            </a:r>
          </a:p>
        </p:txBody>
      </p:sp>
      <p:sp>
        <p:nvSpPr>
          <p:cNvPr id="4" name="Slide Number Placeholder 3"/>
          <p:cNvSpPr>
            <a:spLocks noGrp="1"/>
          </p:cNvSpPr>
          <p:nvPr>
            <p:ph type="sldNum" sz="quarter" idx="10"/>
          </p:nvPr>
        </p:nvSpPr>
        <p:spPr/>
        <p:txBody>
          <a:bodyPr/>
          <a:lstStyle/>
          <a:p>
            <a:fld id="{3BDD5657-429F-4937-8DBC-7A2164C32DAC}" type="slidenum">
              <a:rPr lang="en-IN" smtClean="0"/>
              <a:t>2</a:t>
            </a:fld>
            <a:endParaRPr lang="en-IN"/>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  0:15</a:t>
            </a:r>
          </a:p>
          <a:p>
            <a:r>
              <a:t>Good morning. I am Sivaguru, and this is AURA - the Adaptive Uncertainty-aware Radiology Architecture. Over the next ten minutes I will show you a system that treats diagnosis not as a classification problem, but as a reasoning process - with a quantum core that is mathematically earned, not marketed.</a:t>
            </a:r>
          </a:p>
          <a:p/>
          <a:p>
            <a:r>
              <a:t>JUDGES SHOULD FEEL: confident hands, zero fluff, this team knows exactly what they built.</a:t>
            </a:r>
          </a:p>
          <a:p>
            <a:r>
              <a:t>ANIMATION: none. Let the template breathe. Advance on the word 'earned'.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  0:50</a:t>
            </a:r>
          </a:p>
          <a:p>
            <a:r>
              <a:t>CheXNet passed radiologist-level F1 on pneumonia back in 2017. Eight years and nine hundred cleared devices later, most radiology AI still sits outside the clinical decision loop. Why? Because accuracy was never the bottleneck. A clinician asks four questions - why, how certain, what would change your mind, what next. A softmax score answers none of them. Zech showed these models silently collapse under distribution shift - and worse, they do not know that they collapsed. That is the trust gap AURA is built to close.</a:t>
            </a:r>
          </a:p>
          <a:p/>
          <a:p>
            <a:r>
              <a:t>JUDGES SHOULD FEEL: the problem is epistemic, not statistical - a framing they have not heard from a student team.</a:t>
            </a:r>
          </a:p>
          <a:p>
            <a:r>
              <a:t>ANIMATION: stats appear left-to-right on one click (wipe, 0.3 s each); red gap box last.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STATUS QUO  ·  0:40</a:t>
            </a:r>
          </a:p>
          <a:p>
            <a:r>
              <a:t>Here is the entire architecture of deployed medical AI: image in, CNN, one scalar out, doctor on their own. Everything in the red box - the actual cognition of diagnosis - is missing. Kompa and Beam argued in npj Digital Medicine that medicine specifically needs models that can say 'I don't know'. Rudin argued we should build interpretable reasoning rather than post-hoc excuses. AURA takes both seriously as an architecture, not as an afterthought.</a:t>
            </a:r>
          </a:p>
          <a:p/>
          <a:p>
            <a:r>
              <a:t>JUDGES SHOULD FEEL: sharp diagnosis of the field's failure mode; the red box creates an itch that slide 5 scratches.</a:t>
            </a:r>
          </a:p>
          <a:p>
            <a:r>
              <a:t>ANIMATION: pipeline draws left to right; red gap box fades in on second click with the four ✕ items.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INNOVATION  ·  1:00</a:t>
            </a:r>
          </a:p>
          <a:p>
            <a:r>
              <a:t>This is AURA. The image enters, but it is never handed to a lone classifier. Stage two embeds compressed clinical evidence into a quantum feature space. Stage three: reasoning agents run Bayesian updates over a differential-diagnosis belief graph. Stage four calibrates - conformal sets with a coverage guarantee. Then the system asks its own follow-ups: what would change my mind, and which test buys the most information for this patient. The output is a grounded report where every sentence is linked to evidence. The clinician stays the decision-maker - stage eight, not a rubber stamp.</a:t>
            </a:r>
          </a:p>
          <a:p>
            <a:r>
              <a:t>Point at the boxes as you walk the flow. Do NOT read the boxes.</a:t>
            </a:r>
          </a:p>
          <a:p/>
          <a:p>
            <a:r>
              <a:t>JUDGES SHOULD FEEL: architectural ambition with discipline; each stage is a real subsystem they will see again.</a:t>
            </a:r>
          </a:p>
          <a:p>
            <a:r>
              <a:t>ANIMATION: row 1 wipes in, then the down-arrow, then row 2 right-to-left, mirroring the snake flow.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  0:40</a:t>
            </a:r>
          </a:p>
          <a:p>
            <a:r>
              <a:t>AURA is nine microservices over an async event bus, speaking shared typed contracts. The quantum layer is one layer - deliberately not the whole story. And note the right rail: safety, provenance, contracts are cross-cutting. Every posterior AURA has ever produced is reproducible from its provenance record - backend, seed, circuit version, shots. That is what auditability means in a hospital.</a:t>
            </a:r>
          </a:p>
          <a:p/>
          <a:p>
            <a:r>
              <a:t>JUDGES SHOULD FEEL: production engineering maturity - startup founders will notice the swappable-services decision.</a:t>
            </a:r>
          </a:p>
          <a:p>
            <a:r>
              <a:t>ANIMATION: layers stack bottom-up (gateway first), quantum layer pulses last; rail fades in together.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QUANTUM CORE  ·  1:30  - the slide the quantum researchers will grill</a:t>
            </a:r>
          </a:p>
          <a:p>
            <a:r>
              <a:t>We never put pixels in a circuit. Vision stays classical - CNNs won imaging. What goes into the quantum layer is a compressed 8-channel evidence vector. Eight qubits, angle encoding, entangling layers: the state lives in a 256-dimensional Hilbert space, and the ZZ-style map writes pairwise evidence interactions into the phase structure. The kernel is state fidelity - similarity in that space. Havlicek showed such kernels are conjectured hard to estimate classically; Liu, Arunachalam and Temme proved a rigorous separation for a related problem class. So our claim is representational: a richer similarity geometry over clinical evidence. Not 'quantum is faster'. And because conjecture is not evidence, every quantum service ships beside a classical twin and must beat it head-to-head - next slides show how.</a:t>
            </a:r>
          </a:p>
          <a:p/>
          <a:p>
            <a:r>
              <a:t>JUDGES SHOULD FEEL: rare intellectual honesty + real command of the QML literature. This slide wins the quantum jury.</a:t>
            </a:r>
          </a:p>
          <a:p>
            <a:r>
              <a:t>ANIMATION: left pipeline draws downward step by step; right cards on separate clicks. Practice this slide the most.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REASONING ENGINE  ·  0:45</a:t>
            </a:r>
          </a:p>
          <a:p>
            <a:r>
              <a:t>Instead of one softmax, AURA maintains a belief graph. Evidence nodes arrive from three sources - the vision encoder, patient priors, and quantum similarity against precedent cases. Reasoning agents pass messages: each piece of evidence multiplies into the posterior over the differential. The output is not 'effusion 0.58' - it is a ranked differential with the evidence trail that produced it. Richens showed at DeepMind that causal, counterfactual diagnosis beats associative diagnosis - this graph is what makes that possible here.</a:t>
            </a:r>
          </a:p>
          <a:p/>
          <a:p>
            <a:r>
              <a:t>JUDGES SHOULD FEEL: AI researchers recognize PGM rigor; clinicians recognize their own differential process.</a:t>
            </a:r>
          </a:p>
          <a:p>
            <a:r>
              <a:t>ANIMATION: evidence nodes in first, edges draw toward belief state, then posterior bars grow (0.4 s bar-grow).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EXPLAINABILITY  ·  0:45</a:t>
            </a:r>
          </a:p>
          <a:p>
            <a:r>
              <a:t>Four artifacts ship with every report. Where - perturbation saliency, chosen over pure gradient methods because it is model-agnostic and auditable. What-if - the minimal image region whose removal flips the differential; that is a falsifiable explanation, in Wachter's counterfactual framework. Why - precedent: the nearest prior cases in the quantum latent space, by state fidelity - doctors reason by precedent, so does AURA. And how sure - intervals, never points. Rule of the house: if a claim has no artifact, the report does not say it.</a:t>
            </a:r>
          </a:p>
          <a:p/>
          <a:p>
            <a:r>
              <a:t>JUDGES SHOULD FEEL: explainability with falsifiability - beyond heat-map theater.</a:t>
            </a:r>
          </a:p>
          <a:p>
            <a:r>
              <a:t>ANIMATION: cards appear clockwise from WHERE; keep 0.3 s fades.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UNCERTAINTY  ·  1:00</a:t>
            </a:r>
          </a:p>
          <a:p>
            <a:r>
              <a:t>One equation runs this slide: total predictive entropy decomposes into epistemic - mutual information between prediction and parameters - plus aleatoric. Why decompose? Because each kind of doubt maps to a different clinical action. Epistemic high: the model is under-trained for this case - defer to the human. Aleatoric high: the image itself is ambiguous - more data will not help, re-image. Out-of-distribution: abstain entirely. And on top, conformal prediction gives a distribution-free coverage guarantee - the true label is in the predicted set with probability at least 1 minus alpha, by theorem, not by hope. ECE numbers are from our own benchmark harness.</a:t>
            </a:r>
          </a:p>
          <a:p/>
          <a:p>
            <a:r>
              <a:t>JUDGES SHOULD FEEL: statistical literacy at research level - the uncertainty-to-action mapping is the memorable move.</a:t>
            </a:r>
          </a:p>
          <a:p>
            <a:r>
              <a:t>ANIMATION: equation first, three cards left-to-right, guarantee last.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PLANNER  ·  0:50</a:t>
            </a:r>
          </a:p>
          <a:p>
            <a:r>
              <a:t>Here is where AURA stops being a classifier at all. Given the current posterior, it evaluates candidate actions - CT, repeat X-ray, ultrasound, labs, observation - by expected information gain: the expected entropy reduction of the differential, penalized by cost and risk. In this case: CT resolves the most entropy, but a repeat PA film gets 78 percent of the information at 4 percent of the cost - so that is the recommendation. This is Lindley's Bayesian experimental design from 1956, running per-patient. Fewer unnecessary scans, faster convergence to the answer.</a:t>
            </a:r>
          </a:p>
          <a:p/>
          <a:p>
            <a:r>
              <a:t>JUDGES SHOULD FEEL: 'the AI asks for the right test' - startup founders see the health-economics value instantly.</a:t>
            </a:r>
          </a:p>
          <a:p>
            <a:r>
              <a:t>ANIMATION: equation first; bars grow staggered; recommendation chip pops last.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CLINICAL LOOP  ·  0:35</a:t>
            </a:r>
          </a:p>
          <a:p>
            <a:r>
              <a:t>AURA sits inside the workflow, not on top of it. Study lands from PACS, AURA drafts the grounded report with its uncertainty and next test, the radiologist reviews and signs - authority is never delegated. The sign-off itself is training signal: accepts and corrections re-fit the calibration and update case memory nightly. The system gets more honest with every use.</a:t>
            </a:r>
          </a:p>
          <a:p/>
          <a:p>
            <a:r>
              <a:t>JUDGES SHOULD FEEL: deployable, regulator-aware, safe - clinicians keep the pen.</a:t>
            </a:r>
          </a:p>
          <a:p>
            <a:r>
              <a:t>ANIMATION: loop arrows animate clockwise once (0.2 s each) - a single rotation, then stop.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POSITIONING  ·  0:45</a:t>
            </a:r>
          </a:p>
          <a:p>
            <a:r>
              <a:t>Fair comparison against the strongest baselines - and credit where due: CheXNet solved probability, MedPaLM-M can suggest follow-ups in free text, MONAI has calibration utilities. But no published system combines decomposed uncertainty, guaranteed coverage, counterfactuals, information-theoretic test planning, and a quantum representation layer in one auditable clinical loop. The novelty is not any single row - it is the column.</a:t>
            </a:r>
          </a:p>
          <a:p/>
          <a:p>
            <a:r>
              <a:t>JUDGES SHOULD FEEL: the team knows the literature cold and positions honestly (the '~' marks buy enormous credibility).</a:t>
            </a:r>
          </a:p>
          <a:p>
            <a:r>
              <a:t>ANIMATION: baseline columns appear together; AURA column sweeps in last with the outline.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ROADMAP  ·  0:35</a:t>
            </a:r>
          </a:p>
          <a:p>
            <a:r>
              <a:t>The roadmap is staged to be hardware-realistic. Next: retrospective validation on public chest X-ray cohorts. 2027: quantum federated learning - encoders stay inside each hospital, only kernel statistics cross the wall, which is a natural privacy fit. Then digital-twin priors feeding the belief graph, hardware kernels when early fault-tolerant machines arrive, and streaming ICU agents. Note what is absent: no stage requires a quantum miracle - everything runs on simulators today and inherits hardware as it matures.</a:t>
            </a:r>
          </a:p>
          <a:p/>
          <a:p>
            <a:r>
              <a:t>JUDGES SHOULD FEEL: a fundable research program with judgment, not a wish list.</a:t>
            </a:r>
          </a:p>
          <a:p>
            <a:r>
              <a:t>ANIMATION: timeline draws left to right; milestone cards rise in sequence.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IMPACT  ·  0:35</a:t>
            </a:r>
          </a:p>
          <a:p>
            <a:r>
              <a:t>Concretely. Hospitals get uncertainty-triaged worklists - the confident criticals jump the queue. Doctors get a second reader that shows its work and knows when to stay silent. Patients get workups planned by information gain - fewer scans, less radiation, faster answers. Researchers get reproducible posteriors and an open benchmark. And the system: diagnostic error touches twelve million American adults a year - India's numbers are larger and less measured. Calibrated triage is aimed at the single costliest failure mode in medicine.</a:t>
            </a:r>
          </a:p>
          <a:p/>
          <a:p>
            <a:r>
              <a:t>JUDGES SHOULD FEEL: heart after math - the equations were for something.</a:t>
            </a:r>
          </a:p>
          <a:p>
            <a:r>
              <a:t>ANIMATION: five cards cascade; keep it quick, 0.2 s each.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  0:25</a:t>
            </a:r>
          </a:p>
          <a:p>
            <a:r>
              <a:t>Three sentences. Artificial intelligence predicts - we have had that for a decade. Clinical intelligence reasons - that is AURA's architecture. Quantum intelligence understands - a richer geometry for medical evidence, claimed honestly and benchmarked ruthlessly. The system is live - I would love to show you. Thank you.</a:t>
            </a:r>
          </a:p>
          <a:p/>
          <a:p>
            <a:r>
              <a:t>JUDGES SHOULD FEEL: goosebumps, then the urge to ask for the demo.</a:t>
            </a:r>
          </a:p>
          <a:p>
            <a:r>
              <a:t>ANIMATION: three lines fade in on successive clicks, 0.6 s each - the only slide with deliberate dramatic pacing.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 - keep in reserve for the quantum jury.</a:t>
            </a:r>
          </a:p>
          <a:p>
            <a:r>
              <a:t>Walk any equation on request: kernel PSD-ness from fidelity; parameter-shift for exact gradients on hardware; the Leifer-Spekkens view of Bayesian updating as CPTP maps; conformal quantile on the calibration split. If asked 'why not amplitude encoding?': amplitude encoding needs normalized inputs and deep state-prep circuits; angle encoding on 8 channels is NISQ-shallow and keeps features interpretable per qubit.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B - use when judges ask 'is this real?'</a:t>
            </a:r>
          </a:p>
          <a:p>
            <a:r>
              <a:t>Everything on the left runs offline on a laptop. The benchmark law is the differentiator: the quantum path must beat its classical twin on the same held-out data across six metrics, or the classical twin serves. Offer the live demo here - train, bench, serve - three commands, under two minutes.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REFERENCES - leave up during Q&amp;A. Every claim on every slide traces to one of these.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F7088B4A-5E74-4E7B-8C78-CA63012A9A2F}" type="datetimeFigureOut">
              <a:rPr lang="en-US" smtClean="0"/>
              <a:t>6/25/2026</a:t>
            </a:fld>
            <a:endParaRPr lang="en-IN"/>
          </a:p>
        </p:txBody>
      </p:sp>
      <p:sp>
        <p:nvSpPr>
          <p:cNvPr id="17" name="Footer Placeholder 16"/>
          <p:cNvSpPr>
            <a:spLocks noGrp="1"/>
          </p:cNvSpPr>
          <p:nvPr>
            <p:ph type="ftr" sz="quarter" idx="11"/>
          </p:nvPr>
        </p:nvSpPr>
        <p:spPr/>
        <p:txBody>
          <a:bodyPr/>
          <a:lstStyle/>
          <a:p>
            <a:endParaRPr lang="en-IN"/>
          </a:p>
        </p:txBody>
      </p:sp>
      <p:sp>
        <p:nvSpPr>
          <p:cNvPr id="7" name="Straight Connector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D965746A-2488-49FC-9F89-55910A74292D}" type="slidenum">
              <a:rPr lang="en-IN" smtClean="0"/>
              <a:t>‹#›</a:t>
            </a:fld>
            <a:endParaRPr lang="en-IN"/>
          </a:p>
        </p:txBody>
      </p:sp>
      <p:sp>
        <p:nvSpPr>
          <p:cNvPr id="8" name="Titl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F7088B4A-5E74-4E7B-8C78-CA63012A9A2F}" type="datetimeFigureOut">
              <a:rPr lang="en-US" smtClean="0"/>
              <a:t>6/25/2026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4361688" y="1026372"/>
            <a:ext cx="457200" cy="441325"/>
          </a:xfrm>
        </p:spPr>
        <p:txBody>
          <a:bodyPr/>
          <a:lstStyle/>
          <a:p>
            <a:fld id="{D965746A-2488-49FC-9F89-55910A74292D}" type="slidenum">
              <a:rPr lang="en-IN" smtClean="0"/>
              <a:t>‹#›</a:t>
            </a:fld>
            <a:endParaRPr lang="en-IN"/>
          </a:p>
        </p:txBody>
      </p:sp>
      <p:sp>
        <p:nvSpPr>
          <p:cNvPr id="8" name="Content Placeholder 7"/>
          <p:cNvSpPr>
            <a:spLocks noGrp="1"/>
          </p:cNvSpPr>
          <p:nvPr>
            <p:ph sz="quarter" idx="1"/>
          </p:nvPr>
        </p:nvSpPr>
        <p:spPr>
          <a:xfrm>
            <a:off x="301752" y="1527048"/>
            <a:ext cx="850392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IN"/>
          </a:p>
        </p:txBody>
      </p:sp>
      <p:sp>
        <p:nvSpPr>
          <p:cNvPr id="4" name="Date Placeholder 3"/>
          <p:cNvSpPr>
            <a:spLocks noGrp="1"/>
          </p:cNvSpPr>
          <p:nvPr>
            <p:ph type="dt" sz="half" idx="10"/>
          </p:nvPr>
        </p:nvSpPr>
        <p:spPr/>
        <p:txBody>
          <a:bodyPr/>
          <a:lstStyle/>
          <a:p>
            <a:fld id="{F7088B4A-5E74-4E7B-8C78-CA63012A9A2F}" type="datetimeFigureOut">
              <a:rPr lang="en-US" smtClean="0"/>
              <a:t>6/25/2026</a:t>
            </a:fld>
            <a:endParaRPr lang="en-IN"/>
          </a:p>
        </p:txBody>
      </p:sp>
      <p:sp>
        <p:nvSpPr>
          <p:cNvPr id="8" name="Straight Connector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D965746A-2488-49FC-9F89-55910A74292D}" type="slidenum">
              <a:rPr lang="en-IN" smtClean="0"/>
              <a:t>‹#›</a:t>
            </a:fld>
            <a:endParaRPr lang="en-IN"/>
          </a:p>
        </p:txBody>
      </p:sp>
      <p:sp>
        <p:nvSpPr>
          <p:cNvPr id="2" name="Titl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58952"/>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a:xfrm>
            <a:off x="5791200" y="6409944"/>
            <a:ext cx="3044952" cy="365760"/>
          </a:xfrm>
        </p:spPr>
        <p:txBody>
          <a:bodyPr/>
          <a:lstStyle/>
          <a:p>
            <a:fld id="{F7088B4A-5E74-4E7B-8C78-CA63012A9A2F}" type="datetimeFigureOut">
              <a:rPr lang="en-US" smtClean="0"/>
              <a:t>6/25/2026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965746A-2488-49FC-9F89-55910A74292D}" type="slidenum">
              <a:rPr lang="en-IN" smtClean="0"/>
              <a:t>‹#›</a:t>
            </a:fld>
            <a:endParaRPr lang="en-IN"/>
          </a:p>
        </p:txBody>
      </p:sp>
      <p:sp>
        <p:nvSpPr>
          <p:cNvPr id="8" name="Straight Connector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F7088B4A-5E74-4E7B-8C78-CA63012A9A2F}" type="datetimeFigureOut">
              <a:rPr lang="en-US" smtClean="0"/>
              <a:t>6/25/2026</a:t>
            </a:fld>
            <a:endParaRPr lang="en-IN"/>
          </a:p>
        </p:txBody>
      </p:sp>
      <p:sp>
        <p:nvSpPr>
          <p:cNvPr id="8" name="Footer Placeholder 7"/>
          <p:cNvSpPr>
            <a:spLocks noGrp="1"/>
          </p:cNvSpPr>
          <p:nvPr>
            <p:ph type="ftr" sz="quarter" idx="11"/>
          </p:nvPr>
        </p:nvSpPr>
        <p:spPr>
          <a:xfrm>
            <a:off x="304800" y="6409944"/>
            <a:ext cx="3581400" cy="365760"/>
          </a:xfrm>
        </p:spPr>
        <p:txBody>
          <a:bodyPr/>
          <a:lstStyle/>
          <a:p>
            <a:endParaRPr lang="en-IN"/>
          </a:p>
        </p:txBody>
      </p:sp>
      <p:sp>
        <p:nvSpPr>
          <p:cNvPr id="15" name="Straight Connector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01752" y="2471383"/>
            <a:ext cx="4041648" cy="3818404"/>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Content Placeholder 25"/>
          <p:cNvSpPr>
            <a:spLocks noGrp="1"/>
          </p:cNvSpPr>
          <p:nvPr>
            <p:ph sz="quarter" idx="4"/>
          </p:nvPr>
        </p:nvSpPr>
        <p:spPr>
          <a:xfrm>
            <a:off x="4800600" y="2471383"/>
            <a:ext cx="4038600" cy="382219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Oval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4343400" y="1042416"/>
            <a:ext cx="457200" cy="441325"/>
          </a:xfrm>
        </p:spPr>
        <p:txBody>
          <a:bodyPr/>
          <a:lstStyle>
            <a:lvl1pPr algn="ctr">
              <a:defRPr/>
            </a:lvl1pPr>
          </a:lstStyle>
          <a:p>
            <a:fld id="{D965746A-2488-49FC-9F89-55910A74292D}" type="slidenum">
              <a:rPr lang="en-IN" smtClean="0"/>
              <a:t>‹#›</a:t>
            </a:fld>
            <a:endParaRPr lang="en-IN"/>
          </a:p>
        </p:txBody>
      </p:sp>
      <p:sp>
        <p:nvSpPr>
          <p:cNvPr id="23" name="Title 22"/>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F7088B4A-5E74-4E7B-8C78-CA63012A9A2F}" type="datetimeFigureOut">
              <a:rPr lang="en-US" smtClean="0"/>
              <a:t>6/25/2026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a:xfrm>
            <a:off x="4343400" y="1036020"/>
            <a:ext cx="457200" cy="441325"/>
          </a:xfrm>
        </p:spPr>
        <p:txBody>
          <a:bodyPr/>
          <a:lstStyle/>
          <a:p>
            <a:fld id="{D965746A-2488-49FC-9F89-55910A74292D}" type="slidenum">
              <a:rPr lang="en-IN" smtClean="0"/>
              <a:t>‹#›</a:t>
            </a:fld>
            <a:endParaRPr lang="en-IN"/>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F7088B4A-5E74-4E7B-8C78-CA63012A9A2F}" type="datetimeFigureOut">
              <a:rPr lang="en-US" smtClean="0"/>
              <a:t>6/25/2026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a:xfrm>
            <a:off x="4267200" y="6324600"/>
            <a:ext cx="609600" cy="441324"/>
          </a:xfrm>
        </p:spPr>
        <p:txBody>
          <a:bodyPr/>
          <a:lstStyle>
            <a:lvl1pPr>
              <a:defRPr>
                <a:solidFill>
                  <a:srgbClr val="FFFFFF"/>
                </a:solidFill>
              </a:defRPr>
            </a:lvl1pPr>
          </a:lstStyle>
          <a:p>
            <a:fld id="{D965746A-2488-49FC-9F89-55910A74292D}" type="slidenum">
              <a:rPr lang="en-IN" smtClean="0"/>
              <a:t>‹#›</a:t>
            </a:fld>
            <a:endParaRPr lang="en-IN"/>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3124200" y="685800"/>
            <a:ext cx="5638800" cy="5410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Oval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D965746A-2488-49FC-9F89-55910A74292D}" type="slidenum">
              <a:rPr lang="en-IN" smtClean="0"/>
              <a:t>‹#›</a:t>
            </a:fld>
            <a:endParaRPr lang="en-IN"/>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F7088B4A-5E74-4E7B-8C78-CA63012A9A2F}" type="datetimeFigureOut">
              <a:rPr lang="en-US" smtClean="0"/>
              <a:t>6/25/2026</a:t>
            </a:fld>
            <a:endParaRPr lang="en-IN"/>
          </a:p>
        </p:txBody>
      </p:sp>
      <p:sp>
        <p:nvSpPr>
          <p:cNvPr id="6" name="Footer Placeholder 5"/>
          <p:cNvSpPr>
            <a:spLocks noGrp="1"/>
          </p:cNvSpPr>
          <p:nvPr>
            <p:ph type="ftr" sz="quarter" idx="11"/>
          </p:nvPr>
        </p:nvSpPr>
        <p:spPr>
          <a:xfrm>
            <a:off x="301752" y="6410848"/>
            <a:ext cx="3383280" cy="365760"/>
          </a:xfrm>
        </p:spPr>
        <p:txBody>
          <a:bodyPr/>
          <a:lstStyle/>
          <a:p>
            <a:endParaRPr lang="en-IN"/>
          </a:p>
        </p:txBody>
      </p:sp>
    </p:spTree>
  </p:cSld>
  <p:clrMapOvr>
    <a:overrideClrMapping bg1="lt1" tx1="dk1" bg2="lt2" tx2="dk2" accent1="accent1" accent2="accent2" accent3="accent3" accent4="accent4" accent5="accent5" accent6="accent6" hlink="hlink" folHlink="folHlink"/>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p>
            <a:fld id="{D965746A-2488-49FC-9F89-55910A74292D}" type="slidenum">
              <a:rPr lang="en-IN" smtClean="0"/>
              <a:t>‹#›</a:t>
            </a:fld>
            <a:endParaRPr lang="en-IN"/>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3000375" y="609600"/>
            <a:ext cx="5867400" cy="4267200"/>
          </a:xfrm>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5788152" y="6404984"/>
            <a:ext cx="3044952" cy="365760"/>
          </a:xfrm>
        </p:spPr>
        <p:txBody>
          <a:bodyPr/>
          <a:lstStyle/>
          <a:p>
            <a:fld id="{F7088B4A-5E74-4E7B-8C78-CA63012A9A2F}" type="datetimeFigureOut">
              <a:rPr lang="en-US" smtClean="0"/>
              <a:t>6/25/2026</a:t>
            </a:fld>
            <a:endParaRPr lang="en-IN"/>
          </a:p>
        </p:txBody>
      </p:sp>
      <p:sp>
        <p:nvSpPr>
          <p:cNvPr id="6" name="Footer Placeholder 5"/>
          <p:cNvSpPr>
            <a:spLocks noGrp="1"/>
          </p:cNvSpPr>
          <p:nvPr>
            <p:ph type="ftr" sz="quarter" idx="11"/>
          </p:nvPr>
        </p:nvSpPr>
        <p:spPr>
          <a:xfrm>
            <a:off x="301752" y="6410848"/>
            <a:ext cx="3584448" cy="365760"/>
          </a:xfrm>
        </p:spPr>
        <p:txBody>
          <a:bodyPr/>
          <a:lstStyle/>
          <a:p>
            <a:endParaRPr lang="en-IN"/>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7088B4A-5E74-4E7B-8C78-CA63012A9A2F}" type="datetimeFigureOut">
              <a:rPr lang="en-US" smtClean="0"/>
              <a:t>6/25/2026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965746A-2488-49FC-9F89-55910A74292D}"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6915912" y="3009901"/>
            <a:ext cx="457200" cy="441325"/>
          </a:xfrm>
        </p:spPr>
        <p:txBody>
          <a:bodyPr/>
          <a:lstStyle/>
          <a:p>
            <a:fld id="{D965746A-2488-49FC-9F89-55910A74292D}" type="slidenum">
              <a:rPr lang="en-IN" smtClean="0"/>
              <a:t>‹#›</a:t>
            </a:fld>
            <a:endParaRPr lang="en-IN"/>
          </a:p>
        </p:txBody>
      </p:sp>
      <p:sp>
        <p:nvSpPr>
          <p:cNvPr id="3" name="Vertical Text Placeholder 2"/>
          <p:cNvSpPr>
            <a:spLocks noGrp="1"/>
          </p:cNvSpPr>
          <p:nvPr>
            <p:ph type="body" orient="vert" idx="1"/>
          </p:nvPr>
        </p:nvSpPr>
        <p:spPr>
          <a:xfrm>
            <a:off x="304800" y="304800"/>
            <a:ext cx="6553200" cy="5821366"/>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7088B4A-5E74-4E7B-8C78-CA63012A9A2F}" type="datetimeFigureOut">
              <a:rPr lang="en-US" smtClean="0"/>
              <a:t>6/25/2026</a:t>
            </a:fld>
            <a:endParaRPr lang="en-IN"/>
          </a:p>
        </p:txBody>
      </p:sp>
      <p:sp>
        <p:nvSpPr>
          <p:cNvPr id="5" name="Footer Placeholder 4"/>
          <p:cNvSpPr>
            <a:spLocks noGrp="1"/>
          </p:cNvSpPr>
          <p:nvPr>
            <p:ph type="ftr" sz="quarter" idx="11"/>
          </p:nvPr>
        </p:nvSpPr>
        <p:spPr/>
        <p:txBody>
          <a:bodyPr/>
          <a:lstStyle/>
          <a:p>
            <a:endParaRPr lang="en-IN"/>
          </a:p>
        </p:txBody>
      </p:sp>
      <p:sp>
        <p:nvSpPr>
          <p:cNvPr id="2" name="Vertical Title 1"/>
          <p:cNvSpPr>
            <a:spLocks noGrp="1"/>
          </p:cNvSpPr>
          <p:nvPr>
            <p:ph type="title" orient="vert"/>
          </p:nvPr>
        </p:nvSpPr>
        <p:spPr>
          <a:xfrm>
            <a:off x="7391400" y="304801"/>
            <a:ext cx="1447800" cy="5851525"/>
          </a:xfrm>
        </p:spPr>
        <p:txBody>
          <a:bodyPr vert="eaVert"/>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F7088B4A-5E74-4E7B-8C78-CA63012A9A2F}" type="datetimeFigureOut">
              <a:rPr lang="en-US" smtClean="0"/>
              <a:t>6/25/2026</a:t>
            </a:fld>
            <a:endParaRPr lang="en-IN"/>
          </a:p>
        </p:txBody>
      </p:sp>
      <p:sp>
        <p:nvSpPr>
          <p:cNvPr id="3" name="Footer Placeholder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en-IN"/>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D965746A-2488-49FC-9F89-55910A74292D}" type="slidenum">
              <a:rPr lang="en-IN" smtClean="0"/>
              <a:t>‹#›</a:t>
            </a:fld>
            <a:endParaRPr lang="en-IN"/>
          </a:p>
        </p:txBody>
      </p:sp>
      <p:sp>
        <p:nvSpPr>
          <p:cNvPr id="22" name="Title Placeholder 21"/>
          <p:cNvSpPr>
            <a:spLocks noGrp="1"/>
          </p:cNvSpPr>
          <p:nvPr>
            <p:ph type="title"/>
          </p:nvPr>
        </p:nvSpPr>
        <p:spPr>
          <a:xfrm>
            <a:off x="301752" y="228600"/>
            <a:ext cx="8534400" cy="758952"/>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fade/>
  </p:transition>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jpeg"/><Relationship Id="rId8" Type="http://schemas.openxmlformats.org/officeDocument/2006/relationships/notesSlide" Target="../notesSlides/notes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9.jpe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7.png"/><Relationship Id="rId8" Type="http://schemas.openxmlformats.org/officeDocument/2006/relationships/image" Target="../media/image8.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9.jpe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7.png"/><Relationship Id="rId8" Type="http://schemas.openxmlformats.org/officeDocument/2006/relationships/image" Target="../media/image8.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9.jpe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7.png"/><Relationship Id="rId8" Type="http://schemas.openxmlformats.org/officeDocument/2006/relationships/image" Target="../media/image8.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9.jpe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7.png"/><Relationship Id="rId8" Type="http://schemas.openxmlformats.org/officeDocument/2006/relationships/image" Target="../media/image8.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9.jpe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7.png"/><Relationship Id="rId8" Type="http://schemas.openxmlformats.org/officeDocument/2006/relationships/image" Target="../media/image8.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9.jpe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7.png"/><Relationship Id="rId8" Type="http://schemas.openxmlformats.org/officeDocument/2006/relationships/image" Target="../media/image8.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9.jpe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7.png"/><Relationship Id="rId8" Type="http://schemas.openxmlformats.org/officeDocument/2006/relationships/image" Target="../media/image8.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jpe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7.png"/><Relationship Id="rId8" Type="http://schemas.openxmlformats.org/officeDocument/2006/relationships/image" Target="../media/image8.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9.jpe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7.png"/><Relationship Id="rId8" Type="http://schemas.openxmlformats.org/officeDocument/2006/relationships/image" Target="../media/image8.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9.jpe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7.png"/><Relationship Id="rId8" Type="http://schemas.openxmlformats.org/officeDocument/2006/relationships/image" Target="../media/image8.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9.jpe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7.png"/><Relationship Id="rId8" Type="http://schemas.openxmlformats.org/officeDocument/2006/relationships/image" Target="../media/image8.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9.jpe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7.png"/><Relationship Id="rId8" Type="http://schemas.openxmlformats.org/officeDocument/2006/relationships/image" Target="../media/image8.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9.jpe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7.png"/><Relationship Id="rId8" Type="http://schemas.openxmlformats.org/officeDocument/2006/relationships/image" Target="../media/image8.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9.jpe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7.png"/><Relationship Id="rId8" Type="http://schemas.openxmlformats.org/officeDocument/2006/relationships/image" Target="../media/image8.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9.jpe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7.png"/><Relationship Id="rId8" Type="http://schemas.openxmlformats.org/officeDocument/2006/relationships/image" Target="../media/image8.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9.jpe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7.png"/><Relationship Id="rId8" Type="http://schemas.openxmlformats.org/officeDocument/2006/relationships/image" Target="../media/image8.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9.jpe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7.png"/><Relationship Id="rId8" Type="http://schemas.openxmlformats.org/officeDocument/2006/relationships/image" Target="../media/image8.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9.jpe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7.png"/><Relationship Id="rId8"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27" name="Picture 3" descr="C:\Users\Admin\Downloads\1764679326535-Photoroom.png"/>
          <p:cNvPicPr>
            <a:picLocks noChangeAspect="1" noChangeArrowheads="1"/>
          </p:cNvPicPr>
          <p:nvPr/>
        </p:nvPicPr>
        <p:blipFill>
          <a:blip r:embed="rId3"/>
          <a:srcRect/>
          <a:stretch>
            <a:fillRect/>
          </a:stretch>
        </p:blipFill>
        <p:spPr bwMode="auto">
          <a:xfrm>
            <a:off x="7072322" y="-214314"/>
            <a:ext cx="2071678" cy="2071678"/>
          </a:xfrm>
          <a:prstGeom prst="rect">
            <a:avLst/>
          </a:prstGeom>
          <a:noFill/>
        </p:spPr>
      </p:pic>
      <p:pic>
        <p:nvPicPr>
          <p:cNvPr id="7" name="Picture 6" descr="RIT white logo.png"/>
          <p:cNvPicPr>
            <a:picLocks noChangeAspect="1"/>
          </p:cNvPicPr>
          <p:nvPr/>
        </p:nvPicPr>
        <p:blipFill>
          <a:blip r:embed="rId4" cstate="print"/>
          <a:stretch>
            <a:fillRect/>
          </a:stretch>
        </p:blipFill>
        <p:spPr>
          <a:xfrm>
            <a:off x="1" y="0"/>
            <a:ext cx="5000628" cy="1291197"/>
          </a:xfrm>
          <a:prstGeom prst="rect">
            <a:avLst/>
          </a:prstGeom>
        </p:spPr>
      </p:pic>
      <p:sp>
        <p:nvSpPr>
          <p:cNvPr id="8" name="Rectangle 7"/>
          <p:cNvSpPr/>
          <p:nvPr/>
        </p:nvSpPr>
        <p:spPr>
          <a:xfrm>
            <a:off x="0" y="5072074"/>
            <a:ext cx="3071833" cy="477054"/>
          </a:xfrm>
          <a:prstGeom prst="rect">
            <a:avLst/>
          </a:prstGeom>
          <a:noFill/>
          <a:ln>
            <a:noFill/>
          </a:ln>
        </p:spPr>
        <p:txBody>
          <a:bodyPr wrap="square" lIns="91440" tIns="45720" rIns="91440" bIns="45720">
            <a:spAutoFit/>
          </a:bodyPr>
          <a:lstStyle/>
          <a:p>
            <a:pPr algn="ctr"/>
            <a:r>
              <a:rPr lang="en-US" sz="2500" b="1" cap="none" spc="300" dirty="0" smtClean="0">
                <a:ln w="11430" cmpd="sng">
                  <a:noFill/>
                  <a:prstDash val="solid"/>
                  <a:miter lim="800000"/>
                </a:ln>
                <a:solidFill>
                  <a:schemeClr val="bg1"/>
                </a:solidFill>
                <a:effectLst>
                  <a:glow rad="45500">
                    <a:schemeClr val="accent1">
                      <a:satMod val="220000"/>
                      <a:alpha val="35000"/>
                    </a:schemeClr>
                  </a:glow>
                </a:effectLst>
                <a:latin typeface="Arial" pitchFamily="34" charset="0"/>
                <a:cs typeface="Arial" pitchFamily="34" charset="0"/>
              </a:rPr>
              <a:t>Presented by</a:t>
            </a:r>
            <a:endParaRPr lang="en-US" sz="2500" b="1" cap="none" spc="300" dirty="0">
              <a:ln w="11430" cmpd="sng">
                <a:noFill/>
                <a:prstDash val="solid"/>
                <a:miter lim="800000"/>
              </a:ln>
              <a:solidFill>
                <a:schemeClr val="bg1"/>
              </a:solidFill>
              <a:effectLst>
                <a:glow rad="45500">
                  <a:schemeClr val="accent1">
                    <a:satMod val="220000"/>
                    <a:alpha val="35000"/>
                  </a:schemeClr>
                </a:glow>
              </a:effectLst>
              <a:latin typeface="Arial" pitchFamily="34" charset="0"/>
              <a:cs typeface="Arial" pitchFamily="34" charset="0"/>
            </a:endParaRPr>
          </a:p>
        </p:txBody>
      </p:sp>
      <p:pic>
        <p:nvPicPr>
          <p:cNvPr id="1029" name="Picture 5" descr="C:\Users\Admin\Downloads\IBM_logo.svg.png"/>
          <p:cNvPicPr>
            <a:picLocks noChangeAspect="1" noChangeArrowheads="1"/>
          </p:cNvPicPr>
          <p:nvPr/>
        </p:nvPicPr>
        <p:blipFill>
          <a:blip r:embed="rId5" cstate="print">
            <a:lum bright="40000"/>
          </a:blip>
          <a:srcRect/>
          <a:stretch>
            <a:fillRect/>
          </a:stretch>
        </p:blipFill>
        <p:spPr bwMode="auto">
          <a:xfrm>
            <a:off x="6588224" y="5885112"/>
            <a:ext cx="1285884" cy="480868"/>
          </a:xfrm>
          <a:prstGeom prst="rect">
            <a:avLst/>
          </a:prstGeom>
          <a:noFill/>
        </p:spPr>
      </p:pic>
      <p:pic>
        <p:nvPicPr>
          <p:cNvPr id="1030" name="Picture 6" descr="C:\Users\Admin\Downloads\logo-nqm.png"/>
          <p:cNvPicPr>
            <a:picLocks noChangeAspect="1" noChangeArrowheads="1"/>
          </p:cNvPicPr>
          <p:nvPr/>
        </p:nvPicPr>
        <p:blipFill>
          <a:blip r:embed="rId6">
            <a:lum bright="70000" contrast="-70000"/>
          </a:blip>
          <a:srcRect/>
          <a:stretch>
            <a:fillRect/>
          </a:stretch>
        </p:blipFill>
        <p:spPr bwMode="auto">
          <a:xfrm>
            <a:off x="5214942" y="5572140"/>
            <a:ext cx="1000132" cy="1106813"/>
          </a:xfrm>
          <a:prstGeom prst="rect">
            <a:avLst/>
          </a:prstGeom>
          <a:noFill/>
        </p:spPr>
      </p:pic>
      <p:sp>
        <p:nvSpPr>
          <p:cNvPr id="17" name="Rectangle 16"/>
          <p:cNvSpPr/>
          <p:nvPr/>
        </p:nvSpPr>
        <p:spPr>
          <a:xfrm>
            <a:off x="142876" y="5572140"/>
            <a:ext cx="4500562" cy="477054"/>
          </a:xfrm>
          <a:prstGeom prst="rect">
            <a:avLst/>
          </a:prstGeom>
          <a:noFill/>
          <a:ln>
            <a:noFill/>
          </a:ln>
        </p:spPr>
        <p:txBody>
          <a:bodyPr wrap="square" lIns="91440" tIns="45720" rIns="91440" bIns="45720">
            <a:spAutoFit/>
          </a:bodyPr>
          <a:lstStyle/>
          <a:p>
            <a:pPr algn="ctr"/>
            <a:r>
              <a:rPr lang="en-US" sz="2500" b="1" cap="none" spc="300" dirty="0" smtClean="0">
                <a:ln w="11430" cmpd="sng">
                  <a:noFill/>
                  <a:prstDash val="solid"/>
                  <a:miter lim="800000"/>
                </a:ln>
                <a:solidFill>
                  <a:schemeClr val="bg1"/>
                </a:solidFill>
                <a:effectLst>
                  <a:glow rad="45500">
                    <a:schemeClr val="accent1">
                      <a:satMod val="220000"/>
                      <a:alpha val="35000"/>
                    </a:schemeClr>
                  </a:glow>
                </a:effectLst>
                <a:latin typeface="Arial" pitchFamily="34" charset="0"/>
                <a:cs typeface="Arial" pitchFamily="34" charset="0"/>
              </a:rPr>
              <a:t>Sivaguru R.M</a:t>
            </a:r>
            <a:endParaRPr lang="en-US" sz="2500" b="1" cap="none" spc="300" dirty="0">
              <a:ln w="11430" cmpd="sng">
                <a:noFill/>
                <a:prstDash val="solid"/>
                <a:miter lim="800000"/>
              </a:ln>
              <a:solidFill>
                <a:schemeClr val="bg1"/>
              </a:solidFill>
              <a:effectLst>
                <a:glow rad="45500">
                  <a:schemeClr val="accent1">
                    <a:satMod val="220000"/>
                    <a:alpha val="35000"/>
                  </a:schemeClr>
                </a:glow>
              </a:effectLst>
              <a:latin typeface="Arial" pitchFamily="34" charset="0"/>
              <a:cs typeface="Arial" pitchFamily="34" charset="0"/>
            </a:endParaRPr>
          </a:p>
        </p:txBody>
      </p:sp>
      <p:sp>
        <p:nvSpPr>
          <p:cNvPr id="18" name="Rectangle 17"/>
          <p:cNvSpPr/>
          <p:nvPr/>
        </p:nvSpPr>
        <p:spPr>
          <a:xfrm>
            <a:off x="142844" y="6000768"/>
            <a:ext cx="4929222" cy="477054"/>
          </a:xfrm>
          <a:prstGeom prst="rect">
            <a:avLst/>
          </a:prstGeom>
          <a:noFill/>
          <a:ln>
            <a:noFill/>
          </a:ln>
        </p:spPr>
        <p:txBody>
          <a:bodyPr wrap="square" lIns="91440" tIns="45720" rIns="91440" bIns="45720">
            <a:spAutoFit/>
          </a:bodyPr>
          <a:lstStyle/>
          <a:p>
            <a:pPr algn="ctr"/>
            <a:r>
              <a:rPr lang="en-US" sz="2500" b="1" cap="none" spc="300" dirty="0" smtClean="0">
                <a:ln w="11430" cmpd="sng">
                  <a:noFill/>
                  <a:prstDash val="solid"/>
                  <a:miter lim="800000"/>
                </a:ln>
                <a:solidFill>
                  <a:schemeClr val="bg1"/>
                </a:solidFill>
                <a:effectLst>
                  <a:glow rad="45500">
                    <a:schemeClr val="accent1">
                      <a:satMod val="220000"/>
                      <a:alpha val="35000"/>
                    </a:schemeClr>
                  </a:glow>
                </a:effectLst>
                <a:latin typeface="Arial" pitchFamily="34" charset="0"/>
                <a:cs typeface="Arial" pitchFamily="34" charset="0"/>
              </a:rPr>
              <a:t>Rajalakshmi Institute of Technology</a:t>
            </a:r>
            <a:endParaRPr lang="en-US" sz="2500" b="1" cap="none" spc="300" dirty="0">
              <a:ln w="11430" cmpd="sng">
                <a:noFill/>
                <a:prstDash val="solid"/>
                <a:miter lim="800000"/>
              </a:ln>
              <a:solidFill>
                <a:schemeClr val="bg1"/>
              </a:solidFill>
              <a:effectLst>
                <a:glow rad="45500">
                  <a:schemeClr val="accent1">
                    <a:satMod val="220000"/>
                    <a:alpha val="35000"/>
                  </a:schemeClr>
                </a:glow>
              </a:effectLst>
              <a:latin typeface="Arial" pitchFamily="34" charset="0"/>
              <a:cs typeface="Arial" pitchFamily="34" charset="0"/>
            </a:endParaRPr>
          </a:p>
        </p:txBody>
      </p:sp>
      <p:pic>
        <p:nvPicPr>
          <p:cNvPr id="10" name="Picture 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028384" y="5763447"/>
            <a:ext cx="866775" cy="714375"/>
          </a:xfrm>
          <a:prstGeom prst="rect">
            <a:avLst/>
          </a:prstGeom>
        </p:spPr>
      </p:pic>
      <p:sp>
        <p:nvSpPr>
          <p:cNvPr id="1031" name="TextBox 1030"/>
          <p:cNvSpPr txBox="1"/>
          <p:nvPr/>
        </p:nvSpPr>
        <p:spPr>
          <a:xfrm>
            <a:off x="5138928" y="4224528"/>
            <a:ext cx="3840480" cy="566928"/>
          </a:xfrm>
          <a:prstGeom prst="rect">
            <a:avLst/>
          </a:prstGeom>
          <a:noFill/>
        </p:spPr>
        <p:txBody>
          <a:bodyPr wrap="square" lIns="0" rIns="0" tIns="0" bIns="0" anchor="t">
            <a:spAutoFit/>
          </a:bodyPr>
          <a:lstStyle/>
          <a:p>
            <a:pPr algn="ctr"/>
            <a:r>
              <a:rPr sz="2100" b="1" i="0" spc="500">
                <a:solidFill>
                  <a:srgbClr val="5EEAD4"/>
                </a:solidFill>
                <a:latin typeface="Arial"/>
              </a:rPr>
              <a:t>AURA</a:t>
            </a:r>
          </a:p>
          <a:p>
            <a:pPr algn="ctr"/>
            <a:r>
              <a:rPr sz="850" b="0" i="0" spc="220">
                <a:solidFill>
                  <a:srgbClr val="FFFFFF"/>
                </a:solidFill>
                <a:latin typeface="Arial"/>
              </a:rPr>
              <a:t>ADAPTIVE UNCERTAINTY-AWARE RADIOLOGY ARCHITECTURE</a:t>
            </a:r>
          </a:p>
        </p:txBody>
      </p:sp>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l="-24000" r="-24000"/>
          </a:stretch>
        </a:blipFill>
        <a:effectLst/>
      </p:bgPr>
    </p:bg>
    <p:spTree>
      <p:nvGrpSpPr>
        <p:cNvPr id="1" name=""/>
        <p:cNvGrpSpPr/>
        <p:nvPr/>
      </p:nvGrpSpPr>
      <p:grpSpPr>
        <a:xfrm>
          <a:off x="0" y="0"/>
          <a:ext cx="0" cy="0"/>
          <a:chOff x="0" y="0"/>
          <a:chExt cx="0" cy="0"/>
        </a:xfrm>
      </p:grpSpPr>
      <p:pic>
        <p:nvPicPr>
          <p:cNvPr id="2" name="Picture 3" descr="C:\Users\Admin\Downloads\1764679326535-Photoroom.png"/>
          <p:cNvPicPr>
            <a:picLocks noChangeAspect="1" noChangeArrowheads="1"/>
          </p:cNvPicPr>
          <p:nvPr/>
        </p:nvPicPr>
        <p:blipFill>
          <a:blip r:embed="rId4"/>
          <a:srcRect/>
          <a:stretch>
            <a:fillRect/>
          </a:stretch>
        </p:blipFill>
        <p:spPr bwMode="auto">
          <a:xfrm>
            <a:off x="4108831" y="35671"/>
            <a:ext cx="1285884" cy="1285884"/>
          </a:xfrm>
          <a:prstGeom prst="rect">
            <a:avLst/>
          </a:prstGeom>
          <a:noFill/>
        </p:spPr>
      </p:pic>
      <p:pic>
        <p:nvPicPr>
          <p:cNvPr id="2050" name="Picture 2" descr="C:\Users\Admin\Downloads\RIT.png"/>
          <p:cNvPicPr>
            <a:picLocks noChangeAspect="1" noChangeArrowheads="1"/>
          </p:cNvPicPr>
          <p:nvPr/>
        </p:nvPicPr>
        <p:blipFill>
          <a:blip r:embed="rId5" cstate="print"/>
          <a:srcRect/>
          <a:stretch>
            <a:fillRect/>
          </a:stretch>
        </p:blipFill>
        <p:spPr bwMode="auto">
          <a:xfrm>
            <a:off x="252062" y="285704"/>
            <a:ext cx="3043364" cy="785818"/>
          </a:xfrm>
          <a:prstGeom prst="rect">
            <a:avLst/>
          </a:prstGeom>
          <a:noFill/>
        </p:spPr>
      </p:pic>
      <p:pic>
        <p:nvPicPr>
          <p:cNvPr id="2051" name="Picture 3" descr="C:\Users\Admin\Downloads\IBM_logo.svg.png"/>
          <p:cNvPicPr>
            <a:picLocks noChangeAspect="1" noChangeArrowheads="1"/>
          </p:cNvPicPr>
          <p:nvPr/>
        </p:nvPicPr>
        <p:blipFill>
          <a:blip r:embed="rId6"/>
          <a:srcRect/>
          <a:stretch>
            <a:fillRect/>
          </a:stretch>
        </p:blipFill>
        <p:spPr bwMode="auto">
          <a:xfrm>
            <a:off x="7380312" y="357139"/>
            <a:ext cx="1528257" cy="571504"/>
          </a:xfrm>
          <a:prstGeom prst="rect">
            <a:avLst/>
          </a:prstGeom>
          <a:noFill/>
        </p:spPr>
      </p:pic>
      <p:pic>
        <p:nvPicPr>
          <p:cNvPr id="2053" name="Picture 5" descr="C:\Users\Admin\Downloads\logo-nqm.png"/>
          <p:cNvPicPr>
            <a:picLocks noChangeAspect="1" noChangeArrowheads="1"/>
          </p:cNvPicPr>
          <p:nvPr/>
        </p:nvPicPr>
        <p:blipFill>
          <a:blip r:embed="rId7"/>
          <a:srcRect/>
          <a:stretch>
            <a:fillRect/>
          </a:stretch>
        </p:blipFill>
        <p:spPr bwMode="auto">
          <a:xfrm>
            <a:off x="5519518" y="249994"/>
            <a:ext cx="710054" cy="785794"/>
          </a:xfrm>
          <a:prstGeom prst="rect">
            <a:avLst/>
          </a:prstGeom>
          <a:noFill/>
        </p:spPr>
      </p:pic>
      <p:sp>
        <p:nvSpPr>
          <p:cNvPr id="11" name="Footer Placeholder 10"/>
          <p:cNvSpPr>
            <a:spLocks noGrp="1"/>
          </p:cNvSpPr>
          <p:nvPr>
            <p:ph type="ftr" sz="quarter" idx="11"/>
          </p:nvPr>
        </p:nvSpPr>
        <p:spPr>
          <a:xfrm>
            <a:off x="304800" y="6410848"/>
            <a:ext cx="6196026" cy="232862"/>
          </a:xfrm>
        </p:spPr>
        <p:txBody>
          <a:bodyPr/>
          <a:lstStyle/>
          <a:p>
            <a:r>
              <a:rPr lang="en-IN" i="1" dirty="0" smtClean="0">
                <a:solidFill>
                  <a:schemeClr val="tx1"/>
                </a:solidFill>
                <a:latin typeface="Arial Rounded MT Bold" pitchFamily="34" charset="0"/>
              </a:rPr>
              <a:t>RIT – QUANT-A-THAN- 2026 (Innovate, Build, Transform)</a:t>
            </a:r>
            <a:endParaRPr lang="en-IN" i="1" dirty="0">
              <a:solidFill>
                <a:schemeClr val="tx1"/>
              </a:solidFill>
              <a:latin typeface="Arial Rounded MT Bold" pitchFamily="34" charset="0"/>
            </a:endParaRPr>
          </a:p>
        </p:txBody>
      </p:sp>
      <p:pic>
        <p:nvPicPr>
          <p:cNvPr id="5" name="Picture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88734" y="285704"/>
            <a:ext cx="866775" cy="714375"/>
          </a:xfrm>
          <a:prstGeom prst="rect">
            <a:avLst/>
          </a:prstGeom>
        </p:spPr>
      </p:pic>
      <p:sp>
        <p:nvSpPr>
          <p:cNvPr id="2054" name="Rectangle 2053"/>
          <p:cNvSpPr/>
          <p:nvPr/>
        </p:nvSpPr>
        <p:spPr>
          <a:xfrm>
            <a:off x="-45720" y="-45720"/>
            <a:ext cx="9235440" cy="6949440"/>
          </a:xfrm>
          <a:prstGeom prst="rect">
            <a:avLst/>
          </a:prstGeom>
          <a:solidFill>
            <a:srgbClr val="05090E"/>
          </a:solidFill>
          <a:ln>
            <a:noFill/>
          </a:ln>
          <a:effectLst/>
        </p:spPr>
        <p:txBody>
          <a:bodyPr rtlCol="0" anchor="ctr"/>
          <a:lstStyle/>
          <a:p>
            <a:pPr algn="ctr"/>
          </a:p>
        </p:txBody>
      </p:sp>
      <p:sp>
        <p:nvSpPr>
          <p:cNvPr id="2055" name="Oval 2054"/>
          <p:cNvSpPr/>
          <p:nvPr/>
        </p:nvSpPr>
        <p:spPr>
          <a:xfrm>
            <a:off x="3520440" y="2194560"/>
            <a:ext cx="2103120" cy="2103120"/>
          </a:xfrm>
          <a:prstGeom prst="ellipse">
            <a:avLst/>
          </a:prstGeom>
          <a:noFill/>
          <a:ln w="12700">
            <a:solidFill>
              <a:srgbClr val="2DD4BF">
                <a:alpha val="30000"/>
              </a:srgbClr>
            </a:solidFill>
          </a:ln>
          <a:effectLst/>
        </p:spPr>
        <p:txBody>
          <a:bodyPr rtlCol="0" anchor="ctr"/>
          <a:lstStyle/>
          <a:p>
            <a:pPr algn="ctr"/>
          </a:p>
        </p:txBody>
      </p:sp>
      <p:sp>
        <p:nvSpPr>
          <p:cNvPr id="2056" name="Oval 2055"/>
          <p:cNvSpPr/>
          <p:nvPr/>
        </p:nvSpPr>
        <p:spPr>
          <a:xfrm>
            <a:off x="2880360" y="1554479"/>
            <a:ext cx="3383280" cy="3383280"/>
          </a:xfrm>
          <a:prstGeom prst="ellipse">
            <a:avLst/>
          </a:prstGeom>
          <a:noFill/>
          <a:ln w="12700">
            <a:solidFill>
              <a:srgbClr val="2DD4BF">
                <a:alpha val="16000"/>
              </a:srgbClr>
            </a:solidFill>
          </a:ln>
          <a:effectLst/>
        </p:spPr>
        <p:txBody>
          <a:bodyPr rtlCol="0" anchor="ctr"/>
          <a:lstStyle/>
          <a:p>
            <a:pPr algn="ctr"/>
          </a:p>
        </p:txBody>
      </p:sp>
      <p:sp>
        <p:nvSpPr>
          <p:cNvPr id="2057" name="Oval 2056"/>
          <p:cNvSpPr/>
          <p:nvPr/>
        </p:nvSpPr>
        <p:spPr>
          <a:xfrm>
            <a:off x="2194560" y="868679"/>
            <a:ext cx="4754880" cy="4754880"/>
          </a:xfrm>
          <a:prstGeom prst="ellipse">
            <a:avLst/>
          </a:prstGeom>
          <a:noFill/>
          <a:ln w="12700">
            <a:solidFill>
              <a:srgbClr val="2DD4BF">
                <a:alpha val="8000"/>
              </a:srgbClr>
            </a:solidFill>
          </a:ln>
          <a:effectLst/>
        </p:spPr>
        <p:txBody>
          <a:bodyPr rtlCol="0" anchor="ctr"/>
          <a:lstStyle/>
          <a:p>
            <a:pPr algn="ctr"/>
          </a:p>
        </p:txBody>
      </p:sp>
      <p:sp>
        <p:nvSpPr>
          <p:cNvPr id="2058" name="TextBox 2057"/>
          <p:cNvSpPr txBox="1"/>
          <p:nvPr/>
        </p:nvSpPr>
        <p:spPr>
          <a:xfrm>
            <a:off x="457200" y="1188720"/>
            <a:ext cx="8229600" cy="274320"/>
          </a:xfrm>
          <a:prstGeom prst="rect">
            <a:avLst/>
          </a:prstGeom>
          <a:noFill/>
        </p:spPr>
        <p:txBody>
          <a:bodyPr wrap="square" lIns="0" rIns="0" tIns="0" bIns="0" anchor="t">
            <a:spAutoFit/>
          </a:bodyPr>
          <a:lstStyle/>
          <a:p>
            <a:pPr algn="ctr"/>
            <a:r>
              <a:rPr sz="950" b="1" i="0" spc="350">
                <a:solidFill>
                  <a:srgbClr val="7FA8A5"/>
                </a:solidFill>
                <a:latin typeface="Arial"/>
              </a:rPr>
              <a:t>AURA  ·  ADAPTIVE UNCERTAINTY-AWARE RADIOLOGY ARCHITECTURE</a:t>
            </a:r>
          </a:p>
        </p:txBody>
      </p:sp>
      <p:sp>
        <p:nvSpPr>
          <p:cNvPr id="2059" name="TextBox 2058"/>
          <p:cNvSpPr txBox="1"/>
          <p:nvPr/>
        </p:nvSpPr>
        <p:spPr>
          <a:xfrm>
            <a:off x="731520" y="2487168"/>
            <a:ext cx="7680960" cy="1554480"/>
          </a:xfrm>
          <a:prstGeom prst="rect">
            <a:avLst/>
          </a:prstGeom>
          <a:noFill/>
        </p:spPr>
        <p:txBody>
          <a:bodyPr wrap="square" lIns="0" rIns="0" tIns="0" bIns="0" anchor="t">
            <a:spAutoFit/>
          </a:bodyPr>
          <a:lstStyle/>
          <a:p>
            <a:pPr algn="ctr">
              <a:lnSpc>
                <a:spcPct val="125000"/>
              </a:lnSpc>
            </a:pPr>
            <a:r>
              <a:rPr sz="2800" b="0" i="0">
                <a:solidFill>
                  <a:srgbClr val="FFFFFF"/>
                </a:solidFill>
                <a:latin typeface="Arial"/>
              </a:rPr>
              <a:t>The future of diagnosis is not classification.</a:t>
            </a:r>
          </a:p>
          <a:p>
            <a:pPr algn="ctr">
              <a:lnSpc>
                <a:spcPct val="125000"/>
              </a:lnSpc>
            </a:pPr>
            <a:r>
              <a:rPr sz="2800" b="1" i="0">
                <a:solidFill>
                  <a:srgbClr val="5EEAD4"/>
                </a:solidFill>
                <a:latin typeface="Arial"/>
              </a:rPr>
              <a:t>It is clinical intelligence.</a:t>
            </a:r>
          </a:p>
        </p:txBody>
      </p:sp>
      <p:sp>
        <p:nvSpPr>
          <p:cNvPr id="2060" name="TextBox 2059"/>
          <p:cNvSpPr txBox="1"/>
          <p:nvPr/>
        </p:nvSpPr>
        <p:spPr>
          <a:xfrm>
            <a:off x="274320" y="4370832"/>
            <a:ext cx="8595360" cy="274320"/>
          </a:xfrm>
          <a:prstGeom prst="rect">
            <a:avLst/>
          </a:prstGeom>
          <a:noFill/>
        </p:spPr>
        <p:txBody>
          <a:bodyPr wrap="square" lIns="0" rIns="0" tIns="0" bIns="0" anchor="t">
            <a:spAutoFit/>
          </a:bodyPr>
          <a:lstStyle/>
          <a:p>
            <a:pPr algn="ctr"/>
            <a:r>
              <a:rPr sz="900" b="0" i="0" spc="180">
                <a:solidFill>
                  <a:srgbClr val="7FA8A5"/>
                </a:solidFill>
                <a:latin typeface="Arial"/>
              </a:rPr>
              <a:t>QUANTUM-ENCODED EVIDENCE   ·   BAYESIAN REASONING AGENTS   ·   CALIBRATED UNCERTAINTY</a:t>
            </a:r>
          </a:p>
        </p:txBody>
      </p:sp>
      <p:cxnSp>
        <p:nvCxnSpPr>
          <p:cNvPr id="2061" name="Connector 2060"/>
          <p:cNvCxnSpPr/>
          <p:nvPr/>
        </p:nvCxnSpPr>
        <p:spPr>
          <a:xfrm>
            <a:off x="3840480" y="5870448"/>
            <a:ext cx="1463040" cy="0"/>
          </a:xfrm>
          <a:prstGeom prst="line">
            <a:avLst/>
          </a:prstGeom>
          <a:ln w="12700">
            <a:solidFill>
              <a:srgbClr val="2DD4BF">
                <a:alpha val="45000"/>
              </a:srgbClr>
            </a:solidFill>
          </a:ln>
          <a:effectLst/>
        </p:spPr>
      </p:cxnSp>
      <p:sp>
        <p:nvSpPr>
          <p:cNvPr id="2062" name="TextBox 2061"/>
          <p:cNvSpPr txBox="1"/>
          <p:nvPr/>
        </p:nvSpPr>
        <p:spPr>
          <a:xfrm>
            <a:off x="2743200" y="5989320"/>
            <a:ext cx="3657600" cy="237744"/>
          </a:xfrm>
          <a:prstGeom prst="rect">
            <a:avLst/>
          </a:prstGeom>
          <a:noFill/>
        </p:spPr>
        <p:txBody>
          <a:bodyPr wrap="square" lIns="0" rIns="0" tIns="0" bIns="0" anchor="t">
            <a:spAutoFit/>
          </a:bodyPr>
          <a:lstStyle/>
          <a:p>
            <a:pPr algn="ctr"/>
            <a:r>
              <a:rPr sz="900" b="0" i="0" spc="350">
                <a:solidFill>
                  <a:srgbClr val="7FA8A5"/>
                </a:solidFill>
                <a:latin typeface="Arial"/>
              </a:rPr>
              <a:t>RIT QUANT-A-THAN 2026</a:t>
            </a:r>
          </a:p>
        </p:txBody>
      </p:sp>
    </p:spTree>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l="-24000" r="-24000"/>
          </a:stretch>
        </a:blipFill>
        <a:effectLst/>
      </p:bgPr>
    </p:bg>
    <p:spTree>
      <p:nvGrpSpPr>
        <p:cNvPr id="1" name=""/>
        <p:cNvGrpSpPr/>
        <p:nvPr/>
      </p:nvGrpSpPr>
      <p:grpSpPr>
        <a:xfrm>
          <a:off x="0" y="0"/>
          <a:ext cx="0" cy="0"/>
          <a:chOff x="0" y="0"/>
          <a:chExt cx="0" cy="0"/>
        </a:xfrm>
      </p:grpSpPr>
      <p:pic>
        <p:nvPicPr>
          <p:cNvPr id="2" name="Picture 3" descr="C:\Users\Admin\Downloads\1764679326535-Photoroom.png"/>
          <p:cNvPicPr>
            <a:picLocks noChangeAspect="1" noChangeArrowheads="1"/>
          </p:cNvPicPr>
          <p:nvPr/>
        </p:nvPicPr>
        <p:blipFill>
          <a:blip r:embed="rId4"/>
          <a:srcRect/>
          <a:stretch>
            <a:fillRect/>
          </a:stretch>
        </p:blipFill>
        <p:spPr bwMode="auto">
          <a:xfrm>
            <a:off x="4108831" y="35671"/>
            <a:ext cx="1285884" cy="1285884"/>
          </a:xfrm>
          <a:prstGeom prst="rect">
            <a:avLst/>
          </a:prstGeom>
          <a:noFill/>
        </p:spPr>
      </p:pic>
      <p:pic>
        <p:nvPicPr>
          <p:cNvPr id="2050" name="Picture 2" descr="C:\Users\Admin\Downloads\RIT.png"/>
          <p:cNvPicPr>
            <a:picLocks noChangeAspect="1" noChangeArrowheads="1"/>
          </p:cNvPicPr>
          <p:nvPr/>
        </p:nvPicPr>
        <p:blipFill>
          <a:blip r:embed="rId5" cstate="print"/>
          <a:srcRect/>
          <a:stretch>
            <a:fillRect/>
          </a:stretch>
        </p:blipFill>
        <p:spPr bwMode="auto">
          <a:xfrm>
            <a:off x="252062" y="285704"/>
            <a:ext cx="3043364" cy="785818"/>
          </a:xfrm>
          <a:prstGeom prst="rect">
            <a:avLst/>
          </a:prstGeom>
          <a:noFill/>
        </p:spPr>
      </p:pic>
      <p:pic>
        <p:nvPicPr>
          <p:cNvPr id="2051" name="Picture 3" descr="C:\Users\Admin\Downloads\IBM_logo.svg.png"/>
          <p:cNvPicPr>
            <a:picLocks noChangeAspect="1" noChangeArrowheads="1"/>
          </p:cNvPicPr>
          <p:nvPr/>
        </p:nvPicPr>
        <p:blipFill>
          <a:blip r:embed="rId6"/>
          <a:srcRect/>
          <a:stretch>
            <a:fillRect/>
          </a:stretch>
        </p:blipFill>
        <p:spPr bwMode="auto">
          <a:xfrm>
            <a:off x="7380312" y="357139"/>
            <a:ext cx="1528257" cy="571504"/>
          </a:xfrm>
          <a:prstGeom prst="rect">
            <a:avLst/>
          </a:prstGeom>
          <a:noFill/>
        </p:spPr>
      </p:pic>
      <p:pic>
        <p:nvPicPr>
          <p:cNvPr id="2053" name="Picture 5" descr="C:\Users\Admin\Downloads\logo-nqm.png"/>
          <p:cNvPicPr>
            <a:picLocks noChangeAspect="1" noChangeArrowheads="1"/>
          </p:cNvPicPr>
          <p:nvPr/>
        </p:nvPicPr>
        <p:blipFill>
          <a:blip r:embed="rId7"/>
          <a:srcRect/>
          <a:stretch>
            <a:fillRect/>
          </a:stretch>
        </p:blipFill>
        <p:spPr bwMode="auto">
          <a:xfrm>
            <a:off x="5519518" y="249994"/>
            <a:ext cx="710054" cy="785794"/>
          </a:xfrm>
          <a:prstGeom prst="rect">
            <a:avLst/>
          </a:prstGeom>
          <a:noFill/>
        </p:spPr>
      </p:pic>
      <p:sp>
        <p:nvSpPr>
          <p:cNvPr id="11" name="Footer Placeholder 10"/>
          <p:cNvSpPr>
            <a:spLocks noGrp="1"/>
          </p:cNvSpPr>
          <p:nvPr>
            <p:ph type="ftr" sz="quarter" idx="11"/>
          </p:nvPr>
        </p:nvSpPr>
        <p:spPr>
          <a:xfrm>
            <a:off x="304800" y="6410848"/>
            <a:ext cx="6196026" cy="232862"/>
          </a:xfrm>
        </p:spPr>
        <p:txBody>
          <a:bodyPr/>
          <a:lstStyle/>
          <a:p>
            <a:r>
              <a:rPr lang="en-IN" i="1" dirty="0" smtClean="0">
                <a:solidFill>
                  <a:schemeClr val="tx1"/>
                </a:solidFill>
                <a:latin typeface="Arial Rounded MT Bold" pitchFamily="34" charset="0"/>
              </a:rPr>
              <a:t>RIT – QUANT-A-THAN- 2026 (Innovate, Build, Transform)</a:t>
            </a:r>
            <a:endParaRPr lang="en-IN" i="1" dirty="0">
              <a:solidFill>
                <a:schemeClr val="tx1"/>
              </a:solidFill>
              <a:latin typeface="Arial Rounded MT Bold" pitchFamily="34" charset="0"/>
            </a:endParaRPr>
          </a:p>
        </p:txBody>
      </p:sp>
      <p:pic>
        <p:nvPicPr>
          <p:cNvPr id="5" name="Picture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88734" y="285704"/>
            <a:ext cx="866775" cy="714375"/>
          </a:xfrm>
          <a:prstGeom prst="rect">
            <a:avLst/>
          </a:prstGeom>
        </p:spPr>
      </p:pic>
      <p:sp>
        <p:nvSpPr>
          <p:cNvPr id="2054" name="TextBox 2053"/>
          <p:cNvSpPr txBox="1"/>
          <p:nvPr/>
        </p:nvSpPr>
        <p:spPr>
          <a:xfrm>
            <a:off x="457200" y="1133856"/>
            <a:ext cx="8229600" cy="237744"/>
          </a:xfrm>
          <a:prstGeom prst="rect">
            <a:avLst/>
          </a:prstGeom>
          <a:noFill/>
        </p:spPr>
        <p:txBody>
          <a:bodyPr wrap="square" lIns="0" rIns="0" tIns="0" bIns="0" anchor="t">
            <a:spAutoFit/>
          </a:bodyPr>
          <a:lstStyle/>
          <a:p>
            <a:pPr algn="l"/>
            <a:r>
              <a:rPr sz="1050" b="1" i="0" spc="280">
                <a:solidFill>
                  <a:srgbClr val="5B6672"/>
                </a:solidFill>
                <a:latin typeface="Arial"/>
              </a:rPr>
              <a:t>01  ·  </a:t>
            </a:r>
            <a:r>
              <a:rPr sz="1050" b="1" i="0" spc="280">
                <a:solidFill>
                  <a:srgbClr val="0E7490"/>
                </a:solidFill>
                <a:latin typeface="Arial"/>
              </a:rPr>
              <a:t>THE PROBLEM</a:t>
            </a:r>
          </a:p>
        </p:txBody>
      </p:sp>
      <p:sp>
        <p:nvSpPr>
          <p:cNvPr id="2055" name="TextBox 2054"/>
          <p:cNvSpPr txBox="1"/>
          <p:nvPr/>
        </p:nvSpPr>
        <p:spPr>
          <a:xfrm>
            <a:off x="457200" y="1371600"/>
            <a:ext cx="8229600" cy="475488"/>
          </a:xfrm>
          <a:prstGeom prst="rect">
            <a:avLst/>
          </a:prstGeom>
          <a:noFill/>
        </p:spPr>
        <p:txBody>
          <a:bodyPr wrap="square" lIns="0" rIns="0" tIns="0" bIns="0" anchor="t">
            <a:spAutoFit/>
          </a:bodyPr>
          <a:lstStyle/>
          <a:p>
            <a:pPr algn="l"/>
            <a:r>
              <a:rPr sz="2600" b="1" i="0" spc="-20">
                <a:solidFill>
                  <a:srgbClr val="0F172A"/>
                </a:solidFill>
                <a:latin typeface="Arial"/>
              </a:rPr>
              <a:t>95% accurate. Still not trusted.</a:t>
            </a:r>
          </a:p>
        </p:txBody>
      </p:sp>
      <p:sp>
        <p:nvSpPr>
          <p:cNvPr id="2056" name="TextBox 2055"/>
          <p:cNvSpPr txBox="1"/>
          <p:nvPr/>
        </p:nvSpPr>
        <p:spPr>
          <a:xfrm>
            <a:off x="457200" y="1874519"/>
            <a:ext cx="8229600" cy="274320"/>
          </a:xfrm>
          <a:prstGeom prst="rect">
            <a:avLst/>
          </a:prstGeom>
          <a:noFill/>
        </p:spPr>
        <p:txBody>
          <a:bodyPr wrap="square" lIns="0" rIns="0" tIns="0" bIns="0" anchor="t">
            <a:spAutoFit/>
          </a:bodyPr>
          <a:lstStyle/>
          <a:p>
            <a:pPr algn="l"/>
            <a:r>
              <a:rPr sz="1150" b="0" i="1">
                <a:solidFill>
                  <a:srgbClr val="5B6672"/>
                </a:solidFill>
                <a:latin typeface="Arial"/>
              </a:rPr>
              <a:t>Purpose - establish that accuracy was never the bottleneck; epistemic transparency is.</a:t>
            </a:r>
          </a:p>
        </p:txBody>
      </p:sp>
      <p:sp>
        <p:nvSpPr>
          <p:cNvPr id="2057" name="Rounded Rectangle 2056"/>
          <p:cNvSpPr/>
          <p:nvPr/>
        </p:nvSpPr>
        <p:spPr>
          <a:xfrm>
            <a:off x="457200" y="2331720"/>
            <a:ext cx="3703320" cy="896112"/>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58" name="TextBox 2057"/>
          <p:cNvSpPr txBox="1"/>
          <p:nvPr/>
        </p:nvSpPr>
        <p:spPr>
          <a:xfrm>
            <a:off x="658368" y="2487168"/>
            <a:ext cx="1234440" cy="566928"/>
          </a:xfrm>
          <a:prstGeom prst="rect">
            <a:avLst/>
          </a:prstGeom>
          <a:noFill/>
        </p:spPr>
        <p:txBody>
          <a:bodyPr wrap="square" lIns="0" rIns="0" tIns="0" bIns="0" anchor="ctr">
            <a:spAutoFit/>
          </a:bodyPr>
          <a:lstStyle/>
          <a:p>
            <a:pPr algn="l"/>
            <a:r>
              <a:rPr sz="2500" b="1" i="0">
                <a:solidFill>
                  <a:srgbClr val="0E7490"/>
                </a:solidFill>
                <a:latin typeface="Arial"/>
              </a:rPr>
              <a:t>950+</a:t>
            </a:r>
          </a:p>
        </p:txBody>
      </p:sp>
      <p:sp>
        <p:nvSpPr>
          <p:cNvPr id="2059" name="TextBox 2058"/>
          <p:cNvSpPr txBox="1"/>
          <p:nvPr/>
        </p:nvSpPr>
        <p:spPr>
          <a:xfrm>
            <a:off x="1956816" y="2459736"/>
            <a:ext cx="2084831" cy="658368"/>
          </a:xfrm>
          <a:prstGeom prst="rect">
            <a:avLst/>
          </a:prstGeom>
          <a:noFill/>
        </p:spPr>
        <p:txBody>
          <a:bodyPr wrap="square" lIns="0" rIns="0" tIns="0" bIns="0" anchor="ctr">
            <a:spAutoFit/>
          </a:bodyPr>
          <a:lstStyle/>
          <a:p>
            <a:pPr algn="l">
              <a:lnSpc>
                <a:spcPct val="105000"/>
              </a:lnSpc>
            </a:pPr>
            <a:r>
              <a:rPr sz="950" b="0" i="0">
                <a:solidFill>
                  <a:srgbClr val="5B6672"/>
                </a:solidFill>
                <a:latin typeface="Arial"/>
              </a:rPr>
              <a:t>FDA-cleared AI medical devices - over 75% in radiology (2025)</a:t>
            </a:r>
          </a:p>
        </p:txBody>
      </p:sp>
      <p:sp>
        <p:nvSpPr>
          <p:cNvPr id="2060" name="Rounded Rectangle 2059"/>
          <p:cNvSpPr/>
          <p:nvPr/>
        </p:nvSpPr>
        <p:spPr>
          <a:xfrm>
            <a:off x="457200" y="3374135"/>
            <a:ext cx="3703320" cy="896112"/>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61" name="TextBox 2060"/>
          <p:cNvSpPr txBox="1"/>
          <p:nvPr/>
        </p:nvSpPr>
        <p:spPr>
          <a:xfrm>
            <a:off x="658368" y="3529583"/>
            <a:ext cx="1234440" cy="566928"/>
          </a:xfrm>
          <a:prstGeom prst="rect">
            <a:avLst/>
          </a:prstGeom>
          <a:noFill/>
        </p:spPr>
        <p:txBody>
          <a:bodyPr wrap="square" lIns="0" rIns="0" tIns="0" bIns="0" anchor="ctr">
            <a:spAutoFit/>
          </a:bodyPr>
          <a:lstStyle/>
          <a:p>
            <a:pPr algn="l"/>
            <a:r>
              <a:rPr sz="2500" b="1" i="0">
                <a:solidFill>
                  <a:srgbClr val="0E7490"/>
                </a:solidFill>
                <a:latin typeface="Arial"/>
              </a:rPr>
              <a:t>1 : 100k</a:t>
            </a:r>
          </a:p>
        </p:txBody>
      </p:sp>
      <p:sp>
        <p:nvSpPr>
          <p:cNvPr id="2062" name="TextBox 2061"/>
          <p:cNvSpPr txBox="1"/>
          <p:nvPr/>
        </p:nvSpPr>
        <p:spPr>
          <a:xfrm>
            <a:off x="1956816" y="3502151"/>
            <a:ext cx="2084831" cy="658368"/>
          </a:xfrm>
          <a:prstGeom prst="rect">
            <a:avLst/>
          </a:prstGeom>
          <a:noFill/>
        </p:spPr>
        <p:txBody>
          <a:bodyPr wrap="square" lIns="0" rIns="0" tIns="0" bIns="0" anchor="ctr">
            <a:spAutoFit/>
          </a:bodyPr>
          <a:lstStyle/>
          <a:p>
            <a:pPr algn="l">
              <a:lnSpc>
                <a:spcPct val="105000"/>
              </a:lnSpc>
            </a:pPr>
            <a:r>
              <a:rPr sz="950" b="0" i="0">
                <a:solidFill>
                  <a:srgbClr val="5B6672"/>
                </a:solidFill>
                <a:latin typeface="Arial"/>
              </a:rPr>
              <a:t>radiologist-to-population ratio in India, vs ~1 : 10k in the US</a:t>
            </a:r>
          </a:p>
        </p:txBody>
      </p:sp>
      <p:sp>
        <p:nvSpPr>
          <p:cNvPr id="2063" name="Rounded Rectangle 2062"/>
          <p:cNvSpPr/>
          <p:nvPr/>
        </p:nvSpPr>
        <p:spPr>
          <a:xfrm>
            <a:off x="457200" y="4416551"/>
            <a:ext cx="3703320" cy="896112"/>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64" name="TextBox 2063"/>
          <p:cNvSpPr txBox="1"/>
          <p:nvPr/>
        </p:nvSpPr>
        <p:spPr>
          <a:xfrm>
            <a:off x="658368" y="4571999"/>
            <a:ext cx="1234440" cy="566928"/>
          </a:xfrm>
          <a:prstGeom prst="rect">
            <a:avLst/>
          </a:prstGeom>
          <a:noFill/>
        </p:spPr>
        <p:txBody>
          <a:bodyPr wrap="square" lIns="0" rIns="0" tIns="0" bIns="0" anchor="ctr">
            <a:spAutoFit/>
          </a:bodyPr>
          <a:lstStyle/>
          <a:p>
            <a:pPr algn="l"/>
            <a:r>
              <a:rPr sz="2500" b="1" i="0">
                <a:solidFill>
                  <a:srgbClr val="0E7490"/>
                </a:solidFill>
                <a:latin typeface="Arial"/>
              </a:rPr>
              <a:t>0</a:t>
            </a:r>
          </a:p>
        </p:txBody>
      </p:sp>
      <p:sp>
        <p:nvSpPr>
          <p:cNvPr id="2065" name="TextBox 2064"/>
          <p:cNvSpPr txBox="1"/>
          <p:nvPr/>
        </p:nvSpPr>
        <p:spPr>
          <a:xfrm>
            <a:off x="1956816" y="4544567"/>
            <a:ext cx="2084831" cy="658368"/>
          </a:xfrm>
          <a:prstGeom prst="rect">
            <a:avLst/>
          </a:prstGeom>
          <a:noFill/>
        </p:spPr>
        <p:txBody>
          <a:bodyPr wrap="square" lIns="0" rIns="0" tIns="0" bIns="0" anchor="ctr">
            <a:spAutoFit/>
          </a:bodyPr>
          <a:lstStyle/>
          <a:p>
            <a:pPr algn="l">
              <a:lnSpc>
                <a:spcPct val="105000"/>
              </a:lnSpc>
            </a:pPr>
            <a:r>
              <a:rPr sz="950" b="0" i="0">
                <a:solidFill>
                  <a:srgbClr val="5B6672"/>
                </a:solidFill>
                <a:latin typeface="Arial"/>
              </a:rPr>
              <a:t>of today's deployed classifiers report when their own output should not be trusted</a:t>
            </a:r>
          </a:p>
        </p:txBody>
      </p:sp>
      <p:sp>
        <p:nvSpPr>
          <p:cNvPr id="2066" name="Rounded Rectangle 2065"/>
          <p:cNvSpPr/>
          <p:nvPr/>
        </p:nvSpPr>
        <p:spPr>
          <a:xfrm>
            <a:off x="4526280" y="2331720"/>
            <a:ext cx="4160520" cy="2432304"/>
          </a:xfrm>
          <a:prstGeom prst="roundRect">
            <a:avLst>
              <a:gd name="adj" fmla="val 10000"/>
            </a:avLst>
          </a:prstGeom>
          <a:solidFill>
            <a:srgbClr val="ECF8F7"/>
          </a:solidFill>
          <a:ln w="9525">
            <a:solidFill>
              <a:srgbClr val="C6E4E1"/>
            </a:solidFill>
          </a:ln>
          <a:effectLst/>
        </p:spPr>
        <p:txBody>
          <a:bodyPr rtlCol="0" anchor="ctr"/>
          <a:lstStyle/>
          <a:p>
            <a:pPr algn="ctr"/>
          </a:p>
        </p:txBody>
      </p:sp>
      <p:sp>
        <p:nvSpPr>
          <p:cNvPr id="2067" name="TextBox 2066"/>
          <p:cNvSpPr txBox="1"/>
          <p:nvPr/>
        </p:nvSpPr>
        <p:spPr>
          <a:xfrm>
            <a:off x="4800600" y="2487168"/>
            <a:ext cx="3657600" cy="237744"/>
          </a:xfrm>
          <a:prstGeom prst="rect">
            <a:avLst/>
          </a:prstGeom>
          <a:noFill/>
        </p:spPr>
        <p:txBody>
          <a:bodyPr wrap="square" lIns="0" rIns="0" tIns="0" bIns="0" anchor="t">
            <a:spAutoFit/>
          </a:bodyPr>
          <a:lstStyle/>
          <a:p>
            <a:pPr algn="l"/>
            <a:r>
              <a:rPr sz="950" b="1" i="0" spc="240">
                <a:solidFill>
                  <a:srgbClr val="0E7490"/>
                </a:solidFill>
                <a:latin typeface="Arial"/>
              </a:rPr>
              <a:t>WHAT A CLINICIAN ACTUALLY ASKS</a:t>
            </a:r>
          </a:p>
        </p:txBody>
      </p:sp>
      <p:sp>
        <p:nvSpPr>
          <p:cNvPr id="2068" name="Oval 2067"/>
          <p:cNvSpPr/>
          <p:nvPr/>
        </p:nvSpPr>
        <p:spPr>
          <a:xfrm>
            <a:off x="4832604" y="2816352"/>
            <a:ext cx="246888" cy="246888"/>
          </a:xfrm>
          <a:prstGeom prst="ellipse">
            <a:avLst/>
          </a:prstGeom>
          <a:solidFill>
            <a:srgbClr val="FFFFFF"/>
          </a:solidFill>
          <a:ln w="12700">
            <a:solidFill>
              <a:srgbClr val="0D9488"/>
            </a:solidFill>
          </a:ln>
          <a:effectLst/>
        </p:spPr>
        <p:txBody>
          <a:bodyPr rtlCol="0" anchor="ctr" lIns="0" rIns="0" tIns="0" bIns="0"/>
          <a:lstStyle/>
          <a:p>
            <a:pPr algn="ctr"/>
            <a:r>
              <a:rPr sz="1000" b="1">
                <a:solidFill>
                  <a:srgbClr val="0E7490"/>
                </a:solidFill>
                <a:latin typeface="Arial"/>
              </a:rPr>
              <a:t>?</a:t>
            </a:r>
          </a:p>
        </p:txBody>
      </p:sp>
      <p:sp>
        <p:nvSpPr>
          <p:cNvPr id="2069" name="TextBox 2068"/>
          <p:cNvSpPr txBox="1"/>
          <p:nvPr/>
        </p:nvSpPr>
        <p:spPr>
          <a:xfrm>
            <a:off x="5193792" y="2816352"/>
            <a:ext cx="3383280" cy="256032"/>
          </a:xfrm>
          <a:prstGeom prst="rect">
            <a:avLst/>
          </a:prstGeom>
          <a:noFill/>
        </p:spPr>
        <p:txBody>
          <a:bodyPr wrap="square" lIns="0" rIns="0" tIns="0" bIns="0" anchor="ctr">
            <a:spAutoFit/>
          </a:bodyPr>
          <a:lstStyle/>
          <a:p>
            <a:pPr algn="l"/>
            <a:r>
              <a:rPr sz="1150" b="0" i="0">
                <a:solidFill>
                  <a:srgbClr val="0F172A"/>
                </a:solidFill>
                <a:latin typeface="Arial"/>
              </a:rPr>
              <a:t>Why this diagnosis?</a:t>
            </a:r>
          </a:p>
        </p:txBody>
      </p:sp>
      <p:sp>
        <p:nvSpPr>
          <p:cNvPr id="2070" name="Oval 2069"/>
          <p:cNvSpPr/>
          <p:nvPr/>
        </p:nvSpPr>
        <p:spPr>
          <a:xfrm>
            <a:off x="4832604" y="3273552"/>
            <a:ext cx="246888" cy="246888"/>
          </a:xfrm>
          <a:prstGeom prst="ellipse">
            <a:avLst/>
          </a:prstGeom>
          <a:solidFill>
            <a:srgbClr val="FFFFFF"/>
          </a:solidFill>
          <a:ln w="12700">
            <a:solidFill>
              <a:srgbClr val="0D9488"/>
            </a:solidFill>
          </a:ln>
          <a:effectLst/>
        </p:spPr>
        <p:txBody>
          <a:bodyPr rtlCol="0" anchor="ctr" lIns="0" rIns="0" tIns="0" bIns="0"/>
          <a:lstStyle/>
          <a:p>
            <a:pPr algn="ctr"/>
            <a:r>
              <a:rPr sz="1000" b="1">
                <a:solidFill>
                  <a:srgbClr val="0E7490"/>
                </a:solidFill>
                <a:latin typeface="Arial"/>
              </a:rPr>
              <a:t>?</a:t>
            </a:r>
          </a:p>
        </p:txBody>
      </p:sp>
      <p:sp>
        <p:nvSpPr>
          <p:cNvPr id="2071" name="TextBox 2070"/>
          <p:cNvSpPr txBox="1"/>
          <p:nvPr/>
        </p:nvSpPr>
        <p:spPr>
          <a:xfrm>
            <a:off x="5193792" y="3273552"/>
            <a:ext cx="3383280" cy="256032"/>
          </a:xfrm>
          <a:prstGeom prst="rect">
            <a:avLst/>
          </a:prstGeom>
          <a:noFill/>
        </p:spPr>
        <p:txBody>
          <a:bodyPr wrap="square" lIns="0" rIns="0" tIns="0" bIns="0" anchor="ctr">
            <a:spAutoFit/>
          </a:bodyPr>
          <a:lstStyle/>
          <a:p>
            <a:pPr algn="l"/>
            <a:r>
              <a:rPr sz="1150" b="0" i="0">
                <a:solidFill>
                  <a:srgbClr val="0F172A"/>
                </a:solidFill>
                <a:latin typeface="Arial"/>
              </a:rPr>
              <a:t>How certain - and which kind of uncertain?</a:t>
            </a:r>
          </a:p>
        </p:txBody>
      </p:sp>
      <p:sp>
        <p:nvSpPr>
          <p:cNvPr id="2072" name="Oval 2071"/>
          <p:cNvSpPr/>
          <p:nvPr/>
        </p:nvSpPr>
        <p:spPr>
          <a:xfrm>
            <a:off x="4832604" y="3730752"/>
            <a:ext cx="246888" cy="246888"/>
          </a:xfrm>
          <a:prstGeom prst="ellipse">
            <a:avLst/>
          </a:prstGeom>
          <a:solidFill>
            <a:srgbClr val="FFFFFF"/>
          </a:solidFill>
          <a:ln w="12700">
            <a:solidFill>
              <a:srgbClr val="0D9488"/>
            </a:solidFill>
          </a:ln>
          <a:effectLst/>
        </p:spPr>
        <p:txBody>
          <a:bodyPr rtlCol="0" anchor="ctr" lIns="0" rIns="0" tIns="0" bIns="0"/>
          <a:lstStyle/>
          <a:p>
            <a:pPr algn="ctr"/>
            <a:r>
              <a:rPr sz="1000" b="1">
                <a:solidFill>
                  <a:srgbClr val="0E7490"/>
                </a:solidFill>
                <a:latin typeface="Arial"/>
              </a:rPr>
              <a:t>?</a:t>
            </a:r>
          </a:p>
        </p:txBody>
      </p:sp>
      <p:sp>
        <p:nvSpPr>
          <p:cNvPr id="2073" name="TextBox 2072"/>
          <p:cNvSpPr txBox="1"/>
          <p:nvPr/>
        </p:nvSpPr>
        <p:spPr>
          <a:xfrm>
            <a:off x="5193792" y="3730752"/>
            <a:ext cx="3383280" cy="256032"/>
          </a:xfrm>
          <a:prstGeom prst="rect">
            <a:avLst/>
          </a:prstGeom>
          <a:noFill/>
        </p:spPr>
        <p:txBody>
          <a:bodyPr wrap="square" lIns="0" rIns="0" tIns="0" bIns="0" anchor="ctr">
            <a:spAutoFit/>
          </a:bodyPr>
          <a:lstStyle/>
          <a:p>
            <a:pPr algn="l"/>
            <a:r>
              <a:rPr sz="1150" b="0" i="0">
                <a:solidFill>
                  <a:srgbClr val="0F172A"/>
                </a:solidFill>
                <a:latin typeface="Arial"/>
              </a:rPr>
              <a:t>What evidence would change your mind?</a:t>
            </a:r>
          </a:p>
        </p:txBody>
      </p:sp>
      <p:sp>
        <p:nvSpPr>
          <p:cNvPr id="2074" name="Oval 2073"/>
          <p:cNvSpPr/>
          <p:nvPr/>
        </p:nvSpPr>
        <p:spPr>
          <a:xfrm>
            <a:off x="4832604" y="4187952"/>
            <a:ext cx="246888" cy="246888"/>
          </a:xfrm>
          <a:prstGeom prst="ellipse">
            <a:avLst/>
          </a:prstGeom>
          <a:solidFill>
            <a:srgbClr val="FFFFFF"/>
          </a:solidFill>
          <a:ln w="12700">
            <a:solidFill>
              <a:srgbClr val="0D9488"/>
            </a:solidFill>
          </a:ln>
          <a:effectLst/>
        </p:spPr>
        <p:txBody>
          <a:bodyPr rtlCol="0" anchor="ctr" lIns="0" rIns="0" tIns="0" bIns="0"/>
          <a:lstStyle/>
          <a:p>
            <a:pPr algn="ctr"/>
            <a:r>
              <a:rPr sz="1000" b="1">
                <a:solidFill>
                  <a:srgbClr val="0E7490"/>
                </a:solidFill>
                <a:latin typeface="Arial"/>
              </a:rPr>
              <a:t>?</a:t>
            </a:r>
          </a:p>
        </p:txBody>
      </p:sp>
      <p:sp>
        <p:nvSpPr>
          <p:cNvPr id="2075" name="TextBox 2074"/>
          <p:cNvSpPr txBox="1"/>
          <p:nvPr/>
        </p:nvSpPr>
        <p:spPr>
          <a:xfrm>
            <a:off x="5193792" y="4187952"/>
            <a:ext cx="3383280" cy="256032"/>
          </a:xfrm>
          <a:prstGeom prst="rect">
            <a:avLst/>
          </a:prstGeom>
          <a:noFill/>
        </p:spPr>
        <p:txBody>
          <a:bodyPr wrap="square" lIns="0" rIns="0" tIns="0" bIns="0" anchor="ctr">
            <a:spAutoFit/>
          </a:bodyPr>
          <a:lstStyle/>
          <a:p>
            <a:pPr algn="l"/>
            <a:r>
              <a:rPr sz="1150" b="0" i="0">
                <a:solidFill>
                  <a:srgbClr val="0F172A"/>
                </a:solidFill>
                <a:latin typeface="Arial"/>
              </a:rPr>
              <a:t>What should we do next?</a:t>
            </a:r>
          </a:p>
        </p:txBody>
      </p:sp>
      <p:sp>
        <p:nvSpPr>
          <p:cNvPr id="2076" name="Rounded Rectangle 2075"/>
          <p:cNvSpPr/>
          <p:nvPr/>
        </p:nvSpPr>
        <p:spPr>
          <a:xfrm>
            <a:off x="4526280" y="4919472"/>
            <a:ext cx="4160520" cy="475488"/>
          </a:xfrm>
          <a:prstGeom prst="roundRect">
            <a:avLst>
              <a:gd name="adj" fmla="val 10000"/>
            </a:avLst>
          </a:prstGeom>
          <a:noFill/>
          <a:ln w="12700">
            <a:solidFill>
              <a:srgbClr val="C05B52"/>
            </a:solidFill>
            <a:prstDash val="dash"/>
          </a:ln>
          <a:effectLst/>
        </p:spPr>
        <p:txBody>
          <a:bodyPr rtlCol="0" anchor="ctr"/>
          <a:lstStyle/>
          <a:p>
            <a:pPr algn="ctr"/>
          </a:p>
        </p:txBody>
      </p:sp>
      <p:sp>
        <p:nvSpPr>
          <p:cNvPr id="2077" name="TextBox 2076"/>
          <p:cNvSpPr txBox="1"/>
          <p:nvPr/>
        </p:nvSpPr>
        <p:spPr>
          <a:xfrm>
            <a:off x="4709160" y="5001768"/>
            <a:ext cx="3794760" cy="310896"/>
          </a:xfrm>
          <a:prstGeom prst="rect">
            <a:avLst/>
          </a:prstGeom>
          <a:noFill/>
        </p:spPr>
        <p:txBody>
          <a:bodyPr wrap="square" lIns="0" rIns="0" tIns="0" bIns="0" anchor="t">
            <a:spAutoFit/>
          </a:bodyPr>
          <a:lstStyle/>
          <a:p>
            <a:pPr algn="l"/>
            <a:r>
              <a:rPr sz="1100" b="1" i="0">
                <a:solidFill>
                  <a:srgbClr val="C05B52"/>
                </a:solidFill>
                <a:latin typeface="Arial"/>
              </a:rPr>
              <a:t>A probability answers none of these.  </a:t>
            </a:r>
            <a:r>
              <a:rPr sz="1100" b="0" i="1">
                <a:solidFill>
                  <a:srgbClr val="0F172A"/>
                </a:solidFill>
                <a:latin typeface="Arial"/>
              </a:rPr>
              <a:t>This is the trust gap.</a:t>
            </a:r>
          </a:p>
        </p:txBody>
      </p:sp>
      <p:sp>
        <p:nvSpPr>
          <p:cNvPr id="2078" name="TextBox 2077"/>
          <p:cNvSpPr txBox="1"/>
          <p:nvPr/>
        </p:nvSpPr>
        <p:spPr>
          <a:xfrm>
            <a:off x="457200" y="5541264"/>
            <a:ext cx="8229600" cy="219456"/>
          </a:xfrm>
          <a:prstGeom prst="rect">
            <a:avLst/>
          </a:prstGeom>
          <a:noFill/>
        </p:spPr>
        <p:txBody>
          <a:bodyPr wrap="square" lIns="0" rIns="0" tIns="0" bIns="0" anchor="t">
            <a:spAutoFit/>
          </a:bodyPr>
          <a:lstStyle/>
          <a:p>
            <a:pPr algn="l"/>
            <a:r>
              <a:rPr sz="800" b="0" i="1">
                <a:solidFill>
                  <a:srgbClr val="5B6672"/>
                </a:solidFill>
                <a:latin typeface="Arial"/>
              </a:rPr>
              <a:t>Rajpurkar et al., arXiv:1711.05225 (2017)  ·  Zech et al., PLOS Medicine 15(11) (2018)  ·  US FDA, AI-Enabled Medical Device List (2025)</a:t>
            </a:r>
          </a:p>
        </p:txBody>
      </p:sp>
    </p:spTree>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l="-24000" r="-24000"/>
          </a:stretch>
        </a:blipFill>
        <a:effectLst/>
      </p:bgPr>
    </p:bg>
    <p:spTree>
      <p:nvGrpSpPr>
        <p:cNvPr id="1" name=""/>
        <p:cNvGrpSpPr/>
        <p:nvPr/>
      </p:nvGrpSpPr>
      <p:grpSpPr>
        <a:xfrm>
          <a:off x="0" y="0"/>
          <a:ext cx="0" cy="0"/>
          <a:chOff x="0" y="0"/>
          <a:chExt cx="0" cy="0"/>
        </a:xfrm>
      </p:grpSpPr>
      <p:pic>
        <p:nvPicPr>
          <p:cNvPr id="2" name="Picture 3" descr="C:\Users\Admin\Downloads\1764679326535-Photoroom.png"/>
          <p:cNvPicPr>
            <a:picLocks noChangeAspect="1" noChangeArrowheads="1"/>
          </p:cNvPicPr>
          <p:nvPr/>
        </p:nvPicPr>
        <p:blipFill>
          <a:blip r:embed="rId4"/>
          <a:srcRect/>
          <a:stretch>
            <a:fillRect/>
          </a:stretch>
        </p:blipFill>
        <p:spPr bwMode="auto">
          <a:xfrm>
            <a:off x="4108831" y="35671"/>
            <a:ext cx="1285884" cy="1285884"/>
          </a:xfrm>
          <a:prstGeom prst="rect">
            <a:avLst/>
          </a:prstGeom>
          <a:noFill/>
        </p:spPr>
      </p:pic>
      <p:pic>
        <p:nvPicPr>
          <p:cNvPr id="2050" name="Picture 2" descr="C:\Users\Admin\Downloads\RIT.png"/>
          <p:cNvPicPr>
            <a:picLocks noChangeAspect="1" noChangeArrowheads="1"/>
          </p:cNvPicPr>
          <p:nvPr/>
        </p:nvPicPr>
        <p:blipFill>
          <a:blip r:embed="rId5" cstate="print"/>
          <a:srcRect/>
          <a:stretch>
            <a:fillRect/>
          </a:stretch>
        </p:blipFill>
        <p:spPr bwMode="auto">
          <a:xfrm>
            <a:off x="252062" y="285704"/>
            <a:ext cx="3043364" cy="785818"/>
          </a:xfrm>
          <a:prstGeom prst="rect">
            <a:avLst/>
          </a:prstGeom>
          <a:noFill/>
        </p:spPr>
      </p:pic>
      <p:pic>
        <p:nvPicPr>
          <p:cNvPr id="2051" name="Picture 3" descr="C:\Users\Admin\Downloads\IBM_logo.svg.png"/>
          <p:cNvPicPr>
            <a:picLocks noChangeAspect="1" noChangeArrowheads="1"/>
          </p:cNvPicPr>
          <p:nvPr/>
        </p:nvPicPr>
        <p:blipFill>
          <a:blip r:embed="rId6"/>
          <a:srcRect/>
          <a:stretch>
            <a:fillRect/>
          </a:stretch>
        </p:blipFill>
        <p:spPr bwMode="auto">
          <a:xfrm>
            <a:off x="7380312" y="357139"/>
            <a:ext cx="1528257" cy="571504"/>
          </a:xfrm>
          <a:prstGeom prst="rect">
            <a:avLst/>
          </a:prstGeom>
          <a:noFill/>
        </p:spPr>
      </p:pic>
      <p:pic>
        <p:nvPicPr>
          <p:cNvPr id="2053" name="Picture 5" descr="C:\Users\Admin\Downloads\logo-nqm.png"/>
          <p:cNvPicPr>
            <a:picLocks noChangeAspect="1" noChangeArrowheads="1"/>
          </p:cNvPicPr>
          <p:nvPr/>
        </p:nvPicPr>
        <p:blipFill>
          <a:blip r:embed="rId7"/>
          <a:srcRect/>
          <a:stretch>
            <a:fillRect/>
          </a:stretch>
        </p:blipFill>
        <p:spPr bwMode="auto">
          <a:xfrm>
            <a:off x="5519518" y="249994"/>
            <a:ext cx="710054" cy="785794"/>
          </a:xfrm>
          <a:prstGeom prst="rect">
            <a:avLst/>
          </a:prstGeom>
          <a:noFill/>
        </p:spPr>
      </p:pic>
      <p:sp>
        <p:nvSpPr>
          <p:cNvPr id="11" name="Footer Placeholder 10"/>
          <p:cNvSpPr>
            <a:spLocks noGrp="1"/>
          </p:cNvSpPr>
          <p:nvPr>
            <p:ph type="ftr" sz="quarter" idx="11"/>
          </p:nvPr>
        </p:nvSpPr>
        <p:spPr>
          <a:xfrm>
            <a:off x="304800" y="6410848"/>
            <a:ext cx="6196026" cy="232862"/>
          </a:xfrm>
        </p:spPr>
        <p:txBody>
          <a:bodyPr/>
          <a:lstStyle/>
          <a:p>
            <a:r>
              <a:rPr lang="en-IN" i="1" dirty="0" smtClean="0">
                <a:solidFill>
                  <a:schemeClr val="tx1"/>
                </a:solidFill>
                <a:latin typeface="Arial Rounded MT Bold" pitchFamily="34" charset="0"/>
              </a:rPr>
              <a:t>RIT – QUANT-A-THAN- 2026 (Innovate, Build, Transform)</a:t>
            </a:r>
            <a:endParaRPr lang="en-IN" i="1" dirty="0">
              <a:solidFill>
                <a:schemeClr val="tx1"/>
              </a:solidFill>
              <a:latin typeface="Arial Rounded MT Bold" pitchFamily="34" charset="0"/>
            </a:endParaRPr>
          </a:p>
        </p:txBody>
      </p:sp>
      <p:pic>
        <p:nvPicPr>
          <p:cNvPr id="5" name="Picture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88734" y="285704"/>
            <a:ext cx="866775" cy="714375"/>
          </a:xfrm>
          <a:prstGeom prst="rect">
            <a:avLst/>
          </a:prstGeom>
        </p:spPr>
      </p:pic>
      <p:sp>
        <p:nvSpPr>
          <p:cNvPr id="2054" name="TextBox 2053"/>
          <p:cNvSpPr txBox="1"/>
          <p:nvPr/>
        </p:nvSpPr>
        <p:spPr>
          <a:xfrm>
            <a:off x="457200" y="1133856"/>
            <a:ext cx="8229600" cy="237744"/>
          </a:xfrm>
          <a:prstGeom prst="rect">
            <a:avLst/>
          </a:prstGeom>
          <a:noFill/>
        </p:spPr>
        <p:txBody>
          <a:bodyPr wrap="square" lIns="0" rIns="0" tIns="0" bIns="0" anchor="t">
            <a:spAutoFit/>
          </a:bodyPr>
          <a:lstStyle/>
          <a:p>
            <a:pPr algn="l"/>
            <a:r>
              <a:rPr sz="1050" b="1" i="0" spc="280">
                <a:solidFill>
                  <a:srgbClr val="5B6672"/>
                </a:solidFill>
                <a:latin typeface="Arial"/>
              </a:rPr>
              <a:t>02  ·  </a:t>
            </a:r>
            <a:r>
              <a:rPr sz="1050" b="1" i="0" spc="280">
                <a:solidFill>
                  <a:srgbClr val="0E7490"/>
                </a:solidFill>
                <a:latin typeface="Arial"/>
              </a:rPr>
              <a:t>STATUS QUO</a:t>
            </a:r>
          </a:p>
        </p:txBody>
      </p:sp>
      <p:sp>
        <p:nvSpPr>
          <p:cNvPr id="2055" name="TextBox 2054"/>
          <p:cNvSpPr txBox="1"/>
          <p:nvPr/>
        </p:nvSpPr>
        <p:spPr>
          <a:xfrm>
            <a:off x="457200" y="1371600"/>
            <a:ext cx="8229600" cy="475488"/>
          </a:xfrm>
          <a:prstGeom prst="rect">
            <a:avLst/>
          </a:prstGeom>
          <a:noFill/>
        </p:spPr>
        <p:txBody>
          <a:bodyPr wrap="square" lIns="0" rIns="0" tIns="0" bIns="0" anchor="t">
            <a:spAutoFit/>
          </a:bodyPr>
          <a:lstStyle/>
          <a:p>
            <a:pPr algn="l"/>
            <a:r>
              <a:rPr sz="2600" b="1" i="0" spc="-20">
                <a:solidFill>
                  <a:srgbClr val="0F172A"/>
                </a:solidFill>
                <a:latin typeface="Arial"/>
              </a:rPr>
              <a:t>Today's pipeline ends where reasoning should begin</a:t>
            </a:r>
          </a:p>
        </p:txBody>
      </p:sp>
      <p:sp>
        <p:nvSpPr>
          <p:cNvPr id="2056" name="TextBox 2055"/>
          <p:cNvSpPr txBox="1"/>
          <p:nvPr/>
        </p:nvSpPr>
        <p:spPr>
          <a:xfrm>
            <a:off x="457200" y="1874519"/>
            <a:ext cx="8229600" cy="274320"/>
          </a:xfrm>
          <a:prstGeom prst="rect">
            <a:avLst/>
          </a:prstGeom>
          <a:noFill/>
        </p:spPr>
        <p:txBody>
          <a:bodyPr wrap="square" lIns="0" rIns="0" tIns="0" bIns="0" anchor="t">
            <a:spAutoFit/>
          </a:bodyPr>
          <a:lstStyle/>
          <a:p>
            <a:pPr algn="l"/>
            <a:r>
              <a:rPr sz="1150" b="0" i="1">
                <a:solidFill>
                  <a:srgbClr val="5B6672"/>
                </a:solidFill>
                <a:latin typeface="Arial"/>
              </a:rPr>
              <a:t>Purpose - locate precisely which cognitive steps current medical AI amputates.</a:t>
            </a:r>
          </a:p>
        </p:txBody>
      </p:sp>
      <p:sp>
        <p:nvSpPr>
          <p:cNvPr id="2057" name="Rounded Rectangle 2056"/>
          <p:cNvSpPr/>
          <p:nvPr/>
        </p:nvSpPr>
        <p:spPr>
          <a:xfrm>
            <a:off x="502920" y="2514600"/>
            <a:ext cx="1783080" cy="868680"/>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58" name="TextBox 2057"/>
          <p:cNvSpPr txBox="1"/>
          <p:nvPr/>
        </p:nvSpPr>
        <p:spPr>
          <a:xfrm>
            <a:off x="502920" y="2679192"/>
            <a:ext cx="1783080" cy="274320"/>
          </a:xfrm>
          <a:prstGeom prst="rect">
            <a:avLst/>
          </a:prstGeom>
          <a:noFill/>
        </p:spPr>
        <p:txBody>
          <a:bodyPr wrap="square" lIns="0" rIns="0" tIns="0" bIns="0" anchor="t">
            <a:spAutoFit/>
          </a:bodyPr>
          <a:lstStyle/>
          <a:p>
            <a:pPr algn="ctr"/>
            <a:r>
              <a:rPr sz="1400" b="1" i="0">
                <a:solidFill>
                  <a:srgbClr val="0F172A"/>
                </a:solidFill>
                <a:latin typeface="Arial"/>
              </a:rPr>
              <a:t>IMAGE</a:t>
            </a:r>
          </a:p>
        </p:txBody>
      </p:sp>
      <p:sp>
        <p:nvSpPr>
          <p:cNvPr id="2059" name="TextBox 2058"/>
          <p:cNvSpPr txBox="1"/>
          <p:nvPr/>
        </p:nvSpPr>
        <p:spPr>
          <a:xfrm>
            <a:off x="502920" y="2990088"/>
            <a:ext cx="1783080" cy="237744"/>
          </a:xfrm>
          <a:prstGeom prst="rect">
            <a:avLst/>
          </a:prstGeom>
          <a:noFill/>
        </p:spPr>
        <p:txBody>
          <a:bodyPr wrap="square" lIns="0" rIns="0" tIns="0" bIns="0" anchor="t">
            <a:spAutoFit/>
          </a:bodyPr>
          <a:lstStyle/>
          <a:p>
            <a:pPr algn="ctr"/>
            <a:r>
              <a:rPr sz="900" b="0" i="0">
                <a:solidFill>
                  <a:srgbClr val="5B6672"/>
                </a:solidFill>
                <a:latin typeface="Arial"/>
              </a:rPr>
              <a:t>chest X-ray, DICOM</a:t>
            </a:r>
          </a:p>
        </p:txBody>
      </p:sp>
      <p:cxnSp>
        <p:nvCxnSpPr>
          <p:cNvPr id="2060" name="Connector 2059"/>
          <p:cNvCxnSpPr/>
          <p:nvPr/>
        </p:nvCxnSpPr>
        <p:spPr>
          <a:xfrm>
            <a:off x="2322576" y="2948940"/>
            <a:ext cx="265176" cy="0"/>
          </a:xfrm>
          <a:prstGeom prst="line">
            <a:avLst/>
          </a:prstGeom>
          <a:ln w="17780">
            <a:solidFill>
              <a:srgbClr val="0D9488"/>
            </a:solidFill>
            <a:tailEnd type="triangle" w="med" len="med"/>
          </a:ln>
          <a:effectLst/>
        </p:spPr>
      </p:cxnSp>
      <p:sp>
        <p:nvSpPr>
          <p:cNvPr id="2061" name="Rounded Rectangle 2060"/>
          <p:cNvSpPr/>
          <p:nvPr/>
        </p:nvSpPr>
        <p:spPr>
          <a:xfrm>
            <a:off x="2624328" y="2514600"/>
            <a:ext cx="1783080" cy="868680"/>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62" name="TextBox 2061"/>
          <p:cNvSpPr txBox="1"/>
          <p:nvPr/>
        </p:nvSpPr>
        <p:spPr>
          <a:xfrm>
            <a:off x="2624328" y="2679192"/>
            <a:ext cx="1783080" cy="274320"/>
          </a:xfrm>
          <a:prstGeom prst="rect">
            <a:avLst/>
          </a:prstGeom>
          <a:noFill/>
        </p:spPr>
        <p:txBody>
          <a:bodyPr wrap="square" lIns="0" rIns="0" tIns="0" bIns="0" anchor="t">
            <a:spAutoFit/>
          </a:bodyPr>
          <a:lstStyle/>
          <a:p>
            <a:pPr algn="ctr"/>
            <a:r>
              <a:rPr sz="1400" b="1" i="0">
                <a:solidFill>
                  <a:srgbClr val="0F172A"/>
                </a:solidFill>
                <a:latin typeface="Arial"/>
              </a:rPr>
              <a:t>CNN</a:t>
            </a:r>
          </a:p>
        </p:txBody>
      </p:sp>
      <p:sp>
        <p:nvSpPr>
          <p:cNvPr id="2063" name="TextBox 2062"/>
          <p:cNvSpPr txBox="1"/>
          <p:nvPr/>
        </p:nvSpPr>
        <p:spPr>
          <a:xfrm>
            <a:off x="2624328" y="2990088"/>
            <a:ext cx="1783080" cy="237744"/>
          </a:xfrm>
          <a:prstGeom prst="rect">
            <a:avLst/>
          </a:prstGeom>
          <a:noFill/>
        </p:spPr>
        <p:txBody>
          <a:bodyPr wrap="square" lIns="0" rIns="0" tIns="0" bIns="0" anchor="t">
            <a:spAutoFit/>
          </a:bodyPr>
          <a:lstStyle/>
          <a:p>
            <a:pPr algn="ctr"/>
            <a:r>
              <a:rPr sz="900" b="0" i="0">
                <a:solidFill>
                  <a:srgbClr val="5B6672"/>
                </a:solidFill>
                <a:latin typeface="Arial"/>
              </a:rPr>
              <a:t>f(x) - black box</a:t>
            </a:r>
          </a:p>
        </p:txBody>
      </p:sp>
      <p:cxnSp>
        <p:nvCxnSpPr>
          <p:cNvPr id="2064" name="Connector 2063"/>
          <p:cNvCxnSpPr/>
          <p:nvPr/>
        </p:nvCxnSpPr>
        <p:spPr>
          <a:xfrm>
            <a:off x="4443984" y="2948940"/>
            <a:ext cx="265176" cy="0"/>
          </a:xfrm>
          <a:prstGeom prst="line">
            <a:avLst/>
          </a:prstGeom>
          <a:ln w="17780">
            <a:solidFill>
              <a:srgbClr val="0D9488"/>
            </a:solidFill>
            <a:tailEnd type="triangle" w="med" len="med"/>
          </a:ln>
          <a:effectLst/>
        </p:spPr>
      </p:cxnSp>
      <p:sp>
        <p:nvSpPr>
          <p:cNvPr id="2065" name="Rounded Rectangle 2064"/>
          <p:cNvSpPr/>
          <p:nvPr/>
        </p:nvSpPr>
        <p:spPr>
          <a:xfrm>
            <a:off x="4745736" y="2514600"/>
            <a:ext cx="1783080" cy="868680"/>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66" name="TextBox 2065"/>
          <p:cNvSpPr txBox="1"/>
          <p:nvPr/>
        </p:nvSpPr>
        <p:spPr>
          <a:xfrm>
            <a:off x="4745736" y="2679192"/>
            <a:ext cx="1783080" cy="274320"/>
          </a:xfrm>
          <a:prstGeom prst="rect">
            <a:avLst/>
          </a:prstGeom>
          <a:noFill/>
        </p:spPr>
        <p:txBody>
          <a:bodyPr wrap="square" lIns="0" rIns="0" tIns="0" bIns="0" anchor="t">
            <a:spAutoFit/>
          </a:bodyPr>
          <a:lstStyle/>
          <a:p>
            <a:pPr algn="ctr"/>
            <a:r>
              <a:rPr sz="1400" b="1" i="0">
                <a:solidFill>
                  <a:srgbClr val="0F172A"/>
                </a:solidFill>
                <a:latin typeface="Arial"/>
              </a:rPr>
              <a:t>p = 0.87</a:t>
            </a:r>
          </a:p>
        </p:txBody>
      </p:sp>
      <p:sp>
        <p:nvSpPr>
          <p:cNvPr id="2067" name="TextBox 2066"/>
          <p:cNvSpPr txBox="1"/>
          <p:nvPr/>
        </p:nvSpPr>
        <p:spPr>
          <a:xfrm>
            <a:off x="4745736" y="2990088"/>
            <a:ext cx="1783080" cy="237744"/>
          </a:xfrm>
          <a:prstGeom prst="rect">
            <a:avLst/>
          </a:prstGeom>
          <a:noFill/>
        </p:spPr>
        <p:txBody>
          <a:bodyPr wrap="square" lIns="0" rIns="0" tIns="0" bIns="0" anchor="t">
            <a:spAutoFit/>
          </a:bodyPr>
          <a:lstStyle/>
          <a:p>
            <a:pPr algn="ctr"/>
            <a:r>
              <a:rPr sz="900" b="0" i="0">
                <a:solidFill>
                  <a:srgbClr val="5B6672"/>
                </a:solidFill>
                <a:latin typeface="Arial"/>
              </a:rPr>
              <a:t>one scalar</a:t>
            </a:r>
          </a:p>
        </p:txBody>
      </p:sp>
      <p:cxnSp>
        <p:nvCxnSpPr>
          <p:cNvPr id="2068" name="Connector 2067"/>
          <p:cNvCxnSpPr/>
          <p:nvPr/>
        </p:nvCxnSpPr>
        <p:spPr>
          <a:xfrm>
            <a:off x="6565392" y="2948940"/>
            <a:ext cx="265176" cy="0"/>
          </a:xfrm>
          <a:prstGeom prst="line">
            <a:avLst/>
          </a:prstGeom>
          <a:ln w="17780">
            <a:solidFill>
              <a:srgbClr val="0D9488"/>
            </a:solidFill>
            <a:tailEnd type="triangle" w="med" len="med"/>
          </a:ln>
          <a:effectLst/>
        </p:spPr>
      </p:cxnSp>
      <p:sp>
        <p:nvSpPr>
          <p:cNvPr id="2069" name="Rounded Rectangle 2068"/>
          <p:cNvSpPr/>
          <p:nvPr/>
        </p:nvSpPr>
        <p:spPr>
          <a:xfrm>
            <a:off x="6867143" y="2514600"/>
            <a:ext cx="1783080" cy="868680"/>
          </a:xfrm>
          <a:prstGeom prst="roundRect">
            <a:avLst>
              <a:gd name="adj" fmla="val 10000"/>
            </a:avLst>
          </a:prstGeom>
          <a:solidFill>
            <a:srgbClr val="ECF8F7"/>
          </a:solidFill>
          <a:ln w="9525">
            <a:solidFill>
              <a:srgbClr val="C6E4E1"/>
            </a:solidFill>
          </a:ln>
          <a:effectLst/>
        </p:spPr>
        <p:txBody>
          <a:bodyPr rtlCol="0" anchor="ctr"/>
          <a:lstStyle/>
          <a:p>
            <a:pPr algn="ctr"/>
          </a:p>
        </p:txBody>
      </p:sp>
      <p:sp>
        <p:nvSpPr>
          <p:cNvPr id="2070" name="TextBox 2069"/>
          <p:cNvSpPr txBox="1"/>
          <p:nvPr/>
        </p:nvSpPr>
        <p:spPr>
          <a:xfrm>
            <a:off x="6867143" y="2679192"/>
            <a:ext cx="1783080" cy="274320"/>
          </a:xfrm>
          <a:prstGeom prst="rect">
            <a:avLst/>
          </a:prstGeom>
          <a:noFill/>
        </p:spPr>
        <p:txBody>
          <a:bodyPr wrap="square" lIns="0" rIns="0" tIns="0" bIns="0" anchor="t">
            <a:spAutoFit/>
          </a:bodyPr>
          <a:lstStyle/>
          <a:p>
            <a:pPr algn="ctr"/>
            <a:r>
              <a:rPr sz="1400" b="1" i="0">
                <a:solidFill>
                  <a:srgbClr val="0F172A"/>
                </a:solidFill>
                <a:latin typeface="Arial"/>
              </a:rPr>
              <a:t>DOCTOR</a:t>
            </a:r>
          </a:p>
        </p:txBody>
      </p:sp>
      <p:sp>
        <p:nvSpPr>
          <p:cNvPr id="2071" name="TextBox 2070"/>
          <p:cNvSpPr txBox="1"/>
          <p:nvPr/>
        </p:nvSpPr>
        <p:spPr>
          <a:xfrm>
            <a:off x="6867143" y="2990088"/>
            <a:ext cx="1783080" cy="237744"/>
          </a:xfrm>
          <a:prstGeom prst="rect">
            <a:avLst/>
          </a:prstGeom>
          <a:noFill/>
        </p:spPr>
        <p:txBody>
          <a:bodyPr wrap="square" lIns="0" rIns="0" tIns="0" bIns="0" anchor="t">
            <a:spAutoFit/>
          </a:bodyPr>
          <a:lstStyle/>
          <a:p>
            <a:pPr algn="ctr"/>
            <a:r>
              <a:rPr sz="900" b="0" i="0">
                <a:solidFill>
                  <a:srgbClr val="5B6672"/>
                </a:solidFill>
                <a:latin typeface="Arial"/>
              </a:rPr>
              <a:t>left to decide alone</a:t>
            </a:r>
          </a:p>
        </p:txBody>
      </p:sp>
      <p:sp>
        <p:nvSpPr>
          <p:cNvPr id="2072" name="Rounded Rectangle 2071"/>
          <p:cNvSpPr/>
          <p:nvPr/>
        </p:nvSpPr>
        <p:spPr>
          <a:xfrm>
            <a:off x="2651760" y="3794760"/>
            <a:ext cx="6035040" cy="1298448"/>
          </a:xfrm>
          <a:prstGeom prst="roundRect">
            <a:avLst>
              <a:gd name="adj" fmla="val 10000"/>
            </a:avLst>
          </a:prstGeom>
          <a:noFill/>
          <a:ln w="15240">
            <a:solidFill>
              <a:srgbClr val="C05B52"/>
            </a:solidFill>
            <a:prstDash val="dash"/>
          </a:ln>
          <a:effectLst/>
        </p:spPr>
        <p:txBody>
          <a:bodyPr rtlCol="0" anchor="ctr"/>
          <a:lstStyle/>
          <a:p>
            <a:pPr algn="ctr"/>
          </a:p>
        </p:txBody>
      </p:sp>
      <p:sp>
        <p:nvSpPr>
          <p:cNvPr id="2073" name="TextBox 2072"/>
          <p:cNvSpPr txBox="1"/>
          <p:nvPr/>
        </p:nvSpPr>
        <p:spPr>
          <a:xfrm>
            <a:off x="2871216" y="3913632"/>
            <a:ext cx="5577840" cy="237744"/>
          </a:xfrm>
          <a:prstGeom prst="rect">
            <a:avLst/>
          </a:prstGeom>
          <a:noFill/>
        </p:spPr>
        <p:txBody>
          <a:bodyPr wrap="square" lIns="0" rIns="0" tIns="0" bIns="0" anchor="t">
            <a:spAutoFit/>
          </a:bodyPr>
          <a:lstStyle/>
          <a:p>
            <a:pPr algn="l"/>
            <a:r>
              <a:rPr sz="950" b="1" i="0" spc="160">
                <a:solidFill>
                  <a:srgbClr val="C05B52"/>
                </a:solidFill>
                <a:latin typeface="Arial"/>
              </a:rPr>
              <a:t>THE REASONING GAP - amputated between model and clinician</a:t>
            </a:r>
          </a:p>
        </p:txBody>
      </p:sp>
      <p:sp>
        <p:nvSpPr>
          <p:cNvPr id="2074" name="TextBox 2073"/>
          <p:cNvSpPr txBox="1"/>
          <p:nvPr/>
        </p:nvSpPr>
        <p:spPr>
          <a:xfrm>
            <a:off x="2871216" y="4206240"/>
            <a:ext cx="2834640" cy="201168"/>
          </a:xfrm>
          <a:prstGeom prst="rect">
            <a:avLst/>
          </a:prstGeom>
          <a:noFill/>
        </p:spPr>
        <p:txBody>
          <a:bodyPr wrap="none" lIns="0" rIns="0" tIns="0" bIns="0" anchor="t">
            <a:spAutoFit/>
          </a:bodyPr>
          <a:lstStyle/>
          <a:p>
            <a:pPr algn="l"/>
            <a:r>
              <a:rPr sz="1100" b="1" i="0">
                <a:solidFill>
                  <a:srgbClr val="C05B52"/>
                </a:solidFill>
                <a:latin typeface="Arial"/>
              </a:rPr>
              <a:t>✕  </a:t>
            </a:r>
            <a:r>
              <a:rPr sz="1050" b="1" i="0">
                <a:solidFill>
                  <a:srgbClr val="0F172A"/>
                </a:solidFill>
                <a:latin typeface="Arial"/>
              </a:rPr>
              <a:t>uncertainty decomposition</a:t>
            </a:r>
          </a:p>
        </p:txBody>
      </p:sp>
      <p:sp>
        <p:nvSpPr>
          <p:cNvPr id="2075" name="TextBox 2074"/>
          <p:cNvSpPr txBox="1"/>
          <p:nvPr/>
        </p:nvSpPr>
        <p:spPr>
          <a:xfrm>
            <a:off x="3108960" y="4411979"/>
            <a:ext cx="2606040" cy="182880"/>
          </a:xfrm>
          <a:prstGeom prst="rect">
            <a:avLst/>
          </a:prstGeom>
          <a:noFill/>
        </p:spPr>
        <p:txBody>
          <a:bodyPr wrap="none" lIns="0" rIns="0" tIns="0" bIns="0" anchor="t">
            <a:spAutoFit/>
          </a:bodyPr>
          <a:lstStyle/>
          <a:p>
            <a:pPr algn="l"/>
            <a:r>
              <a:rPr sz="850" b="0" i="0">
                <a:solidFill>
                  <a:srgbClr val="5B6672"/>
                </a:solidFill>
                <a:latin typeface="Arial"/>
              </a:rPr>
              <a:t>epistemic vs aleatoric</a:t>
            </a:r>
          </a:p>
        </p:txBody>
      </p:sp>
      <p:sp>
        <p:nvSpPr>
          <p:cNvPr id="2076" name="TextBox 2075"/>
          <p:cNvSpPr txBox="1"/>
          <p:nvPr/>
        </p:nvSpPr>
        <p:spPr>
          <a:xfrm>
            <a:off x="5797296" y="4206240"/>
            <a:ext cx="2834640" cy="201168"/>
          </a:xfrm>
          <a:prstGeom prst="rect">
            <a:avLst/>
          </a:prstGeom>
          <a:noFill/>
        </p:spPr>
        <p:txBody>
          <a:bodyPr wrap="none" lIns="0" rIns="0" tIns="0" bIns="0" anchor="t">
            <a:spAutoFit/>
          </a:bodyPr>
          <a:lstStyle/>
          <a:p>
            <a:pPr algn="l"/>
            <a:r>
              <a:rPr sz="1100" b="1" i="0">
                <a:solidFill>
                  <a:srgbClr val="C05B52"/>
                </a:solidFill>
                <a:latin typeface="Arial"/>
              </a:rPr>
              <a:t>✕  </a:t>
            </a:r>
            <a:r>
              <a:rPr sz="1050" b="1" i="0">
                <a:solidFill>
                  <a:srgbClr val="0F172A"/>
                </a:solidFill>
                <a:latin typeface="Arial"/>
              </a:rPr>
              <a:t>calibration guarantee</a:t>
            </a:r>
          </a:p>
        </p:txBody>
      </p:sp>
      <p:sp>
        <p:nvSpPr>
          <p:cNvPr id="2077" name="TextBox 2076"/>
          <p:cNvSpPr txBox="1"/>
          <p:nvPr/>
        </p:nvSpPr>
        <p:spPr>
          <a:xfrm>
            <a:off x="6035040" y="4411979"/>
            <a:ext cx="2606040" cy="182880"/>
          </a:xfrm>
          <a:prstGeom prst="rect">
            <a:avLst/>
          </a:prstGeom>
          <a:noFill/>
        </p:spPr>
        <p:txBody>
          <a:bodyPr wrap="none" lIns="0" rIns="0" tIns="0" bIns="0" anchor="t">
            <a:spAutoFit/>
          </a:bodyPr>
          <a:lstStyle/>
          <a:p>
            <a:pPr algn="l"/>
            <a:r>
              <a:rPr sz="850" b="0" i="0">
                <a:solidFill>
                  <a:srgbClr val="5B6672"/>
                </a:solidFill>
                <a:latin typeface="Arial"/>
              </a:rPr>
              <a:t>is 0.87 actually 0.87?</a:t>
            </a:r>
          </a:p>
        </p:txBody>
      </p:sp>
      <p:sp>
        <p:nvSpPr>
          <p:cNvPr id="2078" name="TextBox 2077"/>
          <p:cNvSpPr txBox="1"/>
          <p:nvPr/>
        </p:nvSpPr>
        <p:spPr>
          <a:xfrm>
            <a:off x="2871216" y="4636007"/>
            <a:ext cx="2834640" cy="201168"/>
          </a:xfrm>
          <a:prstGeom prst="rect">
            <a:avLst/>
          </a:prstGeom>
          <a:noFill/>
        </p:spPr>
        <p:txBody>
          <a:bodyPr wrap="none" lIns="0" rIns="0" tIns="0" bIns="0" anchor="t">
            <a:spAutoFit/>
          </a:bodyPr>
          <a:lstStyle/>
          <a:p>
            <a:pPr algn="l"/>
            <a:r>
              <a:rPr sz="1100" b="1" i="0">
                <a:solidFill>
                  <a:srgbClr val="C05B52"/>
                </a:solidFill>
                <a:latin typeface="Arial"/>
              </a:rPr>
              <a:t>✕  </a:t>
            </a:r>
            <a:r>
              <a:rPr sz="1050" b="1" i="0">
                <a:solidFill>
                  <a:srgbClr val="0F172A"/>
                </a:solidFill>
                <a:latin typeface="Arial"/>
              </a:rPr>
              <a:t>counterfactual justification</a:t>
            </a:r>
          </a:p>
        </p:txBody>
      </p:sp>
      <p:sp>
        <p:nvSpPr>
          <p:cNvPr id="2079" name="TextBox 2078"/>
          <p:cNvSpPr txBox="1"/>
          <p:nvPr/>
        </p:nvSpPr>
        <p:spPr>
          <a:xfrm>
            <a:off x="3108960" y="4841747"/>
            <a:ext cx="2606040" cy="182880"/>
          </a:xfrm>
          <a:prstGeom prst="rect">
            <a:avLst/>
          </a:prstGeom>
          <a:noFill/>
        </p:spPr>
        <p:txBody>
          <a:bodyPr wrap="none" lIns="0" rIns="0" tIns="0" bIns="0" anchor="t">
            <a:spAutoFit/>
          </a:bodyPr>
          <a:lstStyle/>
          <a:p>
            <a:pPr algn="l"/>
            <a:r>
              <a:rPr sz="850" b="0" i="0">
                <a:solidFill>
                  <a:srgbClr val="5B6672"/>
                </a:solidFill>
                <a:latin typeface="Arial"/>
              </a:rPr>
              <a:t>what would flip the call?</a:t>
            </a:r>
          </a:p>
        </p:txBody>
      </p:sp>
      <p:sp>
        <p:nvSpPr>
          <p:cNvPr id="2080" name="TextBox 2079"/>
          <p:cNvSpPr txBox="1"/>
          <p:nvPr/>
        </p:nvSpPr>
        <p:spPr>
          <a:xfrm>
            <a:off x="5797296" y="4636007"/>
            <a:ext cx="2834640" cy="201168"/>
          </a:xfrm>
          <a:prstGeom prst="rect">
            <a:avLst/>
          </a:prstGeom>
          <a:noFill/>
        </p:spPr>
        <p:txBody>
          <a:bodyPr wrap="none" lIns="0" rIns="0" tIns="0" bIns="0" anchor="t">
            <a:spAutoFit/>
          </a:bodyPr>
          <a:lstStyle/>
          <a:p>
            <a:pPr algn="l"/>
            <a:r>
              <a:rPr sz="1100" b="1" i="0">
                <a:solidFill>
                  <a:srgbClr val="C05B52"/>
                </a:solidFill>
                <a:latin typeface="Arial"/>
              </a:rPr>
              <a:t>✕  </a:t>
            </a:r>
            <a:r>
              <a:rPr sz="1050" b="1" i="0">
                <a:solidFill>
                  <a:srgbClr val="0F172A"/>
                </a:solidFill>
                <a:latin typeface="Arial"/>
              </a:rPr>
              <a:t>next-step planning</a:t>
            </a:r>
          </a:p>
        </p:txBody>
      </p:sp>
      <p:sp>
        <p:nvSpPr>
          <p:cNvPr id="2081" name="TextBox 2080"/>
          <p:cNvSpPr txBox="1"/>
          <p:nvPr/>
        </p:nvSpPr>
        <p:spPr>
          <a:xfrm>
            <a:off x="6035040" y="4841747"/>
            <a:ext cx="2606040" cy="182880"/>
          </a:xfrm>
          <a:prstGeom prst="rect">
            <a:avLst/>
          </a:prstGeom>
          <a:noFill/>
        </p:spPr>
        <p:txBody>
          <a:bodyPr wrap="none" lIns="0" rIns="0" tIns="0" bIns="0" anchor="t">
            <a:spAutoFit/>
          </a:bodyPr>
          <a:lstStyle/>
          <a:p>
            <a:pPr algn="l"/>
            <a:r>
              <a:rPr sz="850" b="0" i="0">
                <a:solidFill>
                  <a:srgbClr val="5B6672"/>
                </a:solidFill>
                <a:latin typeface="Arial"/>
              </a:rPr>
              <a:t>which test resolves doubt?</a:t>
            </a:r>
          </a:p>
        </p:txBody>
      </p:sp>
      <p:sp>
        <p:nvSpPr>
          <p:cNvPr id="2082" name="TextBox 2081"/>
          <p:cNvSpPr txBox="1"/>
          <p:nvPr/>
        </p:nvSpPr>
        <p:spPr>
          <a:xfrm>
            <a:off x="457200" y="5230368"/>
            <a:ext cx="8229600" cy="274320"/>
          </a:xfrm>
          <a:prstGeom prst="rect">
            <a:avLst/>
          </a:prstGeom>
          <a:noFill/>
        </p:spPr>
        <p:txBody>
          <a:bodyPr wrap="square" lIns="0" rIns="0" tIns="0" bIns="0" anchor="t">
            <a:spAutoFit/>
          </a:bodyPr>
          <a:lstStyle/>
          <a:p>
            <a:pPr algn="ctr"/>
            <a:r>
              <a:rPr sz="1200" b="0" i="1">
                <a:solidFill>
                  <a:srgbClr val="0E7490"/>
                </a:solidFill>
                <a:latin typeface="Arial"/>
              </a:rPr>
              <a:t>A single scalar carries no argument - and clinicians know it.</a:t>
            </a:r>
          </a:p>
        </p:txBody>
      </p:sp>
      <p:sp>
        <p:nvSpPr>
          <p:cNvPr id="2083" name="TextBox 2082"/>
          <p:cNvSpPr txBox="1"/>
          <p:nvPr/>
        </p:nvSpPr>
        <p:spPr>
          <a:xfrm>
            <a:off x="457200" y="5541264"/>
            <a:ext cx="8229600" cy="219456"/>
          </a:xfrm>
          <a:prstGeom prst="rect">
            <a:avLst/>
          </a:prstGeom>
          <a:noFill/>
        </p:spPr>
        <p:txBody>
          <a:bodyPr wrap="square" lIns="0" rIns="0" tIns="0" bIns="0" anchor="t">
            <a:spAutoFit/>
          </a:bodyPr>
          <a:lstStyle/>
          <a:p>
            <a:pPr algn="l"/>
            <a:r>
              <a:rPr sz="800" b="0" i="1">
                <a:solidFill>
                  <a:srgbClr val="5B6672"/>
                </a:solidFill>
                <a:latin typeface="Arial"/>
              </a:rPr>
              <a:t>Rudin, Nature Machine Intelligence 1, 206-215 (2019)  ·  Kompa, Snoek &amp; Beam, npj Digital Medicine 4, 4 (2021)</a:t>
            </a:r>
          </a:p>
        </p:txBody>
      </p:sp>
    </p:spTree>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l="-24000" r="-24000"/>
          </a:stretch>
        </a:blipFill>
        <a:effectLst/>
      </p:bgPr>
    </p:bg>
    <p:spTree>
      <p:nvGrpSpPr>
        <p:cNvPr id="1" name=""/>
        <p:cNvGrpSpPr/>
        <p:nvPr/>
      </p:nvGrpSpPr>
      <p:grpSpPr>
        <a:xfrm>
          <a:off x="0" y="0"/>
          <a:ext cx="0" cy="0"/>
          <a:chOff x="0" y="0"/>
          <a:chExt cx="0" cy="0"/>
        </a:xfrm>
      </p:grpSpPr>
      <p:pic>
        <p:nvPicPr>
          <p:cNvPr id="2" name="Picture 3" descr="C:\Users\Admin\Downloads\1764679326535-Photoroom.png"/>
          <p:cNvPicPr>
            <a:picLocks noChangeAspect="1" noChangeArrowheads="1"/>
          </p:cNvPicPr>
          <p:nvPr/>
        </p:nvPicPr>
        <p:blipFill>
          <a:blip r:embed="rId4"/>
          <a:srcRect/>
          <a:stretch>
            <a:fillRect/>
          </a:stretch>
        </p:blipFill>
        <p:spPr bwMode="auto">
          <a:xfrm>
            <a:off x="4108831" y="35671"/>
            <a:ext cx="1285884" cy="1285884"/>
          </a:xfrm>
          <a:prstGeom prst="rect">
            <a:avLst/>
          </a:prstGeom>
          <a:noFill/>
        </p:spPr>
      </p:pic>
      <p:pic>
        <p:nvPicPr>
          <p:cNvPr id="2050" name="Picture 2" descr="C:\Users\Admin\Downloads\RIT.png"/>
          <p:cNvPicPr>
            <a:picLocks noChangeAspect="1" noChangeArrowheads="1"/>
          </p:cNvPicPr>
          <p:nvPr/>
        </p:nvPicPr>
        <p:blipFill>
          <a:blip r:embed="rId5" cstate="print"/>
          <a:srcRect/>
          <a:stretch>
            <a:fillRect/>
          </a:stretch>
        </p:blipFill>
        <p:spPr bwMode="auto">
          <a:xfrm>
            <a:off x="252062" y="285704"/>
            <a:ext cx="3043364" cy="785818"/>
          </a:xfrm>
          <a:prstGeom prst="rect">
            <a:avLst/>
          </a:prstGeom>
          <a:noFill/>
        </p:spPr>
      </p:pic>
      <p:pic>
        <p:nvPicPr>
          <p:cNvPr id="2051" name="Picture 3" descr="C:\Users\Admin\Downloads\IBM_logo.svg.png"/>
          <p:cNvPicPr>
            <a:picLocks noChangeAspect="1" noChangeArrowheads="1"/>
          </p:cNvPicPr>
          <p:nvPr/>
        </p:nvPicPr>
        <p:blipFill>
          <a:blip r:embed="rId6"/>
          <a:srcRect/>
          <a:stretch>
            <a:fillRect/>
          </a:stretch>
        </p:blipFill>
        <p:spPr bwMode="auto">
          <a:xfrm>
            <a:off x="7380312" y="357139"/>
            <a:ext cx="1528257" cy="571504"/>
          </a:xfrm>
          <a:prstGeom prst="rect">
            <a:avLst/>
          </a:prstGeom>
          <a:noFill/>
        </p:spPr>
      </p:pic>
      <p:pic>
        <p:nvPicPr>
          <p:cNvPr id="2053" name="Picture 5" descr="C:\Users\Admin\Downloads\logo-nqm.png"/>
          <p:cNvPicPr>
            <a:picLocks noChangeAspect="1" noChangeArrowheads="1"/>
          </p:cNvPicPr>
          <p:nvPr/>
        </p:nvPicPr>
        <p:blipFill>
          <a:blip r:embed="rId7"/>
          <a:srcRect/>
          <a:stretch>
            <a:fillRect/>
          </a:stretch>
        </p:blipFill>
        <p:spPr bwMode="auto">
          <a:xfrm>
            <a:off x="5519518" y="249994"/>
            <a:ext cx="710054" cy="785794"/>
          </a:xfrm>
          <a:prstGeom prst="rect">
            <a:avLst/>
          </a:prstGeom>
          <a:noFill/>
        </p:spPr>
      </p:pic>
      <p:sp>
        <p:nvSpPr>
          <p:cNvPr id="11" name="Footer Placeholder 10"/>
          <p:cNvSpPr>
            <a:spLocks noGrp="1"/>
          </p:cNvSpPr>
          <p:nvPr>
            <p:ph type="ftr" sz="quarter" idx="11"/>
          </p:nvPr>
        </p:nvSpPr>
        <p:spPr>
          <a:xfrm>
            <a:off x="304800" y="6410848"/>
            <a:ext cx="6196026" cy="232862"/>
          </a:xfrm>
        </p:spPr>
        <p:txBody>
          <a:bodyPr/>
          <a:lstStyle/>
          <a:p>
            <a:r>
              <a:rPr lang="en-IN" i="1" dirty="0" smtClean="0">
                <a:solidFill>
                  <a:schemeClr val="tx1"/>
                </a:solidFill>
                <a:latin typeface="Arial Rounded MT Bold" pitchFamily="34" charset="0"/>
              </a:rPr>
              <a:t>RIT – QUANT-A-THAN- 2026 (Innovate, Build, Transform)</a:t>
            </a:r>
            <a:endParaRPr lang="en-IN" i="1" dirty="0">
              <a:solidFill>
                <a:schemeClr val="tx1"/>
              </a:solidFill>
              <a:latin typeface="Arial Rounded MT Bold" pitchFamily="34" charset="0"/>
            </a:endParaRPr>
          </a:p>
        </p:txBody>
      </p:sp>
      <p:pic>
        <p:nvPicPr>
          <p:cNvPr id="5" name="Picture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88734" y="285704"/>
            <a:ext cx="866775" cy="714375"/>
          </a:xfrm>
          <a:prstGeom prst="rect">
            <a:avLst/>
          </a:prstGeom>
        </p:spPr>
      </p:pic>
      <p:sp>
        <p:nvSpPr>
          <p:cNvPr id="2054" name="TextBox 2053"/>
          <p:cNvSpPr txBox="1"/>
          <p:nvPr/>
        </p:nvSpPr>
        <p:spPr>
          <a:xfrm>
            <a:off x="457200" y="1133856"/>
            <a:ext cx="8229600" cy="237744"/>
          </a:xfrm>
          <a:prstGeom prst="rect">
            <a:avLst/>
          </a:prstGeom>
          <a:noFill/>
        </p:spPr>
        <p:txBody>
          <a:bodyPr wrap="square" lIns="0" rIns="0" tIns="0" bIns="0" anchor="t">
            <a:spAutoFit/>
          </a:bodyPr>
          <a:lstStyle/>
          <a:p>
            <a:pPr algn="l"/>
            <a:r>
              <a:rPr sz="1050" b="1" i="0" spc="280">
                <a:solidFill>
                  <a:srgbClr val="5B6672"/>
                </a:solidFill>
                <a:latin typeface="Arial"/>
              </a:rPr>
              <a:t>03  ·  </a:t>
            </a:r>
            <a:r>
              <a:rPr sz="1050" b="1" i="0" spc="280">
                <a:solidFill>
                  <a:srgbClr val="0E7490"/>
                </a:solidFill>
                <a:latin typeface="Arial"/>
              </a:rPr>
              <a:t>OUR INNOVATION</a:t>
            </a:r>
          </a:p>
        </p:txBody>
      </p:sp>
      <p:sp>
        <p:nvSpPr>
          <p:cNvPr id="2055" name="TextBox 2054"/>
          <p:cNvSpPr txBox="1"/>
          <p:nvPr/>
        </p:nvSpPr>
        <p:spPr>
          <a:xfrm>
            <a:off x="457200" y="1371600"/>
            <a:ext cx="8229600" cy="475488"/>
          </a:xfrm>
          <a:prstGeom prst="rect">
            <a:avLst/>
          </a:prstGeom>
          <a:noFill/>
        </p:spPr>
        <p:txBody>
          <a:bodyPr wrap="square" lIns="0" rIns="0" tIns="0" bIns="0" anchor="t">
            <a:spAutoFit/>
          </a:bodyPr>
          <a:lstStyle/>
          <a:p>
            <a:pPr algn="l"/>
            <a:r>
              <a:rPr sz="2600" b="1" i="0" spc="-20">
                <a:solidFill>
                  <a:srgbClr val="0F172A"/>
                </a:solidFill>
                <a:latin typeface="Arial"/>
              </a:rPr>
              <a:t>AURA: diagnosis as a reasoning pipeline</a:t>
            </a:r>
          </a:p>
        </p:txBody>
      </p:sp>
      <p:sp>
        <p:nvSpPr>
          <p:cNvPr id="2056" name="TextBox 2055"/>
          <p:cNvSpPr txBox="1"/>
          <p:nvPr/>
        </p:nvSpPr>
        <p:spPr>
          <a:xfrm>
            <a:off x="457200" y="1874519"/>
            <a:ext cx="8229600" cy="274320"/>
          </a:xfrm>
          <a:prstGeom prst="rect">
            <a:avLst/>
          </a:prstGeom>
          <a:noFill/>
        </p:spPr>
        <p:txBody>
          <a:bodyPr wrap="square" lIns="0" rIns="0" tIns="0" bIns="0" anchor="t">
            <a:spAutoFit/>
          </a:bodyPr>
          <a:lstStyle/>
          <a:p>
            <a:pPr algn="l"/>
            <a:r>
              <a:rPr sz="1150" b="0" i="1">
                <a:solidFill>
                  <a:srgbClr val="5B6672"/>
                </a:solidFill>
                <a:latin typeface="Arial"/>
              </a:rPr>
              <a:t>Purpose - replace the classifier with an eight-stage diagnostic operating system.</a:t>
            </a:r>
          </a:p>
        </p:txBody>
      </p:sp>
      <p:sp>
        <p:nvSpPr>
          <p:cNvPr id="2057" name="Rounded Rectangle 2056"/>
          <p:cNvSpPr/>
          <p:nvPr/>
        </p:nvSpPr>
        <p:spPr>
          <a:xfrm>
            <a:off x="502920" y="2395728"/>
            <a:ext cx="1847088" cy="969264"/>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58" name="TextBox 2057"/>
          <p:cNvSpPr txBox="1"/>
          <p:nvPr/>
        </p:nvSpPr>
        <p:spPr>
          <a:xfrm>
            <a:off x="630936" y="2487168"/>
            <a:ext cx="457200" cy="201168"/>
          </a:xfrm>
          <a:prstGeom prst="rect">
            <a:avLst/>
          </a:prstGeom>
          <a:noFill/>
        </p:spPr>
        <p:txBody>
          <a:bodyPr wrap="square" lIns="0" rIns="0" tIns="0" bIns="0" anchor="t">
            <a:spAutoFit/>
          </a:bodyPr>
          <a:lstStyle/>
          <a:p>
            <a:pPr algn="l"/>
            <a:r>
              <a:rPr sz="900" b="1" i="0" spc="100">
                <a:solidFill>
                  <a:srgbClr val="0E7490"/>
                </a:solidFill>
                <a:latin typeface="Arial"/>
              </a:rPr>
              <a:t>01</a:t>
            </a:r>
          </a:p>
        </p:txBody>
      </p:sp>
      <p:sp>
        <p:nvSpPr>
          <p:cNvPr id="2059" name="TextBox 2058"/>
          <p:cNvSpPr txBox="1"/>
          <p:nvPr/>
        </p:nvSpPr>
        <p:spPr>
          <a:xfrm>
            <a:off x="630936" y="2688336"/>
            <a:ext cx="1591056" cy="274320"/>
          </a:xfrm>
          <a:prstGeom prst="rect">
            <a:avLst/>
          </a:prstGeom>
          <a:noFill/>
        </p:spPr>
        <p:txBody>
          <a:bodyPr wrap="square" lIns="0" rIns="0" tIns="0" bIns="0" anchor="t">
            <a:spAutoFit/>
          </a:bodyPr>
          <a:lstStyle/>
          <a:p>
            <a:pPr algn="l"/>
            <a:r>
              <a:rPr sz="1250" b="1" i="0">
                <a:solidFill>
                  <a:srgbClr val="0F172A"/>
                </a:solidFill>
                <a:latin typeface="Arial"/>
              </a:rPr>
              <a:t>Image</a:t>
            </a:r>
          </a:p>
        </p:txBody>
      </p:sp>
      <p:sp>
        <p:nvSpPr>
          <p:cNvPr id="2060" name="TextBox 2059"/>
          <p:cNvSpPr txBox="1"/>
          <p:nvPr/>
        </p:nvSpPr>
        <p:spPr>
          <a:xfrm>
            <a:off x="630936" y="2980944"/>
            <a:ext cx="1591056" cy="310896"/>
          </a:xfrm>
          <a:prstGeom prst="rect">
            <a:avLst/>
          </a:prstGeom>
          <a:noFill/>
        </p:spPr>
        <p:txBody>
          <a:bodyPr wrap="square" lIns="0" rIns="0" tIns="0" bIns="0" anchor="t">
            <a:spAutoFit/>
          </a:bodyPr>
          <a:lstStyle/>
          <a:p>
            <a:pPr algn="l"/>
            <a:r>
              <a:rPr sz="900" b="0" i="0">
                <a:solidFill>
                  <a:srgbClr val="5B6672"/>
                </a:solidFill>
                <a:latin typeface="Arial"/>
              </a:rPr>
              <a:t>DICOM study + context</a:t>
            </a:r>
          </a:p>
        </p:txBody>
      </p:sp>
      <p:cxnSp>
        <p:nvCxnSpPr>
          <p:cNvPr id="2061" name="Connector 2060"/>
          <p:cNvCxnSpPr/>
          <p:nvPr/>
        </p:nvCxnSpPr>
        <p:spPr>
          <a:xfrm>
            <a:off x="2377440" y="2880360"/>
            <a:ext cx="201168" cy="0"/>
          </a:xfrm>
          <a:prstGeom prst="line">
            <a:avLst/>
          </a:prstGeom>
          <a:ln w="17780">
            <a:solidFill>
              <a:srgbClr val="0D9488"/>
            </a:solidFill>
            <a:tailEnd type="triangle" w="med" len="med"/>
          </a:ln>
          <a:effectLst/>
        </p:spPr>
      </p:cxnSp>
      <p:sp>
        <p:nvSpPr>
          <p:cNvPr id="2062" name="Rounded Rectangle 2061"/>
          <p:cNvSpPr/>
          <p:nvPr/>
        </p:nvSpPr>
        <p:spPr>
          <a:xfrm>
            <a:off x="2606039" y="2395728"/>
            <a:ext cx="1847088" cy="969264"/>
          </a:xfrm>
          <a:prstGeom prst="roundRect">
            <a:avLst>
              <a:gd name="adj" fmla="val 10000"/>
            </a:avLst>
          </a:prstGeom>
          <a:solidFill>
            <a:srgbClr val="ECF8F7"/>
          </a:solidFill>
          <a:ln w="15240">
            <a:solidFill>
              <a:srgbClr val="0D9488"/>
            </a:solidFill>
          </a:ln>
          <a:effectLst/>
        </p:spPr>
        <p:txBody>
          <a:bodyPr rtlCol="0" anchor="ctr"/>
          <a:lstStyle/>
          <a:p>
            <a:pPr algn="ctr"/>
          </a:p>
        </p:txBody>
      </p:sp>
      <p:sp>
        <p:nvSpPr>
          <p:cNvPr id="2063" name="TextBox 2062"/>
          <p:cNvSpPr txBox="1"/>
          <p:nvPr/>
        </p:nvSpPr>
        <p:spPr>
          <a:xfrm>
            <a:off x="2734056" y="2487168"/>
            <a:ext cx="457200" cy="201168"/>
          </a:xfrm>
          <a:prstGeom prst="rect">
            <a:avLst/>
          </a:prstGeom>
          <a:noFill/>
        </p:spPr>
        <p:txBody>
          <a:bodyPr wrap="square" lIns="0" rIns="0" tIns="0" bIns="0" anchor="t">
            <a:spAutoFit/>
          </a:bodyPr>
          <a:lstStyle/>
          <a:p>
            <a:pPr algn="l"/>
            <a:r>
              <a:rPr sz="900" b="1" i="0" spc="100">
                <a:solidFill>
                  <a:srgbClr val="0E7490"/>
                </a:solidFill>
                <a:latin typeface="Arial"/>
              </a:rPr>
              <a:t>02</a:t>
            </a:r>
          </a:p>
        </p:txBody>
      </p:sp>
      <p:sp>
        <p:nvSpPr>
          <p:cNvPr id="2064" name="TextBox 2063"/>
          <p:cNvSpPr txBox="1"/>
          <p:nvPr/>
        </p:nvSpPr>
        <p:spPr>
          <a:xfrm>
            <a:off x="2734056" y="2688336"/>
            <a:ext cx="1591056" cy="274320"/>
          </a:xfrm>
          <a:prstGeom prst="rect">
            <a:avLst/>
          </a:prstGeom>
          <a:noFill/>
        </p:spPr>
        <p:txBody>
          <a:bodyPr wrap="square" lIns="0" rIns="0" tIns="0" bIns="0" anchor="t">
            <a:spAutoFit/>
          </a:bodyPr>
          <a:lstStyle/>
          <a:p>
            <a:pPr algn="l"/>
            <a:r>
              <a:rPr sz="1250" b="1" i="0">
                <a:solidFill>
                  <a:srgbClr val="0F172A"/>
                </a:solidFill>
                <a:latin typeface="Arial"/>
              </a:rPr>
              <a:t>Quantum encoding</a:t>
            </a:r>
          </a:p>
        </p:txBody>
      </p:sp>
      <p:sp>
        <p:nvSpPr>
          <p:cNvPr id="2065" name="TextBox 2064"/>
          <p:cNvSpPr txBox="1"/>
          <p:nvPr/>
        </p:nvSpPr>
        <p:spPr>
          <a:xfrm>
            <a:off x="2734056" y="2980944"/>
            <a:ext cx="1591056" cy="310896"/>
          </a:xfrm>
          <a:prstGeom prst="rect">
            <a:avLst/>
          </a:prstGeom>
          <a:noFill/>
        </p:spPr>
        <p:txBody>
          <a:bodyPr wrap="square" lIns="0" rIns="0" tIns="0" bIns="0" anchor="t">
            <a:spAutoFit/>
          </a:bodyPr>
          <a:lstStyle/>
          <a:p>
            <a:pPr algn="l"/>
            <a:r>
              <a:rPr sz="900" b="0" i="0">
                <a:solidFill>
                  <a:srgbClr val="5B6672"/>
                </a:solidFill>
                <a:latin typeface="Arial"/>
              </a:rPr>
              <a:t>feature map Uφ(x)</a:t>
            </a:r>
          </a:p>
        </p:txBody>
      </p:sp>
      <p:cxnSp>
        <p:nvCxnSpPr>
          <p:cNvPr id="2066" name="Connector 2065"/>
          <p:cNvCxnSpPr/>
          <p:nvPr/>
        </p:nvCxnSpPr>
        <p:spPr>
          <a:xfrm>
            <a:off x="4480559" y="2880360"/>
            <a:ext cx="201168" cy="0"/>
          </a:xfrm>
          <a:prstGeom prst="line">
            <a:avLst/>
          </a:prstGeom>
          <a:ln w="17780">
            <a:solidFill>
              <a:srgbClr val="0D9488"/>
            </a:solidFill>
            <a:tailEnd type="triangle" w="med" len="med"/>
          </a:ln>
          <a:effectLst/>
        </p:spPr>
      </p:cxnSp>
      <p:sp>
        <p:nvSpPr>
          <p:cNvPr id="2067" name="Rounded Rectangle 2066"/>
          <p:cNvSpPr/>
          <p:nvPr/>
        </p:nvSpPr>
        <p:spPr>
          <a:xfrm>
            <a:off x="4709159" y="2395728"/>
            <a:ext cx="1847088" cy="969264"/>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68" name="TextBox 2067"/>
          <p:cNvSpPr txBox="1"/>
          <p:nvPr/>
        </p:nvSpPr>
        <p:spPr>
          <a:xfrm>
            <a:off x="4837175" y="2487168"/>
            <a:ext cx="457200" cy="201168"/>
          </a:xfrm>
          <a:prstGeom prst="rect">
            <a:avLst/>
          </a:prstGeom>
          <a:noFill/>
        </p:spPr>
        <p:txBody>
          <a:bodyPr wrap="square" lIns="0" rIns="0" tIns="0" bIns="0" anchor="t">
            <a:spAutoFit/>
          </a:bodyPr>
          <a:lstStyle/>
          <a:p>
            <a:pPr algn="l"/>
            <a:r>
              <a:rPr sz="900" b="1" i="0" spc="100">
                <a:solidFill>
                  <a:srgbClr val="0E7490"/>
                </a:solidFill>
                <a:latin typeface="Arial"/>
              </a:rPr>
              <a:t>03</a:t>
            </a:r>
          </a:p>
        </p:txBody>
      </p:sp>
      <p:sp>
        <p:nvSpPr>
          <p:cNvPr id="2069" name="TextBox 2068"/>
          <p:cNvSpPr txBox="1"/>
          <p:nvPr/>
        </p:nvSpPr>
        <p:spPr>
          <a:xfrm>
            <a:off x="4837175" y="2688336"/>
            <a:ext cx="1591056" cy="274320"/>
          </a:xfrm>
          <a:prstGeom prst="rect">
            <a:avLst/>
          </a:prstGeom>
          <a:noFill/>
        </p:spPr>
        <p:txBody>
          <a:bodyPr wrap="square" lIns="0" rIns="0" tIns="0" bIns="0" anchor="t">
            <a:spAutoFit/>
          </a:bodyPr>
          <a:lstStyle/>
          <a:p>
            <a:pPr algn="l"/>
            <a:r>
              <a:rPr sz="1250" b="1" i="0">
                <a:solidFill>
                  <a:srgbClr val="0F172A"/>
                </a:solidFill>
                <a:latin typeface="Arial"/>
              </a:rPr>
              <a:t>Bayesian agents</a:t>
            </a:r>
          </a:p>
        </p:txBody>
      </p:sp>
      <p:sp>
        <p:nvSpPr>
          <p:cNvPr id="2070" name="TextBox 2069"/>
          <p:cNvSpPr txBox="1"/>
          <p:nvPr/>
        </p:nvSpPr>
        <p:spPr>
          <a:xfrm>
            <a:off x="4837175" y="2980944"/>
            <a:ext cx="1591056" cy="310896"/>
          </a:xfrm>
          <a:prstGeom prst="rect">
            <a:avLst/>
          </a:prstGeom>
          <a:noFill/>
        </p:spPr>
        <p:txBody>
          <a:bodyPr wrap="square" lIns="0" rIns="0" tIns="0" bIns="0" anchor="t">
            <a:spAutoFit/>
          </a:bodyPr>
          <a:lstStyle/>
          <a:p>
            <a:pPr algn="l"/>
            <a:r>
              <a:rPr sz="900" b="0" i="0">
                <a:solidFill>
                  <a:srgbClr val="5B6672"/>
                </a:solidFill>
                <a:latin typeface="Arial"/>
              </a:rPr>
              <a:t>belief graph over DDx</a:t>
            </a:r>
          </a:p>
        </p:txBody>
      </p:sp>
      <p:cxnSp>
        <p:nvCxnSpPr>
          <p:cNvPr id="2071" name="Connector 2070"/>
          <p:cNvCxnSpPr/>
          <p:nvPr/>
        </p:nvCxnSpPr>
        <p:spPr>
          <a:xfrm>
            <a:off x="6583680" y="2880360"/>
            <a:ext cx="201168" cy="0"/>
          </a:xfrm>
          <a:prstGeom prst="line">
            <a:avLst/>
          </a:prstGeom>
          <a:ln w="17780">
            <a:solidFill>
              <a:srgbClr val="0D9488"/>
            </a:solidFill>
            <a:tailEnd type="triangle" w="med" len="med"/>
          </a:ln>
          <a:effectLst/>
        </p:spPr>
      </p:cxnSp>
      <p:sp>
        <p:nvSpPr>
          <p:cNvPr id="2072" name="Rounded Rectangle 2071"/>
          <p:cNvSpPr/>
          <p:nvPr/>
        </p:nvSpPr>
        <p:spPr>
          <a:xfrm>
            <a:off x="6812279" y="2395728"/>
            <a:ext cx="1847088" cy="969264"/>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73" name="TextBox 2072"/>
          <p:cNvSpPr txBox="1"/>
          <p:nvPr/>
        </p:nvSpPr>
        <p:spPr>
          <a:xfrm>
            <a:off x="6940295" y="2487168"/>
            <a:ext cx="457200" cy="201168"/>
          </a:xfrm>
          <a:prstGeom prst="rect">
            <a:avLst/>
          </a:prstGeom>
          <a:noFill/>
        </p:spPr>
        <p:txBody>
          <a:bodyPr wrap="square" lIns="0" rIns="0" tIns="0" bIns="0" anchor="t">
            <a:spAutoFit/>
          </a:bodyPr>
          <a:lstStyle/>
          <a:p>
            <a:pPr algn="l"/>
            <a:r>
              <a:rPr sz="900" b="1" i="0" spc="100">
                <a:solidFill>
                  <a:srgbClr val="0E7490"/>
                </a:solidFill>
                <a:latin typeface="Arial"/>
              </a:rPr>
              <a:t>04</a:t>
            </a:r>
          </a:p>
        </p:txBody>
      </p:sp>
      <p:sp>
        <p:nvSpPr>
          <p:cNvPr id="2074" name="TextBox 2073"/>
          <p:cNvSpPr txBox="1"/>
          <p:nvPr/>
        </p:nvSpPr>
        <p:spPr>
          <a:xfrm>
            <a:off x="6940295" y="2688336"/>
            <a:ext cx="1591056" cy="274320"/>
          </a:xfrm>
          <a:prstGeom prst="rect">
            <a:avLst/>
          </a:prstGeom>
          <a:noFill/>
        </p:spPr>
        <p:txBody>
          <a:bodyPr wrap="square" lIns="0" rIns="0" tIns="0" bIns="0" anchor="t">
            <a:spAutoFit/>
          </a:bodyPr>
          <a:lstStyle/>
          <a:p>
            <a:pPr algn="l"/>
            <a:r>
              <a:rPr sz="1250" b="1" i="0">
                <a:solidFill>
                  <a:srgbClr val="0F172A"/>
                </a:solidFill>
                <a:latin typeface="Arial"/>
              </a:rPr>
              <a:t>Calibration</a:t>
            </a:r>
          </a:p>
        </p:txBody>
      </p:sp>
      <p:sp>
        <p:nvSpPr>
          <p:cNvPr id="2075" name="TextBox 2074"/>
          <p:cNvSpPr txBox="1"/>
          <p:nvPr/>
        </p:nvSpPr>
        <p:spPr>
          <a:xfrm>
            <a:off x="6940295" y="2980944"/>
            <a:ext cx="1591056" cy="310896"/>
          </a:xfrm>
          <a:prstGeom prst="rect">
            <a:avLst/>
          </a:prstGeom>
          <a:noFill/>
        </p:spPr>
        <p:txBody>
          <a:bodyPr wrap="square" lIns="0" rIns="0" tIns="0" bIns="0" anchor="t">
            <a:spAutoFit/>
          </a:bodyPr>
          <a:lstStyle/>
          <a:p>
            <a:pPr algn="l"/>
            <a:r>
              <a:rPr sz="900" b="0" i="0">
                <a:solidFill>
                  <a:srgbClr val="5B6672"/>
                </a:solidFill>
                <a:latin typeface="Arial"/>
              </a:rPr>
              <a:t>conformal + temperature</a:t>
            </a:r>
          </a:p>
        </p:txBody>
      </p:sp>
      <p:sp>
        <p:nvSpPr>
          <p:cNvPr id="2076" name="Rounded Rectangle 2075"/>
          <p:cNvSpPr/>
          <p:nvPr/>
        </p:nvSpPr>
        <p:spPr>
          <a:xfrm>
            <a:off x="502920" y="4041648"/>
            <a:ext cx="1847088" cy="969264"/>
          </a:xfrm>
          <a:prstGeom prst="roundRect">
            <a:avLst>
              <a:gd name="adj" fmla="val 10000"/>
            </a:avLst>
          </a:prstGeom>
          <a:solidFill>
            <a:srgbClr val="ECF8F7"/>
          </a:solidFill>
          <a:ln w="15240">
            <a:solidFill>
              <a:srgbClr val="0D9488"/>
            </a:solidFill>
          </a:ln>
          <a:effectLst/>
        </p:spPr>
        <p:txBody>
          <a:bodyPr rtlCol="0" anchor="ctr"/>
          <a:lstStyle/>
          <a:p>
            <a:pPr algn="ctr"/>
          </a:p>
        </p:txBody>
      </p:sp>
      <p:sp>
        <p:nvSpPr>
          <p:cNvPr id="2077" name="TextBox 2076"/>
          <p:cNvSpPr txBox="1"/>
          <p:nvPr/>
        </p:nvSpPr>
        <p:spPr>
          <a:xfrm>
            <a:off x="630936" y="4133087"/>
            <a:ext cx="457200" cy="201168"/>
          </a:xfrm>
          <a:prstGeom prst="rect">
            <a:avLst/>
          </a:prstGeom>
          <a:noFill/>
        </p:spPr>
        <p:txBody>
          <a:bodyPr wrap="square" lIns="0" rIns="0" tIns="0" bIns="0" anchor="t">
            <a:spAutoFit/>
          </a:bodyPr>
          <a:lstStyle/>
          <a:p>
            <a:pPr algn="l"/>
            <a:r>
              <a:rPr sz="900" b="1" i="0" spc="100">
                <a:solidFill>
                  <a:srgbClr val="0E7490"/>
                </a:solidFill>
                <a:latin typeface="Arial"/>
              </a:rPr>
              <a:t>08</a:t>
            </a:r>
          </a:p>
        </p:txBody>
      </p:sp>
      <p:sp>
        <p:nvSpPr>
          <p:cNvPr id="2078" name="TextBox 2077"/>
          <p:cNvSpPr txBox="1"/>
          <p:nvPr/>
        </p:nvSpPr>
        <p:spPr>
          <a:xfrm>
            <a:off x="630936" y="4334256"/>
            <a:ext cx="1591056" cy="274320"/>
          </a:xfrm>
          <a:prstGeom prst="rect">
            <a:avLst/>
          </a:prstGeom>
          <a:noFill/>
        </p:spPr>
        <p:txBody>
          <a:bodyPr wrap="square" lIns="0" rIns="0" tIns="0" bIns="0" anchor="t">
            <a:spAutoFit/>
          </a:bodyPr>
          <a:lstStyle/>
          <a:p>
            <a:pPr algn="l"/>
            <a:r>
              <a:rPr sz="1250" b="1" i="0">
                <a:solidFill>
                  <a:srgbClr val="0F172A"/>
                </a:solidFill>
                <a:latin typeface="Arial"/>
              </a:rPr>
              <a:t>Clinician</a:t>
            </a:r>
          </a:p>
        </p:txBody>
      </p:sp>
      <p:sp>
        <p:nvSpPr>
          <p:cNvPr id="2079" name="TextBox 2078"/>
          <p:cNvSpPr txBox="1"/>
          <p:nvPr/>
        </p:nvSpPr>
        <p:spPr>
          <a:xfrm>
            <a:off x="630936" y="4626864"/>
            <a:ext cx="1591056" cy="310896"/>
          </a:xfrm>
          <a:prstGeom prst="rect">
            <a:avLst/>
          </a:prstGeom>
          <a:noFill/>
        </p:spPr>
        <p:txBody>
          <a:bodyPr wrap="square" lIns="0" rIns="0" tIns="0" bIns="0" anchor="t">
            <a:spAutoFit/>
          </a:bodyPr>
          <a:lstStyle/>
          <a:p>
            <a:pPr algn="l"/>
            <a:r>
              <a:rPr sz="900" b="0" i="0">
                <a:solidFill>
                  <a:srgbClr val="5B6672"/>
                </a:solidFill>
                <a:latin typeface="Arial"/>
              </a:rPr>
              <a:t>decides - with evidence</a:t>
            </a:r>
          </a:p>
        </p:txBody>
      </p:sp>
      <p:sp>
        <p:nvSpPr>
          <p:cNvPr id="2080" name="Rounded Rectangle 2079"/>
          <p:cNvSpPr/>
          <p:nvPr/>
        </p:nvSpPr>
        <p:spPr>
          <a:xfrm>
            <a:off x="2606039" y="4041648"/>
            <a:ext cx="1847088" cy="969264"/>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81" name="TextBox 2080"/>
          <p:cNvSpPr txBox="1"/>
          <p:nvPr/>
        </p:nvSpPr>
        <p:spPr>
          <a:xfrm>
            <a:off x="2734056" y="4133087"/>
            <a:ext cx="457200" cy="201168"/>
          </a:xfrm>
          <a:prstGeom prst="rect">
            <a:avLst/>
          </a:prstGeom>
          <a:noFill/>
        </p:spPr>
        <p:txBody>
          <a:bodyPr wrap="square" lIns="0" rIns="0" tIns="0" bIns="0" anchor="t">
            <a:spAutoFit/>
          </a:bodyPr>
          <a:lstStyle/>
          <a:p>
            <a:pPr algn="l"/>
            <a:r>
              <a:rPr sz="900" b="1" i="0" spc="100">
                <a:solidFill>
                  <a:srgbClr val="0E7490"/>
                </a:solidFill>
                <a:latin typeface="Arial"/>
              </a:rPr>
              <a:t>07</a:t>
            </a:r>
          </a:p>
        </p:txBody>
      </p:sp>
      <p:sp>
        <p:nvSpPr>
          <p:cNvPr id="2082" name="TextBox 2081"/>
          <p:cNvSpPr txBox="1"/>
          <p:nvPr/>
        </p:nvSpPr>
        <p:spPr>
          <a:xfrm>
            <a:off x="2734056" y="4334256"/>
            <a:ext cx="1591056" cy="274320"/>
          </a:xfrm>
          <a:prstGeom prst="rect">
            <a:avLst/>
          </a:prstGeom>
          <a:noFill/>
        </p:spPr>
        <p:txBody>
          <a:bodyPr wrap="square" lIns="0" rIns="0" tIns="0" bIns="0" anchor="t">
            <a:spAutoFit/>
          </a:bodyPr>
          <a:lstStyle/>
          <a:p>
            <a:pPr algn="l"/>
            <a:r>
              <a:rPr sz="1250" b="1" i="0">
                <a:solidFill>
                  <a:srgbClr val="0F172A"/>
                </a:solidFill>
                <a:latin typeface="Arial"/>
              </a:rPr>
              <a:t>Grounded report</a:t>
            </a:r>
          </a:p>
        </p:txBody>
      </p:sp>
      <p:sp>
        <p:nvSpPr>
          <p:cNvPr id="2083" name="TextBox 2082"/>
          <p:cNvSpPr txBox="1"/>
          <p:nvPr/>
        </p:nvSpPr>
        <p:spPr>
          <a:xfrm>
            <a:off x="2734056" y="4626864"/>
            <a:ext cx="1591056" cy="310896"/>
          </a:xfrm>
          <a:prstGeom prst="rect">
            <a:avLst/>
          </a:prstGeom>
          <a:noFill/>
        </p:spPr>
        <p:txBody>
          <a:bodyPr wrap="square" lIns="0" rIns="0" tIns="0" bIns="0" anchor="t">
            <a:spAutoFit/>
          </a:bodyPr>
          <a:lstStyle/>
          <a:p>
            <a:pPr algn="l"/>
            <a:r>
              <a:rPr sz="900" b="0" i="0">
                <a:solidFill>
                  <a:srgbClr val="5B6672"/>
                </a:solidFill>
                <a:latin typeface="Arial"/>
              </a:rPr>
              <a:t>every claim cited</a:t>
            </a:r>
          </a:p>
        </p:txBody>
      </p:sp>
      <p:cxnSp>
        <p:nvCxnSpPr>
          <p:cNvPr id="2084" name="Connector 2083"/>
          <p:cNvCxnSpPr/>
          <p:nvPr/>
        </p:nvCxnSpPr>
        <p:spPr>
          <a:xfrm flipH="1">
            <a:off x="4480559" y="4526280"/>
            <a:ext cx="201168" cy="0"/>
          </a:xfrm>
          <a:prstGeom prst="line">
            <a:avLst/>
          </a:prstGeom>
          <a:ln w="17780">
            <a:solidFill>
              <a:srgbClr val="0D9488"/>
            </a:solidFill>
            <a:tailEnd type="triangle" w="med" len="med"/>
          </a:ln>
          <a:effectLst/>
        </p:spPr>
      </p:cxnSp>
      <p:sp>
        <p:nvSpPr>
          <p:cNvPr id="2085" name="Rounded Rectangle 2084"/>
          <p:cNvSpPr/>
          <p:nvPr/>
        </p:nvSpPr>
        <p:spPr>
          <a:xfrm>
            <a:off x="4709159" y="4041648"/>
            <a:ext cx="1847088" cy="969264"/>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86" name="TextBox 2085"/>
          <p:cNvSpPr txBox="1"/>
          <p:nvPr/>
        </p:nvSpPr>
        <p:spPr>
          <a:xfrm>
            <a:off x="4837175" y="4133087"/>
            <a:ext cx="457200" cy="201168"/>
          </a:xfrm>
          <a:prstGeom prst="rect">
            <a:avLst/>
          </a:prstGeom>
          <a:noFill/>
        </p:spPr>
        <p:txBody>
          <a:bodyPr wrap="square" lIns="0" rIns="0" tIns="0" bIns="0" anchor="t">
            <a:spAutoFit/>
          </a:bodyPr>
          <a:lstStyle/>
          <a:p>
            <a:pPr algn="l"/>
            <a:r>
              <a:rPr sz="900" b="1" i="0" spc="100">
                <a:solidFill>
                  <a:srgbClr val="0E7490"/>
                </a:solidFill>
                <a:latin typeface="Arial"/>
              </a:rPr>
              <a:t>06</a:t>
            </a:r>
          </a:p>
        </p:txBody>
      </p:sp>
      <p:sp>
        <p:nvSpPr>
          <p:cNvPr id="2087" name="TextBox 2086"/>
          <p:cNvSpPr txBox="1"/>
          <p:nvPr/>
        </p:nvSpPr>
        <p:spPr>
          <a:xfrm>
            <a:off x="4837175" y="4334256"/>
            <a:ext cx="1591056" cy="274320"/>
          </a:xfrm>
          <a:prstGeom prst="rect">
            <a:avLst/>
          </a:prstGeom>
          <a:noFill/>
        </p:spPr>
        <p:txBody>
          <a:bodyPr wrap="square" lIns="0" rIns="0" tIns="0" bIns="0" anchor="t">
            <a:spAutoFit/>
          </a:bodyPr>
          <a:lstStyle/>
          <a:p>
            <a:pPr algn="l"/>
            <a:r>
              <a:rPr sz="1250" b="1" i="0">
                <a:solidFill>
                  <a:srgbClr val="0F172A"/>
                </a:solidFill>
                <a:latin typeface="Arial"/>
              </a:rPr>
              <a:t>Evidence planner</a:t>
            </a:r>
          </a:p>
        </p:txBody>
      </p:sp>
      <p:sp>
        <p:nvSpPr>
          <p:cNvPr id="2088" name="TextBox 2087"/>
          <p:cNvSpPr txBox="1"/>
          <p:nvPr/>
        </p:nvSpPr>
        <p:spPr>
          <a:xfrm>
            <a:off x="4837175" y="4626864"/>
            <a:ext cx="1591056" cy="310896"/>
          </a:xfrm>
          <a:prstGeom prst="rect">
            <a:avLst/>
          </a:prstGeom>
          <a:noFill/>
        </p:spPr>
        <p:txBody>
          <a:bodyPr wrap="square" lIns="0" rIns="0" tIns="0" bIns="0" anchor="t">
            <a:spAutoFit/>
          </a:bodyPr>
          <a:lstStyle/>
          <a:p>
            <a:pPr algn="l"/>
            <a:r>
              <a:rPr sz="900" b="0" i="0">
                <a:solidFill>
                  <a:srgbClr val="5B6672"/>
                </a:solidFill>
                <a:latin typeface="Arial"/>
              </a:rPr>
              <a:t>next test by EIG</a:t>
            </a:r>
          </a:p>
        </p:txBody>
      </p:sp>
      <p:cxnSp>
        <p:nvCxnSpPr>
          <p:cNvPr id="2089" name="Connector 2088"/>
          <p:cNvCxnSpPr/>
          <p:nvPr/>
        </p:nvCxnSpPr>
        <p:spPr>
          <a:xfrm flipH="1">
            <a:off x="6583680" y="4526280"/>
            <a:ext cx="201168" cy="0"/>
          </a:xfrm>
          <a:prstGeom prst="line">
            <a:avLst/>
          </a:prstGeom>
          <a:ln w="17780">
            <a:solidFill>
              <a:srgbClr val="0D9488"/>
            </a:solidFill>
            <a:tailEnd type="triangle" w="med" len="med"/>
          </a:ln>
          <a:effectLst/>
        </p:spPr>
      </p:cxnSp>
      <p:sp>
        <p:nvSpPr>
          <p:cNvPr id="2090" name="Rounded Rectangle 2089"/>
          <p:cNvSpPr/>
          <p:nvPr/>
        </p:nvSpPr>
        <p:spPr>
          <a:xfrm>
            <a:off x="6812279" y="4041648"/>
            <a:ext cx="1847088" cy="969264"/>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91" name="TextBox 2090"/>
          <p:cNvSpPr txBox="1"/>
          <p:nvPr/>
        </p:nvSpPr>
        <p:spPr>
          <a:xfrm>
            <a:off x="6940295" y="4133087"/>
            <a:ext cx="457200" cy="201168"/>
          </a:xfrm>
          <a:prstGeom prst="rect">
            <a:avLst/>
          </a:prstGeom>
          <a:noFill/>
        </p:spPr>
        <p:txBody>
          <a:bodyPr wrap="square" lIns="0" rIns="0" tIns="0" bIns="0" anchor="t">
            <a:spAutoFit/>
          </a:bodyPr>
          <a:lstStyle/>
          <a:p>
            <a:pPr algn="l"/>
            <a:r>
              <a:rPr sz="900" b="1" i="0" spc="100">
                <a:solidFill>
                  <a:srgbClr val="0E7490"/>
                </a:solidFill>
                <a:latin typeface="Arial"/>
              </a:rPr>
              <a:t>05</a:t>
            </a:r>
          </a:p>
        </p:txBody>
      </p:sp>
      <p:sp>
        <p:nvSpPr>
          <p:cNvPr id="2092" name="TextBox 2091"/>
          <p:cNvSpPr txBox="1"/>
          <p:nvPr/>
        </p:nvSpPr>
        <p:spPr>
          <a:xfrm>
            <a:off x="6940295" y="4334256"/>
            <a:ext cx="1591056" cy="274320"/>
          </a:xfrm>
          <a:prstGeom prst="rect">
            <a:avLst/>
          </a:prstGeom>
          <a:noFill/>
        </p:spPr>
        <p:txBody>
          <a:bodyPr wrap="square" lIns="0" rIns="0" tIns="0" bIns="0" anchor="t">
            <a:spAutoFit/>
          </a:bodyPr>
          <a:lstStyle/>
          <a:p>
            <a:pPr algn="l"/>
            <a:r>
              <a:rPr sz="1250" b="1" i="0">
                <a:solidFill>
                  <a:srgbClr val="0F172A"/>
                </a:solidFill>
                <a:latin typeface="Arial"/>
              </a:rPr>
              <a:t>Counterfactuals</a:t>
            </a:r>
          </a:p>
        </p:txBody>
      </p:sp>
      <p:sp>
        <p:nvSpPr>
          <p:cNvPr id="2093" name="TextBox 2092"/>
          <p:cNvSpPr txBox="1"/>
          <p:nvPr/>
        </p:nvSpPr>
        <p:spPr>
          <a:xfrm>
            <a:off x="6940295" y="4626864"/>
            <a:ext cx="1591056" cy="310896"/>
          </a:xfrm>
          <a:prstGeom prst="rect">
            <a:avLst/>
          </a:prstGeom>
          <a:noFill/>
        </p:spPr>
        <p:txBody>
          <a:bodyPr wrap="square" lIns="0" rIns="0" tIns="0" bIns="0" anchor="t">
            <a:spAutoFit/>
          </a:bodyPr>
          <a:lstStyle/>
          <a:p>
            <a:pPr algn="l"/>
            <a:r>
              <a:rPr sz="900" b="0" i="0">
                <a:solidFill>
                  <a:srgbClr val="5B6672"/>
                </a:solidFill>
                <a:latin typeface="Arial"/>
              </a:rPr>
              <a:t>what flips the call</a:t>
            </a:r>
          </a:p>
        </p:txBody>
      </p:sp>
      <p:cxnSp>
        <p:nvCxnSpPr>
          <p:cNvPr id="2094" name="Connector 2093"/>
          <p:cNvCxnSpPr/>
          <p:nvPr/>
        </p:nvCxnSpPr>
        <p:spPr>
          <a:xfrm>
            <a:off x="7735823" y="3401568"/>
            <a:ext cx="0" cy="603504"/>
          </a:xfrm>
          <a:prstGeom prst="line">
            <a:avLst/>
          </a:prstGeom>
          <a:ln w="17780">
            <a:solidFill>
              <a:srgbClr val="0D9488"/>
            </a:solidFill>
            <a:tailEnd type="triangle" w="med" len="med"/>
          </a:ln>
          <a:effectLst/>
        </p:spPr>
      </p:cxnSp>
      <p:sp>
        <p:nvSpPr>
          <p:cNvPr id="2095" name="TextBox 2094"/>
          <p:cNvSpPr txBox="1"/>
          <p:nvPr/>
        </p:nvSpPr>
        <p:spPr>
          <a:xfrm>
            <a:off x="457200" y="5230368"/>
            <a:ext cx="8229600" cy="274320"/>
          </a:xfrm>
          <a:prstGeom prst="rect">
            <a:avLst/>
          </a:prstGeom>
          <a:noFill/>
        </p:spPr>
        <p:txBody>
          <a:bodyPr wrap="square" lIns="0" rIns="0" tIns="0" bIns="0" anchor="t">
            <a:spAutoFit/>
          </a:bodyPr>
          <a:lstStyle/>
          <a:p>
            <a:pPr algn="ctr"/>
            <a:r>
              <a:rPr sz="1250" b="0" i="1">
                <a:solidFill>
                  <a:srgbClr val="0E7490"/>
                </a:solidFill>
                <a:latin typeface="Arial"/>
              </a:rPr>
              <a:t>Not a better classifier - a diagnostic operating system.</a:t>
            </a:r>
          </a:p>
        </p:txBody>
      </p:sp>
      <p:sp>
        <p:nvSpPr>
          <p:cNvPr id="2096" name="TextBox 2095"/>
          <p:cNvSpPr txBox="1"/>
          <p:nvPr/>
        </p:nvSpPr>
        <p:spPr>
          <a:xfrm>
            <a:off x="457200" y="5541264"/>
            <a:ext cx="8229600" cy="219456"/>
          </a:xfrm>
          <a:prstGeom prst="rect">
            <a:avLst/>
          </a:prstGeom>
          <a:noFill/>
        </p:spPr>
        <p:txBody>
          <a:bodyPr wrap="square" lIns="0" rIns="0" tIns="0" bIns="0" anchor="t">
            <a:spAutoFit/>
          </a:bodyPr>
          <a:lstStyle/>
          <a:p>
            <a:pPr algn="l"/>
            <a:r>
              <a:rPr sz="800" b="0" i="1">
                <a:solidFill>
                  <a:srgbClr val="5B6672"/>
                </a:solidFill>
                <a:latin typeface="Arial"/>
              </a:rPr>
              <a:t>Pipeline implemented end-to-end: services/{vision, fusion, safety, explain, recommend, report} - live demo available.</a:t>
            </a:r>
          </a:p>
        </p:txBody>
      </p:sp>
    </p:spTree>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l="-24000" r="-24000"/>
          </a:stretch>
        </a:blipFill>
        <a:effectLst/>
      </p:bgPr>
    </p:bg>
    <p:spTree>
      <p:nvGrpSpPr>
        <p:cNvPr id="1" name=""/>
        <p:cNvGrpSpPr/>
        <p:nvPr/>
      </p:nvGrpSpPr>
      <p:grpSpPr>
        <a:xfrm>
          <a:off x="0" y="0"/>
          <a:ext cx="0" cy="0"/>
          <a:chOff x="0" y="0"/>
          <a:chExt cx="0" cy="0"/>
        </a:xfrm>
      </p:grpSpPr>
      <p:pic>
        <p:nvPicPr>
          <p:cNvPr id="2" name="Picture 3" descr="C:\Users\Admin\Downloads\1764679326535-Photoroom.png"/>
          <p:cNvPicPr>
            <a:picLocks noChangeAspect="1" noChangeArrowheads="1"/>
          </p:cNvPicPr>
          <p:nvPr/>
        </p:nvPicPr>
        <p:blipFill>
          <a:blip r:embed="rId4"/>
          <a:srcRect/>
          <a:stretch>
            <a:fillRect/>
          </a:stretch>
        </p:blipFill>
        <p:spPr bwMode="auto">
          <a:xfrm>
            <a:off x="4108831" y="35671"/>
            <a:ext cx="1285884" cy="1285884"/>
          </a:xfrm>
          <a:prstGeom prst="rect">
            <a:avLst/>
          </a:prstGeom>
          <a:noFill/>
        </p:spPr>
      </p:pic>
      <p:pic>
        <p:nvPicPr>
          <p:cNvPr id="2050" name="Picture 2" descr="C:\Users\Admin\Downloads\RIT.png"/>
          <p:cNvPicPr>
            <a:picLocks noChangeAspect="1" noChangeArrowheads="1"/>
          </p:cNvPicPr>
          <p:nvPr/>
        </p:nvPicPr>
        <p:blipFill>
          <a:blip r:embed="rId5" cstate="print"/>
          <a:srcRect/>
          <a:stretch>
            <a:fillRect/>
          </a:stretch>
        </p:blipFill>
        <p:spPr bwMode="auto">
          <a:xfrm>
            <a:off x="252062" y="285704"/>
            <a:ext cx="3043364" cy="785818"/>
          </a:xfrm>
          <a:prstGeom prst="rect">
            <a:avLst/>
          </a:prstGeom>
          <a:noFill/>
        </p:spPr>
      </p:pic>
      <p:pic>
        <p:nvPicPr>
          <p:cNvPr id="2051" name="Picture 3" descr="C:\Users\Admin\Downloads\IBM_logo.svg.png"/>
          <p:cNvPicPr>
            <a:picLocks noChangeAspect="1" noChangeArrowheads="1"/>
          </p:cNvPicPr>
          <p:nvPr/>
        </p:nvPicPr>
        <p:blipFill>
          <a:blip r:embed="rId6"/>
          <a:srcRect/>
          <a:stretch>
            <a:fillRect/>
          </a:stretch>
        </p:blipFill>
        <p:spPr bwMode="auto">
          <a:xfrm>
            <a:off x="7380312" y="357139"/>
            <a:ext cx="1528257" cy="571504"/>
          </a:xfrm>
          <a:prstGeom prst="rect">
            <a:avLst/>
          </a:prstGeom>
          <a:noFill/>
        </p:spPr>
      </p:pic>
      <p:pic>
        <p:nvPicPr>
          <p:cNvPr id="2053" name="Picture 5" descr="C:\Users\Admin\Downloads\logo-nqm.png"/>
          <p:cNvPicPr>
            <a:picLocks noChangeAspect="1" noChangeArrowheads="1"/>
          </p:cNvPicPr>
          <p:nvPr/>
        </p:nvPicPr>
        <p:blipFill>
          <a:blip r:embed="rId7"/>
          <a:srcRect/>
          <a:stretch>
            <a:fillRect/>
          </a:stretch>
        </p:blipFill>
        <p:spPr bwMode="auto">
          <a:xfrm>
            <a:off x="5519518" y="249994"/>
            <a:ext cx="710054" cy="785794"/>
          </a:xfrm>
          <a:prstGeom prst="rect">
            <a:avLst/>
          </a:prstGeom>
          <a:noFill/>
        </p:spPr>
      </p:pic>
      <p:sp>
        <p:nvSpPr>
          <p:cNvPr id="11" name="Footer Placeholder 10"/>
          <p:cNvSpPr>
            <a:spLocks noGrp="1"/>
          </p:cNvSpPr>
          <p:nvPr>
            <p:ph type="ftr" sz="quarter" idx="11"/>
          </p:nvPr>
        </p:nvSpPr>
        <p:spPr>
          <a:xfrm>
            <a:off x="304800" y="6410848"/>
            <a:ext cx="6196026" cy="232862"/>
          </a:xfrm>
        </p:spPr>
        <p:txBody>
          <a:bodyPr/>
          <a:lstStyle/>
          <a:p>
            <a:r>
              <a:rPr lang="en-IN" i="1" dirty="0" smtClean="0">
                <a:solidFill>
                  <a:schemeClr val="tx1"/>
                </a:solidFill>
                <a:latin typeface="Arial Rounded MT Bold" pitchFamily="34" charset="0"/>
              </a:rPr>
              <a:t>RIT – QUANT-A-THAN- 2026 (Innovate, Build, Transform)</a:t>
            </a:r>
            <a:endParaRPr lang="en-IN" i="1" dirty="0">
              <a:solidFill>
                <a:schemeClr val="tx1"/>
              </a:solidFill>
              <a:latin typeface="Arial Rounded MT Bold" pitchFamily="34" charset="0"/>
            </a:endParaRPr>
          </a:p>
        </p:txBody>
      </p:sp>
      <p:pic>
        <p:nvPicPr>
          <p:cNvPr id="5" name="Picture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88734" y="285704"/>
            <a:ext cx="866775" cy="714375"/>
          </a:xfrm>
          <a:prstGeom prst="rect">
            <a:avLst/>
          </a:prstGeom>
        </p:spPr>
      </p:pic>
      <p:sp>
        <p:nvSpPr>
          <p:cNvPr id="2054" name="TextBox 2053"/>
          <p:cNvSpPr txBox="1"/>
          <p:nvPr/>
        </p:nvSpPr>
        <p:spPr>
          <a:xfrm>
            <a:off x="457200" y="1133856"/>
            <a:ext cx="8229600" cy="237744"/>
          </a:xfrm>
          <a:prstGeom prst="rect">
            <a:avLst/>
          </a:prstGeom>
          <a:noFill/>
        </p:spPr>
        <p:txBody>
          <a:bodyPr wrap="square" lIns="0" rIns="0" tIns="0" bIns="0" anchor="t">
            <a:spAutoFit/>
          </a:bodyPr>
          <a:lstStyle/>
          <a:p>
            <a:pPr algn="l"/>
            <a:r>
              <a:rPr sz="1050" b="1" i="0" spc="280">
                <a:solidFill>
                  <a:srgbClr val="5B6672"/>
                </a:solidFill>
                <a:latin typeface="Arial"/>
              </a:rPr>
              <a:t>04  ·  </a:t>
            </a:r>
            <a:r>
              <a:rPr sz="1050" b="1" i="0" spc="280">
                <a:solidFill>
                  <a:srgbClr val="0E7490"/>
                </a:solidFill>
                <a:latin typeface="Arial"/>
              </a:rPr>
              <a:t>SYSTEM ARCHITECTURE</a:t>
            </a:r>
          </a:p>
        </p:txBody>
      </p:sp>
      <p:sp>
        <p:nvSpPr>
          <p:cNvPr id="2055" name="TextBox 2054"/>
          <p:cNvSpPr txBox="1"/>
          <p:nvPr/>
        </p:nvSpPr>
        <p:spPr>
          <a:xfrm>
            <a:off x="457200" y="1371600"/>
            <a:ext cx="8229600" cy="475488"/>
          </a:xfrm>
          <a:prstGeom prst="rect">
            <a:avLst/>
          </a:prstGeom>
          <a:noFill/>
        </p:spPr>
        <p:txBody>
          <a:bodyPr wrap="square" lIns="0" rIns="0" tIns="0" bIns="0" anchor="t">
            <a:spAutoFit/>
          </a:bodyPr>
          <a:lstStyle/>
          <a:p>
            <a:pPr algn="l"/>
            <a:r>
              <a:rPr sz="2600" b="1" i="0" spc="-20">
                <a:solidFill>
                  <a:srgbClr val="0F172A"/>
                </a:solidFill>
                <a:latin typeface="Arial"/>
              </a:rPr>
              <a:t>Five layers, nine replaceable services</a:t>
            </a:r>
          </a:p>
        </p:txBody>
      </p:sp>
      <p:sp>
        <p:nvSpPr>
          <p:cNvPr id="2056" name="TextBox 2055"/>
          <p:cNvSpPr txBox="1"/>
          <p:nvPr/>
        </p:nvSpPr>
        <p:spPr>
          <a:xfrm>
            <a:off x="457200" y="1874519"/>
            <a:ext cx="8229600" cy="274320"/>
          </a:xfrm>
          <a:prstGeom prst="rect">
            <a:avLst/>
          </a:prstGeom>
          <a:noFill/>
        </p:spPr>
        <p:txBody>
          <a:bodyPr wrap="square" lIns="0" rIns="0" tIns="0" bIns="0" anchor="t">
            <a:spAutoFit/>
          </a:bodyPr>
          <a:lstStyle/>
          <a:p>
            <a:pPr algn="l"/>
            <a:r>
              <a:rPr sz="1150" b="0" i="1">
                <a:solidFill>
                  <a:srgbClr val="5B6672"/>
                </a:solidFill>
                <a:latin typeface="Arial"/>
              </a:rPr>
              <a:t>Purpose - show this is an engineered system with typed contracts, not a notebook.</a:t>
            </a:r>
          </a:p>
        </p:txBody>
      </p:sp>
      <p:sp>
        <p:nvSpPr>
          <p:cNvPr id="2057" name="Rounded Rectangle 2056"/>
          <p:cNvSpPr/>
          <p:nvPr/>
        </p:nvSpPr>
        <p:spPr>
          <a:xfrm>
            <a:off x="457200" y="2286000"/>
            <a:ext cx="6355080" cy="548640"/>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58" name="TextBox 2057"/>
          <p:cNvSpPr txBox="1"/>
          <p:nvPr/>
        </p:nvSpPr>
        <p:spPr>
          <a:xfrm>
            <a:off x="658368" y="2340864"/>
            <a:ext cx="1600200" cy="438912"/>
          </a:xfrm>
          <a:prstGeom prst="rect">
            <a:avLst/>
          </a:prstGeom>
          <a:noFill/>
        </p:spPr>
        <p:txBody>
          <a:bodyPr wrap="square" lIns="0" rIns="0" tIns="0" bIns="0" anchor="ctr">
            <a:spAutoFit/>
          </a:bodyPr>
          <a:lstStyle/>
          <a:p>
            <a:pPr algn="l"/>
            <a:r>
              <a:rPr sz="1050" b="1" i="0" spc="140">
                <a:solidFill>
                  <a:srgbClr val="0F172A"/>
                </a:solidFill>
                <a:latin typeface="Arial"/>
              </a:rPr>
              <a:t>CLINICAL</a:t>
            </a:r>
          </a:p>
        </p:txBody>
      </p:sp>
      <p:sp>
        <p:nvSpPr>
          <p:cNvPr id="2059" name="TextBox 2058"/>
          <p:cNvSpPr txBox="1"/>
          <p:nvPr/>
        </p:nvSpPr>
        <p:spPr>
          <a:xfrm>
            <a:off x="2331720" y="2340864"/>
            <a:ext cx="4343400" cy="438912"/>
          </a:xfrm>
          <a:prstGeom prst="rect">
            <a:avLst/>
          </a:prstGeom>
          <a:noFill/>
        </p:spPr>
        <p:txBody>
          <a:bodyPr wrap="square" lIns="0" rIns="0" tIns="0" bIns="0" anchor="ctr">
            <a:spAutoFit/>
          </a:bodyPr>
          <a:lstStyle/>
          <a:p>
            <a:pPr algn="l"/>
            <a:r>
              <a:rPr sz="950" b="0" i="0">
                <a:solidFill>
                  <a:srgbClr val="5B6672"/>
                </a:solidFill>
                <a:latin typeface="Arial"/>
              </a:rPr>
              <a:t>Doctor dashboard · differential view · report signing · feedback capture</a:t>
            </a:r>
          </a:p>
        </p:txBody>
      </p:sp>
      <p:sp>
        <p:nvSpPr>
          <p:cNvPr id="2060" name="Rounded Rectangle 2059"/>
          <p:cNvSpPr/>
          <p:nvPr/>
        </p:nvSpPr>
        <p:spPr>
          <a:xfrm>
            <a:off x="457200" y="2907792"/>
            <a:ext cx="6355080" cy="548640"/>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61" name="TextBox 2060"/>
          <p:cNvSpPr txBox="1"/>
          <p:nvPr/>
        </p:nvSpPr>
        <p:spPr>
          <a:xfrm>
            <a:off x="658368" y="2962656"/>
            <a:ext cx="1600200" cy="438912"/>
          </a:xfrm>
          <a:prstGeom prst="rect">
            <a:avLst/>
          </a:prstGeom>
          <a:noFill/>
        </p:spPr>
        <p:txBody>
          <a:bodyPr wrap="square" lIns="0" rIns="0" tIns="0" bIns="0" anchor="ctr">
            <a:spAutoFit/>
          </a:bodyPr>
          <a:lstStyle/>
          <a:p>
            <a:pPr algn="l"/>
            <a:r>
              <a:rPr sz="1050" b="1" i="0" spc="140">
                <a:solidFill>
                  <a:srgbClr val="0F172A"/>
                </a:solidFill>
                <a:latin typeface="Arial"/>
              </a:rPr>
              <a:t>KNOWLEDGE</a:t>
            </a:r>
          </a:p>
        </p:txBody>
      </p:sp>
      <p:sp>
        <p:nvSpPr>
          <p:cNvPr id="2062" name="TextBox 2061"/>
          <p:cNvSpPr txBox="1"/>
          <p:nvPr/>
        </p:nvSpPr>
        <p:spPr>
          <a:xfrm>
            <a:off x="2331720" y="2962656"/>
            <a:ext cx="4343400" cy="438912"/>
          </a:xfrm>
          <a:prstGeom prst="rect">
            <a:avLst/>
          </a:prstGeom>
          <a:noFill/>
        </p:spPr>
        <p:txBody>
          <a:bodyPr wrap="square" lIns="0" rIns="0" tIns="0" bIns="0" anchor="ctr">
            <a:spAutoFit/>
          </a:bodyPr>
          <a:lstStyle/>
          <a:p>
            <a:pPr algn="l"/>
            <a:r>
              <a:rPr sz="950" b="0" i="0">
                <a:solidFill>
                  <a:srgbClr val="5B6672"/>
                </a:solidFill>
                <a:latin typeface="Arial"/>
              </a:rPr>
              <a:t>Disease ontology · guideline engine · case memory · audit ledger</a:t>
            </a:r>
          </a:p>
        </p:txBody>
      </p:sp>
      <p:sp>
        <p:nvSpPr>
          <p:cNvPr id="2063" name="Rounded Rectangle 2062"/>
          <p:cNvSpPr/>
          <p:nvPr/>
        </p:nvSpPr>
        <p:spPr>
          <a:xfrm>
            <a:off x="457200" y="3529584"/>
            <a:ext cx="6355080" cy="548640"/>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64" name="TextBox 2063"/>
          <p:cNvSpPr txBox="1"/>
          <p:nvPr/>
        </p:nvSpPr>
        <p:spPr>
          <a:xfrm>
            <a:off x="658368" y="3584448"/>
            <a:ext cx="1600200" cy="438912"/>
          </a:xfrm>
          <a:prstGeom prst="rect">
            <a:avLst/>
          </a:prstGeom>
          <a:noFill/>
        </p:spPr>
        <p:txBody>
          <a:bodyPr wrap="square" lIns="0" rIns="0" tIns="0" bIns="0" anchor="ctr">
            <a:spAutoFit/>
          </a:bodyPr>
          <a:lstStyle/>
          <a:p>
            <a:pPr algn="l"/>
            <a:r>
              <a:rPr sz="1050" b="1" i="0" spc="140">
                <a:solidFill>
                  <a:srgbClr val="0F172A"/>
                </a:solidFill>
                <a:latin typeface="Arial"/>
              </a:rPr>
              <a:t>AI REASONING</a:t>
            </a:r>
          </a:p>
        </p:txBody>
      </p:sp>
      <p:sp>
        <p:nvSpPr>
          <p:cNvPr id="2065" name="TextBox 2064"/>
          <p:cNvSpPr txBox="1"/>
          <p:nvPr/>
        </p:nvSpPr>
        <p:spPr>
          <a:xfrm>
            <a:off x="2331720" y="3584448"/>
            <a:ext cx="4343400" cy="438912"/>
          </a:xfrm>
          <a:prstGeom prst="rect">
            <a:avLst/>
          </a:prstGeom>
          <a:noFill/>
        </p:spPr>
        <p:txBody>
          <a:bodyPr wrap="square" lIns="0" rIns="0" tIns="0" bIns="0" anchor="ctr">
            <a:spAutoFit/>
          </a:bodyPr>
          <a:lstStyle/>
          <a:p>
            <a:pPr algn="l"/>
            <a:r>
              <a:rPr sz="950" b="0" i="0">
                <a:solidFill>
                  <a:srgbClr val="5B6672"/>
                </a:solidFill>
                <a:latin typeface="Arial"/>
              </a:rPr>
              <a:t>Vision encoder · Bayesian reasoning agents · uncertainty + safety engine</a:t>
            </a:r>
          </a:p>
        </p:txBody>
      </p:sp>
      <p:sp>
        <p:nvSpPr>
          <p:cNvPr id="2066" name="Rounded Rectangle 2065"/>
          <p:cNvSpPr/>
          <p:nvPr/>
        </p:nvSpPr>
        <p:spPr>
          <a:xfrm>
            <a:off x="457200" y="4151376"/>
            <a:ext cx="6355080" cy="548640"/>
          </a:xfrm>
          <a:prstGeom prst="roundRect">
            <a:avLst>
              <a:gd name="adj" fmla="val 10000"/>
            </a:avLst>
          </a:prstGeom>
          <a:solidFill>
            <a:srgbClr val="ECF8F7"/>
          </a:solidFill>
          <a:ln w="16510">
            <a:solidFill>
              <a:srgbClr val="0D9488"/>
            </a:solidFill>
          </a:ln>
          <a:effectLst/>
        </p:spPr>
        <p:txBody>
          <a:bodyPr rtlCol="0" anchor="ctr"/>
          <a:lstStyle/>
          <a:p>
            <a:pPr algn="ctr"/>
          </a:p>
        </p:txBody>
      </p:sp>
      <p:sp>
        <p:nvSpPr>
          <p:cNvPr id="2067" name="TextBox 2066"/>
          <p:cNvSpPr txBox="1"/>
          <p:nvPr/>
        </p:nvSpPr>
        <p:spPr>
          <a:xfrm>
            <a:off x="658368" y="4206240"/>
            <a:ext cx="1600200" cy="438912"/>
          </a:xfrm>
          <a:prstGeom prst="rect">
            <a:avLst/>
          </a:prstGeom>
          <a:noFill/>
        </p:spPr>
        <p:txBody>
          <a:bodyPr wrap="square" lIns="0" rIns="0" tIns="0" bIns="0" anchor="ctr">
            <a:spAutoFit/>
          </a:bodyPr>
          <a:lstStyle/>
          <a:p>
            <a:pPr algn="l"/>
            <a:r>
              <a:rPr sz="1050" b="1" i="0" spc="140">
                <a:solidFill>
                  <a:srgbClr val="0E7490"/>
                </a:solidFill>
                <a:latin typeface="Arial"/>
              </a:rPr>
              <a:t>QUANTUM</a:t>
            </a:r>
          </a:p>
        </p:txBody>
      </p:sp>
      <p:sp>
        <p:nvSpPr>
          <p:cNvPr id="2068" name="TextBox 2067"/>
          <p:cNvSpPr txBox="1"/>
          <p:nvPr/>
        </p:nvSpPr>
        <p:spPr>
          <a:xfrm>
            <a:off x="2331720" y="4206240"/>
            <a:ext cx="4343400" cy="438912"/>
          </a:xfrm>
          <a:prstGeom prst="rect">
            <a:avLst/>
          </a:prstGeom>
          <a:noFill/>
        </p:spPr>
        <p:txBody>
          <a:bodyPr wrap="square" lIns="0" rIns="0" tIns="0" bIns="0" anchor="ctr">
            <a:spAutoFit/>
          </a:bodyPr>
          <a:lstStyle/>
          <a:p>
            <a:pPr algn="l"/>
            <a:r>
              <a:rPr sz="950" b="0" i="0">
                <a:solidFill>
                  <a:srgbClr val="5B6672"/>
                </a:solidFill>
                <a:latin typeface="Arial"/>
              </a:rPr>
              <a:t>Feature-map registry · quantum kernels · VQC evidence fusion · quantum similarity</a:t>
            </a:r>
          </a:p>
        </p:txBody>
      </p:sp>
      <p:sp>
        <p:nvSpPr>
          <p:cNvPr id="2069" name="Rounded Rectangle 2068"/>
          <p:cNvSpPr/>
          <p:nvPr/>
        </p:nvSpPr>
        <p:spPr>
          <a:xfrm>
            <a:off x="457200" y="4773168"/>
            <a:ext cx="6355080" cy="548640"/>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70" name="TextBox 2069"/>
          <p:cNvSpPr txBox="1"/>
          <p:nvPr/>
        </p:nvSpPr>
        <p:spPr>
          <a:xfrm>
            <a:off x="658368" y="4828031"/>
            <a:ext cx="1600200" cy="438912"/>
          </a:xfrm>
          <a:prstGeom prst="rect">
            <a:avLst/>
          </a:prstGeom>
          <a:noFill/>
        </p:spPr>
        <p:txBody>
          <a:bodyPr wrap="square" lIns="0" rIns="0" tIns="0" bIns="0" anchor="ctr">
            <a:spAutoFit/>
          </a:bodyPr>
          <a:lstStyle/>
          <a:p>
            <a:pPr algn="l"/>
            <a:r>
              <a:rPr sz="1050" b="1" i="0" spc="140">
                <a:solidFill>
                  <a:srgbClr val="0F172A"/>
                </a:solidFill>
                <a:latin typeface="Arial"/>
              </a:rPr>
              <a:t>GATEWAY / DATA</a:t>
            </a:r>
          </a:p>
        </p:txBody>
      </p:sp>
      <p:sp>
        <p:nvSpPr>
          <p:cNvPr id="2071" name="TextBox 2070"/>
          <p:cNvSpPr txBox="1"/>
          <p:nvPr/>
        </p:nvSpPr>
        <p:spPr>
          <a:xfrm>
            <a:off x="2331720" y="4828031"/>
            <a:ext cx="4343400" cy="438912"/>
          </a:xfrm>
          <a:prstGeom prst="rect">
            <a:avLst/>
          </a:prstGeom>
          <a:noFill/>
        </p:spPr>
        <p:txBody>
          <a:bodyPr wrap="square" lIns="0" rIns="0" tIns="0" bIns="0" anchor="ctr">
            <a:spAutoFit/>
          </a:bodyPr>
          <a:lstStyle/>
          <a:p>
            <a:pPr algn="l"/>
            <a:r>
              <a:rPr sz="950" b="0" i="0">
                <a:solidFill>
                  <a:srgbClr val="5B6672"/>
                </a:solidFill>
                <a:latin typeface="Arial"/>
              </a:rPr>
              <a:t>FastAPI gateway · async event bus · PACS-EHR adapters · SQLite provenance</a:t>
            </a:r>
          </a:p>
        </p:txBody>
      </p:sp>
      <p:sp>
        <p:nvSpPr>
          <p:cNvPr id="2072" name="Rounded Rectangle 2071"/>
          <p:cNvSpPr/>
          <p:nvPr/>
        </p:nvSpPr>
        <p:spPr>
          <a:xfrm>
            <a:off x="6967728" y="2286000"/>
            <a:ext cx="1719072" cy="950976"/>
          </a:xfrm>
          <a:prstGeom prst="roundRect">
            <a:avLst>
              <a:gd name="adj" fmla="val 10000"/>
            </a:avLst>
          </a:prstGeom>
          <a:solidFill>
            <a:srgbClr val="FFFFFF"/>
          </a:solidFill>
          <a:ln w="9525">
            <a:solidFill>
              <a:srgbClr val="C6E4E1"/>
            </a:solidFill>
          </a:ln>
          <a:effectLst/>
        </p:spPr>
        <p:txBody>
          <a:bodyPr rtlCol="0" anchor="ctr"/>
          <a:lstStyle/>
          <a:p>
            <a:pPr algn="ctr"/>
          </a:p>
        </p:txBody>
      </p:sp>
      <p:sp>
        <p:nvSpPr>
          <p:cNvPr id="2073" name="TextBox 2072"/>
          <p:cNvSpPr txBox="1"/>
          <p:nvPr/>
        </p:nvSpPr>
        <p:spPr>
          <a:xfrm>
            <a:off x="7095744" y="2395728"/>
            <a:ext cx="1463040" cy="201168"/>
          </a:xfrm>
          <a:prstGeom prst="rect">
            <a:avLst/>
          </a:prstGeom>
          <a:noFill/>
        </p:spPr>
        <p:txBody>
          <a:bodyPr wrap="square" lIns="0" rIns="0" tIns="0" bIns="0" anchor="t">
            <a:spAutoFit/>
          </a:bodyPr>
          <a:lstStyle/>
          <a:p>
            <a:pPr algn="l"/>
            <a:r>
              <a:rPr sz="850" b="1" i="0" spc="180">
                <a:solidFill>
                  <a:srgbClr val="0E7490"/>
                </a:solidFill>
                <a:latin typeface="Arial"/>
              </a:rPr>
              <a:t>SAFETY</a:t>
            </a:r>
          </a:p>
        </p:txBody>
      </p:sp>
      <p:sp>
        <p:nvSpPr>
          <p:cNvPr id="2074" name="TextBox 2073"/>
          <p:cNvSpPr txBox="1"/>
          <p:nvPr/>
        </p:nvSpPr>
        <p:spPr>
          <a:xfrm>
            <a:off x="7095744" y="2615184"/>
            <a:ext cx="1481328" cy="566928"/>
          </a:xfrm>
          <a:prstGeom prst="rect">
            <a:avLst/>
          </a:prstGeom>
          <a:noFill/>
        </p:spPr>
        <p:txBody>
          <a:bodyPr wrap="square" lIns="0" rIns="0" tIns="0" bIns="0" anchor="t">
            <a:spAutoFit/>
          </a:bodyPr>
          <a:lstStyle/>
          <a:p>
            <a:pPr algn="l">
              <a:lnSpc>
                <a:spcPct val="100000"/>
              </a:lnSpc>
            </a:pPr>
            <a:r>
              <a:rPr sz="850" b="0" i="0">
                <a:solidFill>
                  <a:srgbClr val="5B6672"/>
                </a:solidFill>
                <a:latin typeface="Arial"/>
              </a:rPr>
              <a:t>abstention policy - no silent failure</a:t>
            </a:r>
          </a:p>
        </p:txBody>
      </p:sp>
      <p:sp>
        <p:nvSpPr>
          <p:cNvPr id="2075" name="Rounded Rectangle 2074"/>
          <p:cNvSpPr/>
          <p:nvPr/>
        </p:nvSpPr>
        <p:spPr>
          <a:xfrm>
            <a:off x="6967728" y="3346704"/>
            <a:ext cx="1719072" cy="950976"/>
          </a:xfrm>
          <a:prstGeom prst="roundRect">
            <a:avLst>
              <a:gd name="adj" fmla="val 10000"/>
            </a:avLst>
          </a:prstGeom>
          <a:solidFill>
            <a:srgbClr val="FFFFFF"/>
          </a:solidFill>
          <a:ln w="9525">
            <a:solidFill>
              <a:srgbClr val="C6E4E1"/>
            </a:solidFill>
          </a:ln>
          <a:effectLst/>
        </p:spPr>
        <p:txBody>
          <a:bodyPr rtlCol="0" anchor="ctr"/>
          <a:lstStyle/>
          <a:p>
            <a:pPr algn="ctr"/>
          </a:p>
        </p:txBody>
      </p:sp>
      <p:sp>
        <p:nvSpPr>
          <p:cNvPr id="2076" name="TextBox 2075"/>
          <p:cNvSpPr txBox="1"/>
          <p:nvPr/>
        </p:nvSpPr>
        <p:spPr>
          <a:xfrm>
            <a:off x="7095744" y="3456432"/>
            <a:ext cx="1463040" cy="201168"/>
          </a:xfrm>
          <a:prstGeom prst="rect">
            <a:avLst/>
          </a:prstGeom>
          <a:noFill/>
        </p:spPr>
        <p:txBody>
          <a:bodyPr wrap="square" lIns="0" rIns="0" tIns="0" bIns="0" anchor="t">
            <a:spAutoFit/>
          </a:bodyPr>
          <a:lstStyle/>
          <a:p>
            <a:pPr algn="l"/>
            <a:r>
              <a:rPr sz="850" b="1" i="0" spc="180">
                <a:solidFill>
                  <a:srgbClr val="0E7490"/>
                </a:solidFill>
                <a:latin typeface="Arial"/>
              </a:rPr>
              <a:t>PROVENANCE</a:t>
            </a:r>
          </a:p>
        </p:txBody>
      </p:sp>
      <p:sp>
        <p:nvSpPr>
          <p:cNvPr id="2077" name="TextBox 2076"/>
          <p:cNvSpPr txBox="1"/>
          <p:nvPr/>
        </p:nvSpPr>
        <p:spPr>
          <a:xfrm>
            <a:off x="7095744" y="3675888"/>
            <a:ext cx="1481328" cy="566928"/>
          </a:xfrm>
          <a:prstGeom prst="rect">
            <a:avLst/>
          </a:prstGeom>
          <a:noFill/>
        </p:spPr>
        <p:txBody>
          <a:bodyPr wrap="square" lIns="0" rIns="0" tIns="0" bIns="0" anchor="t">
            <a:spAutoFit/>
          </a:bodyPr>
          <a:lstStyle/>
          <a:p>
            <a:pPr algn="l">
              <a:lnSpc>
                <a:spcPct val="100000"/>
              </a:lnSpc>
            </a:pPr>
            <a:r>
              <a:rPr sz="850" b="0" i="0">
                <a:solidFill>
                  <a:srgbClr val="5B6672"/>
                </a:solidFill>
                <a:latin typeface="Arial"/>
              </a:rPr>
              <a:t>every claim carries {model, seed, version}</a:t>
            </a:r>
          </a:p>
        </p:txBody>
      </p:sp>
      <p:sp>
        <p:nvSpPr>
          <p:cNvPr id="2078" name="Rounded Rectangle 2077"/>
          <p:cNvSpPr/>
          <p:nvPr/>
        </p:nvSpPr>
        <p:spPr>
          <a:xfrm>
            <a:off x="6967728" y="4407408"/>
            <a:ext cx="1719072" cy="950976"/>
          </a:xfrm>
          <a:prstGeom prst="roundRect">
            <a:avLst>
              <a:gd name="adj" fmla="val 10000"/>
            </a:avLst>
          </a:prstGeom>
          <a:solidFill>
            <a:srgbClr val="FFFFFF"/>
          </a:solidFill>
          <a:ln w="9525">
            <a:solidFill>
              <a:srgbClr val="C6E4E1"/>
            </a:solidFill>
          </a:ln>
          <a:effectLst/>
        </p:spPr>
        <p:txBody>
          <a:bodyPr rtlCol="0" anchor="ctr"/>
          <a:lstStyle/>
          <a:p>
            <a:pPr algn="ctr"/>
          </a:p>
        </p:txBody>
      </p:sp>
      <p:sp>
        <p:nvSpPr>
          <p:cNvPr id="2079" name="TextBox 2078"/>
          <p:cNvSpPr txBox="1"/>
          <p:nvPr/>
        </p:nvSpPr>
        <p:spPr>
          <a:xfrm>
            <a:off x="7095744" y="4517136"/>
            <a:ext cx="1463040" cy="201168"/>
          </a:xfrm>
          <a:prstGeom prst="rect">
            <a:avLst/>
          </a:prstGeom>
          <a:noFill/>
        </p:spPr>
        <p:txBody>
          <a:bodyPr wrap="square" lIns="0" rIns="0" tIns="0" bIns="0" anchor="t">
            <a:spAutoFit/>
          </a:bodyPr>
          <a:lstStyle/>
          <a:p>
            <a:pPr algn="l"/>
            <a:r>
              <a:rPr sz="850" b="1" i="0" spc="180">
                <a:solidFill>
                  <a:srgbClr val="0E7490"/>
                </a:solidFill>
                <a:latin typeface="Arial"/>
              </a:rPr>
              <a:t>CONTRACTS</a:t>
            </a:r>
          </a:p>
        </p:txBody>
      </p:sp>
      <p:sp>
        <p:nvSpPr>
          <p:cNvPr id="2080" name="TextBox 2079"/>
          <p:cNvSpPr txBox="1"/>
          <p:nvPr/>
        </p:nvSpPr>
        <p:spPr>
          <a:xfrm>
            <a:off x="7095744" y="4736592"/>
            <a:ext cx="1481328" cy="566928"/>
          </a:xfrm>
          <a:prstGeom prst="rect">
            <a:avLst/>
          </a:prstGeom>
          <a:noFill/>
        </p:spPr>
        <p:txBody>
          <a:bodyPr wrap="square" lIns="0" rIns="0" tIns="0" bIns="0" anchor="t">
            <a:spAutoFit/>
          </a:bodyPr>
          <a:lstStyle/>
          <a:p>
            <a:pPr algn="l">
              <a:lnSpc>
                <a:spcPct val="100000"/>
              </a:lnSpc>
            </a:pPr>
            <a:r>
              <a:rPr sz="850" b="0" i="0">
                <a:solidFill>
                  <a:srgbClr val="5B6672"/>
                </a:solidFill>
                <a:latin typeface="Arial"/>
              </a:rPr>
              <a:t>shared Pydantic schemas across services</a:t>
            </a:r>
          </a:p>
        </p:txBody>
      </p:sp>
      <p:sp>
        <p:nvSpPr>
          <p:cNvPr id="2081" name="TextBox 2080"/>
          <p:cNvSpPr txBox="1"/>
          <p:nvPr/>
        </p:nvSpPr>
        <p:spPr>
          <a:xfrm>
            <a:off x="457200" y="5468112"/>
            <a:ext cx="6400800" cy="237744"/>
          </a:xfrm>
          <a:prstGeom prst="rect">
            <a:avLst/>
          </a:prstGeom>
          <a:noFill/>
        </p:spPr>
        <p:txBody>
          <a:bodyPr wrap="square" lIns="0" rIns="0" tIns="0" bIns="0" anchor="t">
            <a:spAutoFit/>
          </a:bodyPr>
          <a:lstStyle/>
          <a:p>
            <a:pPr algn="l"/>
            <a:r>
              <a:rPr sz="1000" b="0" i="1">
                <a:solidFill>
                  <a:srgbClr val="0E7490"/>
                </a:solidFill>
                <a:latin typeface="Arial"/>
              </a:rPr>
              <a:t>Every engine is independently swappable - the quantum layer ships beside its classical twin.</a:t>
            </a:r>
          </a:p>
        </p:txBody>
      </p:sp>
    </p:spTree>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l="-24000" r="-24000"/>
          </a:stretch>
        </a:blipFill>
        <a:effectLst/>
      </p:bgPr>
    </p:bg>
    <p:spTree>
      <p:nvGrpSpPr>
        <p:cNvPr id="1" name=""/>
        <p:cNvGrpSpPr/>
        <p:nvPr/>
      </p:nvGrpSpPr>
      <p:grpSpPr>
        <a:xfrm>
          <a:off x="0" y="0"/>
          <a:ext cx="0" cy="0"/>
          <a:chOff x="0" y="0"/>
          <a:chExt cx="0" cy="0"/>
        </a:xfrm>
      </p:grpSpPr>
      <p:pic>
        <p:nvPicPr>
          <p:cNvPr id="2" name="Picture 3" descr="C:\Users\Admin\Downloads\1764679326535-Photoroom.png"/>
          <p:cNvPicPr>
            <a:picLocks noChangeAspect="1" noChangeArrowheads="1"/>
          </p:cNvPicPr>
          <p:nvPr/>
        </p:nvPicPr>
        <p:blipFill>
          <a:blip r:embed="rId4"/>
          <a:srcRect/>
          <a:stretch>
            <a:fillRect/>
          </a:stretch>
        </p:blipFill>
        <p:spPr bwMode="auto">
          <a:xfrm>
            <a:off x="4108831" y="35671"/>
            <a:ext cx="1285884" cy="1285884"/>
          </a:xfrm>
          <a:prstGeom prst="rect">
            <a:avLst/>
          </a:prstGeom>
          <a:noFill/>
        </p:spPr>
      </p:pic>
      <p:pic>
        <p:nvPicPr>
          <p:cNvPr id="2050" name="Picture 2" descr="C:\Users\Admin\Downloads\RIT.png"/>
          <p:cNvPicPr>
            <a:picLocks noChangeAspect="1" noChangeArrowheads="1"/>
          </p:cNvPicPr>
          <p:nvPr/>
        </p:nvPicPr>
        <p:blipFill>
          <a:blip r:embed="rId5" cstate="print"/>
          <a:srcRect/>
          <a:stretch>
            <a:fillRect/>
          </a:stretch>
        </p:blipFill>
        <p:spPr bwMode="auto">
          <a:xfrm>
            <a:off x="252062" y="285704"/>
            <a:ext cx="3043364" cy="785818"/>
          </a:xfrm>
          <a:prstGeom prst="rect">
            <a:avLst/>
          </a:prstGeom>
          <a:noFill/>
        </p:spPr>
      </p:pic>
      <p:pic>
        <p:nvPicPr>
          <p:cNvPr id="2051" name="Picture 3" descr="C:\Users\Admin\Downloads\IBM_logo.svg.png"/>
          <p:cNvPicPr>
            <a:picLocks noChangeAspect="1" noChangeArrowheads="1"/>
          </p:cNvPicPr>
          <p:nvPr/>
        </p:nvPicPr>
        <p:blipFill>
          <a:blip r:embed="rId6"/>
          <a:srcRect/>
          <a:stretch>
            <a:fillRect/>
          </a:stretch>
        </p:blipFill>
        <p:spPr bwMode="auto">
          <a:xfrm>
            <a:off x="7380312" y="357139"/>
            <a:ext cx="1528257" cy="571504"/>
          </a:xfrm>
          <a:prstGeom prst="rect">
            <a:avLst/>
          </a:prstGeom>
          <a:noFill/>
        </p:spPr>
      </p:pic>
      <p:pic>
        <p:nvPicPr>
          <p:cNvPr id="2053" name="Picture 5" descr="C:\Users\Admin\Downloads\logo-nqm.png"/>
          <p:cNvPicPr>
            <a:picLocks noChangeAspect="1" noChangeArrowheads="1"/>
          </p:cNvPicPr>
          <p:nvPr/>
        </p:nvPicPr>
        <p:blipFill>
          <a:blip r:embed="rId7"/>
          <a:srcRect/>
          <a:stretch>
            <a:fillRect/>
          </a:stretch>
        </p:blipFill>
        <p:spPr bwMode="auto">
          <a:xfrm>
            <a:off x="5519518" y="249994"/>
            <a:ext cx="710054" cy="785794"/>
          </a:xfrm>
          <a:prstGeom prst="rect">
            <a:avLst/>
          </a:prstGeom>
          <a:noFill/>
        </p:spPr>
      </p:pic>
      <p:sp>
        <p:nvSpPr>
          <p:cNvPr id="11" name="Footer Placeholder 10"/>
          <p:cNvSpPr>
            <a:spLocks noGrp="1"/>
          </p:cNvSpPr>
          <p:nvPr>
            <p:ph type="ftr" sz="quarter" idx="11"/>
          </p:nvPr>
        </p:nvSpPr>
        <p:spPr>
          <a:xfrm>
            <a:off x="304800" y="6410848"/>
            <a:ext cx="6196026" cy="232862"/>
          </a:xfrm>
        </p:spPr>
        <p:txBody>
          <a:bodyPr/>
          <a:lstStyle/>
          <a:p>
            <a:r>
              <a:rPr lang="en-IN" i="1" dirty="0" smtClean="0">
                <a:solidFill>
                  <a:schemeClr val="tx1"/>
                </a:solidFill>
                <a:latin typeface="Arial Rounded MT Bold" pitchFamily="34" charset="0"/>
              </a:rPr>
              <a:t>RIT – QUANT-A-THAN- 2026 (Innovate, Build, Transform)</a:t>
            </a:r>
            <a:endParaRPr lang="en-IN" i="1" dirty="0">
              <a:solidFill>
                <a:schemeClr val="tx1"/>
              </a:solidFill>
              <a:latin typeface="Arial Rounded MT Bold" pitchFamily="34" charset="0"/>
            </a:endParaRPr>
          </a:p>
        </p:txBody>
      </p:sp>
      <p:pic>
        <p:nvPicPr>
          <p:cNvPr id="5" name="Picture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88734" y="285704"/>
            <a:ext cx="866775" cy="714375"/>
          </a:xfrm>
          <a:prstGeom prst="rect">
            <a:avLst/>
          </a:prstGeom>
        </p:spPr>
      </p:pic>
      <p:sp>
        <p:nvSpPr>
          <p:cNvPr id="2054" name="TextBox 2053"/>
          <p:cNvSpPr txBox="1"/>
          <p:nvPr/>
        </p:nvSpPr>
        <p:spPr>
          <a:xfrm>
            <a:off x="457200" y="1133856"/>
            <a:ext cx="8229600" cy="237744"/>
          </a:xfrm>
          <a:prstGeom prst="rect">
            <a:avLst/>
          </a:prstGeom>
          <a:noFill/>
        </p:spPr>
        <p:txBody>
          <a:bodyPr wrap="square" lIns="0" rIns="0" tIns="0" bIns="0" anchor="t">
            <a:spAutoFit/>
          </a:bodyPr>
          <a:lstStyle/>
          <a:p>
            <a:pPr algn="l"/>
            <a:r>
              <a:rPr sz="1050" b="1" i="0" spc="280">
                <a:solidFill>
                  <a:srgbClr val="5B6672"/>
                </a:solidFill>
                <a:latin typeface="Arial"/>
              </a:rPr>
              <a:t>05  ·  </a:t>
            </a:r>
            <a:r>
              <a:rPr sz="1050" b="1" i="0" spc="280">
                <a:solidFill>
                  <a:srgbClr val="0E7490"/>
                </a:solidFill>
                <a:latin typeface="Arial"/>
              </a:rPr>
              <a:t>QUANTUM CORE</a:t>
            </a:r>
          </a:p>
        </p:txBody>
      </p:sp>
      <p:sp>
        <p:nvSpPr>
          <p:cNvPr id="2055" name="TextBox 2054"/>
          <p:cNvSpPr txBox="1"/>
          <p:nvPr/>
        </p:nvSpPr>
        <p:spPr>
          <a:xfrm>
            <a:off x="457200" y="1371600"/>
            <a:ext cx="8229600" cy="475488"/>
          </a:xfrm>
          <a:prstGeom prst="rect">
            <a:avLst/>
          </a:prstGeom>
          <a:noFill/>
        </p:spPr>
        <p:txBody>
          <a:bodyPr wrap="square" lIns="0" rIns="0" tIns="0" bIns="0" anchor="t">
            <a:spAutoFit/>
          </a:bodyPr>
          <a:lstStyle/>
          <a:p>
            <a:pPr algn="l"/>
            <a:r>
              <a:rPr sz="2600" b="1" i="0" spc="-20">
                <a:solidFill>
                  <a:srgbClr val="0F172A"/>
                </a:solidFill>
                <a:latin typeface="Arial"/>
              </a:rPr>
              <a:t>Why Hilbert space - the mathematical case</a:t>
            </a:r>
          </a:p>
        </p:txBody>
      </p:sp>
      <p:sp>
        <p:nvSpPr>
          <p:cNvPr id="2056" name="TextBox 2055"/>
          <p:cNvSpPr txBox="1"/>
          <p:nvPr/>
        </p:nvSpPr>
        <p:spPr>
          <a:xfrm>
            <a:off x="457200" y="1874519"/>
            <a:ext cx="8229600" cy="274320"/>
          </a:xfrm>
          <a:prstGeom prst="rect">
            <a:avLst/>
          </a:prstGeom>
          <a:noFill/>
        </p:spPr>
        <p:txBody>
          <a:bodyPr wrap="square" lIns="0" rIns="0" tIns="0" bIns="0" anchor="t">
            <a:spAutoFit/>
          </a:bodyPr>
          <a:lstStyle/>
          <a:p>
            <a:pPr algn="l"/>
            <a:r>
              <a:rPr sz="1150" b="0" i="1">
                <a:solidFill>
                  <a:srgbClr val="5B6672"/>
                </a:solidFill>
                <a:latin typeface="Arial"/>
              </a:rPr>
              <a:t>Purpose - justify the quantum layer with geometry, never with speed.</a:t>
            </a:r>
          </a:p>
        </p:txBody>
      </p:sp>
      <p:sp>
        <p:nvSpPr>
          <p:cNvPr id="2057" name="Rounded Rectangle 2056"/>
          <p:cNvSpPr/>
          <p:nvPr/>
        </p:nvSpPr>
        <p:spPr>
          <a:xfrm>
            <a:off x="457200" y="2304288"/>
            <a:ext cx="3611880" cy="512064"/>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58" name="TextBox 2057"/>
          <p:cNvSpPr txBox="1"/>
          <p:nvPr/>
        </p:nvSpPr>
        <p:spPr>
          <a:xfrm>
            <a:off x="621792" y="2354580"/>
            <a:ext cx="3291840" cy="219456"/>
          </a:xfrm>
          <a:prstGeom prst="rect">
            <a:avLst/>
          </a:prstGeom>
          <a:noFill/>
        </p:spPr>
        <p:txBody>
          <a:bodyPr wrap="square" lIns="0" rIns="0" tIns="0" bIns="0" anchor="t">
            <a:spAutoFit/>
          </a:bodyPr>
          <a:lstStyle/>
          <a:p>
            <a:pPr algn="l"/>
            <a:r>
              <a:rPr sz="1150" b="1" i="0">
                <a:solidFill>
                  <a:srgbClr val="0E7490"/>
                </a:solidFill>
                <a:latin typeface="Cambria"/>
              </a:rPr>
              <a:t>x ∈ R⁸</a:t>
            </a:r>
          </a:p>
        </p:txBody>
      </p:sp>
      <p:sp>
        <p:nvSpPr>
          <p:cNvPr id="2059" name="TextBox 2058"/>
          <p:cNvSpPr txBox="1"/>
          <p:nvPr/>
        </p:nvSpPr>
        <p:spPr>
          <a:xfrm>
            <a:off x="621792" y="2578608"/>
            <a:ext cx="3310128" cy="201168"/>
          </a:xfrm>
          <a:prstGeom prst="rect">
            <a:avLst/>
          </a:prstGeom>
          <a:noFill/>
        </p:spPr>
        <p:txBody>
          <a:bodyPr wrap="square" lIns="0" rIns="0" tIns="0" bIns="0" anchor="t">
            <a:spAutoFit/>
          </a:bodyPr>
          <a:lstStyle/>
          <a:p>
            <a:pPr algn="l"/>
            <a:r>
              <a:rPr sz="780" b="0" i="0">
                <a:solidFill>
                  <a:srgbClr val="5B6672"/>
                </a:solidFill>
                <a:latin typeface="Arial"/>
              </a:rPr>
              <a:t>compressed evidence vector - 8 clinical channels, never raw pixels</a:t>
            </a:r>
          </a:p>
        </p:txBody>
      </p:sp>
      <p:cxnSp>
        <p:nvCxnSpPr>
          <p:cNvPr id="2060" name="Connector 2059"/>
          <p:cNvCxnSpPr/>
          <p:nvPr/>
        </p:nvCxnSpPr>
        <p:spPr>
          <a:xfrm>
            <a:off x="2258568" y="2816352"/>
            <a:ext cx="0" cy="91440"/>
          </a:xfrm>
          <a:prstGeom prst="line">
            <a:avLst/>
          </a:prstGeom>
          <a:ln w="15240">
            <a:solidFill>
              <a:srgbClr val="0D9488"/>
            </a:solidFill>
            <a:tailEnd type="triangle" w="med" len="med"/>
          </a:ln>
          <a:effectLst/>
        </p:spPr>
      </p:cxnSp>
      <p:sp>
        <p:nvSpPr>
          <p:cNvPr id="2061" name="Rounded Rectangle 2060"/>
          <p:cNvSpPr/>
          <p:nvPr/>
        </p:nvSpPr>
        <p:spPr>
          <a:xfrm>
            <a:off x="457200" y="2912364"/>
            <a:ext cx="3611880" cy="512064"/>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62" name="TextBox 2061"/>
          <p:cNvSpPr txBox="1"/>
          <p:nvPr/>
        </p:nvSpPr>
        <p:spPr>
          <a:xfrm>
            <a:off x="621792" y="2962656"/>
            <a:ext cx="3291840" cy="219456"/>
          </a:xfrm>
          <a:prstGeom prst="rect">
            <a:avLst/>
          </a:prstGeom>
          <a:noFill/>
        </p:spPr>
        <p:txBody>
          <a:bodyPr wrap="square" lIns="0" rIns="0" tIns="0" bIns="0" anchor="t">
            <a:spAutoFit/>
          </a:bodyPr>
          <a:lstStyle/>
          <a:p>
            <a:pPr algn="l"/>
            <a:r>
              <a:rPr sz="1150" b="1" i="0">
                <a:solidFill>
                  <a:srgbClr val="0E7490"/>
                </a:solidFill>
                <a:latin typeface="Cambria"/>
              </a:rPr>
              <a:t>Uφ(x) |0⟩⊗⁸</a:t>
            </a:r>
          </a:p>
        </p:txBody>
      </p:sp>
      <p:sp>
        <p:nvSpPr>
          <p:cNvPr id="2063" name="TextBox 2062"/>
          <p:cNvSpPr txBox="1"/>
          <p:nvPr/>
        </p:nvSpPr>
        <p:spPr>
          <a:xfrm>
            <a:off x="621792" y="3186684"/>
            <a:ext cx="3310128" cy="201168"/>
          </a:xfrm>
          <a:prstGeom prst="rect">
            <a:avLst/>
          </a:prstGeom>
          <a:noFill/>
        </p:spPr>
        <p:txBody>
          <a:bodyPr wrap="square" lIns="0" rIns="0" tIns="0" bIns="0" anchor="t">
            <a:spAutoFit/>
          </a:bodyPr>
          <a:lstStyle/>
          <a:p>
            <a:pPr algn="l"/>
            <a:r>
              <a:rPr sz="780" b="0" i="0">
                <a:solidFill>
                  <a:srgbClr val="5B6672"/>
                </a:solidFill>
                <a:latin typeface="Arial"/>
              </a:rPr>
              <a:t>parameterized quantum circuit angle-encodes evidence</a:t>
            </a:r>
          </a:p>
        </p:txBody>
      </p:sp>
      <p:cxnSp>
        <p:nvCxnSpPr>
          <p:cNvPr id="2064" name="Connector 2063"/>
          <p:cNvCxnSpPr/>
          <p:nvPr/>
        </p:nvCxnSpPr>
        <p:spPr>
          <a:xfrm>
            <a:off x="2258568" y="3424428"/>
            <a:ext cx="0" cy="91440"/>
          </a:xfrm>
          <a:prstGeom prst="line">
            <a:avLst/>
          </a:prstGeom>
          <a:ln w="15240">
            <a:solidFill>
              <a:srgbClr val="0D9488"/>
            </a:solidFill>
            <a:tailEnd type="triangle" w="med" len="med"/>
          </a:ln>
          <a:effectLst/>
        </p:spPr>
      </p:cxnSp>
      <p:sp>
        <p:nvSpPr>
          <p:cNvPr id="2065" name="Rounded Rectangle 2064"/>
          <p:cNvSpPr/>
          <p:nvPr/>
        </p:nvSpPr>
        <p:spPr>
          <a:xfrm>
            <a:off x="457200" y="3520440"/>
            <a:ext cx="3611880" cy="512064"/>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66" name="TextBox 2065"/>
          <p:cNvSpPr txBox="1"/>
          <p:nvPr/>
        </p:nvSpPr>
        <p:spPr>
          <a:xfrm>
            <a:off x="621792" y="3570732"/>
            <a:ext cx="3291840" cy="219456"/>
          </a:xfrm>
          <a:prstGeom prst="rect">
            <a:avLst/>
          </a:prstGeom>
          <a:noFill/>
        </p:spPr>
        <p:txBody>
          <a:bodyPr wrap="square" lIns="0" rIns="0" tIns="0" bIns="0" anchor="t">
            <a:spAutoFit/>
          </a:bodyPr>
          <a:lstStyle/>
          <a:p>
            <a:pPr algn="l"/>
            <a:r>
              <a:rPr sz="1150" b="1" i="0">
                <a:solidFill>
                  <a:srgbClr val="0E7490"/>
                </a:solidFill>
                <a:latin typeface="Cambria"/>
              </a:rPr>
              <a:t>|φ(x)⟩ ∈ H,  dim = 2⁸</a:t>
            </a:r>
          </a:p>
        </p:txBody>
      </p:sp>
      <p:sp>
        <p:nvSpPr>
          <p:cNvPr id="2067" name="TextBox 2066"/>
          <p:cNvSpPr txBox="1"/>
          <p:nvPr/>
        </p:nvSpPr>
        <p:spPr>
          <a:xfrm>
            <a:off x="621792" y="3794760"/>
            <a:ext cx="3310128" cy="201168"/>
          </a:xfrm>
          <a:prstGeom prst="rect">
            <a:avLst/>
          </a:prstGeom>
          <a:noFill/>
        </p:spPr>
        <p:txBody>
          <a:bodyPr wrap="square" lIns="0" rIns="0" tIns="0" bIns="0" anchor="t">
            <a:spAutoFit/>
          </a:bodyPr>
          <a:lstStyle/>
          <a:p>
            <a:pPr algn="l"/>
            <a:r>
              <a:rPr sz="780" b="0" i="0">
                <a:solidFill>
                  <a:srgbClr val="5B6672"/>
                </a:solidFill>
                <a:latin typeface="Arial"/>
              </a:rPr>
              <a:t>entangling layers spread data across a 256-dim state space</a:t>
            </a:r>
          </a:p>
        </p:txBody>
      </p:sp>
      <p:cxnSp>
        <p:nvCxnSpPr>
          <p:cNvPr id="2068" name="Connector 2067"/>
          <p:cNvCxnSpPr/>
          <p:nvPr/>
        </p:nvCxnSpPr>
        <p:spPr>
          <a:xfrm>
            <a:off x="2258568" y="4032504"/>
            <a:ext cx="0" cy="91440"/>
          </a:xfrm>
          <a:prstGeom prst="line">
            <a:avLst/>
          </a:prstGeom>
          <a:ln w="15240">
            <a:solidFill>
              <a:srgbClr val="0D9488"/>
            </a:solidFill>
            <a:tailEnd type="triangle" w="med" len="med"/>
          </a:ln>
          <a:effectLst/>
        </p:spPr>
      </p:cxnSp>
      <p:sp>
        <p:nvSpPr>
          <p:cNvPr id="2069" name="Rounded Rectangle 2068"/>
          <p:cNvSpPr/>
          <p:nvPr/>
        </p:nvSpPr>
        <p:spPr>
          <a:xfrm>
            <a:off x="457200" y="4128516"/>
            <a:ext cx="3611880" cy="512064"/>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70" name="TextBox 2069"/>
          <p:cNvSpPr txBox="1"/>
          <p:nvPr/>
        </p:nvSpPr>
        <p:spPr>
          <a:xfrm>
            <a:off x="621792" y="4178808"/>
            <a:ext cx="3291840" cy="219456"/>
          </a:xfrm>
          <a:prstGeom prst="rect">
            <a:avLst/>
          </a:prstGeom>
          <a:noFill/>
        </p:spPr>
        <p:txBody>
          <a:bodyPr wrap="square" lIns="0" rIns="0" tIns="0" bIns="0" anchor="t">
            <a:spAutoFit/>
          </a:bodyPr>
          <a:lstStyle/>
          <a:p>
            <a:pPr algn="l"/>
            <a:r>
              <a:rPr sz="1150" b="1" i="0">
                <a:solidFill>
                  <a:srgbClr val="0E7490"/>
                </a:solidFill>
                <a:latin typeface="Cambria"/>
              </a:rPr>
              <a:t>k(x, x′) = |⟨φ(x)|φ(x′)⟩|²</a:t>
            </a:r>
          </a:p>
        </p:txBody>
      </p:sp>
      <p:sp>
        <p:nvSpPr>
          <p:cNvPr id="2071" name="TextBox 2070"/>
          <p:cNvSpPr txBox="1"/>
          <p:nvPr/>
        </p:nvSpPr>
        <p:spPr>
          <a:xfrm>
            <a:off x="621792" y="4402836"/>
            <a:ext cx="3310128" cy="201168"/>
          </a:xfrm>
          <a:prstGeom prst="rect">
            <a:avLst/>
          </a:prstGeom>
          <a:noFill/>
        </p:spPr>
        <p:txBody>
          <a:bodyPr wrap="square" lIns="0" rIns="0" tIns="0" bIns="0" anchor="t">
            <a:spAutoFit/>
          </a:bodyPr>
          <a:lstStyle/>
          <a:p>
            <a:pPr algn="l"/>
            <a:r>
              <a:rPr sz="780" b="0" i="0">
                <a:solidFill>
                  <a:srgbClr val="5B6672"/>
                </a:solidFill>
                <a:latin typeface="Arial"/>
              </a:rPr>
              <a:t>quantum kernel - fidelity between diagnostic states</a:t>
            </a:r>
          </a:p>
        </p:txBody>
      </p:sp>
      <p:cxnSp>
        <p:nvCxnSpPr>
          <p:cNvPr id="2072" name="Connector 2071"/>
          <p:cNvCxnSpPr/>
          <p:nvPr/>
        </p:nvCxnSpPr>
        <p:spPr>
          <a:xfrm>
            <a:off x="2258568" y="4640580"/>
            <a:ext cx="0" cy="91440"/>
          </a:xfrm>
          <a:prstGeom prst="line">
            <a:avLst/>
          </a:prstGeom>
          <a:ln w="15240">
            <a:solidFill>
              <a:srgbClr val="0D9488"/>
            </a:solidFill>
            <a:tailEnd type="triangle" w="med" len="med"/>
          </a:ln>
          <a:effectLst/>
        </p:spPr>
      </p:cxnSp>
      <p:sp>
        <p:nvSpPr>
          <p:cNvPr id="2073" name="Rounded Rectangle 2072"/>
          <p:cNvSpPr/>
          <p:nvPr/>
        </p:nvSpPr>
        <p:spPr>
          <a:xfrm>
            <a:off x="457200" y="4736592"/>
            <a:ext cx="3611880" cy="512064"/>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74" name="TextBox 2073"/>
          <p:cNvSpPr txBox="1"/>
          <p:nvPr/>
        </p:nvSpPr>
        <p:spPr>
          <a:xfrm>
            <a:off x="621792" y="4786884"/>
            <a:ext cx="3291840" cy="219456"/>
          </a:xfrm>
          <a:prstGeom prst="rect">
            <a:avLst/>
          </a:prstGeom>
          <a:noFill/>
        </p:spPr>
        <p:txBody>
          <a:bodyPr wrap="square" lIns="0" rIns="0" tIns="0" bIns="0" anchor="t">
            <a:spAutoFit/>
          </a:bodyPr>
          <a:lstStyle/>
          <a:p>
            <a:pPr algn="l"/>
            <a:r>
              <a:rPr sz="1150" b="1" i="0">
                <a:solidFill>
                  <a:srgbClr val="0E7490"/>
                </a:solidFill>
                <a:latin typeface="Cambria"/>
              </a:rPr>
              <a:t>p(d | e)  via VQC fusion</a:t>
            </a:r>
          </a:p>
        </p:txBody>
      </p:sp>
      <p:sp>
        <p:nvSpPr>
          <p:cNvPr id="2075" name="TextBox 2074"/>
          <p:cNvSpPr txBox="1"/>
          <p:nvPr/>
        </p:nvSpPr>
        <p:spPr>
          <a:xfrm>
            <a:off x="621792" y="5010912"/>
            <a:ext cx="3310128" cy="201168"/>
          </a:xfrm>
          <a:prstGeom prst="rect">
            <a:avLst/>
          </a:prstGeom>
          <a:noFill/>
        </p:spPr>
        <p:txBody>
          <a:bodyPr wrap="square" lIns="0" rIns="0" tIns="0" bIns="0" anchor="t">
            <a:spAutoFit/>
          </a:bodyPr>
          <a:lstStyle/>
          <a:p>
            <a:pPr algn="l"/>
            <a:r>
              <a:rPr sz="780" b="0" i="0">
                <a:solidFill>
                  <a:srgbClr val="5B6672"/>
                </a:solidFill>
                <a:latin typeface="Arial"/>
              </a:rPr>
              <a:t>hybrid Bayesian update over the differential</a:t>
            </a:r>
          </a:p>
        </p:txBody>
      </p:sp>
      <p:sp>
        <p:nvSpPr>
          <p:cNvPr id="2076" name="Rounded Rectangle 2075"/>
          <p:cNvSpPr/>
          <p:nvPr/>
        </p:nvSpPr>
        <p:spPr>
          <a:xfrm>
            <a:off x="4343400" y="2304288"/>
            <a:ext cx="4343400" cy="1417320"/>
          </a:xfrm>
          <a:prstGeom prst="roundRect">
            <a:avLst>
              <a:gd name="adj" fmla="val 10000"/>
            </a:avLst>
          </a:prstGeom>
          <a:solidFill>
            <a:srgbClr val="ECF8F7"/>
          </a:solidFill>
          <a:ln w="13970">
            <a:solidFill>
              <a:srgbClr val="0D9488"/>
            </a:solidFill>
          </a:ln>
          <a:effectLst/>
        </p:spPr>
        <p:txBody>
          <a:bodyPr rtlCol="0" anchor="ctr"/>
          <a:lstStyle/>
          <a:p>
            <a:pPr algn="ctr"/>
          </a:p>
        </p:txBody>
      </p:sp>
      <p:sp>
        <p:nvSpPr>
          <p:cNvPr id="2077" name="TextBox 2076"/>
          <p:cNvSpPr txBox="1"/>
          <p:nvPr/>
        </p:nvSpPr>
        <p:spPr>
          <a:xfrm>
            <a:off x="4572000" y="2432304"/>
            <a:ext cx="3931920" cy="237744"/>
          </a:xfrm>
          <a:prstGeom prst="rect">
            <a:avLst/>
          </a:prstGeom>
          <a:noFill/>
        </p:spPr>
        <p:txBody>
          <a:bodyPr wrap="square" lIns="0" rIns="0" tIns="0" bIns="0" anchor="t">
            <a:spAutoFit/>
          </a:bodyPr>
          <a:lstStyle/>
          <a:p>
            <a:pPr algn="l"/>
            <a:r>
              <a:rPr sz="900" b="1" i="0" spc="220">
                <a:solidFill>
                  <a:srgbClr val="0E7490"/>
                </a:solidFill>
                <a:latin typeface="Arial"/>
              </a:rPr>
              <a:t>ENTANGLING FEATURE MAP</a:t>
            </a:r>
          </a:p>
        </p:txBody>
      </p:sp>
      <p:sp>
        <p:nvSpPr>
          <p:cNvPr id="2078" name="TextBox 2077"/>
          <p:cNvSpPr txBox="1"/>
          <p:nvPr/>
        </p:nvSpPr>
        <p:spPr>
          <a:xfrm>
            <a:off x="4572000" y="2688336"/>
            <a:ext cx="3931920" cy="384048"/>
          </a:xfrm>
          <a:prstGeom prst="rect">
            <a:avLst/>
          </a:prstGeom>
          <a:noFill/>
        </p:spPr>
        <p:txBody>
          <a:bodyPr wrap="square" lIns="0" rIns="0" tIns="0" bIns="0" anchor="t">
            <a:spAutoFit/>
          </a:bodyPr>
          <a:lstStyle/>
          <a:p>
            <a:pPr algn="ctr"/>
            <a:r>
              <a:rPr sz="1500" b="1" i="0">
                <a:solidFill>
                  <a:srgbClr val="0F172A"/>
                </a:solidFill>
                <a:latin typeface="Cambria"/>
              </a:rPr>
              <a:t>Uφ(x) = exp( i Σ_S φ_S(x) Π_k∈S Z_k )</a:t>
            </a:r>
          </a:p>
        </p:txBody>
      </p:sp>
      <p:sp>
        <p:nvSpPr>
          <p:cNvPr id="2079" name="TextBox 2078"/>
          <p:cNvSpPr txBox="1"/>
          <p:nvPr/>
        </p:nvSpPr>
        <p:spPr>
          <a:xfrm>
            <a:off x="4572000" y="3145536"/>
            <a:ext cx="3913632" cy="512064"/>
          </a:xfrm>
          <a:prstGeom prst="rect">
            <a:avLst/>
          </a:prstGeom>
          <a:noFill/>
        </p:spPr>
        <p:txBody>
          <a:bodyPr wrap="square" lIns="0" rIns="0" tIns="0" bIns="0" anchor="t">
            <a:spAutoFit/>
          </a:bodyPr>
          <a:lstStyle/>
          <a:p>
            <a:pPr algn="l">
              <a:lnSpc>
                <a:spcPct val="105000"/>
              </a:lnSpc>
            </a:pPr>
            <a:r>
              <a:rPr sz="900" b="0" i="0">
                <a:solidFill>
                  <a:srgbClr val="5B6672"/>
                </a:solidFill>
                <a:latin typeface="Arial"/>
              </a:rPr>
              <a:t>Second-order terms φ_{jk}(x) = (π - x_j)(π - x_k) encode pairwise evidence interactions directly in the state - e.g. opacity × fever.</a:t>
            </a:r>
          </a:p>
        </p:txBody>
      </p:sp>
      <p:sp>
        <p:nvSpPr>
          <p:cNvPr id="2080" name="Rounded Rectangle 2079"/>
          <p:cNvSpPr/>
          <p:nvPr/>
        </p:nvSpPr>
        <p:spPr>
          <a:xfrm>
            <a:off x="4343400" y="3858768"/>
            <a:ext cx="4343400" cy="1463040"/>
          </a:xfrm>
          <a:prstGeom prst="roundRect">
            <a:avLst>
              <a:gd name="adj" fmla="val 10000"/>
            </a:avLst>
          </a:prstGeom>
          <a:solidFill>
            <a:srgbClr val="FFFFFF"/>
          </a:solidFill>
          <a:ln w="9525">
            <a:solidFill>
              <a:srgbClr val="C6E4E1"/>
            </a:solidFill>
          </a:ln>
          <a:effectLst/>
        </p:spPr>
        <p:txBody>
          <a:bodyPr rtlCol="0" anchor="ctr"/>
          <a:lstStyle/>
          <a:p>
            <a:pPr algn="ctr"/>
          </a:p>
        </p:txBody>
      </p:sp>
      <p:sp>
        <p:nvSpPr>
          <p:cNvPr id="2081" name="TextBox 2080"/>
          <p:cNvSpPr txBox="1"/>
          <p:nvPr/>
        </p:nvSpPr>
        <p:spPr>
          <a:xfrm>
            <a:off x="4572000" y="3968496"/>
            <a:ext cx="3931920" cy="237744"/>
          </a:xfrm>
          <a:prstGeom prst="rect">
            <a:avLst/>
          </a:prstGeom>
          <a:noFill/>
        </p:spPr>
        <p:txBody>
          <a:bodyPr wrap="square" lIns="0" rIns="0" tIns="0" bIns="0" anchor="t">
            <a:spAutoFit/>
          </a:bodyPr>
          <a:lstStyle/>
          <a:p>
            <a:pPr algn="l"/>
            <a:r>
              <a:rPr sz="900" b="1" i="0" spc="220">
                <a:solidFill>
                  <a:srgbClr val="0E7490"/>
                </a:solidFill>
                <a:latin typeface="Arial"/>
              </a:rPr>
              <a:t>THE HONEST CLAIM</a:t>
            </a:r>
          </a:p>
        </p:txBody>
      </p:sp>
      <p:sp>
        <p:nvSpPr>
          <p:cNvPr id="2082" name="TextBox 2081"/>
          <p:cNvSpPr txBox="1"/>
          <p:nvPr/>
        </p:nvSpPr>
        <p:spPr>
          <a:xfrm>
            <a:off x="4572000" y="4224528"/>
            <a:ext cx="3913632" cy="1024128"/>
          </a:xfrm>
          <a:prstGeom prst="rect">
            <a:avLst/>
          </a:prstGeom>
          <a:noFill/>
        </p:spPr>
        <p:txBody>
          <a:bodyPr wrap="square" lIns="0" rIns="0" tIns="0" bIns="0" anchor="t">
            <a:spAutoFit/>
          </a:bodyPr>
          <a:lstStyle/>
          <a:p>
            <a:pPr algn="l">
              <a:lnSpc>
                <a:spcPct val="110000"/>
              </a:lnSpc>
            </a:pPr>
            <a:r>
              <a:rPr sz="950" b="1" i="0">
                <a:solidFill>
                  <a:srgbClr val="0F172A"/>
                </a:solidFill>
                <a:latin typeface="Arial"/>
              </a:rPr>
              <a:t>Richer geometry, not speed. </a:t>
            </a:r>
            <a:r>
              <a:rPr sz="950" b="0" i="0">
                <a:solidFill>
                  <a:srgbClr val="5B6672"/>
                </a:solidFill>
                <a:latin typeface="Arial"/>
              </a:rPr>
              <a:t>Kernels from entangling circuits are conjectured classically hard to estimate (Havlíček 2019); a rigorous separation exists for a related family (Liu 2021). We claim the </a:t>
            </a:r>
          </a:p>
          <a:p>
            <a:pPr algn="l">
              <a:lnSpc>
                <a:spcPct val="110000"/>
              </a:lnSpc>
            </a:pPr>
            <a:r>
              <a:rPr sz="950" b="0" i="1">
                <a:solidFill>
                  <a:srgbClr val="0F172A"/>
                </a:solidFill>
                <a:latin typeface="Arial"/>
              </a:rPr>
              <a:t>representation</a:t>
            </a:r>
            <a:r>
              <a:rPr sz="950" b="0" i="0">
                <a:solidFill>
                  <a:srgbClr val="5B6672"/>
                </a:solidFill>
                <a:latin typeface="Arial"/>
              </a:rPr>
              <a:t> - and benchmark it against a classical twin on every metric.</a:t>
            </a:r>
          </a:p>
        </p:txBody>
      </p:sp>
      <p:sp>
        <p:nvSpPr>
          <p:cNvPr id="2083" name="TextBox 2082"/>
          <p:cNvSpPr txBox="1"/>
          <p:nvPr/>
        </p:nvSpPr>
        <p:spPr>
          <a:xfrm>
            <a:off x="457200" y="5541264"/>
            <a:ext cx="8229600" cy="219456"/>
          </a:xfrm>
          <a:prstGeom prst="rect">
            <a:avLst/>
          </a:prstGeom>
          <a:noFill/>
        </p:spPr>
        <p:txBody>
          <a:bodyPr wrap="square" lIns="0" rIns="0" tIns="0" bIns="0" anchor="t">
            <a:spAutoFit/>
          </a:bodyPr>
          <a:lstStyle/>
          <a:p>
            <a:pPr algn="l"/>
            <a:r>
              <a:rPr sz="800" b="0" i="1">
                <a:solidFill>
                  <a:srgbClr val="5B6672"/>
                </a:solidFill>
                <a:latin typeface="Arial"/>
              </a:rPr>
              <a:t>Havlíček et al., Nature 567, 209 (2019)  ·  Schuld &amp; Killoran, PRL 122, 040504 (2019)  ·  Liu, Arunachalam &amp; Temme, Nature Physics 17, 1013 (2021)</a:t>
            </a:r>
          </a:p>
        </p:txBody>
      </p:sp>
    </p:spTree>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l="-24000" r="-24000"/>
          </a:stretch>
        </a:blipFill>
        <a:effectLst/>
      </p:bgPr>
    </p:bg>
    <p:spTree>
      <p:nvGrpSpPr>
        <p:cNvPr id="1" name=""/>
        <p:cNvGrpSpPr/>
        <p:nvPr/>
      </p:nvGrpSpPr>
      <p:grpSpPr>
        <a:xfrm>
          <a:off x="0" y="0"/>
          <a:ext cx="0" cy="0"/>
          <a:chOff x="0" y="0"/>
          <a:chExt cx="0" cy="0"/>
        </a:xfrm>
      </p:grpSpPr>
      <p:pic>
        <p:nvPicPr>
          <p:cNvPr id="2" name="Picture 3" descr="C:\Users\Admin\Downloads\1764679326535-Photoroom.png"/>
          <p:cNvPicPr>
            <a:picLocks noChangeAspect="1" noChangeArrowheads="1"/>
          </p:cNvPicPr>
          <p:nvPr/>
        </p:nvPicPr>
        <p:blipFill>
          <a:blip r:embed="rId4"/>
          <a:srcRect/>
          <a:stretch>
            <a:fillRect/>
          </a:stretch>
        </p:blipFill>
        <p:spPr bwMode="auto">
          <a:xfrm>
            <a:off x="4108831" y="35671"/>
            <a:ext cx="1285884" cy="1285884"/>
          </a:xfrm>
          <a:prstGeom prst="rect">
            <a:avLst/>
          </a:prstGeom>
          <a:noFill/>
        </p:spPr>
      </p:pic>
      <p:pic>
        <p:nvPicPr>
          <p:cNvPr id="2050" name="Picture 2" descr="C:\Users\Admin\Downloads\RIT.png"/>
          <p:cNvPicPr>
            <a:picLocks noChangeAspect="1" noChangeArrowheads="1"/>
          </p:cNvPicPr>
          <p:nvPr/>
        </p:nvPicPr>
        <p:blipFill>
          <a:blip r:embed="rId5" cstate="print"/>
          <a:srcRect/>
          <a:stretch>
            <a:fillRect/>
          </a:stretch>
        </p:blipFill>
        <p:spPr bwMode="auto">
          <a:xfrm>
            <a:off x="252062" y="285704"/>
            <a:ext cx="3043364" cy="785818"/>
          </a:xfrm>
          <a:prstGeom prst="rect">
            <a:avLst/>
          </a:prstGeom>
          <a:noFill/>
        </p:spPr>
      </p:pic>
      <p:pic>
        <p:nvPicPr>
          <p:cNvPr id="2051" name="Picture 3" descr="C:\Users\Admin\Downloads\IBM_logo.svg.png"/>
          <p:cNvPicPr>
            <a:picLocks noChangeAspect="1" noChangeArrowheads="1"/>
          </p:cNvPicPr>
          <p:nvPr/>
        </p:nvPicPr>
        <p:blipFill>
          <a:blip r:embed="rId6"/>
          <a:srcRect/>
          <a:stretch>
            <a:fillRect/>
          </a:stretch>
        </p:blipFill>
        <p:spPr bwMode="auto">
          <a:xfrm>
            <a:off x="7380312" y="357139"/>
            <a:ext cx="1528257" cy="571504"/>
          </a:xfrm>
          <a:prstGeom prst="rect">
            <a:avLst/>
          </a:prstGeom>
          <a:noFill/>
        </p:spPr>
      </p:pic>
      <p:pic>
        <p:nvPicPr>
          <p:cNvPr id="2053" name="Picture 5" descr="C:\Users\Admin\Downloads\logo-nqm.png"/>
          <p:cNvPicPr>
            <a:picLocks noChangeAspect="1" noChangeArrowheads="1"/>
          </p:cNvPicPr>
          <p:nvPr/>
        </p:nvPicPr>
        <p:blipFill>
          <a:blip r:embed="rId7"/>
          <a:srcRect/>
          <a:stretch>
            <a:fillRect/>
          </a:stretch>
        </p:blipFill>
        <p:spPr bwMode="auto">
          <a:xfrm>
            <a:off x="5519518" y="249994"/>
            <a:ext cx="710054" cy="785794"/>
          </a:xfrm>
          <a:prstGeom prst="rect">
            <a:avLst/>
          </a:prstGeom>
          <a:noFill/>
        </p:spPr>
      </p:pic>
      <p:sp>
        <p:nvSpPr>
          <p:cNvPr id="11" name="Footer Placeholder 10"/>
          <p:cNvSpPr>
            <a:spLocks noGrp="1"/>
          </p:cNvSpPr>
          <p:nvPr>
            <p:ph type="ftr" sz="quarter" idx="11"/>
          </p:nvPr>
        </p:nvSpPr>
        <p:spPr>
          <a:xfrm>
            <a:off x="304800" y="6410848"/>
            <a:ext cx="6196026" cy="232862"/>
          </a:xfrm>
        </p:spPr>
        <p:txBody>
          <a:bodyPr/>
          <a:lstStyle/>
          <a:p>
            <a:r>
              <a:rPr lang="en-IN" i="1" dirty="0" smtClean="0">
                <a:solidFill>
                  <a:schemeClr val="tx1"/>
                </a:solidFill>
                <a:latin typeface="Arial Rounded MT Bold" pitchFamily="34" charset="0"/>
              </a:rPr>
              <a:t>RIT – QUANT-A-THAN- 2026 (Innovate, Build, Transform)</a:t>
            </a:r>
            <a:endParaRPr lang="en-IN" i="1" dirty="0">
              <a:solidFill>
                <a:schemeClr val="tx1"/>
              </a:solidFill>
              <a:latin typeface="Arial Rounded MT Bold" pitchFamily="34" charset="0"/>
            </a:endParaRPr>
          </a:p>
        </p:txBody>
      </p:sp>
      <p:pic>
        <p:nvPicPr>
          <p:cNvPr id="5" name="Picture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88734" y="285704"/>
            <a:ext cx="866775" cy="714375"/>
          </a:xfrm>
          <a:prstGeom prst="rect">
            <a:avLst/>
          </a:prstGeom>
        </p:spPr>
      </p:pic>
      <p:sp>
        <p:nvSpPr>
          <p:cNvPr id="2054" name="TextBox 2053"/>
          <p:cNvSpPr txBox="1"/>
          <p:nvPr/>
        </p:nvSpPr>
        <p:spPr>
          <a:xfrm>
            <a:off x="457200" y="1133856"/>
            <a:ext cx="8229600" cy="237744"/>
          </a:xfrm>
          <a:prstGeom prst="rect">
            <a:avLst/>
          </a:prstGeom>
          <a:noFill/>
        </p:spPr>
        <p:txBody>
          <a:bodyPr wrap="square" lIns="0" rIns="0" tIns="0" bIns="0" anchor="t">
            <a:spAutoFit/>
          </a:bodyPr>
          <a:lstStyle/>
          <a:p>
            <a:pPr algn="l"/>
            <a:r>
              <a:rPr sz="1050" b="1" i="0" spc="280">
                <a:solidFill>
                  <a:srgbClr val="5B6672"/>
                </a:solidFill>
                <a:latin typeface="Arial"/>
              </a:rPr>
              <a:t>06  ·  </a:t>
            </a:r>
            <a:r>
              <a:rPr sz="1050" b="1" i="0" spc="280">
                <a:solidFill>
                  <a:srgbClr val="0E7490"/>
                </a:solidFill>
                <a:latin typeface="Arial"/>
              </a:rPr>
              <a:t>REASONING ENGINE</a:t>
            </a:r>
          </a:p>
        </p:txBody>
      </p:sp>
      <p:sp>
        <p:nvSpPr>
          <p:cNvPr id="2055" name="TextBox 2054"/>
          <p:cNvSpPr txBox="1"/>
          <p:nvPr/>
        </p:nvSpPr>
        <p:spPr>
          <a:xfrm>
            <a:off x="457200" y="1371600"/>
            <a:ext cx="8229600" cy="475488"/>
          </a:xfrm>
          <a:prstGeom prst="rect">
            <a:avLst/>
          </a:prstGeom>
          <a:noFill/>
        </p:spPr>
        <p:txBody>
          <a:bodyPr wrap="square" lIns="0" rIns="0" tIns="0" bIns="0" anchor="t">
            <a:spAutoFit/>
          </a:bodyPr>
          <a:lstStyle/>
          <a:p>
            <a:pPr algn="l"/>
            <a:r>
              <a:rPr sz="2600" b="1" i="0" spc="-20">
                <a:solidFill>
                  <a:srgbClr val="0F172A"/>
                </a:solidFill>
                <a:latin typeface="Arial"/>
              </a:rPr>
              <a:t>A belief graph, not a softmax</a:t>
            </a:r>
          </a:p>
        </p:txBody>
      </p:sp>
      <p:sp>
        <p:nvSpPr>
          <p:cNvPr id="2056" name="TextBox 2055"/>
          <p:cNvSpPr txBox="1"/>
          <p:nvPr/>
        </p:nvSpPr>
        <p:spPr>
          <a:xfrm>
            <a:off x="457200" y="1874519"/>
            <a:ext cx="8229600" cy="274320"/>
          </a:xfrm>
          <a:prstGeom prst="rect">
            <a:avLst/>
          </a:prstGeom>
          <a:noFill/>
        </p:spPr>
        <p:txBody>
          <a:bodyPr wrap="square" lIns="0" rIns="0" tIns="0" bIns="0" anchor="t">
            <a:spAutoFit/>
          </a:bodyPr>
          <a:lstStyle/>
          <a:p>
            <a:pPr algn="l"/>
            <a:r>
              <a:rPr sz="1150" b="0" i="1">
                <a:solidFill>
                  <a:srgbClr val="5B6672"/>
                </a:solidFill>
                <a:latin typeface="Arial"/>
              </a:rPr>
              <a:t>Purpose - show diagnosis as message passing between evidence and hypotheses.</a:t>
            </a:r>
          </a:p>
        </p:txBody>
      </p:sp>
      <p:sp>
        <p:nvSpPr>
          <p:cNvPr id="2057" name="Rounded Rectangle 2056"/>
          <p:cNvSpPr/>
          <p:nvPr/>
        </p:nvSpPr>
        <p:spPr>
          <a:xfrm>
            <a:off x="457200" y="2395728"/>
            <a:ext cx="2103120" cy="566928"/>
          </a:xfrm>
          <a:prstGeom prst="roundRect">
            <a:avLst>
              <a:gd name="adj" fmla="val 10000"/>
            </a:avLst>
          </a:prstGeom>
          <a:solidFill>
            <a:srgbClr val="FFFFFF"/>
          </a:solidFill>
          <a:ln w="9525">
            <a:solidFill>
              <a:srgbClr val="C6E4E1"/>
            </a:solidFill>
          </a:ln>
          <a:effectLst/>
        </p:spPr>
        <p:txBody>
          <a:bodyPr rtlCol="0" anchor="ctr"/>
          <a:lstStyle/>
          <a:p>
            <a:pPr algn="ctr"/>
          </a:p>
        </p:txBody>
      </p:sp>
      <p:sp>
        <p:nvSpPr>
          <p:cNvPr id="2058" name="TextBox 2057"/>
          <p:cNvSpPr txBox="1"/>
          <p:nvPr/>
        </p:nvSpPr>
        <p:spPr>
          <a:xfrm>
            <a:off x="585216" y="2468880"/>
            <a:ext cx="1874519" cy="219456"/>
          </a:xfrm>
          <a:prstGeom prst="rect">
            <a:avLst/>
          </a:prstGeom>
          <a:noFill/>
        </p:spPr>
        <p:txBody>
          <a:bodyPr wrap="square" lIns="0" rIns="0" tIns="0" bIns="0" anchor="t">
            <a:spAutoFit/>
          </a:bodyPr>
          <a:lstStyle/>
          <a:p>
            <a:pPr algn="l"/>
            <a:r>
              <a:rPr sz="950" b="1" i="0">
                <a:solidFill>
                  <a:srgbClr val="0F172A"/>
                </a:solidFill>
                <a:latin typeface="Arial"/>
              </a:rPr>
              <a:t>opacity gradient</a:t>
            </a:r>
          </a:p>
        </p:txBody>
      </p:sp>
      <p:sp>
        <p:nvSpPr>
          <p:cNvPr id="2059" name="TextBox 2058"/>
          <p:cNvSpPr txBox="1"/>
          <p:nvPr/>
        </p:nvSpPr>
        <p:spPr>
          <a:xfrm>
            <a:off x="585216" y="2697480"/>
            <a:ext cx="1874519" cy="182880"/>
          </a:xfrm>
          <a:prstGeom prst="rect">
            <a:avLst/>
          </a:prstGeom>
          <a:noFill/>
        </p:spPr>
        <p:txBody>
          <a:bodyPr wrap="square" lIns="0" rIns="0" tIns="0" bIns="0" anchor="t">
            <a:spAutoFit/>
          </a:bodyPr>
          <a:lstStyle/>
          <a:p>
            <a:pPr algn="l"/>
            <a:r>
              <a:rPr sz="700" b="0" i="0" spc="160">
                <a:solidFill>
                  <a:srgbClr val="0E7490"/>
                </a:solidFill>
                <a:latin typeface="Arial"/>
              </a:rPr>
              <a:t>VISION</a:t>
            </a:r>
          </a:p>
        </p:txBody>
      </p:sp>
      <p:sp>
        <p:nvSpPr>
          <p:cNvPr id="2060" name="Rounded Rectangle 2059"/>
          <p:cNvSpPr/>
          <p:nvPr/>
        </p:nvSpPr>
        <p:spPr>
          <a:xfrm>
            <a:off x="457200" y="3127248"/>
            <a:ext cx="2103120" cy="566928"/>
          </a:xfrm>
          <a:prstGeom prst="roundRect">
            <a:avLst>
              <a:gd name="adj" fmla="val 10000"/>
            </a:avLst>
          </a:prstGeom>
          <a:solidFill>
            <a:srgbClr val="FFFFFF"/>
          </a:solidFill>
          <a:ln w="9525">
            <a:solidFill>
              <a:srgbClr val="C6E4E1"/>
            </a:solidFill>
          </a:ln>
          <a:effectLst/>
        </p:spPr>
        <p:txBody>
          <a:bodyPr rtlCol="0" anchor="ctr"/>
          <a:lstStyle/>
          <a:p>
            <a:pPr algn="ctr"/>
          </a:p>
        </p:txBody>
      </p:sp>
      <p:sp>
        <p:nvSpPr>
          <p:cNvPr id="2061" name="TextBox 2060"/>
          <p:cNvSpPr txBox="1"/>
          <p:nvPr/>
        </p:nvSpPr>
        <p:spPr>
          <a:xfrm>
            <a:off x="585216" y="3200400"/>
            <a:ext cx="1874519" cy="219456"/>
          </a:xfrm>
          <a:prstGeom prst="rect">
            <a:avLst/>
          </a:prstGeom>
          <a:noFill/>
        </p:spPr>
        <p:txBody>
          <a:bodyPr wrap="square" lIns="0" rIns="0" tIns="0" bIns="0" anchor="t">
            <a:spAutoFit/>
          </a:bodyPr>
          <a:lstStyle/>
          <a:p>
            <a:pPr algn="l"/>
            <a:r>
              <a:rPr sz="950" b="1" i="0">
                <a:solidFill>
                  <a:srgbClr val="0F172A"/>
                </a:solidFill>
                <a:latin typeface="Arial"/>
              </a:rPr>
              <a:t>costophrenic blunting</a:t>
            </a:r>
          </a:p>
        </p:txBody>
      </p:sp>
      <p:sp>
        <p:nvSpPr>
          <p:cNvPr id="2062" name="TextBox 2061"/>
          <p:cNvSpPr txBox="1"/>
          <p:nvPr/>
        </p:nvSpPr>
        <p:spPr>
          <a:xfrm>
            <a:off x="585216" y="3429000"/>
            <a:ext cx="1874519" cy="182880"/>
          </a:xfrm>
          <a:prstGeom prst="rect">
            <a:avLst/>
          </a:prstGeom>
          <a:noFill/>
        </p:spPr>
        <p:txBody>
          <a:bodyPr wrap="square" lIns="0" rIns="0" tIns="0" bIns="0" anchor="t">
            <a:spAutoFit/>
          </a:bodyPr>
          <a:lstStyle/>
          <a:p>
            <a:pPr algn="l"/>
            <a:r>
              <a:rPr sz="700" b="0" i="0" spc="160">
                <a:solidFill>
                  <a:srgbClr val="0E7490"/>
                </a:solidFill>
                <a:latin typeface="Arial"/>
              </a:rPr>
              <a:t>VISION</a:t>
            </a:r>
          </a:p>
        </p:txBody>
      </p:sp>
      <p:sp>
        <p:nvSpPr>
          <p:cNvPr id="2063" name="Rounded Rectangle 2062"/>
          <p:cNvSpPr/>
          <p:nvPr/>
        </p:nvSpPr>
        <p:spPr>
          <a:xfrm>
            <a:off x="457200" y="3858768"/>
            <a:ext cx="2103120" cy="566928"/>
          </a:xfrm>
          <a:prstGeom prst="roundRect">
            <a:avLst>
              <a:gd name="adj" fmla="val 10000"/>
            </a:avLst>
          </a:prstGeom>
          <a:solidFill>
            <a:srgbClr val="FFFFFF"/>
          </a:solidFill>
          <a:ln w="9525">
            <a:solidFill>
              <a:srgbClr val="C6E4E1"/>
            </a:solidFill>
          </a:ln>
          <a:effectLst/>
        </p:spPr>
        <p:txBody>
          <a:bodyPr rtlCol="0" anchor="ctr"/>
          <a:lstStyle/>
          <a:p>
            <a:pPr algn="ctr"/>
          </a:p>
        </p:txBody>
      </p:sp>
      <p:sp>
        <p:nvSpPr>
          <p:cNvPr id="2064" name="TextBox 2063"/>
          <p:cNvSpPr txBox="1"/>
          <p:nvPr/>
        </p:nvSpPr>
        <p:spPr>
          <a:xfrm>
            <a:off x="585216" y="3931920"/>
            <a:ext cx="1874519" cy="219456"/>
          </a:xfrm>
          <a:prstGeom prst="rect">
            <a:avLst/>
          </a:prstGeom>
          <a:noFill/>
        </p:spPr>
        <p:txBody>
          <a:bodyPr wrap="square" lIns="0" rIns="0" tIns="0" bIns="0" anchor="t">
            <a:spAutoFit/>
          </a:bodyPr>
          <a:lstStyle/>
          <a:p>
            <a:pPr algn="l"/>
            <a:r>
              <a:rPr sz="950" b="1" i="0">
                <a:solidFill>
                  <a:srgbClr val="0F172A"/>
                </a:solidFill>
                <a:latin typeface="Arial"/>
              </a:rPr>
              <a:t>post-op context</a:t>
            </a:r>
          </a:p>
        </p:txBody>
      </p:sp>
      <p:sp>
        <p:nvSpPr>
          <p:cNvPr id="2065" name="TextBox 2064"/>
          <p:cNvSpPr txBox="1"/>
          <p:nvPr/>
        </p:nvSpPr>
        <p:spPr>
          <a:xfrm>
            <a:off x="585216" y="4160520"/>
            <a:ext cx="1874519" cy="182880"/>
          </a:xfrm>
          <a:prstGeom prst="rect">
            <a:avLst/>
          </a:prstGeom>
          <a:noFill/>
        </p:spPr>
        <p:txBody>
          <a:bodyPr wrap="square" lIns="0" rIns="0" tIns="0" bIns="0" anchor="t">
            <a:spAutoFit/>
          </a:bodyPr>
          <a:lstStyle/>
          <a:p>
            <a:pPr algn="l"/>
            <a:r>
              <a:rPr sz="700" b="0" i="0" spc="160">
                <a:solidFill>
                  <a:srgbClr val="0E7490"/>
                </a:solidFill>
                <a:latin typeface="Arial"/>
              </a:rPr>
              <a:t>PRIOR</a:t>
            </a:r>
          </a:p>
        </p:txBody>
      </p:sp>
      <p:sp>
        <p:nvSpPr>
          <p:cNvPr id="2066" name="Rounded Rectangle 2065"/>
          <p:cNvSpPr/>
          <p:nvPr/>
        </p:nvSpPr>
        <p:spPr>
          <a:xfrm>
            <a:off x="457200" y="4590288"/>
            <a:ext cx="2103120" cy="566928"/>
          </a:xfrm>
          <a:prstGeom prst="roundRect">
            <a:avLst>
              <a:gd name="adj" fmla="val 10000"/>
            </a:avLst>
          </a:prstGeom>
          <a:solidFill>
            <a:srgbClr val="FFFFFF"/>
          </a:solidFill>
          <a:ln w="9525">
            <a:solidFill>
              <a:srgbClr val="C6E4E1"/>
            </a:solidFill>
          </a:ln>
          <a:effectLst/>
        </p:spPr>
        <p:txBody>
          <a:bodyPr rtlCol="0" anchor="ctr"/>
          <a:lstStyle/>
          <a:p>
            <a:pPr algn="ctr"/>
          </a:p>
        </p:txBody>
      </p:sp>
      <p:sp>
        <p:nvSpPr>
          <p:cNvPr id="2067" name="TextBox 2066"/>
          <p:cNvSpPr txBox="1"/>
          <p:nvPr/>
        </p:nvSpPr>
        <p:spPr>
          <a:xfrm>
            <a:off x="585216" y="4663440"/>
            <a:ext cx="1874519" cy="219456"/>
          </a:xfrm>
          <a:prstGeom prst="rect">
            <a:avLst/>
          </a:prstGeom>
          <a:noFill/>
        </p:spPr>
        <p:txBody>
          <a:bodyPr wrap="square" lIns="0" rIns="0" tIns="0" bIns="0" anchor="t">
            <a:spAutoFit/>
          </a:bodyPr>
          <a:lstStyle/>
          <a:p>
            <a:pPr algn="l"/>
            <a:r>
              <a:rPr sz="950" b="1" i="0">
                <a:solidFill>
                  <a:srgbClr val="0F172A"/>
                </a:solidFill>
                <a:latin typeface="Arial"/>
              </a:rPr>
              <a:t>cohort match 0.91</a:t>
            </a:r>
          </a:p>
        </p:txBody>
      </p:sp>
      <p:sp>
        <p:nvSpPr>
          <p:cNvPr id="2068" name="TextBox 2067"/>
          <p:cNvSpPr txBox="1"/>
          <p:nvPr/>
        </p:nvSpPr>
        <p:spPr>
          <a:xfrm>
            <a:off x="585216" y="4892040"/>
            <a:ext cx="1874519" cy="182880"/>
          </a:xfrm>
          <a:prstGeom prst="rect">
            <a:avLst/>
          </a:prstGeom>
          <a:noFill/>
        </p:spPr>
        <p:txBody>
          <a:bodyPr wrap="square" lIns="0" rIns="0" tIns="0" bIns="0" anchor="t">
            <a:spAutoFit/>
          </a:bodyPr>
          <a:lstStyle/>
          <a:p>
            <a:pPr algn="l"/>
            <a:r>
              <a:rPr sz="700" b="0" i="0" spc="160">
                <a:solidFill>
                  <a:srgbClr val="0E7490"/>
                </a:solidFill>
                <a:latin typeface="Arial"/>
              </a:rPr>
              <a:t>QUANTUM SIMILARITY</a:t>
            </a:r>
          </a:p>
        </p:txBody>
      </p:sp>
      <p:sp>
        <p:nvSpPr>
          <p:cNvPr id="2069" name="Oval 2068"/>
          <p:cNvSpPr/>
          <p:nvPr/>
        </p:nvSpPr>
        <p:spPr>
          <a:xfrm>
            <a:off x="3520440" y="3246120"/>
            <a:ext cx="1691640" cy="1691640"/>
          </a:xfrm>
          <a:prstGeom prst="ellipse">
            <a:avLst/>
          </a:prstGeom>
          <a:solidFill>
            <a:srgbClr val="ECF8F7"/>
          </a:solidFill>
          <a:ln w="17780">
            <a:solidFill>
              <a:srgbClr val="0D9488"/>
            </a:solidFill>
          </a:ln>
          <a:effectLst/>
        </p:spPr>
        <p:txBody>
          <a:bodyPr rtlCol="0" anchor="ctr"/>
          <a:lstStyle/>
          <a:p>
            <a:pPr algn="ctr"/>
          </a:p>
        </p:txBody>
      </p:sp>
      <p:sp>
        <p:nvSpPr>
          <p:cNvPr id="2070" name="TextBox 2069"/>
          <p:cNvSpPr txBox="1"/>
          <p:nvPr/>
        </p:nvSpPr>
        <p:spPr>
          <a:xfrm>
            <a:off x="3520440" y="3730752"/>
            <a:ext cx="1691640" cy="384048"/>
          </a:xfrm>
          <a:prstGeom prst="rect">
            <a:avLst/>
          </a:prstGeom>
          <a:noFill/>
        </p:spPr>
        <p:txBody>
          <a:bodyPr wrap="square" lIns="0" rIns="0" tIns="0" bIns="0" anchor="t">
            <a:spAutoFit/>
          </a:bodyPr>
          <a:lstStyle/>
          <a:p>
            <a:pPr algn="ctr"/>
            <a:r>
              <a:rPr sz="900" b="1" i="0" spc="160">
                <a:solidFill>
                  <a:srgbClr val="0E7490"/>
                </a:solidFill>
                <a:latin typeface="Arial"/>
              </a:rPr>
              <a:t>BELIEF STATE</a:t>
            </a:r>
          </a:p>
          <a:p>
            <a:pPr algn="ctr"/>
            <a:r>
              <a:rPr sz="1400" b="1" i="0">
                <a:solidFill>
                  <a:srgbClr val="0F172A"/>
                </a:solidFill>
                <a:latin typeface="Cambria"/>
              </a:rPr>
              <a:t>p(d | e)</a:t>
            </a:r>
          </a:p>
        </p:txBody>
      </p:sp>
      <p:cxnSp>
        <p:nvCxnSpPr>
          <p:cNvPr id="2071" name="Connector 2070"/>
          <p:cNvCxnSpPr/>
          <p:nvPr/>
        </p:nvCxnSpPr>
        <p:spPr>
          <a:xfrm>
            <a:off x="2578608" y="2679192"/>
            <a:ext cx="1033272" cy="731520"/>
          </a:xfrm>
          <a:prstGeom prst="line">
            <a:avLst/>
          </a:prstGeom>
          <a:ln w="12700">
            <a:solidFill>
              <a:srgbClr val="0D9488"/>
            </a:solidFill>
            <a:tailEnd type="triangle" w="med" len="med"/>
          </a:ln>
          <a:effectLst/>
        </p:spPr>
      </p:cxnSp>
      <p:cxnSp>
        <p:nvCxnSpPr>
          <p:cNvPr id="2072" name="Connector 2071"/>
          <p:cNvCxnSpPr/>
          <p:nvPr/>
        </p:nvCxnSpPr>
        <p:spPr>
          <a:xfrm>
            <a:off x="2578608" y="3410712"/>
            <a:ext cx="1033272" cy="256032"/>
          </a:xfrm>
          <a:prstGeom prst="line">
            <a:avLst/>
          </a:prstGeom>
          <a:ln w="12700">
            <a:solidFill>
              <a:srgbClr val="0D9488"/>
            </a:solidFill>
            <a:tailEnd type="triangle" w="med" len="med"/>
          </a:ln>
          <a:effectLst/>
        </p:spPr>
      </p:cxnSp>
      <p:cxnSp>
        <p:nvCxnSpPr>
          <p:cNvPr id="2073" name="Connector 2072"/>
          <p:cNvCxnSpPr/>
          <p:nvPr/>
        </p:nvCxnSpPr>
        <p:spPr>
          <a:xfrm flipV="1">
            <a:off x="2578608" y="3922776"/>
            <a:ext cx="1033272" cy="219456"/>
          </a:xfrm>
          <a:prstGeom prst="line">
            <a:avLst/>
          </a:prstGeom>
          <a:ln w="12700">
            <a:solidFill>
              <a:srgbClr val="0D9488"/>
            </a:solidFill>
            <a:tailEnd type="triangle" w="med" len="med"/>
          </a:ln>
          <a:effectLst/>
        </p:spPr>
      </p:cxnSp>
      <p:cxnSp>
        <p:nvCxnSpPr>
          <p:cNvPr id="2074" name="Connector 2073"/>
          <p:cNvCxnSpPr/>
          <p:nvPr/>
        </p:nvCxnSpPr>
        <p:spPr>
          <a:xfrm flipV="1">
            <a:off x="2578608" y="4178808"/>
            <a:ext cx="1033272" cy="694944"/>
          </a:xfrm>
          <a:prstGeom prst="line">
            <a:avLst/>
          </a:prstGeom>
          <a:ln w="12700">
            <a:solidFill>
              <a:srgbClr val="0D9488"/>
            </a:solidFill>
            <a:tailEnd type="triangle" w="med" len="med"/>
          </a:ln>
          <a:effectLst/>
        </p:spPr>
      </p:cxnSp>
      <p:sp>
        <p:nvSpPr>
          <p:cNvPr id="2075" name="Rounded Rectangle 2074"/>
          <p:cNvSpPr/>
          <p:nvPr/>
        </p:nvSpPr>
        <p:spPr>
          <a:xfrm>
            <a:off x="5806440" y="2395728"/>
            <a:ext cx="2880360" cy="566928"/>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76" name="TextBox 2075"/>
          <p:cNvSpPr txBox="1"/>
          <p:nvPr/>
        </p:nvSpPr>
        <p:spPr>
          <a:xfrm>
            <a:off x="5943600" y="2459736"/>
            <a:ext cx="2011680" cy="219456"/>
          </a:xfrm>
          <a:prstGeom prst="rect">
            <a:avLst/>
          </a:prstGeom>
          <a:noFill/>
        </p:spPr>
        <p:txBody>
          <a:bodyPr wrap="square" lIns="0" rIns="0" tIns="0" bIns="0" anchor="t">
            <a:spAutoFit/>
          </a:bodyPr>
          <a:lstStyle/>
          <a:p>
            <a:pPr algn="l"/>
            <a:r>
              <a:rPr sz="1000" b="1" i="0">
                <a:solidFill>
                  <a:srgbClr val="0F172A"/>
                </a:solidFill>
                <a:latin typeface="Arial"/>
              </a:rPr>
              <a:t>Pleural effusion</a:t>
            </a:r>
          </a:p>
        </p:txBody>
      </p:sp>
      <p:sp>
        <p:nvSpPr>
          <p:cNvPr id="2077" name="TextBox 2076"/>
          <p:cNvSpPr txBox="1"/>
          <p:nvPr/>
        </p:nvSpPr>
        <p:spPr>
          <a:xfrm>
            <a:off x="7882127" y="2459736"/>
            <a:ext cx="731520" cy="219456"/>
          </a:xfrm>
          <a:prstGeom prst="rect">
            <a:avLst/>
          </a:prstGeom>
          <a:noFill/>
        </p:spPr>
        <p:txBody>
          <a:bodyPr wrap="square" lIns="0" rIns="0" tIns="0" bIns="0" anchor="t">
            <a:spAutoFit/>
          </a:bodyPr>
          <a:lstStyle/>
          <a:p>
            <a:pPr algn="r"/>
            <a:r>
              <a:rPr sz="1000" b="1" i="0">
                <a:solidFill>
                  <a:srgbClr val="0E7490"/>
                </a:solidFill>
                <a:latin typeface="Arial"/>
              </a:rPr>
              <a:t>0.58</a:t>
            </a:r>
          </a:p>
        </p:txBody>
      </p:sp>
      <p:sp>
        <p:nvSpPr>
          <p:cNvPr id="2078" name="Rounded Rectangle 2077"/>
          <p:cNvSpPr/>
          <p:nvPr/>
        </p:nvSpPr>
        <p:spPr>
          <a:xfrm>
            <a:off x="5943600" y="2743200"/>
            <a:ext cx="2563368" cy="82296"/>
          </a:xfrm>
          <a:prstGeom prst="roundRect">
            <a:avLst>
              <a:gd name="adj" fmla="val 50000"/>
            </a:avLst>
          </a:prstGeom>
          <a:solidFill>
            <a:srgbClr val="2DD4BF"/>
          </a:solidFill>
          <a:ln>
            <a:noFill/>
          </a:ln>
          <a:effectLst/>
        </p:spPr>
        <p:txBody>
          <a:bodyPr rtlCol="0" anchor="ctr"/>
          <a:lstStyle/>
          <a:p>
            <a:pPr algn="ctr"/>
          </a:p>
        </p:txBody>
      </p:sp>
      <p:cxnSp>
        <p:nvCxnSpPr>
          <p:cNvPr id="2079" name="Connector 2078"/>
          <p:cNvCxnSpPr/>
          <p:nvPr/>
        </p:nvCxnSpPr>
        <p:spPr>
          <a:xfrm flipV="1">
            <a:off x="5175504" y="2679192"/>
            <a:ext cx="566928" cy="1150315"/>
          </a:xfrm>
          <a:prstGeom prst="line">
            <a:avLst/>
          </a:prstGeom>
          <a:ln w="12700">
            <a:solidFill>
              <a:srgbClr val="0D9488"/>
            </a:solidFill>
            <a:tailEnd type="triangle" w="med" len="med"/>
          </a:ln>
          <a:effectLst/>
        </p:spPr>
      </p:cxnSp>
      <p:sp>
        <p:nvSpPr>
          <p:cNvPr id="2080" name="Rounded Rectangle 2079"/>
          <p:cNvSpPr/>
          <p:nvPr/>
        </p:nvSpPr>
        <p:spPr>
          <a:xfrm>
            <a:off x="5806440" y="3127248"/>
            <a:ext cx="2880360" cy="566928"/>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81" name="TextBox 2080"/>
          <p:cNvSpPr txBox="1"/>
          <p:nvPr/>
        </p:nvSpPr>
        <p:spPr>
          <a:xfrm>
            <a:off x="5943600" y="3191256"/>
            <a:ext cx="2011680" cy="219456"/>
          </a:xfrm>
          <a:prstGeom prst="rect">
            <a:avLst/>
          </a:prstGeom>
          <a:noFill/>
        </p:spPr>
        <p:txBody>
          <a:bodyPr wrap="square" lIns="0" rIns="0" tIns="0" bIns="0" anchor="t">
            <a:spAutoFit/>
          </a:bodyPr>
          <a:lstStyle/>
          <a:p>
            <a:pPr algn="l"/>
            <a:r>
              <a:rPr sz="1000" b="1" i="0">
                <a:solidFill>
                  <a:srgbClr val="0F172A"/>
                </a:solidFill>
                <a:latin typeface="Arial"/>
              </a:rPr>
              <a:t>Nodule</a:t>
            </a:r>
          </a:p>
        </p:txBody>
      </p:sp>
      <p:sp>
        <p:nvSpPr>
          <p:cNvPr id="2082" name="TextBox 2081"/>
          <p:cNvSpPr txBox="1"/>
          <p:nvPr/>
        </p:nvSpPr>
        <p:spPr>
          <a:xfrm>
            <a:off x="7882127" y="3191256"/>
            <a:ext cx="731520" cy="219456"/>
          </a:xfrm>
          <a:prstGeom prst="rect">
            <a:avLst/>
          </a:prstGeom>
          <a:noFill/>
        </p:spPr>
        <p:txBody>
          <a:bodyPr wrap="square" lIns="0" rIns="0" tIns="0" bIns="0" anchor="t">
            <a:spAutoFit/>
          </a:bodyPr>
          <a:lstStyle/>
          <a:p>
            <a:pPr algn="r"/>
            <a:r>
              <a:rPr sz="1000" b="1" i="0">
                <a:solidFill>
                  <a:srgbClr val="0E7490"/>
                </a:solidFill>
                <a:latin typeface="Arial"/>
              </a:rPr>
              <a:t>0.21</a:t>
            </a:r>
          </a:p>
        </p:txBody>
      </p:sp>
      <p:sp>
        <p:nvSpPr>
          <p:cNvPr id="2083" name="Rounded Rectangle 2082"/>
          <p:cNvSpPr/>
          <p:nvPr/>
        </p:nvSpPr>
        <p:spPr>
          <a:xfrm>
            <a:off x="5943600" y="3474720"/>
            <a:ext cx="928116" cy="82296"/>
          </a:xfrm>
          <a:prstGeom prst="roundRect">
            <a:avLst>
              <a:gd name="adj" fmla="val 50000"/>
            </a:avLst>
          </a:prstGeom>
          <a:solidFill>
            <a:srgbClr val="2DD4BF"/>
          </a:solidFill>
          <a:ln>
            <a:noFill/>
          </a:ln>
          <a:effectLst/>
        </p:spPr>
        <p:txBody>
          <a:bodyPr rtlCol="0" anchor="ctr"/>
          <a:lstStyle/>
          <a:p>
            <a:pPr algn="ctr"/>
          </a:p>
        </p:txBody>
      </p:sp>
      <p:cxnSp>
        <p:nvCxnSpPr>
          <p:cNvPr id="2084" name="Connector 2083"/>
          <p:cNvCxnSpPr/>
          <p:nvPr/>
        </p:nvCxnSpPr>
        <p:spPr>
          <a:xfrm flipV="1">
            <a:off x="5175504" y="3410712"/>
            <a:ext cx="566928" cy="572414"/>
          </a:xfrm>
          <a:prstGeom prst="line">
            <a:avLst/>
          </a:prstGeom>
          <a:ln w="12700">
            <a:solidFill>
              <a:srgbClr val="0D9488"/>
            </a:solidFill>
            <a:tailEnd type="triangle" w="med" len="med"/>
          </a:ln>
          <a:effectLst/>
        </p:spPr>
      </p:cxnSp>
      <p:sp>
        <p:nvSpPr>
          <p:cNvPr id="2085" name="Rounded Rectangle 2084"/>
          <p:cNvSpPr/>
          <p:nvPr/>
        </p:nvSpPr>
        <p:spPr>
          <a:xfrm>
            <a:off x="5806440" y="3858768"/>
            <a:ext cx="2880360" cy="566928"/>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86" name="TextBox 2085"/>
          <p:cNvSpPr txBox="1"/>
          <p:nvPr/>
        </p:nvSpPr>
        <p:spPr>
          <a:xfrm>
            <a:off x="5943600" y="3922776"/>
            <a:ext cx="2011680" cy="219456"/>
          </a:xfrm>
          <a:prstGeom prst="rect">
            <a:avLst/>
          </a:prstGeom>
          <a:noFill/>
        </p:spPr>
        <p:txBody>
          <a:bodyPr wrap="square" lIns="0" rIns="0" tIns="0" bIns="0" anchor="t">
            <a:spAutoFit/>
          </a:bodyPr>
          <a:lstStyle/>
          <a:p>
            <a:pPr algn="l"/>
            <a:r>
              <a:rPr sz="1000" b="1" i="0">
                <a:solidFill>
                  <a:srgbClr val="0F172A"/>
                </a:solidFill>
                <a:latin typeface="Arial"/>
              </a:rPr>
              <a:t>Pneumothorax</a:t>
            </a:r>
          </a:p>
        </p:txBody>
      </p:sp>
      <p:sp>
        <p:nvSpPr>
          <p:cNvPr id="2087" name="TextBox 2086"/>
          <p:cNvSpPr txBox="1"/>
          <p:nvPr/>
        </p:nvSpPr>
        <p:spPr>
          <a:xfrm>
            <a:off x="7882127" y="3922776"/>
            <a:ext cx="731520" cy="219456"/>
          </a:xfrm>
          <a:prstGeom prst="rect">
            <a:avLst/>
          </a:prstGeom>
          <a:noFill/>
        </p:spPr>
        <p:txBody>
          <a:bodyPr wrap="square" lIns="0" rIns="0" tIns="0" bIns="0" anchor="t">
            <a:spAutoFit/>
          </a:bodyPr>
          <a:lstStyle/>
          <a:p>
            <a:pPr algn="r"/>
            <a:r>
              <a:rPr sz="1000" b="1" i="0">
                <a:solidFill>
                  <a:srgbClr val="0E7490"/>
                </a:solidFill>
                <a:latin typeface="Arial"/>
              </a:rPr>
              <a:t>0.12</a:t>
            </a:r>
          </a:p>
        </p:txBody>
      </p:sp>
      <p:sp>
        <p:nvSpPr>
          <p:cNvPr id="2088" name="Rounded Rectangle 2087"/>
          <p:cNvSpPr/>
          <p:nvPr/>
        </p:nvSpPr>
        <p:spPr>
          <a:xfrm>
            <a:off x="5943600" y="4206240"/>
            <a:ext cx="530352" cy="82296"/>
          </a:xfrm>
          <a:prstGeom prst="roundRect">
            <a:avLst>
              <a:gd name="adj" fmla="val 50000"/>
            </a:avLst>
          </a:prstGeom>
          <a:solidFill>
            <a:srgbClr val="2DD4BF"/>
          </a:solidFill>
          <a:ln>
            <a:noFill/>
          </a:ln>
          <a:effectLst/>
        </p:spPr>
        <p:txBody>
          <a:bodyPr rtlCol="0" anchor="ctr"/>
          <a:lstStyle/>
          <a:p>
            <a:pPr algn="ctr"/>
          </a:p>
        </p:txBody>
      </p:sp>
      <p:cxnSp>
        <p:nvCxnSpPr>
          <p:cNvPr id="2089" name="Connector 2088"/>
          <p:cNvCxnSpPr/>
          <p:nvPr/>
        </p:nvCxnSpPr>
        <p:spPr>
          <a:xfrm>
            <a:off x="5175504" y="4136745"/>
            <a:ext cx="566928" cy="5486"/>
          </a:xfrm>
          <a:prstGeom prst="line">
            <a:avLst/>
          </a:prstGeom>
          <a:ln w="12700">
            <a:solidFill>
              <a:srgbClr val="0D9488"/>
            </a:solidFill>
            <a:tailEnd type="triangle" w="med" len="med"/>
          </a:ln>
          <a:effectLst/>
        </p:spPr>
      </p:cxnSp>
      <p:sp>
        <p:nvSpPr>
          <p:cNvPr id="2090" name="Rounded Rectangle 2089"/>
          <p:cNvSpPr/>
          <p:nvPr/>
        </p:nvSpPr>
        <p:spPr>
          <a:xfrm>
            <a:off x="5806440" y="4590288"/>
            <a:ext cx="2880360" cy="566928"/>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91" name="TextBox 2090"/>
          <p:cNvSpPr txBox="1"/>
          <p:nvPr/>
        </p:nvSpPr>
        <p:spPr>
          <a:xfrm>
            <a:off x="5943600" y="4654296"/>
            <a:ext cx="2011680" cy="219456"/>
          </a:xfrm>
          <a:prstGeom prst="rect">
            <a:avLst/>
          </a:prstGeom>
          <a:noFill/>
        </p:spPr>
        <p:txBody>
          <a:bodyPr wrap="square" lIns="0" rIns="0" tIns="0" bIns="0" anchor="t">
            <a:spAutoFit/>
          </a:bodyPr>
          <a:lstStyle/>
          <a:p>
            <a:pPr algn="l"/>
            <a:r>
              <a:rPr sz="1000" b="1" i="0">
                <a:solidFill>
                  <a:srgbClr val="0F172A"/>
                </a:solidFill>
                <a:latin typeface="Arial"/>
              </a:rPr>
              <a:t>COPD pattern</a:t>
            </a:r>
          </a:p>
        </p:txBody>
      </p:sp>
      <p:sp>
        <p:nvSpPr>
          <p:cNvPr id="2092" name="TextBox 2091"/>
          <p:cNvSpPr txBox="1"/>
          <p:nvPr/>
        </p:nvSpPr>
        <p:spPr>
          <a:xfrm>
            <a:off x="7882127" y="4654296"/>
            <a:ext cx="731520" cy="219456"/>
          </a:xfrm>
          <a:prstGeom prst="rect">
            <a:avLst/>
          </a:prstGeom>
          <a:noFill/>
        </p:spPr>
        <p:txBody>
          <a:bodyPr wrap="square" lIns="0" rIns="0" tIns="0" bIns="0" anchor="t">
            <a:spAutoFit/>
          </a:bodyPr>
          <a:lstStyle/>
          <a:p>
            <a:pPr algn="r"/>
            <a:r>
              <a:rPr sz="1000" b="1" i="0">
                <a:solidFill>
                  <a:srgbClr val="0E7490"/>
                </a:solidFill>
                <a:latin typeface="Arial"/>
              </a:rPr>
              <a:t>0.09</a:t>
            </a:r>
          </a:p>
        </p:txBody>
      </p:sp>
      <p:sp>
        <p:nvSpPr>
          <p:cNvPr id="2093" name="Rounded Rectangle 2092"/>
          <p:cNvSpPr/>
          <p:nvPr/>
        </p:nvSpPr>
        <p:spPr>
          <a:xfrm>
            <a:off x="5943600" y="4937759"/>
            <a:ext cx="397764" cy="82296"/>
          </a:xfrm>
          <a:prstGeom prst="roundRect">
            <a:avLst>
              <a:gd name="adj" fmla="val 50000"/>
            </a:avLst>
          </a:prstGeom>
          <a:solidFill>
            <a:srgbClr val="2DD4BF"/>
          </a:solidFill>
          <a:ln>
            <a:noFill/>
          </a:ln>
          <a:effectLst/>
        </p:spPr>
        <p:txBody>
          <a:bodyPr rtlCol="0" anchor="ctr"/>
          <a:lstStyle/>
          <a:p>
            <a:pPr algn="ctr"/>
          </a:p>
        </p:txBody>
      </p:sp>
      <p:cxnSp>
        <p:nvCxnSpPr>
          <p:cNvPr id="2094" name="Connector 2093"/>
          <p:cNvCxnSpPr/>
          <p:nvPr/>
        </p:nvCxnSpPr>
        <p:spPr>
          <a:xfrm>
            <a:off x="5175504" y="4290364"/>
            <a:ext cx="566928" cy="583387"/>
          </a:xfrm>
          <a:prstGeom prst="line">
            <a:avLst/>
          </a:prstGeom>
          <a:ln w="12700">
            <a:solidFill>
              <a:srgbClr val="0D9488"/>
            </a:solidFill>
            <a:tailEnd type="triangle" w="med" len="med"/>
          </a:ln>
          <a:effectLst/>
        </p:spPr>
      </p:cxnSp>
      <p:sp>
        <p:nvSpPr>
          <p:cNvPr id="2095" name="Rounded Rectangle 2094"/>
          <p:cNvSpPr/>
          <p:nvPr/>
        </p:nvSpPr>
        <p:spPr>
          <a:xfrm>
            <a:off x="457200" y="5138928"/>
            <a:ext cx="8229600" cy="402336"/>
          </a:xfrm>
          <a:prstGeom prst="roundRect">
            <a:avLst>
              <a:gd name="adj" fmla="val 10000"/>
            </a:avLst>
          </a:prstGeom>
          <a:noFill/>
          <a:ln>
            <a:noFill/>
          </a:ln>
          <a:effectLst/>
        </p:spPr>
        <p:txBody>
          <a:bodyPr rtlCol="0" anchor="ctr"/>
          <a:lstStyle/>
          <a:p>
            <a:pPr algn="ctr"/>
          </a:p>
        </p:txBody>
      </p:sp>
      <p:sp>
        <p:nvSpPr>
          <p:cNvPr id="2096" name="TextBox 2095"/>
          <p:cNvSpPr txBox="1"/>
          <p:nvPr/>
        </p:nvSpPr>
        <p:spPr>
          <a:xfrm>
            <a:off x="457200" y="5138928"/>
            <a:ext cx="8229600" cy="402336"/>
          </a:xfrm>
          <a:prstGeom prst="rect">
            <a:avLst/>
          </a:prstGeom>
          <a:noFill/>
        </p:spPr>
        <p:txBody>
          <a:bodyPr wrap="square" lIns="0" rIns="0" tIns="0" bIns="0" anchor="t">
            <a:spAutoFit/>
          </a:bodyPr>
          <a:lstStyle/>
          <a:p>
            <a:pPr algn="l"/>
            <a:r>
              <a:rPr sz="1000" b="0" i="0">
                <a:solidFill>
                  <a:srgbClr val="5B6672"/>
                </a:solidFill>
                <a:latin typeface="Arial"/>
              </a:rPr>
              <a:t>Bayesian update per message:   </a:t>
            </a:r>
          </a:p>
        </p:txBody>
      </p:sp>
      <p:sp>
        <p:nvSpPr>
          <p:cNvPr id="2097" name="TextBox 2096"/>
          <p:cNvSpPr txBox="1"/>
          <p:nvPr/>
        </p:nvSpPr>
        <p:spPr>
          <a:xfrm>
            <a:off x="2395728" y="5084064"/>
            <a:ext cx="4389120" cy="365760"/>
          </a:xfrm>
          <a:prstGeom prst="rect">
            <a:avLst/>
          </a:prstGeom>
          <a:noFill/>
        </p:spPr>
        <p:txBody>
          <a:bodyPr wrap="square" lIns="0" rIns="0" tIns="0" bIns="0" anchor="t">
            <a:spAutoFit/>
          </a:bodyPr>
          <a:lstStyle/>
          <a:p>
            <a:pPr algn="ctr"/>
            <a:r>
              <a:rPr sz="1400" b="1" i="0">
                <a:solidFill>
                  <a:srgbClr val="0E7490"/>
                </a:solidFill>
                <a:latin typeface="Cambria"/>
              </a:rPr>
              <a:t>p(d | e₁..eₖ) ∝ p(d) Πₖ p(eₖ | d)</a:t>
            </a:r>
          </a:p>
        </p:txBody>
      </p:sp>
      <p:sp>
        <p:nvSpPr>
          <p:cNvPr id="2098" name="TextBox 2097"/>
          <p:cNvSpPr txBox="1"/>
          <p:nvPr/>
        </p:nvSpPr>
        <p:spPr>
          <a:xfrm>
            <a:off x="457200" y="5541264"/>
            <a:ext cx="8229600" cy="219456"/>
          </a:xfrm>
          <a:prstGeom prst="rect">
            <a:avLst/>
          </a:prstGeom>
          <a:noFill/>
        </p:spPr>
        <p:txBody>
          <a:bodyPr wrap="square" lIns="0" rIns="0" tIns="0" bIns="0" anchor="t">
            <a:spAutoFit/>
          </a:bodyPr>
          <a:lstStyle/>
          <a:p>
            <a:pPr algn="l"/>
            <a:r>
              <a:rPr sz="800" b="0" i="1">
                <a:solidFill>
                  <a:srgbClr val="5B6672"/>
                </a:solidFill>
                <a:latin typeface="Arial"/>
              </a:rPr>
              <a:t>Koller &amp; Friedman, Probabilistic Graphical Models, MIT Press (2009)  ·  Richens et al., Nature Communications 11, 3923 (2020) - counterfactual diagnosis</a:t>
            </a:r>
          </a:p>
        </p:txBody>
      </p:sp>
    </p:spTree>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l="-24000" r="-24000"/>
          </a:stretch>
        </a:blipFill>
        <a:effectLst/>
      </p:bgPr>
    </p:bg>
    <p:spTree>
      <p:nvGrpSpPr>
        <p:cNvPr id="1" name=""/>
        <p:cNvGrpSpPr/>
        <p:nvPr/>
      </p:nvGrpSpPr>
      <p:grpSpPr>
        <a:xfrm>
          <a:off x="0" y="0"/>
          <a:ext cx="0" cy="0"/>
          <a:chOff x="0" y="0"/>
          <a:chExt cx="0" cy="0"/>
        </a:xfrm>
      </p:grpSpPr>
      <p:pic>
        <p:nvPicPr>
          <p:cNvPr id="2" name="Picture 3" descr="C:\Users\Admin\Downloads\1764679326535-Photoroom.png"/>
          <p:cNvPicPr>
            <a:picLocks noChangeAspect="1" noChangeArrowheads="1"/>
          </p:cNvPicPr>
          <p:nvPr/>
        </p:nvPicPr>
        <p:blipFill>
          <a:blip r:embed="rId4"/>
          <a:srcRect/>
          <a:stretch>
            <a:fillRect/>
          </a:stretch>
        </p:blipFill>
        <p:spPr bwMode="auto">
          <a:xfrm>
            <a:off x="4108831" y="35671"/>
            <a:ext cx="1285884" cy="1285884"/>
          </a:xfrm>
          <a:prstGeom prst="rect">
            <a:avLst/>
          </a:prstGeom>
          <a:noFill/>
        </p:spPr>
      </p:pic>
      <p:pic>
        <p:nvPicPr>
          <p:cNvPr id="2050" name="Picture 2" descr="C:\Users\Admin\Downloads\RIT.png"/>
          <p:cNvPicPr>
            <a:picLocks noChangeAspect="1" noChangeArrowheads="1"/>
          </p:cNvPicPr>
          <p:nvPr/>
        </p:nvPicPr>
        <p:blipFill>
          <a:blip r:embed="rId5" cstate="print"/>
          <a:srcRect/>
          <a:stretch>
            <a:fillRect/>
          </a:stretch>
        </p:blipFill>
        <p:spPr bwMode="auto">
          <a:xfrm>
            <a:off x="252062" y="285704"/>
            <a:ext cx="3043364" cy="785818"/>
          </a:xfrm>
          <a:prstGeom prst="rect">
            <a:avLst/>
          </a:prstGeom>
          <a:noFill/>
        </p:spPr>
      </p:pic>
      <p:pic>
        <p:nvPicPr>
          <p:cNvPr id="2051" name="Picture 3" descr="C:\Users\Admin\Downloads\IBM_logo.svg.png"/>
          <p:cNvPicPr>
            <a:picLocks noChangeAspect="1" noChangeArrowheads="1"/>
          </p:cNvPicPr>
          <p:nvPr/>
        </p:nvPicPr>
        <p:blipFill>
          <a:blip r:embed="rId6"/>
          <a:srcRect/>
          <a:stretch>
            <a:fillRect/>
          </a:stretch>
        </p:blipFill>
        <p:spPr bwMode="auto">
          <a:xfrm>
            <a:off x="7380312" y="357139"/>
            <a:ext cx="1528257" cy="571504"/>
          </a:xfrm>
          <a:prstGeom prst="rect">
            <a:avLst/>
          </a:prstGeom>
          <a:noFill/>
        </p:spPr>
      </p:pic>
      <p:pic>
        <p:nvPicPr>
          <p:cNvPr id="2053" name="Picture 5" descr="C:\Users\Admin\Downloads\logo-nqm.png"/>
          <p:cNvPicPr>
            <a:picLocks noChangeAspect="1" noChangeArrowheads="1"/>
          </p:cNvPicPr>
          <p:nvPr/>
        </p:nvPicPr>
        <p:blipFill>
          <a:blip r:embed="rId7"/>
          <a:srcRect/>
          <a:stretch>
            <a:fillRect/>
          </a:stretch>
        </p:blipFill>
        <p:spPr bwMode="auto">
          <a:xfrm>
            <a:off x="5519518" y="249994"/>
            <a:ext cx="710054" cy="785794"/>
          </a:xfrm>
          <a:prstGeom prst="rect">
            <a:avLst/>
          </a:prstGeom>
          <a:noFill/>
        </p:spPr>
      </p:pic>
      <p:sp>
        <p:nvSpPr>
          <p:cNvPr id="11" name="Footer Placeholder 10"/>
          <p:cNvSpPr>
            <a:spLocks noGrp="1"/>
          </p:cNvSpPr>
          <p:nvPr>
            <p:ph type="ftr" sz="quarter" idx="11"/>
          </p:nvPr>
        </p:nvSpPr>
        <p:spPr>
          <a:xfrm>
            <a:off x="304800" y="6410848"/>
            <a:ext cx="6196026" cy="232862"/>
          </a:xfrm>
        </p:spPr>
        <p:txBody>
          <a:bodyPr/>
          <a:lstStyle/>
          <a:p>
            <a:r>
              <a:rPr lang="en-IN" i="1" dirty="0" smtClean="0">
                <a:solidFill>
                  <a:schemeClr val="tx1"/>
                </a:solidFill>
                <a:latin typeface="Arial Rounded MT Bold" pitchFamily="34" charset="0"/>
              </a:rPr>
              <a:t>RIT – QUANT-A-THAN- 2026 (Innovate, Build, Transform)</a:t>
            </a:r>
            <a:endParaRPr lang="en-IN" i="1" dirty="0">
              <a:solidFill>
                <a:schemeClr val="tx1"/>
              </a:solidFill>
              <a:latin typeface="Arial Rounded MT Bold" pitchFamily="34" charset="0"/>
            </a:endParaRPr>
          </a:p>
        </p:txBody>
      </p:sp>
      <p:pic>
        <p:nvPicPr>
          <p:cNvPr id="5" name="Picture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88734" y="285704"/>
            <a:ext cx="866775" cy="714375"/>
          </a:xfrm>
          <a:prstGeom prst="rect">
            <a:avLst/>
          </a:prstGeom>
        </p:spPr>
      </p:pic>
      <p:sp>
        <p:nvSpPr>
          <p:cNvPr id="2054" name="TextBox 2053"/>
          <p:cNvSpPr txBox="1"/>
          <p:nvPr/>
        </p:nvSpPr>
        <p:spPr>
          <a:xfrm>
            <a:off x="457200" y="1133856"/>
            <a:ext cx="8229600" cy="237744"/>
          </a:xfrm>
          <a:prstGeom prst="rect">
            <a:avLst/>
          </a:prstGeom>
          <a:noFill/>
        </p:spPr>
        <p:txBody>
          <a:bodyPr wrap="square" lIns="0" rIns="0" tIns="0" bIns="0" anchor="t">
            <a:spAutoFit/>
          </a:bodyPr>
          <a:lstStyle/>
          <a:p>
            <a:pPr algn="l"/>
            <a:r>
              <a:rPr sz="1050" b="1" i="0" spc="280">
                <a:solidFill>
                  <a:srgbClr val="5B6672"/>
                </a:solidFill>
                <a:latin typeface="Arial"/>
              </a:rPr>
              <a:t>07  ·  </a:t>
            </a:r>
            <a:r>
              <a:rPr sz="1050" b="1" i="0" spc="280">
                <a:solidFill>
                  <a:srgbClr val="0E7490"/>
                </a:solidFill>
                <a:latin typeface="Arial"/>
              </a:rPr>
              <a:t>EXPLAINABILITY</a:t>
            </a:r>
          </a:p>
        </p:txBody>
      </p:sp>
      <p:sp>
        <p:nvSpPr>
          <p:cNvPr id="2055" name="TextBox 2054"/>
          <p:cNvSpPr txBox="1"/>
          <p:nvPr/>
        </p:nvSpPr>
        <p:spPr>
          <a:xfrm>
            <a:off x="457200" y="1371600"/>
            <a:ext cx="8229600" cy="475488"/>
          </a:xfrm>
          <a:prstGeom prst="rect">
            <a:avLst/>
          </a:prstGeom>
          <a:noFill/>
        </p:spPr>
        <p:txBody>
          <a:bodyPr wrap="square" lIns="0" rIns="0" tIns="0" bIns="0" anchor="t">
            <a:spAutoFit/>
          </a:bodyPr>
          <a:lstStyle/>
          <a:p>
            <a:pPr algn="l"/>
            <a:r>
              <a:rPr sz="2600" b="1" i="0" spc="-20">
                <a:solidFill>
                  <a:srgbClr val="0F172A"/>
                </a:solidFill>
                <a:latin typeface="Arial"/>
              </a:rPr>
              <a:t>Four artifacts behind every claim</a:t>
            </a:r>
          </a:p>
        </p:txBody>
      </p:sp>
      <p:sp>
        <p:nvSpPr>
          <p:cNvPr id="2056" name="TextBox 2055"/>
          <p:cNvSpPr txBox="1"/>
          <p:nvPr/>
        </p:nvSpPr>
        <p:spPr>
          <a:xfrm>
            <a:off x="457200" y="1874519"/>
            <a:ext cx="8229600" cy="274320"/>
          </a:xfrm>
          <a:prstGeom prst="rect">
            <a:avLst/>
          </a:prstGeom>
          <a:noFill/>
        </p:spPr>
        <p:txBody>
          <a:bodyPr wrap="square" lIns="0" rIns="0" tIns="0" bIns="0" anchor="t">
            <a:spAutoFit/>
          </a:bodyPr>
          <a:lstStyle/>
          <a:p>
            <a:pPr algn="l"/>
            <a:r>
              <a:rPr sz="1150" b="0" i="1">
                <a:solidFill>
                  <a:srgbClr val="5B6672"/>
                </a:solidFill>
                <a:latin typeface="Arial"/>
              </a:rPr>
              <a:t>Purpose - explanation as evidence, not decoration; each card is a live output.</a:t>
            </a:r>
          </a:p>
        </p:txBody>
      </p:sp>
      <p:sp>
        <p:nvSpPr>
          <p:cNvPr id="2057" name="Rounded Rectangle 2056"/>
          <p:cNvSpPr/>
          <p:nvPr/>
        </p:nvSpPr>
        <p:spPr>
          <a:xfrm>
            <a:off x="457200" y="2304288"/>
            <a:ext cx="4069080" cy="1481328"/>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58" name="TextBox 2057"/>
          <p:cNvSpPr txBox="1"/>
          <p:nvPr/>
        </p:nvSpPr>
        <p:spPr>
          <a:xfrm>
            <a:off x="658368" y="2432304"/>
            <a:ext cx="1463040" cy="201168"/>
          </a:xfrm>
          <a:prstGeom prst="rect">
            <a:avLst/>
          </a:prstGeom>
          <a:noFill/>
        </p:spPr>
        <p:txBody>
          <a:bodyPr wrap="square" lIns="0" rIns="0" tIns="0" bIns="0" anchor="t">
            <a:spAutoFit/>
          </a:bodyPr>
          <a:lstStyle/>
          <a:p>
            <a:pPr algn="l"/>
            <a:r>
              <a:rPr sz="850" b="1" i="0" spc="240">
                <a:solidFill>
                  <a:srgbClr val="0E7490"/>
                </a:solidFill>
                <a:latin typeface="Arial"/>
              </a:rPr>
              <a:t>WHERE</a:t>
            </a:r>
          </a:p>
        </p:txBody>
      </p:sp>
      <p:sp>
        <p:nvSpPr>
          <p:cNvPr id="2059" name="TextBox 2058"/>
          <p:cNvSpPr txBox="1"/>
          <p:nvPr/>
        </p:nvSpPr>
        <p:spPr>
          <a:xfrm>
            <a:off x="658368" y="2651760"/>
            <a:ext cx="2651760" cy="256032"/>
          </a:xfrm>
          <a:prstGeom prst="rect">
            <a:avLst/>
          </a:prstGeom>
          <a:noFill/>
        </p:spPr>
        <p:txBody>
          <a:bodyPr wrap="square" lIns="0" rIns="0" tIns="0" bIns="0" anchor="t">
            <a:spAutoFit/>
          </a:bodyPr>
          <a:lstStyle/>
          <a:p>
            <a:pPr algn="l"/>
            <a:r>
              <a:rPr sz="1300" b="1" i="0">
                <a:solidFill>
                  <a:srgbClr val="0F172A"/>
                </a:solidFill>
                <a:latin typeface="Arial"/>
              </a:rPr>
              <a:t>Occlusion saliency</a:t>
            </a:r>
          </a:p>
        </p:txBody>
      </p:sp>
      <p:sp>
        <p:nvSpPr>
          <p:cNvPr id="2060" name="TextBox 2059"/>
          <p:cNvSpPr txBox="1"/>
          <p:nvPr/>
        </p:nvSpPr>
        <p:spPr>
          <a:xfrm>
            <a:off x="658368" y="2962656"/>
            <a:ext cx="2606040" cy="676656"/>
          </a:xfrm>
          <a:prstGeom prst="rect">
            <a:avLst/>
          </a:prstGeom>
          <a:noFill/>
        </p:spPr>
        <p:txBody>
          <a:bodyPr wrap="square" lIns="0" rIns="0" tIns="0" bIns="0" anchor="t">
            <a:spAutoFit/>
          </a:bodyPr>
          <a:lstStyle/>
          <a:p>
            <a:pPr algn="l">
              <a:lnSpc>
                <a:spcPct val="110000"/>
              </a:lnSpc>
            </a:pPr>
            <a:r>
              <a:rPr sz="900" b="0" i="0">
                <a:solidFill>
                  <a:srgbClr val="5B6672"/>
                </a:solidFill>
                <a:latin typeface="Arial"/>
              </a:rPr>
              <a:t>model-agnostic perturbation map - which regions drive the finding</a:t>
            </a:r>
          </a:p>
        </p:txBody>
      </p:sp>
      <p:sp>
        <p:nvSpPr>
          <p:cNvPr id="2061" name="Rounded Rectangle 2060"/>
          <p:cNvSpPr/>
          <p:nvPr/>
        </p:nvSpPr>
        <p:spPr>
          <a:xfrm>
            <a:off x="3401568" y="2560320"/>
            <a:ext cx="932688" cy="987552"/>
          </a:xfrm>
          <a:prstGeom prst="roundRect">
            <a:avLst>
              <a:gd name="adj" fmla="val 8000"/>
            </a:avLst>
          </a:prstGeom>
          <a:solidFill>
            <a:srgbClr val="0F172A"/>
          </a:solidFill>
          <a:ln>
            <a:noFill/>
          </a:ln>
          <a:effectLst/>
        </p:spPr>
        <p:txBody>
          <a:bodyPr rtlCol="0" anchor="ctr"/>
          <a:lstStyle/>
          <a:p>
            <a:pPr algn="ctr"/>
          </a:p>
        </p:txBody>
      </p:sp>
      <p:sp>
        <p:nvSpPr>
          <p:cNvPr id="2062" name="Oval 2061"/>
          <p:cNvSpPr/>
          <p:nvPr/>
        </p:nvSpPr>
        <p:spPr>
          <a:xfrm>
            <a:off x="3566160" y="2779776"/>
            <a:ext cx="457200" cy="384048"/>
          </a:xfrm>
          <a:prstGeom prst="ellipse">
            <a:avLst/>
          </a:prstGeom>
          <a:solidFill>
            <a:srgbClr val="2DD4BF">
              <a:alpha val="55000"/>
            </a:srgbClr>
          </a:solidFill>
          <a:ln>
            <a:noFill/>
          </a:ln>
          <a:effectLst/>
        </p:spPr>
        <p:txBody>
          <a:bodyPr rtlCol="0" anchor="ctr"/>
          <a:lstStyle/>
          <a:p>
            <a:pPr algn="ctr"/>
          </a:p>
        </p:txBody>
      </p:sp>
      <p:sp>
        <p:nvSpPr>
          <p:cNvPr id="2063" name="Oval 2062"/>
          <p:cNvSpPr/>
          <p:nvPr/>
        </p:nvSpPr>
        <p:spPr>
          <a:xfrm>
            <a:off x="3675888" y="2871216"/>
            <a:ext cx="237744" cy="201168"/>
          </a:xfrm>
          <a:prstGeom prst="ellipse">
            <a:avLst/>
          </a:prstGeom>
          <a:solidFill>
            <a:srgbClr val="5EEAD4"/>
          </a:solidFill>
          <a:ln>
            <a:noFill/>
          </a:ln>
          <a:effectLst/>
        </p:spPr>
        <p:txBody>
          <a:bodyPr rtlCol="0" anchor="ctr"/>
          <a:lstStyle/>
          <a:p>
            <a:pPr algn="ctr"/>
          </a:p>
        </p:txBody>
      </p:sp>
      <p:sp>
        <p:nvSpPr>
          <p:cNvPr id="2064" name="Rounded Rectangle 2063"/>
          <p:cNvSpPr/>
          <p:nvPr/>
        </p:nvSpPr>
        <p:spPr>
          <a:xfrm>
            <a:off x="4617720" y="2304288"/>
            <a:ext cx="4069080" cy="1481328"/>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65" name="TextBox 2064"/>
          <p:cNvSpPr txBox="1"/>
          <p:nvPr/>
        </p:nvSpPr>
        <p:spPr>
          <a:xfrm>
            <a:off x="4818888" y="2432304"/>
            <a:ext cx="1463040" cy="201168"/>
          </a:xfrm>
          <a:prstGeom prst="rect">
            <a:avLst/>
          </a:prstGeom>
          <a:noFill/>
        </p:spPr>
        <p:txBody>
          <a:bodyPr wrap="square" lIns="0" rIns="0" tIns="0" bIns="0" anchor="t">
            <a:spAutoFit/>
          </a:bodyPr>
          <a:lstStyle/>
          <a:p>
            <a:pPr algn="l"/>
            <a:r>
              <a:rPr sz="850" b="1" i="0" spc="240">
                <a:solidFill>
                  <a:srgbClr val="0E7490"/>
                </a:solidFill>
                <a:latin typeface="Arial"/>
              </a:rPr>
              <a:t>WHAT IF</a:t>
            </a:r>
          </a:p>
        </p:txBody>
      </p:sp>
      <p:sp>
        <p:nvSpPr>
          <p:cNvPr id="2066" name="TextBox 2065"/>
          <p:cNvSpPr txBox="1"/>
          <p:nvPr/>
        </p:nvSpPr>
        <p:spPr>
          <a:xfrm>
            <a:off x="4818888" y="2651760"/>
            <a:ext cx="2651760" cy="256032"/>
          </a:xfrm>
          <a:prstGeom prst="rect">
            <a:avLst/>
          </a:prstGeom>
          <a:noFill/>
        </p:spPr>
        <p:txBody>
          <a:bodyPr wrap="square" lIns="0" rIns="0" tIns="0" bIns="0" anchor="t">
            <a:spAutoFit/>
          </a:bodyPr>
          <a:lstStyle/>
          <a:p>
            <a:pPr algn="l"/>
            <a:r>
              <a:rPr sz="1300" b="1" i="0">
                <a:solidFill>
                  <a:srgbClr val="0F172A"/>
                </a:solidFill>
                <a:latin typeface="Arial"/>
              </a:rPr>
              <a:t>Counterfactual regions</a:t>
            </a:r>
          </a:p>
        </p:txBody>
      </p:sp>
      <p:sp>
        <p:nvSpPr>
          <p:cNvPr id="2067" name="TextBox 2066"/>
          <p:cNvSpPr txBox="1"/>
          <p:nvPr/>
        </p:nvSpPr>
        <p:spPr>
          <a:xfrm>
            <a:off x="4818888" y="2962656"/>
            <a:ext cx="2606040" cy="676656"/>
          </a:xfrm>
          <a:prstGeom prst="rect">
            <a:avLst/>
          </a:prstGeom>
          <a:noFill/>
        </p:spPr>
        <p:txBody>
          <a:bodyPr wrap="square" lIns="0" rIns="0" tIns="0" bIns="0" anchor="t">
            <a:spAutoFit/>
          </a:bodyPr>
          <a:lstStyle/>
          <a:p>
            <a:pPr algn="l">
              <a:lnSpc>
                <a:spcPct val="110000"/>
              </a:lnSpc>
            </a:pPr>
            <a:r>
              <a:rPr sz="900" b="0" i="0">
                <a:solidFill>
                  <a:srgbClr val="5B6672"/>
                </a:solidFill>
                <a:latin typeface="Cambria"/>
              </a:rPr>
              <a:t>δ* = argmin ‖δ‖  s.t.  diagnosis(x + δ) ≠ diagnosis(x)</a:t>
            </a:r>
          </a:p>
        </p:txBody>
      </p:sp>
      <p:sp>
        <p:nvSpPr>
          <p:cNvPr id="2068" name="Rounded Rectangle 2067"/>
          <p:cNvSpPr/>
          <p:nvPr/>
        </p:nvSpPr>
        <p:spPr>
          <a:xfrm>
            <a:off x="7562088" y="2560320"/>
            <a:ext cx="932688" cy="987552"/>
          </a:xfrm>
          <a:prstGeom prst="roundRect">
            <a:avLst>
              <a:gd name="adj" fmla="val 8000"/>
            </a:avLst>
          </a:prstGeom>
          <a:solidFill>
            <a:srgbClr val="0F172A"/>
          </a:solidFill>
          <a:ln>
            <a:noFill/>
          </a:ln>
          <a:effectLst/>
        </p:spPr>
        <p:txBody>
          <a:bodyPr rtlCol="0" anchor="ctr"/>
          <a:lstStyle/>
          <a:p>
            <a:pPr algn="ctr"/>
          </a:p>
        </p:txBody>
      </p:sp>
      <p:sp>
        <p:nvSpPr>
          <p:cNvPr id="2069" name="Oval 2068"/>
          <p:cNvSpPr/>
          <p:nvPr/>
        </p:nvSpPr>
        <p:spPr>
          <a:xfrm>
            <a:off x="7763256" y="2761488"/>
            <a:ext cx="384048" cy="347472"/>
          </a:xfrm>
          <a:prstGeom prst="ellipse">
            <a:avLst/>
          </a:prstGeom>
          <a:noFill/>
          <a:ln w="15240">
            <a:solidFill>
              <a:srgbClr val="C05B52"/>
            </a:solidFill>
            <a:prstDash val="dash"/>
          </a:ln>
          <a:effectLst/>
        </p:spPr>
        <p:txBody>
          <a:bodyPr rtlCol="0" anchor="ctr"/>
          <a:lstStyle/>
          <a:p>
            <a:pPr algn="ctr"/>
          </a:p>
        </p:txBody>
      </p:sp>
      <p:sp>
        <p:nvSpPr>
          <p:cNvPr id="2070" name="TextBox 2069"/>
          <p:cNvSpPr txBox="1"/>
          <p:nvPr/>
        </p:nvSpPr>
        <p:spPr>
          <a:xfrm>
            <a:off x="7562088" y="3200400"/>
            <a:ext cx="932688" cy="274320"/>
          </a:xfrm>
          <a:prstGeom prst="rect">
            <a:avLst/>
          </a:prstGeom>
          <a:noFill/>
        </p:spPr>
        <p:txBody>
          <a:bodyPr wrap="square" lIns="0" rIns="0" tIns="0" bIns="0" anchor="t">
            <a:spAutoFit/>
          </a:bodyPr>
          <a:lstStyle/>
          <a:p>
            <a:pPr algn="ctr"/>
            <a:r>
              <a:rPr sz="650" b="0" i="0">
                <a:solidFill>
                  <a:srgbClr val="FFFFFF"/>
                </a:solidFill>
                <a:latin typeface="Arial"/>
              </a:rPr>
              <a:t>remove → flips</a:t>
            </a:r>
          </a:p>
        </p:txBody>
      </p:sp>
      <p:sp>
        <p:nvSpPr>
          <p:cNvPr id="2071" name="Rounded Rectangle 2070"/>
          <p:cNvSpPr/>
          <p:nvPr/>
        </p:nvSpPr>
        <p:spPr>
          <a:xfrm>
            <a:off x="457200" y="3913632"/>
            <a:ext cx="4069080" cy="1481328"/>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72" name="TextBox 2071"/>
          <p:cNvSpPr txBox="1"/>
          <p:nvPr/>
        </p:nvSpPr>
        <p:spPr>
          <a:xfrm>
            <a:off x="658368" y="4041648"/>
            <a:ext cx="1463040" cy="201168"/>
          </a:xfrm>
          <a:prstGeom prst="rect">
            <a:avLst/>
          </a:prstGeom>
          <a:noFill/>
        </p:spPr>
        <p:txBody>
          <a:bodyPr wrap="square" lIns="0" rIns="0" tIns="0" bIns="0" anchor="t">
            <a:spAutoFit/>
          </a:bodyPr>
          <a:lstStyle/>
          <a:p>
            <a:pPr algn="l"/>
            <a:r>
              <a:rPr sz="850" b="1" i="0" spc="240">
                <a:solidFill>
                  <a:srgbClr val="0E7490"/>
                </a:solidFill>
                <a:latin typeface="Arial"/>
              </a:rPr>
              <a:t>WHY</a:t>
            </a:r>
          </a:p>
        </p:txBody>
      </p:sp>
      <p:sp>
        <p:nvSpPr>
          <p:cNvPr id="2073" name="TextBox 2072"/>
          <p:cNvSpPr txBox="1"/>
          <p:nvPr/>
        </p:nvSpPr>
        <p:spPr>
          <a:xfrm>
            <a:off x="658368" y="4261104"/>
            <a:ext cx="2651760" cy="256032"/>
          </a:xfrm>
          <a:prstGeom prst="rect">
            <a:avLst/>
          </a:prstGeom>
          <a:noFill/>
        </p:spPr>
        <p:txBody>
          <a:bodyPr wrap="square" lIns="0" rIns="0" tIns="0" bIns="0" anchor="t">
            <a:spAutoFit/>
          </a:bodyPr>
          <a:lstStyle/>
          <a:p>
            <a:pPr algn="l"/>
            <a:r>
              <a:rPr sz="1300" b="1" i="0">
                <a:solidFill>
                  <a:srgbClr val="0F172A"/>
                </a:solidFill>
                <a:latin typeface="Arial"/>
              </a:rPr>
              <a:t>Quantum precedent search</a:t>
            </a:r>
          </a:p>
        </p:txBody>
      </p:sp>
      <p:sp>
        <p:nvSpPr>
          <p:cNvPr id="2074" name="TextBox 2073"/>
          <p:cNvSpPr txBox="1"/>
          <p:nvPr/>
        </p:nvSpPr>
        <p:spPr>
          <a:xfrm>
            <a:off x="658368" y="4572000"/>
            <a:ext cx="2606040" cy="676656"/>
          </a:xfrm>
          <a:prstGeom prst="rect">
            <a:avLst/>
          </a:prstGeom>
          <a:noFill/>
        </p:spPr>
        <p:txBody>
          <a:bodyPr wrap="square" lIns="0" rIns="0" tIns="0" bIns="0" anchor="t">
            <a:spAutoFit/>
          </a:bodyPr>
          <a:lstStyle/>
          <a:p>
            <a:pPr algn="l">
              <a:lnSpc>
                <a:spcPct val="110000"/>
              </a:lnSpc>
            </a:pPr>
            <a:r>
              <a:rPr sz="900" b="0" i="0">
                <a:solidFill>
                  <a:srgbClr val="5B6672"/>
                </a:solidFill>
                <a:latin typeface="Cambria"/>
              </a:rPr>
              <a:t>nearest prior cases by state fidelity  Tr[ρ(x)ρ(xᵢ)]</a:t>
            </a:r>
          </a:p>
        </p:txBody>
      </p:sp>
      <p:sp>
        <p:nvSpPr>
          <p:cNvPr id="2075" name="Oval 2074"/>
          <p:cNvSpPr/>
          <p:nvPr/>
        </p:nvSpPr>
        <p:spPr>
          <a:xfrm>
            <a:off x="3456432" y="4242816"/>
            <a:ext cx="402336" cy="402336"/>
          </a:xfrm>
          <a:prstGeom prst="ellipse">
            <a:avLst/>
          </a:prstGeom>
          <a:solidFill>
            <a:srgbClr val="ECF8F7"/>
          </a:solidFill>
          <a:ln w="9525">
            <a:solidFill>
              <a:srgbClr val="0D9488"/>
            </a:solidFill>
          </a:ln>
          <a:effectLst/>
        </p:spPr>
        <p:txBody>
          <a:bodyPr rtlCol="0" anchor="ctr"/>
          <a:lstStyle/>
          <a:p>
            <a:pPr algn="ctr"/>
          </a:p>
        </p:txBody>
      </p:sp>
      <p:sp>
        <p:nvSpPr>
          <p:cNvPr id="2076" name="Oval 2075"/>
          <p:cNvSpPr/>
          <p:nvPr/>
        </p:nvSpPr>
        <p:spPr>
          <a:xfrm>
            <a:off x="3730752" y="4389120"/>
            <a:ext cx="402336" cy="402336"/>
          </a:xfrm>
          <a:prstGeom prst="ellipse">
            <a:avLst/>
          </a:prstGeom>
          <a:solidFill>
            <a:srgbClr val="ECF8F7"/>
          </a:solidFill>
          <a:ln w="9525">
            <a:solidFill>
              <a:srgbClr val="0D9488"/>
            </a:solidFill>
          </a:ln>
          <a:effectLst/>
        </p:spPr>
        <p:txBody>
          <a:bodyPr rtlCol="0" anchor="ctr"/>
          <a:lstStyle/>
          <a:p>
            <a:pPr algn="ctr"/>
          </a:p>
        </p:txBody>
      </p:sp>
      <p:sp>
        <p:nvSpPr>
          <p:cNvPr id="2077" name="Oval 2076"/>
          <p:cNvSpPr/>
          <p:nvPr/>
        </p:nvSpPr>
        <p:spPr>
          <a:xfrm>
            <a:off x="4005072" y="4535424"/>
            <a:ext cx="402336" cy="402336"/>
          </a:xfrm>
          <a:prstGeom prst="ellipse">
            <a:avLst/>
          </a:prstGeom>
          <a:solidFill>
            <a:srgbClr val="ECF8F7"/>
          </a:solidFill>
          <a:ln w="9525">
            <a:solidFill>
              <a:srgbClr val="0D9488"/>
            </a:solidFill>
          </a:ln>
          <a:effectLst/>
        </p:spPr>
        <p:txBody>
          <a:bodyPr rtlCol="0" anchor="ctr"/>
          <a:lstStyle/>
          <a:p>
            <a:pPr algn="ctr"/>
          </a:p>
        </p:txBody>
      </p:sp>
      <p:sp>
        <p:nvSpPr>
          <p:cNvPr id="2078" name="TextBox 2077"/>
          <p:cNvSpPr txBox="1"/>
          <p:nvPr/>
        </p:nvSpPr>
        <p:spPr>
          <a:xfrm>
            <a:off x="3346704" y="4882896"/>
            <a:ext cx="1097280" cy="274320"/>
          </a:xfrm>
          <a:prstGeom prst="rect">
            <a:avLst/>
          </a:prstGeom>
          <a:noFill/>
        </p:spPr>
        <p:txBody>
          <a:bodyPr wrap="square" lIns="0" rIns="0" tIns="0" bIns="0" anchor="t">
            <a:spAutoFit/>
          </a:bodyPr>
          <a:lstStyle/>
          <a:p>
            <a:pPr algn="ctr"/>
            <a:r>
              <a:rPr sz="750" b="1" i="0">
                <a:solidFill>
                  <a:srgbClr val="0E7490"/>
                </a:solidFill>
                <a:latin typeface="Arial"/>
              </a:rPr>
              <a:t>0.93 · 0.91 · 0.88</a:t>
            </a:r>
          </a:p>
        </p:txBody>
      </p:sp>
      <p:sp>
        <p:nvSpPr>
          <p:cNvPr id="2079" name="Rounded Rectangle 2078"/>
          <p:cNvSpPr/>
          <p:nvPr/>
        </p:nvSpPr>
        <p:spPr>
          <a:xfrm>
            <a:off x="4617720" y="3913632"/>
            <a:ext cx="4069080" cy="1481328"/>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80" name="TextBox 2079"/>
          <p:cNvSpPr txBox="1"/>
          <p:nvPr/>
        </p:nvSpPr>
        <p:spPr>
          <a:xfrm>
            <a:off x="4818888" y="4041648"/>
            <a:ext cx="1463040" cy="201168"/>
          </a:xfrm>
          <a:prstGeom prst="rect">
            <a:avLst/>
          </a:prstGeom>
          <a:noFill/>
        </p:spPr>
        <p:txBody>
          <a:bodyPr wrap="square" lIns="0" rIns="0" tIns="0" bIns="0" anchor="t">
            <a:spAutoFit/>
          </a:bodyPr>
          <a:lstStyle/>
          <a:p>
            <a:pPr algn="l"/>
            <a:r>
              <a:rPr sz="850" b="1" i="0" spc="240">
                <a:solidFill>
                  <a:srgbClr val="0E7490"/>
                </a:solidFill>
                <a:latin typeface="Arial"/>
              </a:rPr>
              <a:t>HOW SURE</a:t>
            </a:r>
          </a:p>
        </p:txBody>
      </p:sp>
      <p:sp>
        <p:nvSpPr>
          <p:cNvPr id="2081" name="TextBox 2080"/>
          <p:cNvSpPr txBox="1"/>
          <p:nvPr/>
        </p:nvSpPr>
        <p:spPr>
          <a:xfrm>
            <a:off x="4818888" y="4261104"/>
            <a:ext cx="2651760" cy="256032"/>
          </a:xfrm>
          <a:prstGeom prst="rect">
            <a:avLst/>
          </a:prstGeom>
          <a:noFill/>
        </p:spPr>
        <p:txBody>
          <a:bodyPr wrap="square" lIns="0" rIns="0" tIns="0" bIns="0" anchor="t">
            <a:spAutoFit/>
          </a:bodyPr>
          <a:lstStyle/>
          <a:p>
            <a:pPr algn="l"/>
            <a:r>
              <a:rPr sz="1300" b="1" i="0">
                <a:solidFill>
                  <a:srgbClr val="0F172A"/>
                </a:solidFill>
                <a:latin typeface="Arial"/>
              </a:rPr>
              <a:t>Conformal intervals</a:t>
            </a:r>
          </a:p>
        </p:txBody>
      </p:sp>
      <p:sp>
        <p:nvSpPr>
          <p:cNvPr id="2082" name="TextBox 2081"/>
          <p:cNvSpPr txBox="1"/>
          <p:nvPr/>
        </p:nvSpPr>
        <p:spPr>
          <a:xfrm>
            <a:off x="4818888" y="4572000"/>
            <a:ext cx="2606040" cy="676656"/>
          </a:xfrm>
          <a:prstGeom prst="rect">
            <a:avLst/>
          </a:prstGeom>
          <a:noFill/>
        </p:spPr>
        <p:txBody>
          <a:bodyPr wrap="square" lIns="0" rIns="0" tIns="0" bIns="0" anchor="t">
            <a:spAutoFit/>
          </a:bodyPr>
          <a:lstStyle/>
          <a:p>
            <a:pPr algn="l">
              <a:lnSpc>
                <a:spcPct val="110000"/>
              </a:lnSpc>
            </a:pPr>
            <a:r>
              <a:rPr sz="900" b="0" i="0">
                <a:solidFill>
                  <a:srgbClr val="5B6672"/>
                </a:solidFill>
                <a:latin typeface="Arial"/>
              </a:rPr>
              <a:t>sets, not points - {effusion, atelectasis} at 90% coverage</a:t>
            </a:r>
          </a:p>
        </p:txBody>
      </p:sp>
      <p:sp>
        <p:nvSpPr>
          <p:cNvPr id="2083" name="Rounded Rectangle 2082"/>
          <p:cNvSpPr/>
          <p:nvPr/>
        </p:nvSpPr>
        <p:spPr>
          <a:xfrm>
            <a:off x="7562088" y="4279392"/>
            <a:ext cx="777240" cy="109728"/>
          </a:xfrm>
          <a:prstGeom prst="roundRect">
            <a:avLst>
              <a:gd name="adj" fmla="val 50000"/>
            </a:avLst>
          </a:prstGeom>
          <a:solidFill>
            <a:srgbClr val="2DD4BF">
              <a:alpha val="90000"/>
            </a:srgbClr>
          </a:solidFill>
          <a:ln>
            <a:noFill/>
          </a:ln>
          <a:effectLst/>
        </p:spPr>
        <p:txBody>
          <a:bodyPr rtlCol="0" anchor="ctr"/>
          <a:lstStyle/>
          <a:p>
            <a:pPr algn="ctr"/>
          </a:p>
        </p:txBody>
      </p:sp>
      <p:sp>
        <p:nvSpPr>
          <p:cNvPr id="2084" name="Rounded Rectangle 2083"/>
          <p:cNvSpPr/>
          <p:nvPr/>
        </p:nvSpPr>
        <p:spPr>
          <a:xfrm>
            <a:off x="7562088" y="4553712"/>
            <a:ext cx="502920" cy="109728"/>
          </a:xfrm>
          <a:prstGeom prst="roundRect">
            <a:avLst>
              <a:gd name="adj" fmla="val 50000"/>
            </a:avLst>
          </a:prstGeom>
          <a:solidFill>
            <a:srgbClr val="2DD4BF">
              <a:alpha val="65000"/>
            </a:srgbClr>
          </a:solidFill>
          <a:ln>
            <a:noFill/>
          </a:ln>
          <a:effectLst/>
        </p:spPr>
        <p:txBody>
          <a:bodyPr rtlCol="0" anchor="ctr"/>
          <a:lstStyle/>
          <a:p>
            <a:pPr algn="ctr"/>
          </a:p>
        </p:txBody>
      </p:sp>
      <p:sp>
        <p:nvSpPr>
          <p:cNvPr id="2085" name="Rounded Rectangle 2084"/>
          <p:cNvSpPr/>
          <p:nvPr/>
        </p:nvSpPr>
        <p:spPr>
          <a:xfrm>
            <a:off x="7562088" y="4828032"/>
            <a:ext cx="274320" cy="109728"/>
          </a:xfrm>
          <a:prstGeom prst="roundRect">
            <a:avLst>
              <a:gd name="adj" fmla="val 50000"/>
            </a:avLst>
          </a:prstGeom>
          <a:solidFill>
            <a:srgbClr val="2DD4BF">
              <a:alpha val="40000"/>
            </a:srgbClr>
          </a:solidFill>
          <a:ln>
            <a:noFill/>
          </a:ln>
          <a:effectLst/>
        </p:spPr>
        <p:txBody>
          <a:bodyPr rtlCol="0" anchor="ctr"/>
          <a:lstStyle/>
          <a:p>
            <a:pPr algn="ctr"/>
          </a:p>
        </p:txBody>
      </p:sp>
      <p:sp>
        <p:nvSpPr>
          <p:cNvPr id="2086" name="TextBox 2085"/>
          <p:cNvSpPr txBox="1"/>
          <p:nvPr/>
        </p:nvSpPr>
        <p:spPr>
          <a:xfrm>
            <a:off x="457200" y="5541264"/>
            <a:ext cx="8229600" cy="219456"/>
          </a:xfrm>
          <a:prstGeom prst="rect">
            <a:avLst/>
          </a:prstGeom>
          <a:noFill/>
        </p:spPr>
        <p:txBody>
          <a:bodyPr wrap="square" lIns="0" rIns="0" tIns="0" bIns="0" anchor="t">
            <a:spAutoFit/>
          </a:bodyPr>
          <a:lstStyle/>
          <a:p>
            <a:pPr algn="l"/>
            <a:r>
              <a:rPr sz="800" b="0" i="1">
                <a:solidFill>
                  <a:srgbClr val="5B6672"/>
                </a:solidFill>
                <a:latin typeface="Arial"/>
              </a:rPr>
              <a:t>Selvaraju et al., ICCV (2017)  ·  Wachter et al., Harvard JOLT 31 (2018)  ·  Zeiler &amp; Fergus, ECCV (2014)</a:t>
            </a:r>
          </a:p>
        </p:txBody>
      </p:sp>
    </p:spTree>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l="-24000" r="-24000"/>
          </a:stretch>
        </a:blipFill>
        <a:effectLst/>
      </p:bgPr>
    </p:bg>
    <p:spTree>
      <p:nvGrpSpPr>
        <p:cNvPr id="1" name=""/>
        <p:cNvGrpSpPr/>
        <p:nvPr/>
      </p:nvGrpSpPr>
      <p:grpSpPr>
        <a:xfrm>
          <a:off x="0" y="0"/>
          <a:ext cx="0" cy="0"/>
          <a:chOff x="0" y="0"/>
          <a:chExt cx="0" cy="0"/>
        </a:xfrm>
      </p:grpSpPr>
      <p:pic>
        <p:nvPicPr>
          <p:cNvPr id="2" name="Picture 3" descr="C:\Users\Admin\Downloads\1764679326535-Photoroom.png"/>
          <p:cNvPicPr>
            <a:picLocks noChangeAspect="1" noChangeArrowheads="1"/>
          </p:cNvPicPr>
          <p:nvPr/>
        </p:nvPicPr>
        <p:blipFill>
          <a:blip r:embed="rId4"/>
          <a:srcRect/>
          <a:stretch>
            <a:fillRect/>
          </a:stretch>
        </p:blipFill>
        <p:spPr bwMode="auto">
          <a:xfrm>
            <a:off x="4108831" y="35671"/>
            <a:ext cx="1285884" cy="1285884"/>
          </a:xfrm>
          <a:prstGeom prst="rect">
            <a:avLst/>
          </a:prstGeom>
          <a:noFill/>
        </p:spPr>
      </p:pic>
      <p:pic>
        <p:nvPicPr>
          <p:cNvPr id="2050" name="Picture 2" descr="C:\Users\Admin\Downloads\RIT.png"/>
          <p:cNvPicPr>
            <a:picLocks noChangeAspect="1" noChangeArrowheads="1"/>
          </p:cNvPicPr>
          <p:nvPr/>
        </p:nvPicPr>
        <p:blipFill>
          <a:blip r:embed="rId5" cstate="print"/>
          <a:srcRect/>
          <a:stretch>
            <a:fillRect/>
          </a:stretch>
        </p:blipFill>
        <p:spPr bwMode="auto">
          <a:xfrm>
            <a:off x="252062" y="285704"/>
            <a:ext cx="3043364" cy="785818"/>
          </a:xfrm>
          <a:prstGeom prst="rect">
            <a:avLst/>
          </a:prstGeom>
          <a:noFill/>
        </p:spPr>
      </p:pic>
      <p:pic>
        <p:nvPicPr>
          <p:cNvPr id="2051" name="Picture 3" descr="C:\Users\Admin\Downloads\IBM_logo.svg.png"/>
          <p:cNvPicPr>
            <a:picLocks noChangeAspect="1" noChangeArrowheads="1"/>
          </p:cNvPicPr>
          <p:nvPr/>
        </p:nvPicPr>
        <p:blipFill>
          <a:blip r:embed="rId6"/>
          <a:srcRect/>
          <a:stretch>
            <a:fillRect/>
          </a:stretch>
        </p:blipFill>
        <p:spPr bwMode="auto">
          <a:xfrm>
            <a:off x="7380312" y="357139"/>
            <a:ext cx="1528257" cy="571504"/>
          </a:xfrm>
          <a:prstGeom prst="rect">
            <a:avLst/>
          </a:prstGeom>
          <a:noFill/>
        </p:spPr>
      </p:pic>
      <p:pic>
        <p:nvPicPr>
          <p:cNvPr id="2053" name="Picture 5" descr="C:\Users\Admin\Downloads\logo-nqm.png"/>
          <p:cNvPicPr>
            <a:picLocks noChangeAspect="1" noChangeArrowheads="1"/>
          </p:cNvPicPr>
          <p:nvPr/>
        </p:nvPicPr>
        <p:blipFill>
          <a:blip r:embed="rId7"/>
          <a:srcRect/>
          <a:stretch>
            <a:fillRect/>
          </a:stretch>
        </p:blipFill>
        <p:spPr bwMode="auto">
          <a:xfrm>
            <a:off x="5519518" y="249994"/>
            <a:ext cx="710054" cy="785794"/>
          </a:xfrm>
          <a:prstGeom prst="rect">
            <a:avLst/>
          </a:prstGeom>
          <a:noFill/>
        </p:spPr>
      </p:pic>
      <p:sp>
        <p:nvSpPr>
          <p:cNvPr id="11" name="Footer Placeholder 10"/>
          <p:cNvSpPr>
            <a:spLocks noGrp="1"/>
          </p:cNvSpPr>
          <p:nvPr>
            <p:ph type="ftr" sz="quarter" idx="11"/>
          </p:nvPr>
        </p:nvSpPr>
        <p:spPr>
          <a:xfrm>
            <a:off x="304800" y="6410848"/>
            <a:ext cx="6196026" cy="232862"/>
          </a:xfrm>
        </p:spPr>
        <p:txBody>
          <a:bodyPr/>
          <a:lstStyle/>
          <a:p>
            <a:r>
              <a:rPr lang="en-IN" i="1" dirty="0" smtClean="0">
                <a:solidFill>
                  <a:schemeClr val="tx1"/>
                </a:solidFill>
                <a:latin typeface="Arial Rounded MT Bold" pitchFamily="34" charset="0"/>
              </a:rPr>
              <a:t>RIT – QUANT-A-THAN- 2026 (Innovate, Build, Transform)</a:t>
            </a:r>
            <a:endParaRPr lang="en-IN" i="1" dirty="0">
              <a:solidFill>
                <a:schemeClr val="tx1"/>
              </a:solidFill>
              <a:latin typeface="Arial Rounded MT Bold" pitchFamily="34" charset="0"/>
            </a:endParaRPr>
          </a:p>
        </p:txBody>
      </p:sp>
      <p:pic>
        <p:nvPicPr>
          <p:cNvPr id="5" name="Picture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88734" y="285704"/>
            <a:ext cx="866775" cy="714375"/>
          </a:xfrm>
          <a:prstGeom prst="rect">
            <a:avLst/>
          </a:prstGeom>
        </p:spPr>
      </p:pic>
      <p:sp>
        <p:nvSpPr>
          <p:cNvPr id="2054" name="TextBox 2053"/>
          <p:cNvSpPr txBox="1"/>
          <p:nvPr/>
        </p:nvSpPr>
        <p:spPr>
          <a:xfrm>
            <a:off x="457200" y="1133856"/>
            <a:ext cx="8229600" cy="237744"/>
          </a:xfrm>
          <a:prstGeom prst="rect">
            <a:avLst/>
          </a:prstGeom>
          <a:noFill/>
        </p:spPr>
        <p:txBody>
          <a:bodyPr wrap="square" lIns="0" rIns="0" tIns="0" bIns="0" anchor="t">
            <a:spAutoFit/>
          </a:bodyPr>
          <a:lstStyle/>
          <a:p>
            <a:pPr algn="l"/>
            <a:r>
              <a:rPr sz="1050" b="1" i="0" spc="280">
                <a:solidFill>
                  <a:srgbClr val="5B6672"/>
                </a:solidFill>
                <a:latin typeface="Arial"/>
              </a:rPr>
              <a:t>08  ·  </a:t>
            </a:r>
            <a:r>
              <a:rPr sz="1050" b="1" i="0" spc="280">
                <a:solidFill>
                  <a:srgbClr val="0E7490"/>
                </a:solidFill>
                <a:latin typeface="Arial"/>
              </a:rPr>
              <a:t>UNCERTAINTY ENGINE</a:t>
            </a:r>
          </a:p>
        </p:txBody>
      </p:sp>
      <p:sp>
        <p:nvSpPr>
          <p:cNvPr id="2055" name="TextBox 2054"/>
          <p:cNvSpPr txBox="1"/>
          <p:nvPr/>
        </p:nvSpPr>
        <p:spPr>
          <a:xfrm>
            <a:off x="457200" y="1371600"/>
            <a:ext cx="8229600" cy="475488"/>
          </a:xfrm>
          <a:prstGeom prst="rect">
            <a:avLst/>
          </a:prstGeom>
          <a:noFill/>
        </p:spPr>
        <p:txBody>
          <a:bodyPr wrap="square" lIns="0" rIns="0" tIns="0" bIns="0" anchor="t">
            <a:spAutoFit/>
          </a:bodyPr>
          <a:lstStyle/>
          <a:p>
            <a:pPr algn="l"/>
            <a:r>
              <a:rPr sz="2600" b="1" i="0" spc="-20">
                <a:solidFill>
                  <a:srgbClr val="0F172A"/>
                </a:solidFill>
                <a:latin typeface="Arial"/>
              </a:rPr>
              <a:t>Knowing which kind of 'unsure'</a:t>
            </a:r>
          </a:p>
        </p:txBody>
      </p:sp>
      <p:sp>
        <p:nvSpPr>
          <p:cNvPr id="2056" name="TextBox 2055"/>
          <p:cNvSpPr txBox="1"/>
          <p:nvPr/>
        </p:nvSpPr>
        <p:spPr>
          <a:xfrm>
            <a:off x="457200" y="1874519"/>
            <a:ext cx="8229600" cy="274320"/>
          </a:xfrm>
          <a:prstGeom prst="rect">
            <a:avLst/>
          </a:prstGeom>
          <a:noFill/>
        </p:spPr>
        <p:txBody>
          <a:bodyPr wrap="square" lIns="0" rIns="0" tIns="0" bIns="0" anchor="t">
            <a:spAutoFit/>
          </a:bodyPr>
          <a:lstStyle/>
          <a:p>
            <a:pPr algn="l"/>
            <a:r>
              <a:rPr sz="1150" b="0" i="1">
                <a:solidFill>
                  <a:srgbClr val="5B6672"/>
                </a:solidFill>
                <a:latin typeface="Arial"/>
              </a:rPr>
              <a:t>Purpose - decompose doubt, because each kind demands a different clinical action.</a:t>
            </a:r>
          </a:p>
        </p:txBody>
      </p:sp>
      <p:sp>
        <p:nvSpPr>
          <p:cNvPr id="2057" name="Rounded Rectangle 2056"/>
          <p:cNvSpPr/>
          <p:nvPr/>
        </p:nvSpPr>
        <p:spPr>
          <a:xfrm>
            <a:off x="457200" y="2267712"/>
            <a:ext cx="8229600" cy="603504"/>
          </a:xfrm>
          <a:prstGeom prst="roundRect">
            <a:avLst>
              <a:gd name="adj" fmla="val 10000"/>
            </a:avLst>
          </a:prstGeom>
          <a:solidFill>
            <a:srgbClr val="ECF8F7"/>
          </a:solidFill>
          <a:ln w="12700">
            <a:solidFill>
              <a:srgbClr val="0D9488"/>
            </a:solidFill>
          </a:ln>
          <a:effectLst/>
        </p:spPr>
        <p:txBody>
          <a:bodyPr rtlCol="0" anchor="ctr"/>
          <a:lstStyle/>
          <a:p>
            <a:pPr algn="ctr"/>
          </a:p>
        </p:txBody>
      </p:sp>
      <p:sp>
        <p:nvSpPr>
          <p:cNvPr id="2058" name="TextBox 2057"/>
          <p:cNvSpPr txBox="1"/>
          <p:nvPr/>
        </p:nvSpPr>
        <p:spPr>
          <a:xfrm>
            <a:off x="457200" y="2359152"/>
            <a:ext cx="8229600" cy="402336"/>
          </a:xfrm>
          <a:prstGeom prst="rect">
            <a:avLst/>
          </a:prstGeom>
          <a:noFill/>
        </p:spPr>
        <p:txBody>
          <a:bodyPr wrap="square" lIns="0" rIns="0" tIns="0" bIns="0" anchor="t">
            <a:spAutoFit/>
          </a:bodyPr>
          <a:lstStyle/>
          <a:p>
            <a:pPr algn="ctr"/>
            <a:r>
              <a:rPr sz="1500" b="1" i="0">
                <a:solidFill>
                  <a:srgbClr val="0F172A"/>
                </a:solidFill>
                <a:latin typeface="Cambria"/>
              </a:rPr>
              <a:t>H[ p(y|x) ]</a:t>
            </a:r>
            <a:r>
              <a:rPr sz="1500" b="0" i="0">
                <a:solidFill>
                  <a:srgbClr val="5B6672"/>
                </a:solidFill>
                <a:latin typeface="Cambria"/>
              </a:rPr>
              <a:t>   =   </a:t>
            </a:r>
            <a:r>
              <a:rPr sz="1500" b="1" i="0">
                <a:solidFill>
                  <a:srgbClr val="0E7490"/>
                </a:solidFill>
                <a:latin typeface="Cambria"/>
              </a:rPr>
              <a:t>I(y ; θ | x)</a:t>
            </a:r>
            <a:r>
              <a:rPr sz="1500" b="0" i="0">
                <a:solidFill>
                  <a:srgbClr val="5B6672"/>
                </a:solidFill>
                <a:latin typeface="Cambria"/>
              </a:rPr>
              <a:t>   +   </a:t>
            </a:r>
            <a:r>
              <a:rPr sz="1500" b="1" i="0">
                <a:solidFill>
                  <a:srgbClr val="0D9488"/>
                </a:solidFill>
                <a:latin typeface="Cambria"/>
              </a:rPr>
              <a:t>Eθ H[ p(y|x,θ) ]</a:t>
            </a:r>
            <a:r>
              <a:rPr sz="1000" b="0" i="1">
                <a:solidFill>
                  <a:srgbClr val="5B6672"/>
                </a:solidFill>
                <a:latin typeface="Cambria"/>
              </a:rPr>
              <a:t>        total = epistemic + aleatoric</a:t>
            </a:r>
          </a:p>
        </p:txBody>
      </p:sp>
      <p:sp>
        <p:nvSpPr>
          <p:cNvPr id="2059" name="Rounded Rectangle 2058"/>
          <p:cNvSpPr/>
          <p:nvPr/>
        </p:nvSpPr>
        <p:spPr>
          <a:xfrm>
            <a:off x="457200" y="3072384"/>
            <a:ext cx="2670048" cy="1389888"/>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60" name="TextBox 2059"/>
          <p:cNvSpPr txBox="1"/>
          <p:nvPr/>
        </p:nvSpPr>
        <p:spPr>
          <a:xfrm>
            <a:off x="621792" y="3200400"/>
            <a:ext cx="2377440" cy="219456"/>
          </a:xfrm>
          <a:prstGeom prst="rect">
            <a:avLst/>
          </a:prstGeom>
          <a:noFill/>
        </p:spPr>
        <p:txBody>
          <a:bodyPr wrap="square" lIns="0" rIns="0" tIns="0" bIns="0" anchor="t">
            <a:spAutoFit/>
          </a:bodyPr>
          <a:lstStyle/>
          <a:p>
            <a:pPr algn="l"/>
            <a:r>
              <a:rPr sz="1100" b="1" i="0">
                <a:solidFill>
                  <a:srgbClr val="0F172A"/>
                </a:solidFill>
                <a:latin typeface="Arial"/>
              </a:rPr>
              <a:t>EPISTEMIC  </a:t>
            </a:r>
            <a:r>
              <a:rPr sz="900" b="0" i="1">
                <a:solidFill>
                  <a:srgbClr val="5B6672"/>
                </a:solidFill>
                <a:latin typeface="Arial"/>
              </a:rPr>
              <a:t>- model doubt</a:t>
            </a:r>
          </a:p>
        </p:txBody>
      </p:sp>
      <p:sp>
        <p:nvSpPr>
          <p:cNvPr id="2061" name="TextBox 2060"/>
          <p:cNvSpPr txBox="1"/>
          <p:nvPr/>
        </p:nvSpPr>
        <p:spPr>
          <a:xfrm>
            <a:off x="621792" y="3474720"/>
            <a:ext cx="2359152" cy="502920"/>
          </a:xfrm>
          <a:prstGeom prst="rect">
            <a:avLst/>
          </a:prstGeom>
          <a:noFill/>
        </p:spPr>
        <p:txBody>
          <a:bodyPr wrap="square" lIns="0" rIns="0" tIns="0" bIns="0" anchor="t">
            <a:spAutoFit/>
          </a:bodyPr>
          <a:lstStyle/>
          <a:p>
            <a:pPr algn="l">
              <a:lnSpc>
                <a:spcPct val="105000"/>
              </a:lnSpc>
            </a:pPr>
            <a:r>
              <a:rPr sz="880" b="0" i="0">
                <a:solidFill>
                  <a:srgbClr val="5B6672"/>
                </a:solidFill>
                <a:latin typeface="Arial"/>
              </a:rPr>
              <a:t>deep-ensemble + MC-dropout disagreement; shrinks with data</a:t>
            </a:r>
          </a:p>
        </p:txBody>
      </p:sp>
      <p:sp>
        <p:nvSpPr>
          <p:cNvPr id="2062" name="TextBox 2061"/>
          <p:cNvSpPr txBox="1"/>
          <p:nvPr/>
        </p:nvSpPr>
        <p:spPr>
          <a:xfrm>
            <a:off x="621792" y="4096512"/>
            <a:ext cx="2377440" cy="237744"/>
          </a:xfrm>
          <a:prstGeom prst="rect">
            <a:avLst/>
          </a:prstGeom>
          <a:noFill/>
        </p:spPr>
        <p:txBody>
          <a:bodyPr wrap="square" lIns="0" rIns="0" tIns="0" bIns="0" anchor="t">
            <a:spAutoFit/>
          </a:bodyPr>
          <a:lstStyle/>
          <a:p>
            <a:pPr algn="l"/>
            <a:r>
              <a:rPr sz="950" b="1" i="0">
                <a:solidFill>
                  <a:srgbClr val="0E7490"/>
                </a:solidFill>
                <a:latin typeface="Arial"/>
              </a:rPr>
              <a:t>→  defer to radiologist</a:t>
            </a:r>
          </a:p>
        </p:txBody>
      </p:sp>
      <p:sp>
        <p:nvSpPr>
          <p:cNvPr id="2063" name="Rounded Rectangle 2062"/>
          <p:cNvSpPr/>
          <p:nvPr/>
        </p:nvSpPr>
        <p:spPr>
          <a:xfrm>
            <a:off x="3236976" y="3072384"/>
            <a:ext cx="2670048" cy="1389888"/>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64" name="TextBox 2063"/>
          <p:cNvSpPr txBox="1"/>
          <p:nvPr/>
        </p:nvSpPr>
        <p:spPr>
          <a:xfrm>
            <a:off x="3401568" y="3200400"/>
            <a:ext cx="2377440" cy="219456"/>
          </a:xfrm>
          <a:prstGeom prst="rect">
            <a:avLst/>
          </a:prstGeom>
          <a:noFill/>
        </p:spPr>
        <p:txBody>
          <a:bodyPr wrap="square" lIns="0" rIns="0" tIns="0" bIns="0" anchor="t">
            <a:spAutoFit/>
          </a:bodyPr>
          <a:lstStyle/>
          <a:p>
            <a:pPr algn="l"/>
            <a:r>
              <a:rPr sz="1100" b="1" i="0">
                <a:solidFill>
                  <a:srgbClr val="0F172A"/>
                </a:solidFill>
                <a:latin typeface="Arial"/>
              </a:rPr>
              <a:t>ALEATORIC  </a:t>
            </a:r>
            <a:r>
              <a:rPr sz="900" b="0" i="1">
                <a:solidFill>
                  <a:srgbClr val="5B6672"/>
                </a:solidFill>
                <a:latin typeface="Arial"/>
              </a:rPr>
              <a:t>- data noise</a:t>
            </a:r>
          </a:p>
        </p:txBody>
      </p:sp>
      <p:sp>
        <p:nvSpPr>
          <p:cNvPr id="2065" name="TextBox 2064"/>
          <p:cNvSpPr txBox="1"/>
          <p:nvPr/>
        </p:nvSpPr>
        <p:spPr>
          <a:xfrm>
            <a:off x="3401568" y="3474720"/>
            <a:ext cx="2359152" cy="502920"/>
          </a:xfrm>
          <a:prstGeom prst="rect">
            <a:avLst/>
          </a:prstGeom>
          <a:noFill/>
        </p:spPr>
        <p:txBody>
          <a:bodyPr wrap="square" lIns="0" rIns="0" tIns="0" bIns="0" anchor="t">
            <a:spAutoFit/>
          </a:bodyPr>
          <a:lstStyle/>
          <a:p>
            <a:pPr algn="l">
              <a:lnSpc>
                <a:spcPct val="105000"/>
              </a:lnSpc>
            </a:pPr>
            <a:r>
              <a:rPr sz="880" b="0" i="0">
                <a:solidFill>
                  <a:srgbClr val="5B6672"/>
                </a:solidFill>
                <a:latin typeface="Arial"/>
              </a:rPr>
              <a:t>irreducible ambiguity in the image itself</a:t>
            </a:r>
          </a:p>
        </p:txBody>
      </p:sp>
      <p:sp>
        <p:nvSpPr>
          <p:cNvPr id="2066" name="TextBox 2065"/>
          <p:cNvSpPr txBox="1"/>
          <p:nvPr/>
        </p:nvSpPr>
        <p:spPr>
          <a:xfrm>
            <a:off x="3401568" y="4096512"/>
            <a:ext cx="2377440" cy="237744"/>
          </a:xfrm>
          <a:prstGeom prst="rect">
            <a:avLst/>
          </a:prstGeom>
          <a:noFill/>
        </p:spPr>
        <p:txBody>
          <a:bodyPr wrap="square" lIns="0" rIns="0" tIns="0" bIns="0" anchor="t">
            <a:spAutoFit/>
          </a:bodyPr>
          <a:lstStyle/>
          <a:p>
            <a:pPr algn="l"/>
            <a:r>
              <a:rPr sz="950" b="1" i="0">
                <a:solidFill>
                  <a:srgbClr val="0E7490"/>
                </a:solidFill>
                <a:latin typeface="Arial"/>
              </a:rPr>
              <a:t>→  recommend re-imaging</a:t>
            </a:r>
          </a:p>
        </p:txBody>
      </p:sp>
      <p:sp>
        <p:nvSpPr>
          <p:cNvPr id="2067" name="Rounded Rectangle 2066"/>
          <p:cNvSpPr/>
          <p:nvPr/>
        </p:nvSpPr>
        <p:spPr>
          <a:xfrm>
            <a:off x="6016752" y="3072384"/>
            <a:ext cx="2670048" cy="1389888"/>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68" name="TextBox 2067"/>
          <p:cNvSpPr txBox="1"/>
          <p:nvPr/>
        </p:nvSpPr>
        <p:spPr>
          <a:xfrm>
            <a:off x="6181344" y="3200400"/>
            <a:ext cx="2377440" cy="219456"/>
          </a:xfrm>
          <a:prstGeom prst="rect">
            <a:avLst/>
          </a:prstGeom>
          <a:noFill/>
        </p:spPr>
        <p:txBody>
          <a:bodyPr wrap="square" lIns="0" rIns="0" tIns="0" bIns="0" anchor="t">
            <a:spAutoFit/>
          </a:bodyPr>
          <a:lstStyle/>
          <a:p>
            <a:pPr algn="l"/>
            <a:r>
              <a:rPr sz="1100" b="1" i="0">
                <a:solidFill>
                  <a:srgbClr val="0F172A"/>
                </a:solidFill>
                <a:latin typeface="Arial"/>
              </a:rPr>
              <a:t>OUT-OF-DIST.  </a:t>
            </a:r>
            <a:r>
              <a:rPr sz="900" b="0" i="1">
                <a:solidFill>
                  <a:srgbClr val="5B6672"/>
                </a:solidFill>
                <a:latin typeface="Arial"/>
              </a:rPr>
              <a:t>- wrong input</a:t>
            </a:r>
          </a:p>
        </p:txBody>
      </p:sp>
      <p:sp>
        <p:nvSpPr>
          <p:cNvPr id="2069" name="TextBox 2068"/>
          <p:cNvSpPr txBox="1"/>
          <p:nvPr/>
        </p:nvSpPr>
        <p:spPr>
          <a:xfrm>
            <a:off x="6181344" y="3474720"/>
            <a:ext cx="2359152" cy="502920"/>
          </a:xfrm>
          <a:prstGeom prst="rect">
            <a:avLst/>
          </a:prstGeom>
          <a:noFill/>
        </p:spPr>
        <p:txBody>
          <a:bodyPr wrap="square" lIns="0" rIns="0" tIns="0" bIns="0" anchor="t">
            <a:spAutoFit/>
          </a:bodyPr>
          <a:lstStyle/>
          <a:p>
            <a:pPr algn="l">
              <a:lnSpc>
                <a:spcPct val="105000"/>
              </a:lnSpc>
            </a:pPr>
            <a:r>
              <a:rPr sz="880" b="0" i="0">
                <a:solidFill>
                  <a:srgbClr val="5B6672"/>
                </a:solidFill>
                <a:latin typeface="Arial"/>
              </a:rPr>
              <a:t>energy-score OOD + quantum latent density</a:t>
            </a:r>
          </a:p>
        </p:txBody>
      </p:sp>
      <p:sp>
        <p:nvSpPr>
          <p:cNvPr id="2070" name="TextBox 2069"/>
          <p:cNvSpPr txBox="1"/>
          <p:nvPr/>
        </p:nvSpPr>
        <p:spPr>
          <a:xfrm>
            <a:off x="6181344" y="4096512"/>
            <a:ext cx="2377440" cy="237744"/>
          </a:xfrm>
          <a:prstGeom prst="rect">
            <a:avLst/>
          </a:prstGeom>
          <a:noFill/>
        </p:spPr>
        <p:txBody>
          <a:bodyPr wrap="square" lIns="0" rIns="0" tIns="0" bIns="0" anchor="t">
            <a:spAutoFit/>
          </a:bodyPr>
          <a:lstStyle/>
          <a:p>
            <a:pPr algn="l"/>
            <a:r>
              <a:rPr sz="950" b="1" i="0">
                <a:solidFill>
                  <a:srgbClr val="0E7490"/>
                </a:solidFill>
                <a:latin typeface="Arial"/>
              </a:rPr>
              <a:t>→  abstain, flag input</a:t>
            </a:r>
          </a:p>
        </p:txBody>
      </p:sp>
      <p:sp>
        <p:nvSpPr>
          <p:cNvPr id="2071" name="Rounded Rectangle 2070"/>
          <p:cNvSpPr/>
          <p:nvPr/>
        </p:nvSpPr>
        <p:spPr>
          <a:xfrm>
            <a:off x="457200" y="4626864"/>
            <a:ext cx="4343400" cy="841248"/>
          </a:xfrm>
          <a:prstGeom prst="roundRect">
            <a:avLst>
              <a:gd name="adj" fmla="val 10000"/>
            </a:avLst>
          </a:prstGeom>
          <a:solidFill>
            <a:srgbClr val="FFFFFF"/>
          </a:solidFill>
          <a:ln w="9525">
            <a:solidFill>
              <a:srgbClr val="C6E4E1"/>
            </a:solidFill>
          </a:ln>
          <a:effectLst/>
        </p:spPr>
        <p:txBody>
          <a:bodyPr rtlCol="0" anchor="ctr"/>
          <a:lstStyle/>
          <a:p>
            <a:pPr algn="ctr"/>
          </a:p>
        </p:txBody>
      </p:sp>
      <p:sp>
        <p:nvSpPr>
          <p:cNvPr id="2072" name="TextBox 2071"/>
          <p:cNvSpPr txBox="1"/>
          <p:nvPr/>
        </p:nvSpPr>
        <p:spPr>
          <a:xfrm>
            <a:off x="621792" y="4718304"/>
            <a:ext cx="4023360" cy="237744"/>
          </a:xfrm>
          <a:prstGeom prst="rect">
            <a:avLst/>
          </a:prstGeom>
          <a:noFill/>
        </p:spPr>
        <p:txBody>
          <a:bodyPr wrap="square" lIns="0" rIns="0" tIns="0" bIns="0" anchor="t">
            <a:spAutoFit/>
          </a:bodyPr>
          <a:lstStyle/>
          <a:p>
            <a:pPr algn="l"/>
            <a:r>
              <a:rPr sz="850" b="1" i="0" spc="180">
                <a:solidFill>
                  <a:srgbClr val="0E7490"/>
                </a:solidFill>
                <a:latin typeface="Arial"/>
              </a:rPr>
              <a:t>CONFORMAL GUARANTEE - distribution-free</a:t>
            </a:r>
          </a:p>
        </p:txBody>
      </p:sp>
      <p:sp>
        <p:nvSpPr>
          <p:cNvPr id="2073" name="TextBox 2072"/>
          <p:cNvSpPr txBox="1"/>
          <p:nvPr/>
        </p:nvSpPr>
        <p:spPr>
          <a:xfrm>
            <a:off x="621792" y="4956048"/>
            <a:ext cx="4023360" cy="457200"/>
          </a:xfrm>
          <a:prstGeom prst="rect">
            <a:avLst/>
          </a:prstGeom>
          <a:noFill/>
        </p:spPr>
        <p:txBody>
          <a:bodyPr wrap="square" lIns="0" rIns="0" tIns="0" bIns="0" anchor="t">
            <a:spAutoFit/>
          </a:bodyPr>
          <a:lstStyle/>
          <a:p>
            <a:pPr algn="l"/>
            <a:r>
              <a:rPr sz="1250" b="1" i="0">
                <a:solidFill>
                  <a:srgbClr val="0F172A"/>
                </a:solidFill>
                <a:latin typeface="Cambria"/>
              </a:rPr>
              <a:t>C(x) = { y : s(x,y) ≤ q̂₁₋α }</a:t>
            </a:r>
            <a:r>
              <a:rPr sz="1250" b="1" i="0">
                <a:solidFill>
                  <a:srgbClr val="0E7490"/>
                </a:solidFill>
                <a:latin typeface="Cambria"/>
              </a:rPr>
              <a:t>     P( y ∈ C(x) ) ≥ 1 − α</a:t>
            </a:r>
          </a:p>
        </p:txBody>
      </p:sp>
      <p:sp>
        <p:nvSpPr>
          <p:cNvPr id="2074" name="Rounded Rectangle 2073"/>
          <p:cNvSpPr/>
          <p:nvPr/>
        </p:nvSpPr>
        <p:spPr>
          <a:xfrm>
            <a:off x="5029200" y="4626864"/>
            <a:ext cx="3657600" cy="841248"/>
          </a:xfrm>
          <a:prstGeom prst="roundRect">
            <a:avLst>
              <a:gd name="adj" fmla="val 10000"/>
            </a:avLst>
          </a:prstGeom>
          <a:solidFill>
            <a:srgbClr val="FFFFFF"/>
          </a:solidFill>
          <a:ln w="9525">
            <a:solidFill>
              <a:srgbClr val="C6E4E1"/>
            </a:solidFill>
          </a:ln>
          <a:effectLst/>
        </p:spPr>
        <p:txBody>
          <a:bodyPr rtlCol="0" anchor="ctr"/>
          <a:lstStyle/>
          <a:p>
            <a:pPr algn="ctr"/>
          </a:p>
        </p:txBody>
      </p:sp>
      <p:sp>
        <p:nvSpPr>
          <p:cNvPr id="2075" name="TextBox 2074"/>
          <p:cNvSpPr txBox="1"/>
          <p:nvPr/>
        </p:nvSpPr>
        <p:spPr>
          <a:xfrm>
            <a:off x="5193792" y="4718304"/>
            <a:ext cx="3291840" cy="219456"/>
          </a:xfrm>
          <a:prstGeom prst="rect">
            <a:avLst/>
          </a:prstGeom>
          <a:noFill/>
        </p:spPr>
        <p:txBody>
          <a:bodyPr wrap="square" lIns="0" rIns="0" tIns="0" bIns="0" anchor="t">
            <a:spAutoFit/>
          </a:bodyPr>
          <a:lstStyle/>
          <a:p>
            <a:pPr algn="l"/>
            <a:r>
              <a:rPr sz="850" b="1" i="0" spc="180">
                <a:solidFill>
                  <a:srgbClr val="0E7490"/>
                </a:solidFill>
                <a:latin typeface="Arial"/>
              </a:rPr>
              <a:t>CALIBRATION - temperature-scaled</a:t>
            </a:r>
          </a:p>
        </p:txBody>
      </p:sp>
      <p:cxnSp>
        <p:nvCxnSpPr>
          <p:cNvPr id="2076" name="Connector 2075"/>
          <p:cNvCxnSpPr/>
          <p:nvPr/>
        </p:nvCxnSpPr>
        <p:spPr>
          <a:xfrm>
            <a:off x="5349240" y="5358384"/>
            <a:ext cx="1097280" cy="0"/>
          </a:xfrm>
          <a:prstGeom prst="line">
            <a:avLst/>
          </a:prstGeom>
          <a:ln w="9525">
            <a:solidFill>
              <a:srgbClr val="5B6672"/>
            </a:solidFill>
          </a:ln>
          <a:effectLst/>
        </p:spPr>
      </p:cxnSp>
      <p:cxnSp>
        <p:nvCxnSpPr>
          <p:cNvPr id="2077" name="Connector 2076"/>
          <p:cNvCxnSpPr/>
          <p:nvPr/>
        </p:nvCxnSpPr>
        <p:spPr>
          <a:xfrm flipV="1">
            <a:off x="5349240" y="4956048"/>
            <a:ext cx="0" cy="402336"/>
          </a:xfrm>
          <a:prstGeom prst="line">
            <a:avLst/>
          </a:prstGeom>
          <a:ln w="9525">
            <a:solidFill>
              <a:srgbClr val="5B6672"/>
            </a:solidFill>
          </a:ln>
          <a:effectLst/>
        </p:spPr>
      </p:cxnSp>
      <p:cxnSp>
        <p:nvCxnSpPr>
          <p:cNvPr id="2078" name="Connector 2077"/>
          <p:cNvCxnSpPr/>
          <p:nvPr/>
        </p:nvCxnSpPr>
        <p:spPr>
          <a:xfrm flipV="1">
            <a:off x="5349240" y="4974336"/>
            <a:ext cx="1097280" cy="384048"/>
          </a:xfrm>
          <a:prstGeom prst="line">
            <a:avLst/>
          </a:prstGeom>
          <a:ln w="12700">
            <a:solidFill>
              <a:srgbClr val="C6E4E1"/>
            </a:solidFill>
            <a:prstDash val="dash"/>
          </a:ln>
          <a:effectLst/>
        </p:spPr>
      </p:cxnSp>
      <p:cxnSp>
        <p:nvCxnSpPr>
          <p:cNvPr id="2079" name="Connector 2078"/>
          <p:cNvCxnSpPr/>
          <p:nvPr/>
        </p:nvCxnSpPr>
        <p:spPr>
          <a:xfrm flipV="1">
            <a:off x="5349240" y="5294376"/>
            <a:ext cx="274320" cy="64008"/>
          </a:xfrm>
          <a:prstGeom prst="line">
            <a:avLst/>
          </a:prstGeom>
          <a:ln w="22225">
            <a:solidFill>
              <a:srgbClr val="2DD4BF"/>
            </a:solidFill>
          </a:ln>
          <a:effectLst/>
        </p:spPr>
      </p:cxnSp>
      <p:cxnSp>
        <p:nvCxnSpPr>
          <p:cNvPr id="2080" name="Connector 2079"/>
          <p:cNvCxnSpPr/>
          <p:nvPr/>
        </p:nvCxnSpPr>
        <p:spPr>
          <a:xfrm flipV="1">
            <a:off x="5623560" y="5193792"/>
            <a:ext cx="274320" cy="100584"/>
          </a:xfrm>
          <a:prstGeom prst="line">
            <a:avLst/>
          </a:prstGeom>
          <a:ln w="22225">
            <a:solidFill>
              <a:srgbClr val="2DD4BF"/>
            </a:solidFill>
          </a:ln>
          <a:effectLst/>
        </p:spPr>
      </p:cxnSp>
      <p:cxnSp>
        <p:nvCxnSpPr>
          <p:cNvPr id="2081" name="Connector 2080"/>
          <p:cNvCxnSpPr/>
          <p:nvPr/>
        </p:nvCxnSpPr>
        <p:spPr>
          <a:xfrm flipV="1">
            <a:off x="5897880" y="5074920"/>
            <a:ext cx="274320" cy="118872"/>
          </a:xfrm>
          <a:prstGeom prst="line">
            <a:avLst/>
          </a:prstGeom>
          <a:ln w="22225">
            <a:solidFill>
              <a:srgbClr val="2DD4BF"/>
            </a:solidFill>
          </a:ln>
          <a:effectLst/>
        </p:spPr>
      </p:cxnSp>
      <p:cxnSp>
        <p:nvCxnSpPr>
          <p:cNvPr id="2082" name="Connector 2081"/>
          <p:cNvCxnSpPr/>
          <p:nvPr/>
        </p:nvCxnSpPr>
        <p:spPr>
          <a:xfrm flipV="1">
            <a:off x="6172200" y="4992624"/>
            <a:ext cx="274320" cy="82296"/>
          </a:xfrm>
          <a:prstGeom prst="line">
            <a:avLst/>
          </a:prstGeom>
          <a:ln w="22225">
            <a:solidFill>
              <a:srgbClr val="2DD4BF"/>
            </a:solidFill>
          </a:ln>
          <a:effectLst/>
        </p:spPr>
      </p:cxnSp>
      <p:sp>
        <p:nvSpPr>
          <p:cNvPr id="2083" name="TextBox 2082"/>
          <p:cNvSpPr txBox="1"/>
          <p:nvPr/>
        </p:nvSpPr>
        <p:spPr>
          <a:xfrm>
            <a:off x="6629400" y="4974336"/>
            <a:ext cx="1920240" cy="457200"/>
          </a:xfrm>
          <a:prstGeom prst="rect">
            <a:avLst/>
          </a:prstGeom>
          <a:noFill/>
        </p:spPr>
        <p:txBody>
          <a:bodyPr wrap="square" lIns="0" rIns="0" tIns="0" bIns="0" anchor="t">
            <a:spAutoFit/>
          </a:bodyPr>
          <a:lstStyle/>
          <a:p>
            <a:pPr algn="l"/>
            <a:r>
              <a:rPr sz="1050" b="1" i="0">
                <a:solidFill>
                  <a:srgbClr val="0F172A"/>
                </a:solidFill>
                <a:latin typeface="Arial"/>
              </a:rPr>
              <a:t>ECE  0.142 → 0.031</a:t>
            </a:r>
          </a:p>
          <a:p>
            <a:pPr algn="l"/>
            <a:r>
              <a:rPr sz="800" b="0" i="0">
                <a:solidFill>
                  <a:srgbClr val="5B6672"/>
                </a:solidFill>
                <a:latin typeface="Arial"/>
              </a:rPr>
              <a:t>after temperature scaling</a:t>
            </a:r>
          </a:p>
        </p:txBody>
      </p:sp>
      <p:sp>
        <p:nvSpPr>
          <p:cNvPr id="2084" name="TextBox 2083"/>
          <p:cNvSpPr txBox="1"/>
          <p:nvPr/>
        </p:nvSpPr>
        <p:spPr>
          <a:xfrm>
            <a:off x="457200" y="5541264"/>
            <a:ext cx="8229600" cy="219456"/>
          </a:xfrm>
          <a:prstGeom prst="rect">
            <a:avLst/>
          </a:prstGeom>
          <a:noFill/>
        </p:spPr>
        <p:txBody>
          <a:bodyPr wrap="square" lIns="0" rIns="0" tIns="0" bIns="0" anchor="t">
            <a:spAutoFit/>
          </a:bodyPr>
          <a:lstStyle/>
          <a:p>
            <a:pPr algn="l"/>
            <a:r>
              <a:rPr sz="800" b="0" i="1">
                <a:solidFill>
                  <a:srgbClr val="5B6672"/>
                </a:solidFill>
                <a:latin typeface="Arial"/>
              </a:rPr>
              <a:t>Kendall &amp; Gal, NeurIPS (2017)  ·  Guo et al., ICML (2017)  ·  Angelopoulos &amp; Bates, Foundations and Trends in ML 16(4) (2023)</a:t>
            </a:r>
          </a:p>
        </p:txBody>
      </p:sp>
    </p:spTree>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l="-24000" r="-24000"/>
          </a:stretch>
        </a:blipFill>
        <a:effectLst/>
      </p:bgPr>
    </p:bg>
    <p:spTree>
      <p:nvGrpSpPr>
        <p:cNvPr id="1" name=""/>
        <p:cNvGrpSpPr/>
        <p:nvPr/>
      </p:nvGrpSpPr>
      <p:grpSpPr>
        <a:xfrm>
          <a:off x="0" y="0"/>
          <a:ext cx="0" cy="0"/>
          <a:chOff x="0" y="0"/>
          <a:chExt cx="0" cy="0"/>
        </a:xfrm>
      </p:grpSpPr>
      <p:pic>
        <p:nvPicPr>
          <p:cNvPr id="2" name="Picture 3" descr="C:\Users\Admin\Downloads\1764679326535-Photoroom.png"/>
          <p:cNvPicPr>
            <a:picLocks noChangeAspect="1" noChangeArrowheads="1"/>
          </p:cNvPicPr>
          <p:nvPr/>
        </p:nvPicPr>
        <p:blipFill>
          <a:blip r:embed="rId4"/>
          <a:srcRect/>
          <a:stretch>
            <a:fillRect/>
          </a:stretch>
        </p:blipFill>
        <p:spPr bwMode="auto">
          <a:xfrm>
            <a:off x="4108831" y="35671"/>
            <a:ext cx="1285884" cy="1285884"/>
          </a:xfrm>
          <a:prstGeom prst="rect">
            <a:avLst/>
          </a:prstGeom>
          <a:noFill/>
        </p:spPr>
      </p:pic>
      <p:pic>
        <p:nvPicPr>
          <p:cNvPr id="2050" name="Picture 2" descr="C:\Users\Admin\Downloads\RIT.png"/>
          <p:cNvPicPr>
            <a:picLocks noChangeAspect="1" noChangeArrowheads="1"/>
          </p:cNvPicPr>
          <p:nvPr/>
        </p:nvPicPr>
        <p:blipFill>
          <a:blip r:embed="rId5" cstate="print"/>
          <a:srcRect/>
          <a:stretch>
            <a:fillRect/>
          </a:stretch>
        </p:blipFill>
        <p:spPr bwMode="auto">
          <a:xfrm>
            <a:off x="252062" y="285704"/>
            <a:ext cx="3043364" cy="785818"/>
          </a:xfrm>
          <a:prstGeom prst="rect">
            <a:avLst/>
          </a:prstGeom>
          <a:noFill/>
        </p:spPr>
      </p:pic>
      <p:pic>
        <p:nvPicPr>
          <p:cNvPr id="2051" name="Picture 3" descr="C:\Users\Admin\Downloads\IBM_logo.svg.png"/>
          <p:cNvPicPr>
            <a:picLocks noChangeAspect="1" noChangeArrowheads="1"/>
          </p:cNvPicPr>
          <p:nvPr/>
        </p:nvPicPr>
        <p:blipFill>
          <a:blip r:embed="rId6"/>
          <a:srcRect/>
          <a:stretch>
            <a:fillRect/>
          </a:stretch>
        </p:blipFill>
        <p:spPr bwMode="auto">
          <a:xfrm>
            <a:off x="7380312" y="357139"/>
            <a:ext cx="1528257" cy="571504"/>
          </a:xfrm>
          <a:prstGeom prst="rect">
            <a:avLst/>
          </a:prstGeom>
          <a:noFill/>
        </p:spPr>
      </p:pic>
      <p:pic>
        <p:nvPicPr>
          <p:cNvPr id="2053" name="Picture 5" descr="C:\Users\Admin\Downloads\logo-nqm.png"/>
          <p:cNvPicPr>
            <a:picLocks noChangeAspect="1" noChangeArrowheads="1"/>
          </p:cNvPicPr>
          <p:nvPr/>
        </p:nvPicPr>
        <p:blipFill>
          <a:blip r:embed="rId7"/>
          <a:srcRect/>
          <a:stretch>
            <a:fillRect/>
          </a:stretch>
        </p:blipFill>
        <p:spPr bwMode="auto">
          <a:xfrm>
            <a:off x="5519518" y="249994"/>
            <a:ext cx="710054" cy="785794"/>
          </a:xfrm>
          <a:prstGeom prst="rect">
            <a:avLst/>
          </a:prstGeom>
          <a:noFill/>
        </p:spPr>
      </p:pic>
      <p:sp>
        <p:nvSpPr>
          <p:cNvPr id="11" name="Footer Placeholder 10"/>
          <p:cNvSpPr>
            <a:spLocks noGrp="1"/>
          </p:cNvSpPr>
          <p:nvPr>
            <p:ph type="ftr" sz="quarter" idx="11"/>
          </p:nvPr>
        </p:nvSpPr>
        <p:spPr>
          <a:xfrm>
            <a:off x="304800" y="6410848"/>
            <a:ext cx="6196026" cy="232862"/>
          </a:xfrm>
        </p:spPr>
        <p:txBody>
          <a:bodyPr/>
          <a:lstStyle/>
          <a:p>
            <a:r>
              <a:rPr lang="en-IN" i="1" dirty="0" smtClean="0">
                <a:solidFill>
                  <a:schemeClr val="tx1"/>
                </a:solidFill>
                <a:latin typeface="Arial Rounded MT Bold" pitchFamily="34" charset="0"/>
              </a:rPr>
              <a:t>RIT – QUANT-A-THAN- 2026 (Innovate, Build, Transform)</a:t>
            </a:r>
            <a:endParaRPr lang="en-IN" i="1" dirty="0">
              <a:solidFill>
                <a:schemeClr val="tx1"/>
              </a:solidFill>
              <a:latin typeface="Arial Rounded MT Bold" pitchFamily="34" charset="0"/>
            </a:endParaRPr>
          </a:p>
        </p:txBody>
      </p:sp>
      <p:pic>
        <p:nvPicPr>
          <p:cNvPr id="5" name="Picture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88734" y="285704"/>
            <a:ext cx="866775" cy="714375"/>
          </a:xfrm>
          <a:prstGeom prst="rect">
            <a:avLst/>
          </a:prstGeom>
        </p:spPr>
      </p:pic>
      <p:sp>
        <p:nvSpPr>
          <p:cNvPr id="2054" name="TextBox 2053"/>
          <p:cNvSpPr txBox="1"/>
          <p:nvPr/>
        </p:nvSpPr>
        <p:spPr>
          <a:xfrm>
            <a:off x="457200" y="1133856"/>
            <a:ext cx="8229600" cy="237744"/>
          </a:xfrm>
          <a:prstGeom prst="rect">
            <a:avLst/>
          </a:prstGeom>
          <a:noFill/>
        </p:spPr>
        <p:txBody>
          <a:bodyPr wrap="square" lIns="0" rIns="0" tIns="0" bIns="0" anchor="t">
            <a:spAutoFit/>
          </a:bodyPr>
          <a:lstStyle/>
          <a:p>
            <a:pPr algn="l"/>
            <a:r>
              <a:rPr sz="1050" b="1" i="0" spc="280">
                <a:solidFill>
                  <a:srgbClr val="5B6672"/>
                </a:solidFill>
                <a:latin typeface="Arial"/>
              </a:rPr>
              <a:t>09  ·  </a:t>
            </a:r>
            <a:r>
              <a:rPr sz="1050" b="1" i="0" spc="280">
                <a:solidFill>
                  <a:srgbClr val="0E7490"/>
                </a:solidFill>
                <a:latin typeface="Arial"/>
              </a:rPr>
              <a:t>EVIDENCE PLANNER</a:t>
            </a:r>
          </a:p>
        </p:txBody>
      </p:sp>
      <p:sp>
        <p:nvSpPr>
          <p:cNvPr id="2055" name="TextBox 2054"/>
          <p:cNvSpPr txBox="1"/>
          <p:nvPr/>
        </p:nvSpPr>
        <p:spPr>
          <a:xfrm>
            <a:off x="457200" y="1371600"/>
            <a:ext cx="8229600" cy="475488"/>
          </a:xfrm>
          <a:prstGeom prst="rect">
            <a:avLst/>
          </a:prstGeom>
          <a:noFill/>
        </p:spPr>
        <p:txBody>
          <a:bodyPr wrap="square" lIns="0" rIns="0" tIns="0" bIns="0" anchor="t">
            <a:spAutoFit/>
          </a:bodyPr>
          <a:lstStyle/>
          <a:p>
            <a:pPr algn="l"/>
            <a:r>
              <a:rPr sz="2600" b="1" i="0" spc="-20">
                <a:solidFill>
                  <a:srgbClr val="0F172A"/>
                </a:solidFill>
                <a:latin typeface="Arial"/>
              </a:rPr>
              <a:t>The next question, not just the current answer</a:t>
            </a:r>
          </a:p>
        </p:txBody>
      </p:sp>
      <p:sp>
        <p:nvSpPr>
          <p:cNvPr id="2056" name="TextBox 2055"/>
          <p:cNvSpPr txBox="1"/>
          <p:nvPr/>
        </p:nvSpPr>
        <p:spPr>
          <a:xfrm>
            <a:off x="457200" y="1874519"/>
            <a:ext cx="8229600" cy="274320"/>
          </a:xfrm>
          <a:prstGeom prst="rect">
            <a:avLst/>
          </a:prstGeom>
          <a:noFill/>
        </p:spPr>
        <p:txBody>
          <a:bodyPr wrap="square" lIns="0" rIns="0" tIns="0" bIns="0" anchor="t">
            <a:spAutoFit/>
          </a:bodyPr>
          <a:lstStyle/>
          <a:p>
            <a:pPr algn="l"/>
            <a:r>
              <a:rPr sz="1150" b="0" i="1">
                <a:solidFill>
                  <a:srgbClr val="5B6672"/>
                </a:solidFill>
                <a:latin typeface="Arial"/>
              </a:rPr>
              <a:t>Purpose - turn residual uncertainty into an optimal, cost-aware next test.</a:t>
            </a:r>
          </a:p>
        </p:txBody>
      </p:sp>
      <p:sp>
        <p:nvSpPr>
          <p:cNvPr id="2057" name="Rounded Rectangle 2056"/>
          <p:cNvSpPr/>
          <p:nvPr/>
        </p:nvSpPr>
        <p:spPr>
          <a:xfrm>
            <a:off x="457200" y="2286000"/>
            <a:ext cx="3749039" cy="1417320"/>
          </a:xfrm>
          <a:prstGeom prst="roundRect">
            <a:avLst>
              <a:gd name="adj" fmla="val 10000"/>
            </a:avLst>
          </a:prstGeom>
          <a:solidFill>
            <a:srgbClr val="ECF8F7"/>
          </a:solidFill>
          <a:ln w="12700">
            <a:solidFill>
              <a:srgbClr val="0D9488"/>
            </a:solidFill>
          </a:ln>
          <a:effectLst/>
        </p:spPr>
        <p:txBody>
          <a:bodyPr rtlCol="0" anchor="ctr"/>
          <a:lstStyle/>
          <a:p>
            <a:pPr algn="ctr"/>
          </a:p>
        </p:txBody>
      </p:sp>
      <p:sp>
        <p:nvSpPr>
          <p:cNvPr id="2058" name="TextBox 2057"/>
          <p:cNvSpPr txBox="1"/>
          <p:nvPr/>
        </p:nvSpPr>
        <p:spPr>
          <a:xfrm>
            <a:off x="658368" y="2414016"/>
            <a:ext cx="3383280" cy="237744"/>
          </a:xfrm>
          <a:prstGeom prst="rect">
            <a:avLst/>
          </a:prstGeom>
          <a:noFill/>
        </p:spPr>
        <p:txBody>
          <a:bodyPr wrap="square" lIns="0" rIns="0" tIns="0" bIns="0" anchor="t">
            <a:spAutoFit/>
          </a:bodyPr>
          <a:lstStyle/>
          <a:p>
            <a:pPr algn="l"/>
            <a:r>
              <a:rPr sz="900" b="1" i="0" spc="200">
                <a:solidFill>
                  <a:srgbClr val="0E7490"/>
                </a:solidFill>
                <a:latin typeface="Arial"/>
              </a:rPr>
              <a:t>EXPECTED INFORMATION GAIN</a:t>
            </a:r>
          </a:p>
        </p:txBody>
      </p:sp>
      <p:sp>
        <p:nvSpPr>
          <p:cNvPr id="2059" name="TextBox 2058"/>
          <p:cNvSpPr txBox="1"/>
          <p:nvPr/>
        </p:nvSpPr>
        <p:spPr>
          <a:xfrm>
            <a:off x="658368" y="2688336"/>
            <a:ext cx="3383280" cy="365760"/>
          </a:xfrm>
          <a:prstGeom prst="rect">
            <a:avLst/>
          </a:prstGeom>
          <a:noFill/>
        </p:spPr>
        <p:txBody>
          <a:bodyPr wrap="square" lIns="0" rIns="0" tIns="0" bIns="0" anchor="t">
            <a:spAutoFit/>
          </a:bodyPr>
          <a:lstStyle/>
          <a:p>
            <a:pPr algn="l"/>
            <a:r>
              <a:rPr sz="1450" b="1" i="0">
                <a:solidFill>
                  <a:srgbClr val="0F172A"/>
                </a:solidFill>
                <a:latin typeface="Cambria"/>
              </a:rPr>
              <a:t>a* = argmaxₐ  EIG(a) − λ·cost(a)</a:t>
            </a:r>
          </a:p>
        </p:txBody>
      </p:sp>
      <p:sp>
        <p:nvSpPr>
          <p:cNvPr id="2060" name="TextBox 2059"/>
          <p:cNvSpPr txBox="1"/>
          <p:nvPr/>
        </p:nvSpPr>
        <p:spPr>
          <a:xfrm>
            <a:off x="658368" y="3108960"/>
            <a:ext cx="3383280" cy="329184"/>
          </a:xfrm>
          <a:prstGeom prst="rect">
            <a:avLst/>
          </a:prstGeom>
          <a:noFill/>
        </p:spPr>
        <p:txBody>
          <a:bodyPr wrap="square" lIns="0" rIns="0" tIns="0" bIns="0" anchor="t">
            <a:spAutoFit/>
          </a:bodyPr>
          <a:lstStyle/>
          <a:p>
            <a:pPr algn="l"/>
            <a:r>
              <a:rPr sz="1250" b="1" i="0">
                <a:solidFill>
                  <a:srgbClr val="0D9488"/>
                </a:solidFill>
                <a:latin typeface="Cambria"/>
              </a:rPr>
              <a:t>EIG(a) = H[p(d)] − Eₒ H[p(d | o)]</a:t>
            </a:r>
          </a:p>
        </p:txBody>
      </p:sp>
      <p:sp>
        <p:nvSpPr>
          <p:cNvPr id="2061" name="TextBox 2060"/>
          <p:cNvSpPr txBox="1"/>
          <p:nvPr/>
        </p:nvSpPr>
        <p:spPr>
          <a:xfrm>
            <a:off x="658368" y="3456432"/>
            <a:ext cx="3364992" cy="219456"/>
          </a:xfrm>
          <a:prstGeom prst="rect">
            <a:avLst/>
          </a:prstGeom>
          <a:noFill/>
        </p:spPr>
        <p:txBody>
          <a:bodyPr wrap="square" lIns="0" rIns="0" tIns="0" bIns="0" anchor="t">
            <a:spAutoFit/>
          </a:bodyPr>
          <a:lstStyle/>
          <a:p>
            <a:pPr algn="l"/>
            <a:r>
              <a:rPr sz="850" b="0" i="1">
                <a:solidFill>
                  <a:srgbClr val="5B6672"/>
                </a:solidFill>
                <a:latin typeface="Arial"/>
              </a:rPr>
              <a:t>computed through the fusion posterior, per patient</a:t>
            </a:r>
          </a:p>
        </p:txBody>
      </p:sp>
      <p:sp>
        <p:nvSpPr>
          <p:cNvPr id="2062" name="TextBox 2061"/>
          <p:cNvSpPr txBox="1"/>
          <p:nvPr/>
        </p:nvSpPr>
        <p:spPr>
          <a:xfrm>
            <a:off x="4526280" y="2286000"/>
            <a:ext cx="4160520" cy="237744"/>
          </a:xfrm>
          <a:prstGeom prst="rect">
            <a:avLst/>
          </a:prstGeom>
          <a:noFill/>
        </p:spPr>
        <p:txBody>
          <a:bodyPr wrap="square" lIns="0" rIns="0" tIns="0" bIns="0" anchor="t">
            <a:spAutoFit/>
          </a:bodyPr>
          <a:lstStyle/>
          <a:p>
            <a:pPr algn="l"/>
            <a:r>
              <a:rPr sz="900" b="1" i="0" spc="160">
                <a:solidFill>
                  <a:srgbClr val="0E7490"/>
                </a:solidFill>
                <a:latin typeface="Arial"/>
              </a:rPr>
              <a:t>RANKED FOR THIS PATIENT  (bits of entropy resolved)</a:t>
            </a:r>
          </a:p>
        </p:txBody>
      </p:sp>
      <p:sp>
        <p:nvSpPr>
          <p:cNvPr id="2063" name="TextBox 2062"/>
          <p:cNvSpPr txBox="1"/>
          <p:nvPr/>
        </p:nvSpPr>
        <p:spPr>
          <a:xfrm>
            <a:off x="4526280" y="2615184"/>
            <a:ext cx="1691640" cy="219456"/>
          </a:xfrm>
          <a:prstGeom prst="rect">
            <a:avLst/>
          </a:prstGeom>
          <a:noFill/>
        </p:spPr>
        <p:txBody>
          <a:bodyPr wrap="square" lIns="0" rIns="0" tIns="0" bIns="0" anchor="ctr">
            <a:spAutoFit/>
          </a:bodyPr>
          <a:lstStyle/>
          <a:p>
            <a:pPr algn="l"/>
            <a:r>
              <a:rPr sz="1000" b="1" i="0">
                <a:solidFill>
                  <a:srgbClr val="0F172A"/>
                </a:solidFill>
                <a:latin typeface="Arial"/>
              </a:rPr>
              <a:t>CT thorax</a:t>
            </a:r>
          </a:p>
        </p:txBody>
      </p:sp>
      <p:sp>
        <p:nvSpPr>
          <p:cNvPr id="2064" name="Rounded Rectangle 2063"/>
          <p:cNvSpPr/>
          <p:nvPr/>
        </p:nvSpPr>
        <p:spPr>
          <a:xfrm>
            <a:off x="6263640" y="2628900"/>
            <a:ext cx="1737360" cy="173736"/>
          </a:xfrm>
          <a:prstGeom prst="roundRect">
            <a:avLst>
              <a:gd name="adj" fmla="val 50000"/>
            </a:avLst>
          </a:prstGeom>
          <a:solidFill>
            <a:srgbClr val="2DD4BF">
              <a:alpha val="100000"/>
            </a:srgbClr>
          </a:solidFill>
          <a:ln>
            <a:noFill/>
          </a:ln>
          <a:effectLst/>
        </p:spPr>
        <p:txBody>
          <a:bodyPr rtlCol="0" anchor="ctr"/>
          <a:lstStyle/>
          <a:p>
            <a:pPr algn="ctr"/>
          </a:p>
        </p:txBody>
      </p:sp>
      <p:sp>
        <p:nvSpPr>
          <p:cNvPr id="2065" name="TextBox 2064"/>
          <p:cNvSpPr txBox="1"/>
          <p:nvPr/>
        </p:nvSpPr>
        <p:spPr>
          <a:xfrm>
            <a:off x="8092440" y="2615184"/>
            <a:ext cx="566928" cy="219456"/>
          </a:xfrm>
          <a:prstGeom prst="rect">
            <a:avLst/>
          </a:prstGeom>
          <a:noFill/>
        </p:spPr>
        <p:txBody>
          <a:bodyPr wrap="square" lIns="0" rIns="0" tIns="0" bIns="0" anchor="ctr">
            <a:spAutoFit/>
          </a:bodyPr>
          <a:lstStyle/>
          <a:p>
            <a:pPr algn="l"/>
            <a:r>
              <a:rPr sz="1000" b="1" i="0">
                <a:solidFill>
                  <a:srgbClr val="0E7490"/>
                </a:solidFill>
                <a:latin typeface="Arial"/>
              </a:rPr>
              <a:t>0.82</a:t>
            </a:r>
          </a:p>
        </p:txBody>
      </p:sp>
      <p:sp>
        <p:nvSpPr>
          <p:cNvPr id="2066" name="TextBox 2065"/>
          <p:cNvSpPr txBox="1"/>
          <p:nvPr/>
        </p:nvSpPr>
        <p:spPr>
          <a:xfrm>
            <a:off x="4526280" y="2999232"/>
            <a:ext cx="1691640" cy="219456"/>
          </a:xfrm>
          <a:prstGeom prst="rect">
            <a:avLst/>
          </a:prstGeom>
          <a:noFill/>
        </p:spPr>
        <p:txBody>
          <a:bodyPr wrap="square" lIns="0" rIns="0" tIns="0" bIns="0" anchor="ctr">
            <a:spAutoFit/>
          </a:bodyPr>
          <a:lstStyle/>
          <a:p>
            <a:pPr algn="l"/>
            <a:r>
              <a:rPr sz="1000" b="1" i="0">
                <a:solidFill>
                  <a:srgbClr val="0F172A"/>
                </a:solidFill>
                <a:latin typeface="Arial"/>
              </a:rPr>
              <a:t>Repeat PA X-ray</a:t>
            </a:r>
          </a:p>
        </p:txBody>
      </p:sp>
      <p:sp>
        <p:nvSpPr>
          <p:cNvPr id="2067" name="Rounded Rectangle 2066"/>
          <p:cNvSpPr/>
          <p:nvPr/>
        </p:nvSpPr>
        <p:spPr>
          <a:xfrm>
            <a:off x="6263640" y="3012948"/>
            <a:ext cx="1355988" cy="173736"/>
          </a:xfrm>
          <a:prstGeom prst="roundRect">
            <a:avLst>
              <a:gd name="adj" fmla="val 50000"/>
            </a:avLst>
          </a:prstGeom>
          <a:solidFill>
            <a:srgbClr val="2DD4BF">
              <a:alpha val="90000"/>
            </a:srgbClr>
          </a:solidFill>
          <a:ln>
            <a:noFill/>
          </a:ln>
          <a:effectLst/>
        </p:spPr>
        <p:txBody>
          <a:bodyPr rtlCol="0" anchor="ctr"/>
          <a:lstStyle/>
          <a:p>
            <a:pPr algn="ctr"/>
          </a:p>
        </p:txBody>
      </p:sp>
      <p:sp>
        <p:nvSpPr>
          <p:cNvPr id="2068" name="TextBox 2067"/>
          <p:cNvSpPr txBox="1"/>
          <p:nvPr/>
        </p:nvSpPr>
        <p:spPr>
          <a:xfrm>
            <a:off x="8092440" y="2999232"/>
            <a:ext cx="566928" cy="219456"/>
          </a:xfrm>
          <a:prstGeom prst="rect">
            <a:avLst/>
          </a:prstGeom>
          <a:noFill/>
        </p:spPr>
        <p:txBody>
          <a:bodyPr wrap="square" lIns="0" rIns="0" tIns="0" bIns="0" anchor="ctr">
            <a:spAutoFit/>
          </a:bodyPr>
          <a:lstStyle/>
          <a:p>
            <a:pPr algn="l"/>
            <a:r>
              <a:rPr sz="1000" b="1" i="0">
                <a:solidFill>
                  <a:srgbClr val="0E7490"/>
                </a:solidFill>
                <a:latin typeface="Arial"/>
              </a:rPr>
              <a:t>0.64</a:t>
            </a:r>
          </a:p>
        </p:txBody>
      </p:sp>
      <p:sp>
        <p:nvSpPr>
          <p:cNvPr id="2069" name="TextBox 2068"/>
          <p:cNvSpPr txBox="1"/>
          <p:nvPr/>
        </p:nvSpPr>
        <p:spPr>
          <a:xfrm>
            <a:off x="4526280" y="3383279"/>
            <a:ext cx="1691640" cy="219456"/>
          </a:xfrm>
          <a:prstGeom prst="rect">
            <a:avLst/>
          </a:prstGeom>
          <a:noFill/>
        </p:spPr>
        <p:txBody>
          <a:bodyPr wrap="square" lIns="0" rIns="0" tIns="0" bIns="0" anchor="ctr">
            <a:spAutoFit/>
          </a:bodyPr>
          <a:lstStyle/>
          <a:p>
            <a:pPr algn="l"/>
            <a:r>
              <a:rPr sz="1000" b="1" i="0">
                <a:solidFill>
                  <a:srgbClr val="0F172A"/>
                </a:solidFill>
                <a:latin typeface="Arial"/>
              </a:rPr>
              <a:t>Thoracic ultrasound</a:t>
            </a:r>
          </a:p>
        </p:txBody>
      </p:sp>
      <p:sp>
        <p:nvSpPr>
          <p:cNvPr id="2070" name="Rounded Rectangle 2069"/>
          <p:cNvSpPr/>
          <p:nvPr/>
        </p:nvSpPr>
        <p:spPr>
          <a:xfrm>
            <a:off x="6263640" y="3396996"/>
            <a:ext cx="1080553" cy="173736"/>
          </a:xfrm>
          <a:prstGeom prst="roundRect">
            <a:avLst>
              <a:gd name="adj" fmla="val 50000"/>
            </a:avLst>
          </a:prstGeom>
          <a:solidFill>
            <a:srgbClr val="2DD4BF">
              <a:alpha val="82000"/>
            </a:srgbClr>
          </a:solidFill>
          <a:ln>
            <a:noFill/>
          </a:ln>
          <a:effectLst/>
        </p:spPr>
        <p:txBody>
          <a:bodyPr rtlCol="0" anchor="ctr"/>
          <a:lstStyle/>
          <a:p>
            <a:pPr algn="ctr"/>
          </a:p>
        </p:txBody>
      </p:sp>
      <p:sp>
        <p:nvSpPr>
          <p:cNvPr id="2071" name="TextBox 2070"/>
          <p:cNvSpPr txBox="1"/>
          <p:nvPr/>
        </p:nvSpPr>
        <p:spPr>
          <a:xfrm>
            <a:off x="8092440" y="3383279"/>
            <a:ext cx="566928" cy="219456"/>
          </a:xfrm>
          <a:prstGeom prst="rect">
            <a:avLst/>
          </a:prstGeom>
          <a:noFill/>
        </p:spPr>
        <p:txBody>
          <a:bodyPr wrap="square" lIns="0" rIns="0" tIns="0" bIns="0" anchor="ctr">
            <a:spAutoFit/>
          </a:bodyPr>
          <a:lstStyle/>
          <a:p>
            <a:pPr algn="l"/>
            <a:r>
              <a:rPr sz="1000" b="1" i="0">
                <a:solidFill>
                  <a:srgbClr val="0E7490"/>
                </a:solidFill>
                <a:latin typeface="Arial"/>
              </a:rPr>
              <a:t>0.51</a:t>
            </a:r>
          </a:p>
        </p:txBody>
      </p:sp>
      <p:sp>
        <p:nvSpPr>
          <p:cNvPr id="2072" name="TextBox 2071"/>
          <p:cNvSpPr txBox="1"/>
          <p:nvPr/>
        </p:nvSpPr>
        <p:spPr>
          <a:xfrm>
            <a:off x="4526280" y="3767328"/>
            <a:ext cx="1691640" cy="219456"/>
          </a:xfrm>
          <a:prstGeom prst="rect">
            <a:avLst/>
          </a:prstGeom>
          <a:noFill/>
        </p:spPr>
        <p:txBody>
          <a:bodyPr wrap="square" lIns="0" rIns="0" tIns="0" bIns="0" anchor="ctr">
            <a:spAutoFit/>
          </a:bodyPr>
          <a:lstStyle/>
          <a:p>
            <a:pPr algn="l"/>
            <a:r>
              <a:rPr sz="1000" b="1" i="0">
                <a:solidFill>
                  <a:srgbClr val="0F172A"/>
                </a:solidFill>
                <a:latin typeface="Arial"/>
              </a:rPr>
              <a:t>CBC + CRP panel</a:t>
            </a:r>
          </a:p>
        </p:txBody>
      </p:sp>
      <p:sp>
        <p:nvSpPr>
          <p:cNvPr id="2073" name="Rounded Rectangle 2072"/>
          <p:cNvSpPr/>
          <p:nvPr/>
        </p:nvSpPr>
        <p:spPr>
          <a:xfrm>
            <a:off x="6263640" y="3781044"/>
            <a:ext cx="699181" cy="173736"/>
          </a:xfrm>
          <a:prstGeom prst="roundRect">
            <a:avLst>
              <a:gd name="adj" fmla="val 50000"/>
            </a:avLst>
          </a:prstGeom>
          <a:solidFill>
            <a:srgbClr val="2DD4BF">
              <a:alpha val="71000"/>
            </a:srgbClr>
          </a:solidFill>
          <a:ln>
            <a:noFill/>
          </a:ln>
          <a:effectLst/>
        </p:spPr>
        <p:txBody>
          <a:bodyPr rtlCol="0" anchor="ctr"/>
          <a:lstStyle/>
          <a:p>
            <a:pPr algn="ctr"/>
          </a:p>
        </p:txBody>
      </p:sp>
      <p:sp>
        <p:nvSpPr>
          <p:cNvPr id="2074" name="TextBox 2073"/>
          <p:cNvSpPr txBox="1"/>
          <p:nvPr/>
        </p:nvSpPr>
        <p:spPr>
          <a:xfrm>
            <a:off x="8092440" y="3767328"/>
            <a:ext cx="566928" cy="219456"/>
          </a:xfrm>
          <a:prstGeom prst="rect">
            <a:avLst/>
          </a:prstGeom>
          <a:noFill/>
        </p:spPr>
        <p:txBody>
          <a:bodyPr wrap="square" lIns="0" rIns="0" tIns="0" bIns="0" anchor="ctr">
            <a:spAutoFit/>
          </a:bodyPr>
          <a:lstStyle/>
          <a:p>
            <a:pPr algn="l"/>
            <a:r>
              <a:rPr sz="1000" b="1" i="0">
                <a:solidFill>
                  <a:srgbClr val="0E7490"/>
                </a:solidFill>
                <a:latin typeface="Arial"/>
              </a:rPr>
              <a:t>0.33</a:t>
            </a:r>
          </a:p>
        </p:txBody>
      </p:sp>
      <p:sp>
        <p:nvSpPr>
          <p:cNvPr id="2075" name="TextBox 2074"/>
          <p:cNvSpPr txBox="1"/>
          <p:nvPr/>
        </p:nvSpPr>
        <p:spPr>
          <a:xfrm>
            <a:off x="4526280" y="4151376"/>
            <a:ext cx="1691640" cy="219456"/>
          </a:xfrm>
          <a:prstGeom prst="rect">
            <a:avLst/>
          </a:prstGeom>
          <a:noFill/>
        </p:spPr>
        <p:txBody>
          <a:bodyPr wrap="square" lIns="0" rIns="0" tIns="0" bIns="0" anchor="ctr">
            <a:spAutoFit/>
          </a:bodyPr>
          <a:lstStyle/>
          <a:p>
            <a:pPr algn="l"/>
            <a:r>
              <a:rPr sz="1000" b="1" i="0">
                <a:solidFill>
                  <a:srgbClr val="0F172A"/>
                </a:solidFill>
                <a:latin typeface="Arial"/>
              </a:rPr>
              <a:t>Observe 24 h</a:t>
            </a:r>
          </a:p>
        </p:txBody>
      </p:sp>
      <p:sp>
        <p:nvSpPr>
          <p:cNvPr id="2076" name="Rounded Rectangle 2075"/>
          <p:cNvSpPr/>
          <p:nvPr/>
        </p:nvSpPr>
        <p:spPr>
          <a:xfrm>
            <a:off x="6263640" y="4165091"/>
            <a:ext cx="254247" cy="173736"/>
          </a:xfrm>
          <a:prstGeom prst="roundRect">
            <a:avLst>
              <a:gd name="adj" fmla="val 50000"/>
            </a:avLst>
          </a:prstGeom>
          <a:solidFill>
            <a:srgbClr val="2DD4BF">
              <a:alpha val="58000"/>
            </a:srgbClr>
          </a:solidFill>
          <a:ln>
            <a:noFill/>
          </a:ln>
          <a:effectLst/>
        </p:spPr>
        <p:txBody>
          <a:bodyPr rtlCol="0" anchor="ctr"/>
          <a:lstStyle/>
          <a:p>
            <a:pPr algn="ctr"/>
          </a:p>
        </p:txBody>
      </p:sp>
      <p:sp>
        <p:nvSpPr>
          <p:cNvPr id="2077" name="TextBox 2076"/>
          <p:cNvSpPr txBox="1"/>
          <p:nvPr/>
        </p:nvSpPr>
        <p:spPr>
          <a:xfrm>
            <a:off x="8092440" y="4151376"/>
            <a:ext cx="566928" cy="219456"/>
          </a:xfrm>
          <a:prstGeom prst="rect">
            <a:avLst/>
          </a:prstGeom>
          <a:noFill/>
        </p:spPr>
        <p:txBody>
          <a:bodyPr wrap="square" lIns="0" rIns="0" tIns="0" bIns="0" anchor="ctr">
            <a:spAutoFit/>
          </a:bodyPr>
          <a:lstStyle/>
          <a:p>
            <a:pPr algn="l"/>
            <a:r>
              <a:rPr sz="1000" b="1" i="0">
                <a:solidFill>
                  <a:srgbClr val="0E7490"/>
                </a:solidFill>
                <a:latin typeface="Arial"/>
              </a:rPr>
              <a:t>0.12</a:t>
            </a:r>
          </a:p>
        </p:txBody>
      </p:sp>
      <p:sp>
        <p:nvSpPr>
          <p:cNvPr id="2078" name="Rounded Rectangle 2077"/>
          <p:cNvSpPr/>
          <p:nvPr/>
        </p:nvSpPr>
        <p:spPr>
          <a:xfrm>
            <a:off x="4526280" y="4590288"/>
            <a:ext cx="4160520" cy="475488"/>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79" name="TextBox 2078"/>
          <p:cNvSpPr txBox="1"/>
          <p:nvPr/>
        </p:nvSpPr>
        <p:spPr>
          <a:xfrm>
            <a:off x="4681728" y="4658868"/>
            <a:ext cx="3840480" cy="292608"/>
          </a:xfrm>
          <a:prstGeom prst="rect">
            <a:avLst/>
          </a:prstGeom>
          <a:noFill/>
        </p:spPr>
        <p:txBody>
          <a:bodyPr wrap="square" lIns="0" rIns="0" tIns="0" bIns="0" anchor="t">
            <a:spAutoFit/>
          </a:bodyPr>
          <a:lstStyle/>
          <a:p>
            <a:pPr algn="l"/>
            <a:r>
              <a:rPr sz="950" b="0" i="0">
                <a:solidFill>
                  <a:srgbClr val="5B6672"/>
                </a:solidFill>
                <a:latin typeface="Arial"/>
              </a:rPr>
              <a:t>Recommendation:  </a:t>
            </a:r>
            <a:r>
              <a:rPr sz="1050" b="1" i="0">
                <a:solidFill>
                  <a:srgbClr val="0F172A"/>
                </a:solidFill>
                <a:latin typeface="Arial"/>
              </a:rPr>
              <a:t>repeat PA X-ray </a:t>
            </a:r>
            <a:r>
              <a:rPr sz="950" b="0" i="1">
                <a:solidFill>
                  <a:srgbClr val="0E7490"/>
                </a:solidFill>
                <a:latin typeface="Arial"/>
              </a:rPr>
              <a:t>- 78% of CT's information at 4% of its cost</a:t>
            </a:r>
          </a:p>
        </p:txBody>
      </p:sp>
      <p:sp>
        <p:nvSpPr>
          <p:cNvPr id="2080" name="TextBox 2079"/>
          <p:cNvSpPr txBox="1"/>
          <p:nvPr/>
        </p:nvSpPr>
        <p:spPr>
          <a:xfrm>
            <a:off x="457200" y="5138928"/>
            <a:ext cx="8229600" cy="274320"/>
          </a:xfrm>
          <a:prstGeom prst="rect">
            <a:avLst/>
          </a:prstGeom>
          <a:noFill/>
        </p:spPr>
        <p:txBody>
          <a:bodyPr wrap="square" lIns="0" rIns="0" tIns="0" bIns="0" anchor="t">
            <a:spAutoFit/>
          </a:bodyPr>
          <a:lstStyle/>
          <a:p>
            <a:pPr algn="ctr"/>
            <a:r>
              <a:rPr sz="1100" b="0" i="1">
                <a:solidFill>
                  <a:srgbClr val="0E7490"/>
                </a:solidFill>
                <a:latin typeface="Arial"/>
              </a:rPr>
              <a:t>AURA optimizes the diagnostic trajectory - Lindley's 1956 experimental design, made clinical.</a:t>
            </a:r>
          </a:p>
        </p:txBody>
      </p:sp>
      <p:sp>
        <p:nvSpPr>
          <p:cNvPr id="2081" name="TextBox 2080"/>
          <p:cNvSpPr txBox="1"/>
          <p:nvPr/>
        </p:nvSpPr>
        <p:spPr>
          <a:xfrm>
            <a:off x="457200" y="5541264"/>
            <a:ext cx="8229600" cy="219456"/>
          </a:xfrm>
          <a:prstGeom prst="rect">
            <a:avLst/>
          </a:prstGeom>
          <a:noFill/>
        </p:spPr>
        <p:txBody>
          <a:bodyPr wrap="square" lIns="0" rIns="0" tIns="0" bIns="0" anchor="t">
            <a:spAutoFit/>
          </a:bodyPr>
          <a:lstStyle/>
          <a:p>
            <a:pPr algn="l"/>
            <a:r>
              <a:rPr sz="800" b="0" i="1">
                <a:solidFill>
                  <a:srgbClr val="5B6672"/>
                </a:solidFill>
                <a:latin typeface="Arial"/>
              </a:rPr>
              <a:t>Lindley, Ann. Math. Statist. 27(4), 986-1005 (1956)  ·  Bernardo, Ann. Statist. 7(3) (1979)  ·  implemented in services/recommend</a:t>
            </a:r>
          </a:p>
        </p:txBody>
      </p:sp>
    </p:spTree>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l="-24000" r="-24000"/>
          </a:stretch>
        </a:blipFill>
        <a:effectLst/>
      </p:bgPr>
    </p:bg>
    <p:spTree>
      <p:nvGrpSpPr>
        <p:cNvPr id="1" name=""/>
        <p:cNvGrpSpPr/>
        <p:nvPr/>
      </p:nvGrpSpPr>
      <p:grpSpPr>
        <a:xfrm>
          <a:off x="0" y="0"/>
          <a:ext cx="0" cy="0"/>
          <a:chOff x="0" y="0"/>
          <a:chExt cx="0" cy="0"/>
        </a:xfrm>
      </p:grpSpPr>
      <p:pic>
        <p:nvPicPr>
          <p:cNvPr id="2" name="Picture 3" descr="C:\Users\Admin\Downloads\1764679326535-Photoroom.png"/>
          <p:cNvPicPr>
            <a:picLocks noChangeAspect="1" noChangeArrowheads="1"/>
          </p:cNvPicPr>
          <p:nvPr/>
        </p:nvPicPr>
        <p:blipFill>
          <a:blip r:embed="rId4"/>
          <a:srcRect/>
          <a:stretch>
            <a:fillRect/>
          </a:stretch>
        </p:blipFill>
        <p:spPr bwMode="auto">
          <a:xfrm>
            <a:off x="4108831" y="35671"/>
            <a:ext cx="1285884" cy="1285884"/>
          </a:xfrm>
          <a:prstGeom prst="rect">
            <a:avLst/>
          </a:prstGeom>
          <a:noFill/>
        </p:spPr>
      </p:pic>
      <p:pic>
        <p:nvPicPr>
          <p:cNvPr id="2050" name="Picture 2" descr="C:\Users\Admin\Downloads\RIT.png"/>
          <p:cNvPicPr>
            <a:picLocks noChangeAspect="1" noChangeArrowheads="1"/>
          </p:cNvPicPr>
          <p:nvPr/>
        </p:nvPicPr>
        <p:blipFill>
          <a:blip r:embed="rId5" cstate="print"/>
          <a:srcRect/>
          <a:stretch>
            <a:fillRect/>
          </a:stretch>
        </p:blipFill>
        <p:spPr bwMode="auto">
          <a:xfrm>
            <a:off x="252062" y="285704"/>
            <a:ext cx="3043364" cy="785818"/>
          </a:xfrm>
          <a:prstGeom prst="rect">
            <a:avLst/>
          </a:prstGeom>
          <a:noFill/>
        </p:spPr>
      </p:pic>
      <p:pic>
        <p:nvPicPr>
          <p:cNvPr id="2051" name="Picture 3" descr="C:\Users\Admin\Downloads\IBM_logo.svg.png"/>
          <p:cNvPicPr>
            <a:picLocks noChangeAspect="1" noChangeArrowheads="1"/>
          </p:cNvPicPr>
          <p:nvPr/>
        </p:nvPicPr>
        <p:blipFill>
          <a:blip r:embed="rId6"/>
          <a:srcRect/>
          <a:stretch>
            <a:fillRect/>
          </a:stretch>
        </p:blipFill>
        <p:spPr bwMode="auto">
          <a:xfrm>
            <a:off x="7380312" y="357139"/>
            <a:ext cx="1528257" cy="571504"/>
          </a:xfrm>
          <a:prstGeom prst="rect">
            <a:avLst/>
          </a:prstGeom>
          <a:noFill/>
        </p:spPr>
      </p:pic>
      <p:pic>
        <p:nvPicPr>
          <p:cNvPr id="2053" name="Picture 5" descr="C:\Users\Admin\Downloads\logo-nqm.png"/>
          <p:cNvPicPr>
            <a:picLocks noChangeAspect="1" noChangeArrowheads="1"/>
          </p:cNvPicPr>
          <p:nvPr/>
        </p:nvPicPr>
        <p:blipFill>
          <a:blip r:embed="rId7"/>
          <a:srcRect/>
          <a:stretch>
            <a:fillRect/>
          </a:stretch>
        </p:blipFill>
        <p:spPr bwMode="auto">
          <a:xfrm>
            <a:off x="5519518" y="249994"/>
            <a:ext cx="710054" cy="785794"/>
          </a:xfrm>
          <a:prstGeom prst="rect">
            <a:avLst/>
          </a:prstGeom>
          <a:noFill/>
        </p:spPr>
      </p:pic>
      <p:sp>
        <p:nvSpPr>
          <p:cNvPr id="11" name="Footer Placeholder 10"/>
          <p:cNvSpPr>
            <a:spLocks noGrp="1"/>
          </p:cNvSpPr>
          <p:nvPr>
            <p:ph type="ftr" sz="quarter" idx="11"/>
          </p:nvPr>
        </p:nvSpPr>
        <p:spPr>
          <a:xfrm>
            <a:off x="304800" y="6410848"/>
            <a:ext cx="6196026" cy="232862"/>
          </a:xfrm>
        </p:spPr>
        <p:txBody>
          <a:bodyPr/>
          <a:lstStyle/>
          <a:p>
            <a:r>
              <a:rPr lang="en-IN" i="1" dirty="0" smtClean="0">
                <a:solidFill>
                  <a:schemeClr val="tx1"/>
                </a:solidFill>
                <a:latin typeface="Arial Rounded MT Bold" pitchFamily="34" charset="0"/>
              </a:rPr>
              <a:t>RIT – QUANT-A-THAN- 2026 (Innovate, Build, Transform)</a:t>
            </a:r>
            <a:endParaRPr lang="en-IN" i="1" dirty="0">
              <a:solidFill>
                <a:schemeClr val="tx1"/>
              </a:solidFill>
              <a:latin typeface="Arial Rounded MT Bold" pitchFamily="34" charset="0"/>
            </a:endParaRPr>
          </a:p>
        </p:txBody>
      </p:sp>
      <p:pic>
        <p:nvPicPr>
          <p:cNvPr id="5" name="Picture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88734" y="285704"/>
            <a:ext cx="866775" cy="714375"/>
          </a:xfrm>
          <a:prstGeom prst="rect">
            <a:avLst/>
          </a:prstGeom>
        </p:spPr>
      </p:pic>
      <p:sp>
        <p:nvSpPr>
          <p:cNvPr id="2054" name="TextBox 2053"/>
          <p:cNvSpPr txBox="1"/>
          <p:nvPr/>
        </p:nvSpPr>
        <p:spPr>
          <a:xfrm>
            <a:off x="457200" y="1133856"/>
            <a:ext cx="8229600" cy="237744"/>
          </a:xfrm>
          <a:prstGeom prst="rect">
            <a:avLst/>
          </a:prstGeom>
          <a:noFill/>
        </p:spPr>
        <p:txBody>
          <a:bodyPr wrap="square" lIns="0" rIns="0" tIns="0" bIns="0" anchor="t">
            <a:spAutoFit/>
          </a:bodyPr>
          <a:lstStyle/>
          <a:p>
            <a:pPr algn="l"/>
            <a:r>
              <a:rPr sz="1050" b="1" i="0" spc="280">
                <a:solidFill>
                  <a:srgbClr val="5B6672"/>
                </a:solidFill>
                <a:latin typeface="Arial"/>
              </a:rPr>
              <a:t>10  ·  </a:t>
            </a:r>
            <a:r>
              <a:rPr sz="1050" b="1" i="0" spc="280">
                <a:solidFill>
                  <a:srgbClr val="0E7490"/>
                </a:solidFill>
                <a:latin typeface="Arial"/>
              </a:rPr>
              <a:t>CLINICAL LOOP</a:t>
            </a:r>
          </a:p>
        </p:txBody>
      </p:sp>
      <p:sp>
        <p:nvSpPr>
          <p:cNvPr id="2055" name="TextBox 2054"/>
          <p:cNvSpPr txBox="1"/>
          <p:nvPr/>
        </p:nvSpPr>
        <p:spPr>
          <a:xfrm>
            <a:off x="457200" y="1371600"/>
            <a:ext cx="8229600" cy="475488"/>
          </a:xfrm>
          <a:prstGeom prst="rect">
            <a:avLst/>
          </a:prstGeom>
          <a:noFill/>
        </p:spPr>
        <p:txBody>
          <a:bodyPr wrap="square" lIns="0" rIns="0" tIns="0" bIns="0" anchor="t">
            <a:spAutoFit/>
          </a:bodyPr>
          <a:lstStyle/>
          <a:p>
            <a:pPr algn="l"/>
            <a:r>
              <a:rPr sz="2600" b="1" i="0" spc="-20">
                <a:solidFill>
                  <a:srgbClr val="0F172A"/>
                </a:solidFill>
                <a:latin typeface="Arial"/>
              </a:rPr>
              <a:t>Human-in-the-loop by construction</a:t>
            </a:r>
          </a:p>
        </p:txBody>
      </p:sp>
      <p:sp>
        <p:nvSpPr>
          <p:cNvPr id="2056" name="TextBox 2055"/>
          <p:cNvSpPr txBox="1"/>
          <p:nvPr/>
        </p:nvSpPr>
        <p:spPr>
          <a:xfrm>
            <a:off x="457200" y="1874519"/>
            <a:ext cx="8229600" cy="274320"/>
          </a:xfrm>
          <a:prstGeom prst="rect">
            <a:avLst/>
          </a:prstGeom>
          <a:noFill/>
        </p:spPr>
        <p:txBody>
          <a:bodyPr wrap="square" lIns="0" rIns="0" tIns="0" bIns="0" anchor="t">
            <a:spAutoFit/>
          </a:bodyPr>
          <a:lstStyle/>
          <a:p>
            <a:pPr algn="l"/>
            <a:r>
              <a:rPr sz="1150" b="0" i="1">
                <a:solidFill>
                  <a:srgbClr val="5B6672"/>
                </a:solidFill>
                <a:latin typeface="Arial"/>
              </a:rPr>
              <a:t>Purpose - place AURA inside the hospital workflow, learning from every sign-off.</a:t>
            </a:r>
          </a:p>
        </p:txBody>
      </p:sp>
      <p:sp>
        <p:nvSpPr>
          <p:cNvPr id="2057" name="Rounded Rectangle 2056"/>
          <p:cNvSpPr/>
          <p:nvPr/>
        </p:nvSpPr>
        <p:spPr>
          <a:xfrm>
            <a:off x="3054096" y="2194560"/>
            <a:ext cx="1298448" cy="548640"/>
          </a:xfrm>
          <a:prstGeom prst="roundRect">
            <a:avLst>
              <a:gd name="adj" fmla="val 10000"/>
            </a:avLst>
          </a:prstGeom>
          <a:solidFill>
            <a:srgbClr val="FFFFFF"/>
          </a:solidFill>
          <a:ln w="9525">
            <a:solidFill>
              <a:srgbClr val="C6E4E1"/>
            </a:solidFill>
          </a:ln>
          <a:effectLst/>
        </p:spPr>
        <p:txBody>
          <a:bodyPr rtlCol="0" anchor="ctr"/>
          <a:lstStyle/>
          <a:p>
            <a:pPr algn="ctr"/>
          </a:p>
        </p:txBody>
      </p:sp>
      <p:sp>
        <p:nvSpPr>
          <p:cNvPr id="2058" name="TextBox 2057"/>
          <p:cNvSpPr txBox="1"/>
          <p:nvPr/>
        </p:nvSpPr>
        <p:spPr>
          <a:xfrm>
            <a:off x="3054096" y="2263140"/>
            <a:ext cx="1298448" cy="219456"/>
          </a:xfrm>
          <a:prstGeom prst="rect">
            <a:avLst/>
          </a:prstGeom>
          <a:noFill/>
        </p:spPr>
        <p:txBody>
          <a:bodyPr wrap="square" lIns="0" rIns="0" tIns="0" bIns="0" anchor="t">
            <a:spAutoFit/>
          </a:bodyPr>
          <a:lstStyle/>
          <a:p>
            <a:pPr algn="ctr"/>
            <a:r>
              <a:rPr sz="950" b="1" i="0">
                <a:solidFill>
                  <a:srgbClr val="0F172A"/>
                </a:solidFill>
                <a:latin typeface="Arial"/>
              </a:rPr>
              <a:t>PATIENT</a:t>
            </a:r>
          </a:p>
        </p:txBody>
      </p:sp>
      <p:sp>
        <p:nvSpPr>
          <p:cNvPr id="2059" name="TextBox 2058"/>
          <p:cNvSpPr txBox="1"/>
          <p:nvPr/>
        </p:nvSpPr>
        <p:spPr>
          <a:xfrm>
            <a:off x="3054096" y="2482596"/>
            <a:ext cx="1298448" cy="182880"/>
          </a:xfrm>
          <a:prstGeom prst="rect">
            <a:avLst/>
          </a:prstGeom>
          <a:noFill/>
        </p:spPr>
        <p:txBody>
          <a:bodyPr wrap="square" lIns="0" rIns="0" tIns="0" bIns="0" anchor="t">
            <a:spAutoFit/>
          </a:bodyPr>
          <a:lstStyle/>
          <a:p>
            <a:pPr algn="ctr"/>
            <a:r>
              <a:rPr sz="750" b="0" i="0">
                <a:solidFill>
                  <a:srgbClr val="5B6672"/>
                </a:solidFill>
                <a:latin typeface="Arial"/>
              </a:rPr>
              <a:t>presents</a:t>
            </a:r>
          </a:p>
        </p:txBody>
      </p:sp>
      <p:sp>
        <p:nvSpPr>
          <p:cNvPr id="2060" name="Rounded Rectangle 2059"/>
          <p:cNvSpPr/>
          <p:nvPr/>
        </p:nvSpPr>
        <p:spPr>
          <a:xfrm>
            <a:off x="4178584" y="2843784"/>
            <a:ext cx="1298448" cy="548640"/>
          </a:xfrm>
          <a:prstGeom prst="roundRect">
            <a:avLst>
              <a:gd name="adj" fmla="val 10000"/>
            </a:avLst>
          </a:prstGeom>
          <a:solidFill>
            <a:srgbClr val="FFFFFF"/>
          </a:solidFill>
          <a:ln w="9525">
            <a:solidFill>
              <a:srgbClr val="C6E4E1"/>
            </a:solidFill>
          </a:ln>
          <a:effectLst/>
        </p:spPr>
        <p:txBody>
          <a:bodyPr rtlCol="0" anchor="ctr"/>
          <a:lstStyle/>
          <a:p>
            <a:pPr algn="ctr"/>
          </a:p>
        </p:txBody>
      </p:sp>
      <p:sp>
        <p:nvSpPr>
          <p:cNvPr id="2061" name="TextBox 2060"/>
          <p:cNvSpPr txBox="1"/>
          <p:nvPr/>
        </p:nvSpPr>
        <p:spPr>
          <a:xfrm>
            <a:off x="4178584" y="2912364"/>
            <a:ext cx="1298448" cy="219456"/>
          </a:xfrm>
          <a:prstGeom prst="rect">
            <a:avLst/>
          </a:prstGeom>
          <a:noFill/>
        </p:spPr>
        <p:txBody>
          <a:bodyPr wrap="square" lIns="0" rIns="0" tIns="0" bIns="0" anchor="t">
            <a:spAutoFit/>
          </a:bodyPr>
          <a:lstStyle/>
          <a:p>
            <a:pPr algn="ctr"/>
            <a:r>
              <a:rPr sz="950" b="1" i="0">
                <a:solidFill>
                  <a:srgbClr val="0F172A"/>
                </a:solidFill>
                <a:latin typeface="Arial"/>
              </a:rPr>
              <a:t>X-RAY / PACS</a:t>
            </a:r>
          </a:p>
        </p:txBody>
      </p:sp>
      <p:sp>
        <p:nvSpPr>
          <p:cNvPr id="2062" name="TextBox 2061"/>
          <p:cNvSpPr txBox="1"/>
          <p:nvPr/>
        </p:nvSpPr>
        <p:spPr>
          <a:xfrm>
            <a:off x="4178584" y="3131820"/>
            <a:ext cx="1298448" cy="182880"/>
          </a:xfrm>
          <a:prstGeom prst="rect">
            <a:avLst/>
          </a:prstGeom>
          <a:noFill/>
        </p:spPr>
        <p:txBody>
          <a:bodyPr wrap="square" lIns="0" rIns="0" tIns="0" bIns="0" anchor="t">
            <a:spAutoFit/>
          </a:bodyPr>
          <a:lstStyle/>
          <a:p>
            <a:pPr algn="ctr"/>
            <a:r>
              <a:rPr sz="750" b="0" i="0">
                <a:solidFill>
                  <a:srgbClr val="5B6672"/>
                </a:solidFill>
                <a:latin typeface="Arial"/>
              </a:rPr>
              <a:t>study acquired</a:t>
            </a:r>
          </a:p>
        </p:txBody>
      </p:sp>
      <p:sp>
        <p:nvSpPr>
          <p:cNvPr id="2063" name="Rounded Rectangle 2062"/>
          <p:cNvSpPr/>
          <p:nvPr/>
        </p:nvSpPr>
        <p:spPr>
          <a:xfrm>
            <a:off x="4178584" y="4142232"/>
            <a:ext cx="1298448" cy="548640"/>
          </a:xfrm>
          <a:prstGeom prst="roundRect">
            <a:avLst>
              <a:gd name="adj" fmla="val 10000"/>
            </a:avLst>
          </a:prstGeom>
          <a:solidFill>
            <a:srgbClr val="ECF8F7"/>
          </a:solidFill>
          <a:ln w="16510">
            <a:solidFill>
              <a:srgbClr val="0D9488"/>
            </a:solidFill>
          </a:ln>
          <a:effectLst/>
        </p:spPr>
        <p:txBody>
          <a:bodyPr rtlCol="0" anchor="ctr"/>
          <a:lstStyle/>
          <a:p>
            <a:pPr algn="ctr"/>
          </a:p>
        </p:txBody>
      </p:sp>
      <p:sp>
        <p:nvSpPr>
          <p:cNvPr id="2064" name="TextBox 2063"/>
          <p:cNvSpPr txBox="1"/>
          <p:nvPr/>
        </p:nvSpPr>
        <p:spPr>
          <a:xfrm>
            <a:off x="4178584" y="4210812"/>
            <a:ext cx="1298448" cy="219456"/>
          </a:xfrm>
          <a:prstGeom prst="rect">
            <a:avLst/>
          </a:prstGeom>
          <a:noFill/>
        </p:spPr>
        <p:txBody>
          <a:bodyPr wrap="square" lIns="0" rIns="0" tIns="0" bIns="0" anchor="t">
            <a:spAutoFit/>
          </a:bodyPr>
          <a:lstStyle/>
          <a:p>
            <a:pPr algn="ctr"/>
            <a:r>
              <a:rPr sz="950" b="1" i="0">
                <a:solidFill>
                  <a:srgbClr val="0E7490"/>
                </a:solidFill>
                <a:latin typeface="Arial"/>
              </a:rPr>
              <a:t>AURA</a:t>
            </a:r>
          </a:p>
        </p:txBody>
      </p:sp>
      <p:sp>
        <p:nvSpPr>
          <p:cNvPr id="2065" name="TextBox 2064"/>
          <p:cNvSpPr txBox="1"/>
          <p:nvPr/>
        </p:nvSpPr>
        <p:spPr>
          <a:xfrm>
            <a:off x="4178584" y="4430268"/>
            <a:ext cx="1298448" cy="182880"/>
          </a:xfrm>
          <a:prstGeom prst="rect">
            <a:avLst/>
          </a:prstGeom>
          <a:noFill/>
        </p:spPr>
        <p:txBody>
          <a:bodyPr wrap="square" lIns="0" rIns="0" tIns="0" bIns="0" anchor="t">
            <a:spAutoFit/>
          </a:bodyPr>
          <a:lstStyle/>
          <a:p>
            <a:pPr algn="ctr"/>
            <a:r>
              <a:rPr sz="750" b="0" i="0">
                <a:solidFill>
                  <a:srgbClr val="5B6672"/>
                </a:solidFill>
                <a:latin typeface="Arial"/>
              </a:rPr>
              <a:t>report + uncertainty</a:t>
            </a:r>
          </a:p>
        </p:txBody>
      </p:sp>
      <p:sp>
        <p:nvSpPr>
          <p:cNvPr id="2066" name="Rounded Rectangle 2065"/>
          <p:cNvSpPr/>
          <p:nvPr/>
        </p:nvSpPr>
        <p:spPr>
          <a:xfrm>
            <a:off x="3054096" y="4791456"/>
            <a:ext cx="1298448" cy="548640"/>
          </a:xfrm>
          <a:prstGeom prst="roundRect">
            <a:avLst>
              <a:gd name="adj" fmla="val 10000"/>
            </a:avLst>
          </a:prstGeom>
          <a:solidFill>
            <a:srgbClr val="FFFFFF"/>
          </a:solidFill>
          <a:ln w="9525">
            <a:solidFill>
              <a:srgbClr val="C6E4E1"/>
            </a:solidFill>
          </a:ln>
          <a:effectLst/>
        </p:spPr>
        <p:txBody>
          <a:bodyPr rtlCol="0" anchor="ctr"/>
          <a:lstStyle/>
          <a:p>
            <a:pPr algn="ctr"/>
          </a:p>
        </p:txBody>
      </p:sp>
      <p:sp>
        <p:nvSpPr>
          <p:cNvPr id="2067" name="TextBox 2066"/>
          <p:cNvSpPr txBox="1"/>
          <p:nvPr/>
        </p:nvSpPr>
        <p:spPr>
          <a:xfrm>
            <a:off x="3054096" y="4860036"/>
            <a:ext cx="1298448" cy="219456"/>
          </a:xfrm>
          <a:prstGeom prst="rect">
            <a:avLst/>
          </a:prstGeom>
          <a:noFill/>
        </p:spPr>
        <p:txBody>
          <a:bodyPr wrap="square" lIns="0" rIns="0" tIns="0" bIns="0" anchor="t">
            <a:spAutoFit/>
          </a:bodyPr>
          <a:lstStyle/>
          <a:p>
            <a:pPr algn="ctr"/>
            <a:r>
              <a:rPr sz="950" b="1" i="0">
                <a:solidFill>
                  <a:srgbClr val="0F172A"/>
                </a:solidFill>
                <a:latin typeface="Arial"/>
              </a:rPr>
              <a:t>RADIOLOGIST</a:t>
            </a:r>
          </a:p>
        </p:txBody>
      </p:sp>
      <p:sp>
        <p:nvSpPr>
          <p:cNvPr id="2068" name="TextBox 2067"/>
          <p:cNvSpPr txBox="1"/>
          <p:nvPr/>
        </p:nvSpPr>
        <p:spPr>
          <a:xfrm>
            <a:off x="3054096" y="5079492"/>
            <a:ext cx="1298448" cy="182880"/>
          </a:xfrm>
          <a:prstGeom prst="rect">
            <a:avLst/>
          </a:prstGeom>
          <a:noFill/>
        </p:spPr>
        <p:txBody>
          <a:bodyPr wrap="square" lIns="0" rIns="0" tIns="0" bIns="0" anchor="t">
            <a:spAutoFit/>
          </a:bodyPr>
          <a:lstStyle/>
          <a:p>
            <a:pPr algn="ctr"/>
            <a:r>
              <a:rPr sz="750" b="0" i="0">
                <a:solidFill>
                  <a:srgbClr val="5B6672"/>
                </a:solidFill>
                <a:latin typeface="Arial"/>
              </a:rPr>
              <a:t>reviews, signs</a:t>
            </a:r>
          </a:p>
        </p:txBody>
      </p:sp>
      <p:sp>
        <p:nvSpPr>
          <p:cNvPr id="2069" name="Rounded Rectangle 2068"/>
          <p:cNvSpPr/>
          <p:nvPr/>
        </p:nvSpPr>
        <p:spPr>
          <a:xfrm>
            <a:off x="1929607" y="4142232"/>
            <a:ext cx="1298448" cy="548640"/>
          </a:xfrm>
          <a:prstGeom prst="roundRect">
            <a:avLst>
              <a:gd name="adj" fmla="val 10000"/>
            </a:avLst>
          </a:prstGeom>
          <a:solidFill>
            <a:srgbClr val="FFFFFF"/>
          </a:solidFill>
          <a:ln w="9525">
            <a:solidFill>
              <a:srgbClr val="C6E4E1"/>
            </a:solidFill>
          </a:ln>
          <a:effectLst/>
        </p:spPr>
        <p:txBody>
          <a:bodyPr rtlCol="0" anchor="ctr"/>
          <a:lstStyle/>
          <a:p>
            <a:pPr algn="ctr"/>
          </a:p>
        </p:txBody>
      </p:sp>
      <p:sp>
        <p:nvSpPr>
          <p:cNvPr id="2070" name="TextBox 2069"/>
          <p:cNvSpPr txBox="1"/>
          <p:nvPr/>
        </p:nvSpPr>
        <p:spPr>
          <a:xfrm>
            <a:off x="1929607" y="4210812"/>
            <a:ext cx="1298448" cy="219456"/>
          </a:xfrm>
          <a:prstGeom prst="rect">
            <a:avLst/>
          </a:prstGeom>
          <a:noFill/>
        </p:spPr>
        <p:txBody>
          <a:bodyPr wrap="square" lIns="0" rIns="0" tIns="0" bIns="0" anchor="t">
            <a:spAutoFit/>
          </a:bodyPr>
          <a:lstStyle/>
          <a:p>
            <a:pPr algn="ctr"/>
            <a:r>
              <a:rPr sz="950" b="1" i="0">
                <a:solidFill>
                  <a:srgbClr val="0F172A"/>
                </a:solidFill>
                <a:latin typeface="Arial"/>
              </a:rPr>
              <a:t>EHR / WARD</a:t>
            </a:r>
          </a:p>
        </p:txBody>
      </p:sp>
      <p:sp>
        <p:nvSpPr>
          <p:cNvPr id="2071" name="TextBox 2070"/>
          <p:cNvSpPr txBox="1"/>
          <p:nvPr/>
        </p:nvSpPr>
        <p:spPr>
          <a:xfrm>
            <a:off x="1929607" y="4430268"/>
            <a:ext cx="1298448" cy="182880"/>
          </a:xfrm>
          <a:prstGeom prst="rect">
            <a:avLst/>
          </a:prstGeom>
          <a:noFill/>
        </p:spPr>
        <p:txBody>
          <a:bodyPr wrap="square" lIns="0" rIns="0" tIns="0" bIns="0" anchor="t">
            <a:spAutoFit/>
          </a:bodyPr>
          <a:lstStyle/>
          <a:p>
            <a:pPr algn="ctr"/>
            <a:r>
              <a:rPr sz="750" b="0" i="0">
                <a:solidFill>
                  <a:srgbClr val="5B6672"/>
                </a:solidFill>
                <a:latin typeface="Arial"/>
              </a:rPr>
              <a:t>decision executed</a:t>
            </a:r>
          </a:p>
        </p:txBody>
      </p:sp>
      <p:sp>
        <p:nvSpPr>
          <p:cNvPr id="2072" name="Rounded Rectangle 2071"/>
          <p:cNvSpPr/>
          <p:nvPr/>
        </p:nvSpPr>
        <p:spPr>
          <a:xfrm>
            <a:off x="1929607" y="2843784"/>
            <a:ext cx="1298448" cy="548640"/>
          </a:xfrm>
          <a:prstGeom prst="roundRect">
            <a:avLst>
              <a:gd name="adj" fmla="val 10000"/>
            </a:avLst>
          </a:prstGeom>
          <a:solidFill>
            <a:srgbClr val="FFFFFF"/>
          </a:solidFill>
          <a:ln w="9525">
            <a:solidFill>
              <a:srgbClr val="C6E4E1"/>
            </a:solidFill>
          </a:ln>
          <a:effectLst/>
        </p:spPr>
        <p:txBody>
          <a:bodyPr rtlCol="0" anchor="ctr"/>
          <a:lstStyle/>
          <a:p>
            <a:pPr algn="ctr"/>
          </a:p>
        </p:txBody>
      </p:sp>
      <p:sp>
        <p:nvSpPr>
          <p:cNvPr id="2073" name="TextBox 2072"/>
          <p:cNvSpPr txBox="1"/>
          <p:nvPr/>
        </p:nvSpPr>
        <p:spPr>
          <a:xfrm>
            <a:off x="1929607" y="2912364"/>
            <a:ext cx="1298448" cy="219456"/>
          </a:xfrm>
          <a:prstGeom prst="rect">
            <a:avLst/>
          </a:prstGeom>
          <a:noFill/>
        </p:spPr>
        <p:txBody>
          <a:bodyPr wrap="square" lIns="0" rIns="0" tIns="0" bIns="0" anchor="t">
            <a:spAutoFit/>
          </a:bodyPr>
          <a:lstStyle/>
          <a:p>
            <a:pPr algn="ctr"/>
            <a:r>
              <a:rPr sz="950" b="1" i="0">
                <a:solidFill>
                  <a:srgbClr val="0F172A"/>
                </a:solidFill>
                <a:latin typeface="Arial"/>
              </a:rPr>
              <a:t>FEEDBACK</a:t>
            </a:r>
          </a:p>
        </p:txBody>
      </p:sp>
      <p:sp>
        <p:nvSpPr>
          <p:cNvPr id="2074" name="TextBox 2073"/>
          <p:cNvSpPr txBox="1"/>
          <p:nvPr/>
        </p:nvSpPr>
        <p:spPr>
          <a:xfrm>
            <a:off x="1929607" y="3131820"/>
            <a:ext cx="1298448" cy="182880"/>
          </a:xfrm>
          <a:prstGeom prst="rect">
            <a:avLst/>
          </a:prstGeom>
          <a:noFill/>
        </p:spPr>
        <p:txBody>
          <a:bodyPr wrap="square" lIns="0" rIns="0" tIns="0" bIns="0" anchor="t">
            <a:spAutoFit/>
          </a:bodyPr>
          <a:lstStyle/>
          <a:p>
            <a:pPr algn="ctr"/>
            <a:r>
              <a:rPr sz="750" b="0" i="0">
                <a:solidFill>
                  <a:srgbClr val="5B6672"/>
                </a:solidFill>
                <a:latin typeface="Arial"/>
              </a:rPr>
              <a:t>accept / correct</a:t>
            </a:r>
          </a:p>
        </p:txBody>
      </p:sp>
      <p:cxnSp>
        <p:nvCxnSpPr>
          <p:cNvPr id="2075" name="Connector 2074"/>
          <p:cNvCxnSpPr/>
          <p:nvPr/>
        </p:nvCxnSpPr>
        <p:spPr>
          <a:xfrm>
            <a:off x="4108136" y="2702600"/>
            <a:ext cx="314856" cy="181783"/>
          </a:xfrm>
          <a:prstGeom prst="line">
            <a:avLst/>
          </a:prstGeom>
          <a:ln w="16510">
            <a:solidFill>
              <a:srgbClr val="0D9488"/>
            </a:solidFill>
            <a:tailEnd type="triangle" w="med" len="med"/>
          </a:ln>
          <a:effectLst/>
        </p:spPr>
      </p:cxnSp>
      <p:cxnSp>
        <p:nvCxnSpPr>
          <p:cNvPr id="2076" name="Connector 2075"/>
          <p:cNvCxnSpPr/>
          <p:nvPr/>
        </p:nvCxnSpPr>
        <p:spPr>
          <a:xfrm>
            <a:off x="4827808" y="3585545"/>
            <a:ext cx="0" cy="363565"/>
          </a:xfrm>
          <a:prstGeom prst="line">
            <a:avLst/>
          </a:prstGeom>
          <a:ln w="16510">
            <a:solidFill>
              <a:srgbClr val="0D9488"/>
            </a:solidFill>
            <a:tailEnd type="triangle" w="med" len="med"/>
          </a:ln>
          <a:effectLst/>
        </p:spPr>
      </p:cxnSp>
      <p:cxnSp>
        <p:nvCxnSpPr>
          <p:cNvPr id="2077" name="Connector 2076"/>
          <p:cNvCxnSpPr/>
          <p:nvPr/>
        </p:nvCxnSpPr>
        <p:spPr>
          <a:xfrm flipH="1">
            <a:off x="4108136" y="4650272"/>
            <a:ext cx="314856" cy="181783"/>
          </a:xfrm>
          <a:prstGeom prst="line">
            <a:avLst/>
          </a:prstGeom>
          <a:ln w="16510">
            <a:solidFill>
              <a:srgbClr val="0D9488"/>
            </a:solidFill>
            <a:tailEnd type="triangle" w="med" len="med"/>
          </a:ln>
          <a:effectLst/>
        </p:spPr>
      </p:cxnSp>
      <p:cxnSp>
        <p:nvCxnSpPr>
          <p:cNvPr id="2078" name="Connector 2077"/>
          <p:cNvCxnSpPr/>
          <p:nvPr/>
        </p:nvCxnSpPr>
        <p:spPr>
          <a:xfrm flipH="1" flipV="1">
            <a:off x="2983647" y="4650272"/>
            <a:ext cx="314856" cy="181783"/>
          </a:xfrm>
          <a:prstGeom prst="line">
            <a:avLst/>
          </a:prstGeom>
          <a:ln w="16510">
            <a:solidFill>
              <a:srgbClr val="0D9488"/>
            </a:solidFill>
            <a:tailEnd type="triangle" w="med" len="med"/>
          </a:ln>
          <a:effectLst/>
        </p:spPr>
      </p:cxnSp>
      <p:cxnSp>
        <p:nvCxnSpPr>
          <p:cNvPr id="2079" name="Connector 2078"/>
          <p:cNvCxnSpPr/>
          <p:nvPr/>
        </p:nvCxnSpPr>
        <p:spPr>
          <a:xfrm flipV="1">
            <a:off x="2578831" y="3585545"/>
            <a:ext cx="0" cy="363565"/>
          </a:xfrm>
          <a:prstGeom prst="line">
            <a:avLst/>
          </a:prstGeom>
          <a:ln w="16510">
            <a:solidFill>
              <a:srgbClr val="0D9488"/>
            </a:solidFill>
            <a:tailEnd type="triangle" w="med" len="med"/>
          </a:ln>
          <a:effectLst/>
        </p:spPr>
      </p:cxnSp>
      <p:cxnSp>
        <p:nvCxnSpPr>
          <p:cNvPr id="2080" name="Connector 2079"/>
          <p:cNvCxnSpPr/>
          <p:nvPr/>
        </p:nvCxnSpPr>
        <p:spPr>
          <a:xfrm flipV="1">
            <a:off x="2983647" y="2702600"/>
            <a:ext cx="314856" cy="181783"/>
          </a:xfrm>
          <a:prstGeom prst="line">
            <a:avLst/>
          </a:prstGeom>
          <a:ln w="16510">
            <a:solidFill>
              <a:srgbClr val="0D9488"/>
            </a:solidFill>
            <a:tailEnd type="triangle" w="med" len="med"/>
          </a:ln>
          <a:effectLst/>
        </p:spPr>
      </p:cxnSp>
      <p:sp>
        <p:nvSpPr>
          <p:cNvPr id="2081" name="Oval 2080"/>
          <p:cNvSpPr/>
          <p:nvPr/>
        </p:nvSpPr>
        <p:spPr>
          <a:xfrm>
            <a:off x="3209544" y="3273552"/>
            <a:ext cx="987552" cy="987552"/>
          </a:xfrm>
          <a:prstGeom prst="ellipse">
            <a:avLst/>
          </a:prstGeom>
          <a:solidFill>
            <a:srgbClr val="F6FAFA"/>
          </a:solidFill>
          <a:ln w="12700">
            <a:solidFill>
              <a:srgbClr val="C6E4E1"/>
            </a:solidFill>
          </a:ln>
          <a:effectLst/>
        </p:spPr>
        <p:txBody>
          <a:bodyPr rtlCol="0" anchor="ctr" lIns="0" rIns="0" tIns="0" bIns="0"/>
          <a:lstStyle/>
          <a:p>
            <a:pPr algn="ctr"/>
            <a:r>
              <a:rPr sz="1300" b="1">
                <a:solidFill>
                  <a:srgbClr val="0E7490"/>
                </a:solidFill>
                <a:latin typeface="Arial"/>
              </a:rPr>
              <a:t/>
            </a:r>
          </a:p>
        </p:txBody>
      </p:sp>
      <p:sp>
        <p:nvSpPr>
          <p:cNvPr id="2082" name="TextBox 2081"/>
          <p:cNvSpPr txBox="1"/>
          <p:nvPr/>
        </p:nvSpPr>
        <p:spPr>
          <a:xfrm>
            <a:off x="2926079" y="3493008"/>
            <a:ext cx="1554480" cy="548640"/>
          </a:xfrm>
          <a:prstGeom prst="rect">
            <a:avLst/>
          </a:prstGeom>
          <a:noFill/>
        </p:spPr>
        <p:txBody>
          <a:bodyPr wrap="square" lIns="0" rIns="0" tIns="0" bIns="0" anchor="t">
            <a:spAutoFit/>
          </a:bodyPr>
          <a:lstStyle/>
          <a:p>
            <a:pPr algn="ctr"/>
            <a:r>
              <a:rPr sz="800" b="1" i="0" spc="140">
                <a:solidFill>
                  <a:srgbClr val="0E7490"/>
                </a:solidFill>
                <a:latin typeface="Arial"/>
              </a:rPr>
              <a:t>LEARNING LOOP</a:t>
            </a:r>
          </a:p>
          <a:p>
            <a:pPr algn="ctr"/>
            <a:r>
              <a:rPr sz="750" b="0" i="0">
                <a:solidFill>
                  <a:srgbClr val="5B6672"/>
                </a:solidFill>
                <a:latin typeface="Arial"/>
              </a:rPr>
              <a:t>priors · calibration</a:t>
            </a:r>
          </a:p>
          <a:p>
            <a:pPr algn="ctr"/>
            <a:r>
              <a:rPr sz="750" b="0" i="0">
                <a:solidFill>
                  <a:srgbClr val="5B6672"/>
                </a:solidFill>
                <a:latin typeface="Arial"/>
              </a:rPr>
              <a:t>case memory</a:t>
            </a:r>
          </a:p>
        </p:txBody>
      </p:sp>
      <p:sp>
        <p:nvSpPr>
          <p:cNvPr id="2083" name="Rounded Rectangle 2082"/>
          <p:cNvSpPr/>
          <p:nvPr/>
        </p:nvSpPr>
        <p:spPr>
          <a:xfrm>
            <a:off x="5989320" y="2651760"/>
            <a:ext cx="2697480" cy="713232"/>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84" name="TextBox 2083"/>
          <p:cNvSpPr txBox="1"/>
          <p:nvPr/>
        </p:nvSpPr>
        <p:spPr>
          <a:xfrm>
            <a:off x="6144768" y="2743200"/>
            <a:ext cx="2395728" cy="256032"/>
          </a:xfrm>
          <a:prstGeom prst="rect">
            <a:avLst/>
          </a:prstGeom>
          <a:noFill/>
        </p:spPr>
        <p:txBody>
          <a:bodyPr wrap="square" lIns="0" rIns="0" tIns="0" bIns="0" anchor="t">
            <a:spAutoFit/>
          </a:bodyPr>
          <a:lstStyle/>
          <a:p>
            <a:pPr algn="l">
              <a:lnSpc>
                <a:spcPct val="100000"/>
              </a:lnSpc>
            </a:pPr>
            <a:r>
              <a:rPr sz="950" b="1" i="0">
                <a:solidFill>
                  <a:srgbClr val="0F172A"/>
                </a:solidFill>
                <a:latin typeface="Arial"/>
              </a:rPr>
              <a:t>Radiologist signs every report</a:t>
            </a:r>
          </a:p>
        </p:txBody>
      </p:sp>
      <p:sp>
        <p:nvSpPr>
          <p:cNvPr id="2085" name="TextBox 2084"/>
          <p:cNvSpPr txBox="1"/>
          <p:nvPr/>
        </p:nvSpPr>
        <p:spPr>
          <a:xfrm>
            <a:off x="6144768" y="3035808"/>
            <a:ext cx="2395728" cy="219456"/>
          </a:xfrm>
          <a:prstGeom prst="rect">
            <a:avLst/>
          </a:prstGeom>
          <a:noFill/>
        </p:spPr>
        <p:txBody>
          <a:bodyPr wrap="square" lIns="0" rIns="0" tIns="0" bIns="0" anchor="t">
            <a:spAutoFit/>
          </a:bodyPr>
          <a:lstStyle/>
          <a:p>
            <a:pPr algn="l"/>
            <a:r>
              <a:rPr sz="800" b="0" i="1">
                <a:solidFill>
                  <a:srgbClr val="5B6672"/>
                </a:solidFill>
                <a:latin typeface="Arial"/>
              </a:rPr>
              <a:t>authority never delegated</a:t>
            </a:r>
          </a:p>
        </p:txBody>
      </p:sp>
      <p:sp>
        <p:nvSpPr>
          <p:cNvPr id="2086" name="Rounded Rectangle 2085"/>
          <p:cNvSpPr/>
          <p:nvPr/>
        </p:nvSpPr>
        <p:spPr>
          <a:xfrm>
            <a:off x="5989320" y="3493008"/>
            <a:ext cx="2697480" cy="713232"/>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87" name="TextBox 2086"/>
          <p:cNvSpPr txBox="1"/>
          <p:nvPr/>
        </p:nvSpPr>
        <p:spPr>
          <a:xfrm>
            <a:off x="6144768" y="3584448"/>
            <a:ext cx="2395728" cy="256032"/>
          </a:xfrm>
          <a:prstGeom prst="rect">
            <a:avLst/>
          </a:prstGeom>
          <a:noFill/>
        </p:spPr>
        <p:txBody>
          <a:bodyPr wrap="square" lIns="0" rIns="0" tIns="0" bIns="0" anchor="t">
            <a:spAutoFit/>
          </a:bodyPr>
          <a:lstStyle/>
          <a:p>
            <a:pPr algn="l">
              <a:lnSpc>
                <a:spcPct val="100000"/>
              </a:lnSpc>
            </a:pPr>
            <a:r>
              <a:rPr sz="950" b="1" i="0">
                <a:solidFill>
                  <a:srgbClr val="0F172A"/>
                </a:solidFill>
                <a:latin typeface="Arial"/>
              </a:rPr>
              <a:t>Every claim in the audit ledger</a:t>
            </a:r>
          </a:p>
        </p:txBody>
      </p:sp>
      <p:sp>
        <p:nvSpPr>
          <p:cNvPr id="2088" name="TextBox 2087"/>
          <p:cNvSpPr txBox="1"/>
          <p:nvPr/>
        </p:nvSpPr>
        <p:spPr>
          <a:xfrm>
            <a:off x="6144768" y="3877056"/>
            <a:ext cx="2395728" cy="219456"/>
          </a:xfrm>
          <a:prstGeom prst="rect">
            <a:avLst/>
          </a:prstGeom>
          <a:noFill/>
        </p:spPr>
        <p:txBody>
          <a:bodyPr wrap="square" lIns="0" rIns="0" tIns="0" bIns="0" anchor="t">
            <a:spAutoFit/>
          </a:bodyPr>
          <a:lstStyle/>
          <a:p>
            <a:pPr algn="l"/>
            <a:r>
              <a:rPr sz="800" b="0" i="1">
                <a:solidFill>
                  <a:srgbClr val="5B6672"/>
                </a:solidFill>
                <a:latin typeface="Arial"/>
              </a:rPr>
              <a:t>reproducible by construction</a:t>
            </a:r>
          </a:p>
        </p:txBody>
      </p:sp>
      <p:sp>
        <p:nvSpPr>
          <p:cNvPr id="2089" name="Rounded Rectangle 2088"/>
          <p:cNvSpPr/>
          <p:nvPr/>
        </p:nvSpPr>
        <p:spPr>
          <a:xfrm>
            <a:off x="5989320" y="4334256"/>
            <a:ext cx="2697480" cy="713232"/>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90" name="TextBox 2089"/>
          <p:cNvSpPr txBox="1"/>
          <p:nvPr/>
        </p:nvSpPr>
        <p:spPr>
          <a:xfrm>
            <a:off x="6144768" y="4425696"/>
            <a:ext cx="2395728" cy="256032"/>
          </a:xfrm>
          <a:prstGeom prst="rect">
            <a:avLst/>
          </a:prstGeom>
          <a:noFill/>
        </p:spPr>
        <p:txBody>
          <a:bodyPr wrap="square" lIns="0" rIns="0" tIns="0" bIns="0" anchor="t">
            <a:spAutoFit/>
          </a:bodyPr>
          <a:lstStyle/>
          <a:p>
            <a:pPr algn="l">
              <a:lnSpc>
                <a:spcPct val="100000"/>
              </a:lnSpc>
            </a:pPr>
            <a:r>
              <a:rPr sz="950" b="1" i="0">
                <a:solidFill>
                  <a:srgbClr val="0F172A"/>
                </a:solidFill>
                <a:latin typeface="Arial"/>
              </a:rPr>
              <a:t>Feedback re-fits calibration nightly</a:t>
            </a:r>
          </a:p>
        </p:txBody>
      </p:sp>
      <p:sp>
        <p:nvSpPr>
          <p:cNvPr id="2091" name="TextBox 2090"/>
          <p:cNvSpPr txBox="1"/>
          <p:nvPr/>
        </p:nvSpPr>
        <p:spPr>
          <a:xfrm>
            <a:off x="6144768" y="4718304"/>
            <a:ext cx="2395728" cy="219456"/>
          </a:xfrm>
          <a:prstGeom prst="rect">
            <a:avLst/>
          </a:prstGeom>
          <a:noFill/>
        </p:spPr>
        <p:txBody>
          <a:bodyPr wrap="square" lIns="0" rIns="0" tIns="0" bIns="0" anchor="t">
            <a:spAutoFit/>
          </a:bodyPr>
          <a:lstStyle/>
          <a:p>
            <a:pPr algn="l"/>
            <a:r>
              <a:rPr sz="800" b="0" i="1">
                <a:solidFill>
                  <a:srgbClr val="5B6672"/>
                </a:solidFill>
                <a:latin typeface="Arial"/>
              </a:rPr>
              <a:t>the system stays honest</a:t>
            </a:r>
          </a:p>
        </p:txBody>
      </p:sp>
      <p:sp>
        <p:nvSpPr>
          <p:cNvPr id="2092" name="TextBox 2091"/>
          <p:cNvSpPr txBox="1"/>
          <p:nvPr/>
        </p:nvSpPr>
        <p:spPr>
          <a:xfrm>
            <a:off x="457200" y="5541264"/>
            <a:ext cx="8229600" cy="219456"/>
          </a:xfrm>
          <a:prstGeom prst="rect">
            <a:avLst/>
          </a:prstGeom>
          <a:noFill/>
        </p:spPr>
        <p:txBody>
          <a:bodyPr wrap="square" lIns="0" rIns="0" tIns="0" bIns="0" anchor="t">
            <a:spAutoFit/>
          </a:bodyPr>
          <a:lstStyle/>
          <a:p>
            <a:pPr algn="l"/>
            <a:r>
              <a:rPr sz="800" b="0" i="1">
                <a:solidFill>
                  <a:srgbClr val="5B6672"/>
                </a:solidFill>
                <a:latin typeface="Arial"/>
              </a:rPr>
              <a:t>Deployment pattern follows Sendak et al., npj Digital Medicine 3, 41 (2020) - clinical ML delivery.</a:t>
            </a:r>
          </a:p>
        </p:txBody>
      </p:sp>
    </p:spTree>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l="-24000" r="-24000"/>
          </a:stretch>
        </a:blipFill>
        <a:effectLst/>
      </p:bgPr>
    </p:bg>
    <p:spTree>
      <p:nvGrpSpPr>
        <p:cNvPr id="1" name=""/>
        <p:cNvGrpSpPr/>
        <p:nvPr/>
      </p:nvGrpSpPr>
      <p:grpSpPr>
        <a:xfrm>
          <a:off x="0" y="0"/>
          <a:ext cx="0" cy="0"/>
          <a:chOff x="0" y="0"/>
          <a:chExt cx="0" cy="0"/>
        </a:xfrm>
      </p:grpSpPr>
      <p:pic>
        <p:nvPicPr>
          <p:cNvPr id="2" name="Picture 3" descr="C:\Users\Admin\Downloads\1764679326535-Photoroom.png"/>
          <p:cNvPicPr>
            <a:picLocks noChangeAspect="1" noChangeArrowheads="1"/>
          </p:cNvPicPr>
          <p:nvPr/>
        </p:nvPicPr>
        <p:blipFill>
          <a:blip r:embed="rId4"/>
          <a:srcRect/>
          <a:stretch>
            <a:fillRect/>
          </a:stretch>
        </p:blipFill>
        <p:spPr bwMode="auto">
          <a:xfrm>
            <a:off x="4108831" y="35671"/>
            <a:ext cx="1285884" cy="1285884"/>
          </a:xfrm>
          <a:prstGeom prst="rect">
            <a:avLst/>
          </a:prstGeom>
          <a:noFill/>
        </p:spPr>
      </p:pic>
      <p:pic>
        <p:nvPicPr>
          <p:cNvPr id="2050" name="Picture 2" descr="C:\Users\Admin\Downloads\RIT.png"/>
          <p:cNvPicPr>
            <a:picLocks noChangeAspect="1" noChangeArrowheads="1"/>
          </p:cNvPicPr>
          <p:nvPr/>
        </p:nvPicPr>
        <p:blipFill>
          <a:blip r:embed="rId5" cstate="print"/>
          <a:srcRect/>
          <a:stretch>
            <a:fillRect/>
          </a:stretch>
        </p:blipFill>
        <p:spPr bwMode="auto">
          <a:xfrm>
            <a:off x="252062" y="285704"/>
            <a:ext cx="3043364" cy="785818"/>
          </a:xfrm>
          <a:prstGeom prst="rect">
            <a:avLst/>
          </a:prstGeom>
          <a:noFill/>
        </p:spPr>
      </p:pic>
      <p:pic>
        <p:nvPicPr>
          <p:cNvPr id="2051" name="Picture 3" descr="C:\Users\Admin\Downloads\IBM_logo.svg.png"/>
          <p:cNvPicPr>
            <a:picLocks noChangeAspect="1" noChangeArrowheads="1"/>
          </p:cNvPicPr>
          <p:nvPr/>
        </p:nvPicPr>
        <p:blipFill>
          <a:blip r:embed="rId6"/>
          <a:srcRect/>
          <a:stretch>
            <a:fillRect/>
          </a:stretch>
        </p:blipFill>
        <p:spPr bwMode="auto">
          <a:xfrm>
            <a:off x="7380312" y="357139"/>
            <a:ext cx="1528257" cy="571504"/>
          </a:xfrm>
          <a:prstGeom prst="rect">
            <a:avLst/>
          </a:prstGeom>
          <a:noFill/>
        </p:spPr>
      </p:pic>
      <p:pic>
        <p:nvPicPr>
          <p:cNvPr id="2053" name="Picture 5" descr="C:\Users\Admin\Downloads\logo-nqm.png"/>
          <p:cNvPicPr>
            <a:picLocks noChangeAspect="1" noChangeArrowheads="1"/>
          </p:cNvPicPr>
          <p:nvPr/>
        </p:nvPicPr>
        <p:blipFill>
          <a:blip r:embed="rId7"/>
          <a:srcRect/>
          <a:stretch>
            <a:fillRect/>
          </a:stretch>
        </p:blipFill>
        <p:spPr bwMode="auto">
          <a:xfrm>
            <a:off x="5519518" y="249994"/>
            <a:ext cx="710054" cy="785794"/>
          </a:xfrm>
          <a:prstGeom prst="rect">
            <a:avLst/>
          </a:prstGeom>
          <a:noFill/>
        </p:spPr>
      </p:pic>
      <p:sp>
        <p:nvSpPr>
          <p:cNvPr id="11" name="Footer Placeholder 10"/>
          <p:cNvSpPr>
            <a:spLocks noGrp="1"/>
          </p:cNvSpPr>
          <p:nvPr>
            <p:ph type="ftr" sz="quarter" idx="11"/>
          </p:nvPr>
        </p:nvSpPr>
        <p:spPr>
          <a:xfrm>
            <a:off x="304800" y="6410848"/>
            <a:ext cx="6196026" cy="232862"/>
          </a:xfrm>
        </p:spPr>
        <p:txBody>
          <a:bodyPr/>
          <a:lstStyle/>
          <a:p>
            <a:r>
              <a:rPr lang="en-IN" i="1" dirty="0" smtClean="0">
                <a:solidFill>
                  <a:schemeClr val="tx1"/>
                </a:solidFill>
                <a:latin typeface="Arial Rounded MT Bold" pitchFamily="34" charset="0"/>
              </a:rPr>
              <a:t>RIT – QUANT-A-THAN- 2026 (Innovate, Build, Transform)</a:t>
            </a:r>
            <a:endParaRPr lang="en-IN" i="1" dirty="0">
              <a:solidFill>
                <a:schemeClr val="tx1"/>
              </a:solidFill>
              <a:latin typeface="Arial Rounded MT Bold" pitchFamily="34" charset="0"/>
            </a:endParaRPr>
          </a:p>
        </p:txBody>
      </p:sp>
      <p:pic>
        <p:nvPicPr>
          <p:cNvPr id="5" name="Picture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88734" y="285704"/>
            <a:ext cx="866775" cy="714375"/>
          </a:xfrm>
          <a:prstGeom prst="rect">
            <a:avLst/>
          </a:prstGeom>
        </p:spPr>
      </p:pic>
      <p:sp>
        <p:nvSpPr>
          <p:cNvPr id="2054" name="TextBox 2053"/>
          <p:cNvSpPr txBox="1"/>
          <p:nvPr/>
        </p:nvSpPr>
        <p:spPr>
          <a:xfrm>
            <a:off x="457200" y="1133856"/>
            <a:ext cx="8229600" cy="237744"/>
          </a:xfrm>
          <a:prstGeom prst="rect">
            <a:avLst/>
          </a:prstGeom>
          <a:noFill/>
        </p:spPr>
        <p:txBody>
          <a:bodyPr wrap="square" lIns="0" rIns="0" tIns="0" bIns="0" anchor="t">
            <a:spAutoFit/>
          </a:bodyPr>
          <a:lstStyle/>
          <a:p>
            <a:pPr algn="l"/>
            <a:r>
              <a:rPr sz="1050" b="1" i="0" spc="280">
                <a:solidFill>
                  <a:srgbClr val="5B6672"/>
                </a:solidFill>
                <a:latin typeface="Arial"/>
              </a:rPr>
              <a:t>11  ·  </a:t>
            </a:r>
            <a:r>
              <a:rPr sz="1050" b="1" i="0" spc="280">
                <a:solidFill>
                  <a:srgbClr val="0E7490"/>
                </a:solidFill>
                <a:latin typeface="Arial"/>
              </a:rPr>
              <a:t>POSITIONING</a:t>
            </a:r>
          </a:p>
        </p:txBody>
      </p:sp>
      <p:sp>
        <p:nvSpPr>
          <p:cNvPr id="2055" name="TextBox 2054"/>
          <p:cNvSpPr txBox="1"/>
          <p:nvPr/>
        </p:nvSpPr>
        <p:spPr>
          <a:xfrm>
            <a:off x="457200" y="1371600"/>
            <a:ext cx="8229600" cy="475488"/>
          </a:xfrm>
          <a:prstGeom prst="rect">
            <a:avLst/>
          </a:prstGeom>
          <a:noFill/>
        </p:spPr>
        <p:txBody>
          <a:bodyPr wrap="square" lIns="0" rIns="0" tIns="0" bIns="0" anchor="t">
            <a:spAutoFit/>
          </a:bodyPr>
          <a:lstStyle/>
          <a:p>
            <a:pPr algn="l"/>
            <a:r>
              <a:rPr sz="2600" b="1" i="0" spc="-20">
                <a:solidFill>
                  <a:srgbClr val="0F172A"/>
                </a:solidFill>
                <a:latin typeface="Arial"/>
              </a:rPr>
              <a:t>What exists, and what didn't - until now</a:t>
            </a:r>
          </a:p>
        </p:txBody>
      </p:sp>
      <p:sp>
        <p:nvSpPr>
          <p:cNvPr id="2056" name="TextBox 2055"/>
          <p:cNvSpPr txBox="1"/>
          <p:nvPr/>
        </p:nvSpPr>
        <p:spPr>
          <a:xfrm>
            <a:off x="457200" y="1874519"/>
            <a:ext cx="8229600" cy="274320"/>
          </a:xfrm>
          <a:prstGeom prst="rect">
            <a:avLst/>
          </a:prstGeom>
          <a:noFill/>
        </p:spPr>
        <p:txBody>
          <a:bodyPr wrap="square" lIns="0" rIns="0" tIns="0" bIns="0" anchor="t">
            <a:spAutoFit/>
          </a:bodyPr>
          <a:lstStyle/>
          <a:p>
            <a:pPr algn="l"/>
            <a:r>
              <a:rPr sz="1150" b="0" i="1">
                <a:solidFill>
                  <a:srgbClr val="5B6672"/>
                </a:solidFill>
                <a:latin typeface="Arial"/>
              </a:rPr>
              <a:t>Purpose - locate AURA's contribution against the strongest published baselines.</a:t>
            </a:r>
          </a:p>
        </p:txBody>
      </p:sp>
      <p:sp>
        <p:nvSpPr>
          <p:cNvPr id="2057" name="Rounded Rectangle 2056"/>
          <p:cNvSpPr/>
          <p:nvPr/>
        </p:nvSpPr>
        <p:spPr>
          <a:xfrm>
            <a:off x="457200" y="2231136"/>
            <a:ext cx="2606040" cy="420624"/>
          </a:xfrm>
          <a:prstGeom prst="roundRect">
            <a:avLst>
              <a:gd name="adj" fmla="val 6000"/>
            </a:avLst>
          </a:prstGeom>
          <a:solidFill>
            <a:srgbClr val="0F172A"/>
          </a:solidFill>
          <a:ln>
            <a:noFill/>
          </a:ln>
          <a:effectLst/>
        </p:spPr>
        <p:txBody>
          <a:bodyPr rtlCol="0" anchor="ctr"/>
          <a:lstStyle/>
          <a:p>
            <a:pPr algn="ctr"/>
          </a:p>
        </p:txBody>
      </p:sp>
      <p:sp>
        <p:nvSpPr>
          <p:cNvPr id="2058" name="TextBox 2057"/>
          <p:cNvSpPr txBox="1"/>
          <p:nvPr/>
        </p:nvSpPr>
        <p:spPr>
          <a:xfrm>
            <a:off x="457200" y="2276856"/>
            <a:ext cx="2606040" cy="347472"/>
          </a:xfrm>
          <a:prstGeom prst="rect">
            <a:avLst/>
          </a:prstGeom>
          <a:noFill/>
        </p:spPr>
        <p:txBody>
          <a:bodyPr wrap="square" lIns="0" rIns="0" tIns="0" bIns="0" anchor="t">
            <a:spAutoFit/>
          </a:bodyPr>
          <a:lstStyle/>
          <a:p>
            <a:pPr algn="ctr">
              <a:lnSpc>
                <a:spcPct val="95000"/>
              </a:lnSpc>
            </a:pPr>
            <a:r>
              <a:rPr sz="850" b="1" i="0">
                <a:solidFill>
                  <a:srgbClr val="FFFFFF"/>
                </a:solidFill>
                <a:latin typeface="Arial"/>
              </a:rPr>
              <a:t>Capability</a:t>
            </a:r>
          </a:p>
        </p:txBody>
      </p:sp>
      <p:sp>
        <p:nvSpPr>
          <p:cNvPr id="2059" name="Rounded Rectangle 2058"/>
          <p:cNvSpPr/>
          <p:nvPr/>
        </p:nvSpPr>
        <p:spPr>
          <a:xfrm>
            <a:off x="3063240" y="2231136"/>
            <a:ext cx="1115568" cy="420624"/>
          </a:xfrm>
          <a:prstGeom prst="roundRect">
            <a:avLst>
              <a:gd name="adj" fmla="val 6000"/>
            </a:avLst>
          </a:prstGeom>
          <a:solidFill>
            <a:srgbClr val="0F172A"/>
          </a:solidFill>
          <a:ln>
            <a:noFill/>
          </a:ln>
          <a:effectLst/>
        </p:spPr>
        <p:txBody>
          <a:bodyPr rtlCol="0" anchor="ctr"/>
          <a:lstStyle/>
          <a:p>
            <a:pPr algn="ctr"/>
          </a:p>
        </p:txBody>
      </p:sp>
      <p:sp>
        <p:nvSpPr>
          <p:cNvPr id="2060" name="TextBox 2059"/>
          <p:cNvSpPr txBox="1"/>
          <p:nvPr/>
        </p:nvSpPr>
        <p:spPr>
          <a:xfrm>
            <a:off x="3063240" y="2276856"/>
            <a:ext cx="1115568" cy="347472"/>
          </a:xfrm>
          <a:prstGeom prst="rect">
            <a:avLst/>
          </a:prstGeom>
          <a:noFill/>
        </p:spPr>
        <p:txBody>
          <a:bodyPr wrap="square" lIns="0" rIns="0" tIns="0" bIns="0" anchor="t">
            <a:spAutoFit/>
          </a:bodyPr>
          <a:lstStyle/>
          <a:p>
            <a:pPr algn="ctr">
              <a:lnSpc>
                <a:spcPct val="95000"/>
              </a:lnSpc>
            </a:pPr>
            <a:r>
              <a:rPr sz="850" b="1" i="0">
                <a:solidFill>
                  <a:srgbClr val="FFFFFF"/>
                </a:solidFill>
                <a:latin typeface="Arial"/>
              </a:rPr>
              <a:t>CheXNet</a:t>
            </a:r>
          </a:p>
          <a:p>
            <a:pPr algn="ctr">
              <a:lnSpc>
                <a:spcPct val="95000"/>
              </a:lnSpc>
            </a:pPr>
            <a:r>
              <a:rPr sz="850" b="1" i="0">
                <a:solidFill>
                  <a:srgbClr val="FFFFFF"/>
                </a:solidFill>
                <a:latin typeface="Arial"/>
              </a:rPr>
              <a:t>(2017)</a:t>
            </a:r>
          </a:p>
        </p:txBody>
      </p:sp>
      <p:sp>
        <p:nvSpPr>
          <p:cNvPr id="2061" name="Rounded Rectangle 2060"/>
          <p:cNvSpPr/>
          <p:nvPr/>
        </p:nvSpPr>
        <p:spPr>
          <a:xfrm>
            <a:off x="4178808" y="2231136"/>
            <a:ext cx="1115568" cy="420624"/>
          </a:xfrm>
          <a:prstGeom prst="roundRect">
            <a:avLst>
              <a:gd name="adj" fmla="val 6000"/>
            </a:avLst>
          </a:prstGeom>
          <a:solidFill>
            <a:srgbClr val="0F172A"/>
          </a:solidFill>
          <a:ln>
            <a:noFill/>
          </a:ln>
          <a:effectLst/>
        </p:spPr>
        <p:txBody>
          <a:bodyPr rtlCol="0" anchor="ctr"/>
          <a:lstStyle/>
          <a:p>
            <a:pPr algn="ctr"/>
          </a:p>
        </p:txBody>
      </p:sp>
      <p:sp>
        <p:nvSpPr>
          <p:cNvPr id="2062" name="TextBox 2061"/>
          <p:cNvSpPr txBox="1"/>
          <p:nvPr/>
        </p:nvSpPr>
        <p:spPr>
          <a:xfrm>
            <a:off x="4178808" y="2276856"/>
            <a:ext cx="1115568" cy="347472"/>
          </a:xfrm>
          <a:prstGeom prst="rect">
            <a:avLst/>
          </a:prstGeom>
          <a:noFill/>
        </p:spPr>
        <p:txBody>
          <a:bodyPr wrap="square" lIns="0" rIns="0" tIns="0" bIns="0" anchor="t">
            <a:spAutoFit/>
          </a:bodyPr>
          <a:lstStyle/>
          <a:p>
            <a:pPr algn="ctr">
              <a:lnSpc>
                <a:spcPct val="95000"/>
              </a:lnSpc>
            </a:pPr>
            <a:r>
              <a:rPr sz="850" b="1" i="0">
                <a:solidFill>
                  <a:srgbClr val="FFFFFF"/>
                </a:solidFill>
                <a:latin typeface="Arial"/>
              </a:rPr>
              <a:t>MedPaLM-M</a:t>
            </a:r>
          </a:p>
          <a:p>
            <a:pPr algn="ctr">
              <a:lnSpc>
                <a:spcPct val="95000"/>
              </a:lnSpc>
            </a:pPr>
            <a:r>
              <a:rPr sz="850" b="1" i="0">
                <a:solidFill>
                  <a:srgbClr val="FFFFFF"/>
                </a:solidFill>
                <a:latin typeface="Arial"/>
              </a:rPr>
              <a:t>(2023)</a:t>
            </a:r>
          </a:p>
        </p:txBody>
      </p:sp>
      <p:sp>
        <p:nvSpPr>
          <p:cNvPr id="2063" name="Rounded Rectangle 2062"/>
          <p:cNvSpPr/>
          <p:nvPr/>
        </p:nvSpPr>
        <p:spPr>
          <a:xfrm>
            <a:off x="5294376" y="2231136"/>
            <a:ext cx="1115568" cy="420624"/>
          </a:xfrm>
          <a:prstGeom prst="roundRect">
            <a:avLst>
              <a:gd name="adj" fmla="val 6000"/>
            </a:avLst>
          </a:prstGeom>
          <a:solidFill>
            <a:srgbClr val="0F172A"/>
          </a:solidFill>
          <a:ln>
            <a:noFill/>
          </a:ln>
          <a:effectLst/>
        </p:spPr>
        <p:txBody>
          <a:bodyPr rtlCol="0" anchor="ctr"/>
          <a:lstStyle/>
          <a:p>
            <a:pPr algn="ctr"/>
          </a:p>
        </p:txBody>
      </p:sp>
      <p:sp>
        <p:nvSpPr>
          <p:cNvPr id="2064" name="TextBox 2063"/>
          <p:cNvSpPr txBox="1"/>
          <p:nvPr/>
        </p:nvSpPr>
        <p:spPr>
          <a:xfrm>
            <a:off x="5294376" y="2276856"/>
            <a:ext cx="1115568" cy="347472"/>
          </a:xfrm>
          <a:prstGeom prst="rect">
            <a:avLst/>
          </a:prstGeom>
          <a:noFill/>
        </p:spPr>
        <p:txBody>
          <a:bodyPr wrap="square" lIns="0" rIns="0" tIns="0" bIns="0" anchor="t">
            <a:spAutoFit/>
          </a:bodyPr>
          <a:lstStyle/>
          <a:p>
            <a:pPr algn="ctr">
              <a:lnSpc>
                <a:spcPct val="95000"/>
              </a:lnSpc>
            </a:pPr>
            <a:r>
              <a:rPr sz="850" b="1" i="0">
                <a:solidFill>
                  <a:srgbClr val="FFFFFF"/>
                </a:solidFill>
                <a:latin typeface="Arial"/>
              </a:rPr>
              <a:t>MONAI</a:t>
            </a:r>
          </a:p>
          <a:p>
            <a:pPr algn="ctr">
              <a:lnSpc>
                <a:spcPct val="95000"/>
              </a:lnSpc>
            </a:pPr>
            <a:r>
              <a:rPr sz="850" b="1" i="0">
                <a:solidFill>
                  <a:srgbClr val="FFFFFF"/>
                </a:solidFill>
                <a:latin typeface="Arial"/>
              </a:rPr>
              <a:t>(2020)</a:t>
            </a:r>
          </a:p>
        </p:txBody>
      </p:sp>
      <p:sp>
        <p:nvSpPr>
          <p:cNvPr id="2065" name="Rounded Rectangle 2064"/>
          <p:cNvSpPr/>
          <p:nvPr/>
        </p:nvSpPr>
        <p:spPr>
          <a:xfrm>
            <a:off x="6409944" y="2231136"/>
            <a:ext cx="1115568" cy="420624"/>
          </a:xfrm>
          <a:prstGeom prst="roundRect">
            <a:avLst>
              <a:gd name="adj" fmla="val 6000"/>
            </a:avLst>
          </a:prstGeom>
          <a:solidFill>
            <a:srgbClr val="0F172A"/>
          </a:solidFill>
          <a:ln>
            <a:noFill/>
          </a:ln>
          <a:effectLst/>
        </p:spPr>
        <p:txBody>
          <a:bodyPr rtlCol="0" anchor="ctr"/>
          <a:lstStyle/>
          <a:p>
            <a:pPr algn="ctr"/>
          </a:p>
        </p:txBody>
      </p:sp>
      <p:sp>
        <p:nvSpPr>
          <p:cNvPr id="2066" name="TextBox 2065"/>
          <p:cNvSpPr txBox="1"/>
          <p:nvPr/>
        </p:nvSpPr>
        <p:spPr>
          <a:xfrm>
            <a:off x="6409944" y="2276856"/>
            <a:ext cx="1115568" cy="347472"/>
          </a:xfrm>
          <a:prstGeom prst="rect">
            <a:avLst/>
          </a:prstGeom>
          <a:noFill/>
        </p:spPr>
        <p:txBody>
          <a:bodyPr wrap="square" lIns="0" rIns="0" tIns="0" bIns="0" anchor="t">
            <a:spAutoFit/>
          </a:bodyPr>
          <a:lstStyle/>
          <a:p>
            <a:pPr algn="ctr">
              <a:lnSpc>
                <a:spcPct val="95000"/>
              </a:lnSpc>
            </a:pPr>
            <a:r>
              <a:rPr sz="850" b="1" i="0">
                <a:solidFill>
                  <a:srgbClr val="FFFFFF"/>
                </a:solidFill>
                <a:latin typeface="Arial"/>
              </a:rPr>
              <a:t>BioGPT</a:t>
            </a:r>
          </a:p>
          <a:p>
            <a:pPr algn="ctr">
              <a:lnSpc>
                <a:spcPct val="95000"/>
              </a:lnSpc>
            </a:pPr>
            <a:r>
              <a:rPr sz="850" b="1" i="0">
                <a:solidFill>
                  <a:srgbClr val="FFFFFF"/>
                </a:solidFill>
                <a:latin typeface="Arial"/>
              </a:rPr>
              <a:t>(2022)</a:t>
            </a:r>
          </a:p>
        </p:txBody>
      </p:sp>
      <p:sp>
        <p:nvSpPr>
          <p:cNvPr id="2067" name="Rounded Rectangle 2066"/>
          <p:cNvSpPr/>
          <p:nvPr/>
        </p:nvSpPr>
        <p:spPr>
          <a:xfrm>
            <a:off x="7525512" y="2231136"/>
            <a:ext cx="1161288" cy="420624"/>
          </a:xfrm>
          <a:prstGeom prst="roundRect">
            <a:avLst>
              <a:gd name="adj" fmla="val 6000"/>
            </a:avLst>
          </a:prstGeom>
          <a:solidFill>
            <a:srgbClr val="0E7490"/>
          </a:solidFill>
          <a:ln>
            <a:noFill/>
          </a:ln>
          <a:effectLst/>
        </p:spPr>
        <p:txBody>
          <a:bodyPr rtlCol="0" anchor="ctr"/>
          <a:lstStyle/>
          <a:p>
            <a:pPr algn="ctr"/>
          </a:p>
        </p:txBody>
      </p:sp>
      <p:sp>
        <p:nvSpPr>
          <p:cNvPr id="2068" name="TextBox 2067"/>
          <p:cNvSpPr txBox="1"/>
          <p:nvPr/>
        </p:nvSpPr>
        <p:spPr>
          <a:xfrm>
            <a:off x="7525512" y="2276856"/>
            <a:ext cx="1161288" cy="347472"/>
          </a:xfrm>
          <a:prstGeom prst="rect">
            <a:avLst/>
          </a:prstGeom>
          <a:noFill/>
        </p:spPr>
        <p:txBody>
          <a:bodyPr wrap="square" lIns="0" rIns="0" tIns="0" bIns="0" anchor="t">
            <a:spAutoFit/>
          </a:bodyPr>
          <a:lstStyle/>
          <a:p>
            <a:pPr algn="ctr">
              <a:lnSpc>
                <a:spcPct val="95000"/>
              </a:lnSpc>
            </a:pPr>
            <a:r>
              <a:rPr sz="850" b="1" i="0">
                <a:solidFill>
                  <a:srgbClr val="FFFFFF"/>
                </a:solidFill>
                <a:latin typeface="Arial"/>
              </a:rPr>
              <a:t>AURA</a:t>
            </a:r>
          </a:p>
        </p:txBody>
      </p:sp>
      <p:sp>
        <p:nvSpPr>
          <p:cNvPr id="2069" name="Rectangle 2068"/>
          <p:cNvSpPr/>
          <p:nvPr/>
        </p:nvSpPr>
        <p:spPr>
          <a:xfrm>
            <a:off x="457200" y="2651760"/>
            <a:ext cx="8229600" cy="365760"/>
          </a:xfrm>
          <a:prstGeom prst="rect">
            <a:avLst/>
          </a:prstGeom>
          <a:solidFill>
            <a:srgbClr val="F6FAFA"/>
          </a:solidFill>
          <a:ln>
            <a:noFill/>
          </a:ln>
          <a:effectLst/>
        </p:spPr>
        <p:txBody>
          <a:bodyPr rtlCol="0" anchor="ctr"/>
          <a:lstStyle/>
          <a:p>
            <a:pPr algn="ctr"/>
          </a:p>
        </p:txBody>
      </p:sp>
      <p:sp>
        <p:nvSpPr>
          <p:cNvPr id="2070" name="TextBox 2069"/>
          <p:cNvSpPr txBox="1"/>
          <p:nvPr/>
        </p:nvSpPr>
        <p:spPr>
          <a:xfrm>
            <a:off x="585216" y="2651760"/>
            <a:ext cx="2423160" cy="365760"/>
          </a:xfrm>
          <a:prstGeom prst="rect">
            <a:avLst/>
          </a:prstGeom>
          <a:noFill/>
        </p:spPr>
        <p:txBody>
          <a:bodyPr wrap="square" lIns="0" rIns="0" tIns="0" bIns="0" anchor="ctr">
            <a:spAutoFit/>
          </a:bodyPr>
          <a:lstStyle/>
          <a:p>
            <a:pPr algn="l"/>
            <a:r>
              <a:rPr sz="950" b="1" i="0">
                <a:solidFill>
                  <a:srgbClr val="0F172A"/>
                </a:solidFill>
                <a:latin typeface="Arial"/>
              </a:rPr>
              <a:t>Disease probability</a:t>
            </a:r>
          </a:p>
        </p:txBody>
      </p:sp>
      <p:sp>
        <p:nvSpPr>
          <p:cNvPr id="2071" name="TextBox 2070"/>
          <p:cNvSpPr txBox="1"/>
          <p:nvPr/>
        </p:nvSpPr>
        <p:spPr>
          <a:xfrm>
            <a:off x="3063240" y="2651760"/>
            <a:ext cx="1115568" cy="365760"/>
          </a:xfrm>
          <a:prstGeom prst="rect">
            <a:avLst/>
          </a:prstGeom>
          <a:noFill/>
        </p:spPr>
        <p:txBody>
          <a:bodyPr wrap="square" lIns="0" rIns="0" tIns="0" bIns="0" anchor="ctr">
            <a:spAutoFit/>
          </a:bodyPr>
          <a:lstStyle/>
          <a:p>
            <a:pPr algn="ctr"/>
            <a:r>
              <a:rPr sz="1200" b="1" i="0">
                <a:solidFill>
                  <a:srgbClr val="0E7490"/>
                </a:solidFill>
                <a:latin typeface="Arial"/>
              </a:rPr>
              <a:t>✓</a:t>
            </a:r>
          </a:p>
        </p:txBody>
      </p:sp>
      <p:sp>
        <p:nvSpPr>
          <p:cNvPr id="2072" name="TextBox 2071"/>
          <p:cNvSpPr txBox="1"/>
          <p:nvPr/>
        </p:nvSpPr>
        <p:spPr>
          <a:xfrm>
            <a:off x="4178808" y="2651760"/>
            <a:ext cx="1115568" cy="365760"/>
          </a:xfrm>
          <a:prstGeom prst="rect">
            <a:avLst/>
          </a:prstGeom>
          <a:noFill/>
        </p:spPr>
        <p:txBody>
          <a:bodyPr wrap="square" lIns="0" rIns="0" tIns="0" bIns="0" anchor="ctr">
            <a:spAutoFit/>
          </a:bodyPr>
          <a:lstStyle/>
          <a:p>
            <a:pPr algn="ctr"/>
            <a:r>
              <a:rPr sz="1200" b="1" i="0">
                <a:solidFill>
                  <a:srgbClr val="0E7490"/>
                </a:solidFill>
                <a:latin typeface="Arial"/>
              </a:rPr>
              <a:t>✓</a:t>
            </a:r>
          </a:p>
        </p:txBody>
      </p:sp>
      <p:sp>
        <p:nvSpPr>
          <p:cNvPr id="2073" name="TextBox 2072"/>
          <p:cNvSpPr txBox="1"/>
          <p:nvPr/>
        </p:nvSpPr>
        <p:spPr>
          <a:xfrm>
            <a:off x="5294376" y="2651760"/>
            <a:ext cx="1115568" cy="365760"/>
          </a:xfrm>
          <a:prstGeom prst="rect">
            <a:avLst/>
          </a:prstGeom>
          <a:noFill/>
        </p:spPr>
        <p:txBody>
          <a:bodyPr wrap="square" lIns="0" rIns="0" tIns="0" bIns="0" anchor="ctr">
            <a:spAutoFit/>
          </a:bodyPr>
          <a:lstStyle/>
          <a:p>
            <a:pPr algn="ctr"/>
            <a:r>
              <a:rPr sz="1200" b="1" i="0">
                <a:solidFill>
                  <a:srgbClr val="0E7490"/>
                </a:solidFill>
                <a:latin typeface="Arial"/>
              </a:rPr>
              <a:t>✓</a:t>
            </a:r>
          </a:p>
        </p:txBody>
      </p:sp>
      <p:sp>
        <p:nvSpPr>
          <p:cNvPr id="2074" name="TextBox 2073"/>
          <p:cNvSpPr txBox="1"/>
          <p:nvPr/>
        </p:nvSpPr>
        <p:spPr>
          <a:xfrm>
            <a:off x="6409944" y="2651760"/>
            <a:ext cx="1115568" cy="365760"/>
          </a:xfrm>
          <a:prstGeom prst="rect">
            <a:avLst/>
          </a:prstGeom>
          <a:noFill/>
        </p:spPr>
        <p:txBody>
          <a:bodyPr wrap="square" lIns="0" rIns="0" tIns="0" bIns="0" anchor="ctr">
            <a:spAutoFit/>
          </a:bodyPr>
          <a:lstStyle/>
          <a:p>
            <a:pPr algn="ctr"/>
            <a:r>
              <a:rPr sz="1200" b="1" i="0">
                <a:solidFill>
                  <a:srgbClr val="0E7490"/>
                </a:solidFill>
                <a:latin typeface="Arial"/>
              </a:rPr>
              <a:t>✓</a:t>
            </a:r>
          </a:p>
        </p:txBody>
      </p:sp>
      <p:sp>
        <p:nvSpPr>
          <p:cNvPr id="2075" name="TextBox 2074"/>
          <p:cNvSpPr txBox="1"/>
          <p:nvPr/>
        </p:nvSpPr>
        <p:spPr>
          <a:xfrm>
            <a:off x="7525512" y="2651760"/>
            <a:ext cx="1161288" cy="365760"/>
          </a:xfrm>
          <a:prstGeom prst="rect">
            <a:avLst/>
          </a:prstGeom>
          <a:noFill/>
        </p:spPr>
        <p:txBody>
          <a:bodyPr wrap="square" lIns="0" rIns="0" tIns="0" bIns="0" anchor="ctr">
            <a:spAutoFit/>
          </a:bodyPr>
          <a:lstStyle/>
          <a:p>
            <a:pPr algn="ctr"/>
            <a:r>
              <a:rPr sz="1200" b="1" i="0">
                <a:solidFill>
                  <a:srgbClr val="0E7490"/>
                </a:solidFill>
                <a:latin typeface="Arial"/>
              </a:rPr>
              <a:t>✓</a:t>
            </a:r>
          </a:p>
        </p:txBody>
      </p:sp>
      <p:sp>
        <p:nvSpPr>
          <p:cNvPr id="2076" name="Rectangle 2075"/>
          <p:cNvSpPr/>
          <p:nvPr/>
        </p:nvSpPr>
        <p:spPr>
          <a:xfrm>
            <a:off x="457200" y="3017520"/>
            <a:ext cx="8229600" cy="365760"/>
          </a:xfrm>
          <a:prstGeom prst="rect">
            <a:avLst/>
          </a:prstGeom>
          <a:solidFill>
            <a:srgbClr val="FFFFFF"/>
          </a:solidFill>
          <a:ln>
            <a:noFill/>
          </a:ln>
          <a:effectLst/>
        </p:spPr>
        <p:txBody>
          <a:bodyPr rtlCol="0" anchor="ctr"/>
          <a:lstStyle/>
          <a:p>
            <a:pPr algn="ctr"/>
          </a:p>
        </p:txBody>
      </p:sp>
      <p:sp>
        <p:nvSpPr>
          <p:cNvPr id="2077" name="TextBox 2076"/>
          <p:cNvSpPr txBox="1"/>
          <p:nvPr/>
        </p:nvSpPr>
        <p:spPr>
          <a:xfrm>
            <a:off x="585216" y="3017520"/>
            <a:ext cx="2423160" cy="365760"/>
          </a:xfrm>
          <a:prstGeom prst="rect">
            <a:avLst/>
          </a:prstGeom>
          <a:noFill/>
        </p:spPr>
        <p:txBody>
          <a:bodyPr wrap="square" lIns="0" rIns="0" tIns="0" bIns="0" anchor="ctr">
            <a:spAutoFit/>
          </a:bodyPr>
          <a:lstStyle/>
          <a:p>
            <a:pPr algn="l"/>
            <a:r>
              <a:rPr sz="950" b="1" i="0">
                <a:solidFill>
                  <a:srgbClr val="0F172A"/>
                </a:solidFill>
                <a:latin typeface="Arial"/>
              </a:rPr>
              <a:t>Uncertainty decomposition</a:t>
            </a:r>
          </a:p>
        </p:txBody>
      </p:sp>
      <p:sp>
        <p:nvSpPr>
          <p:cNvPr id="2078" name="TextBox 2077"/>
          <p:cNvSpPr txBox="1"/>
          <p:nvPr/>
        </p:nvSpPr>
        <p:spPr>
          <a:xfrm>
            <a:off x="3063240" y="3017520"/>
            <a:ext cx="1115568" cy="365760"/>
          </a:xfrm>
          <a:prstGeom prst="rect">
            <a:avLst/>
          </a:prstGeom>
          <a:noFill/>
        </p:spPr>
        <p:txBody>
          <a:bodyPr wrap="square" lIns="0" rIns="0" tIns="0" bIns="0" anchor="ctr">
            <a:spAutoFit/>
          </a:bodyPr>
          <a:lstStyle/>
          <a:p>
            <a:pPr algn="ctr"/>
            <a:r>
              <a:rPr sz="1100" b="1" i="0">
                <a:solidFill>
                  <a:srgbClr val="B9C2C9"/>
                </a:solidFill>
                <a:latin typeface="Arial"/>
              </a:rPr>
              <a:t>—</a:t>
            </a:r>
          </a:p>
        </p:txBody>
      </p:sp>
      <p:sp>
        <p:nvSpPr>
          <p:cNvPr id="2079" name="TextBox 2078"/>
          <p:cNvSpPr txBox="1"/>
          <p:nvPr/>
        </p:nvSpPr>
        <p:spPr>
          <a:xfrm>
            <a:off x="4178808" y="3017520"/>
            <a:ext cx="1115568" cy="365760"/>
          </a:xfrm>
          <a:prstGeom prst="rect">
            <a:avLst/>
          </a:prstGeom>
          <a:noFill/>
        </p:spPr>
        <p:txBody>
          <a:bodyPr wrap="square" lIns="0" rIns="0" tIns="0" bIns="0" anchor="ctr">
            <a:spAutoFit/>
          </a:bodyPr>
          <a:lstStyle/>
          <a:p>
            <a:pPr algn="ctr"/>
            <a:r>
              <a:rPr sz="1100" b="1" i="0">
                <a:solidFill>
                  <a:srgbClr val="B9C2C9"/>
                </a:solidFill>
                <a:latin typeface="Arial"/>
              </a:rPr>
              <a:t>—</a:t>
            </a:r>
          </a:p>
        </p:txBody>
      </p:sp>
      <p:sp>
        <p:nvSpPr>
          <p:cNvPr id="2080" name="TextBox 2079"/>
          <p:cNvSpPr txBox="1"/>
          <p:nvPr/>
        </p:nvSpPr>
        <p:spPr>
          <a:xfrm>
            <a:off x="5294376" y="3017520"/>
            <a:ext cx="1115568" cy="365760"/>
          </a:xfrm>
          <a:prstGeom prst="rect">
            <a:avLst/>
          </a:prstGeom>
          <a:noFill/>
        </p:spPr>
        <p:txBody>
          <a:bodyPr wrap="square" lIns="0" rIns="0" tIns="0" bIns="0" anchor="ctr">
            <a:spAutoFit/>
          </a:bodyPr>
          <a:lstStyle/>
          <a:p>
            <a:pPr algn="ctr"/>
            <a:r>
              <a:rPr sz="1100" b="1" i="0">
                <a:solidFill>
                  <a:srgbClr val="B98A2F"/>
                </a:solidFill>
                <a:latin typeface="Arial"/>
              </a:rPr>
              <a:t>~</a:t>
            </a:r>
          </a:p>
        </p:txBody>
      </p:sp>
      <p:sp>
        <p:nvSpPr>
          <p:cNvPr id="2081" name="TextBox 2080"/>
          <p:cNvSpPr txBox="1"/>
          <p:nvPr/>
        </p:nvSpPr>
        <p:spPr>
          <a:xfrm>
            <a:off x="6409944" y="3017520"/>
            <a:ext cx="1115568" cy="365760"/>
          </a:xfrm>
          <a:prstGeom prst="rect">
            <a:avLst/>
          </a:prstGeom>
          <a:noFill/>
        </p:spPr>
        <p:txBody>
          <a:bodyPr wrap="square" lIns="0" rIns="0" tIns="0" bIns="0" anchor="ctr">
            <a:spAutoFit/>
          </a:bodyPr>
          <a:lstStyle/>
          <a:p>
            <a:pPr algn="ctr"/>
            <a:r>
              <a:rPr sz="1100" b="1" i="0">
                <a:solidFill>
                  <a:srgbClr val="B9C2C9"/>
                </a:solidFill>
                <a:latin typeface="Arial"/>
              </a:rPr>
              <a:t>—</a:t>
            </a:r>
          </a:p>
        </p:txBody>
      </p:sp>
      <p:sp>
        <p:nvSpPr>
          <p:cNvPr id="2082" name="TextBox 2081"/>
          <p:cNvSpPr txBox="1"/>
          <p:nvPr/>
        </p:nvSpPr>
        <p:spPr>
          <a:xfrm>
            <a:off x="7525512" y="3017520"/>
            <a:ext cx="1161288" cy="365760"/>
          </a:xfrm>
          <a:prstGeom prst="rect">
            <a:avLst/>
          </a:prstGeom>
          <a:noFill/>
        </p:spPr>
        <p:txBody>
          <a:bodyPr wrap="square" lIns="0" rIns="0" tIns="0" bIns="0" anchor="ctr">
            <a:spAutoFit/>
          </a:bodyPr>
          <a:lstStyle/>
          <a:p>
            <a:pPr algn="ctr"/>
            <a:r>
              <a:rPr sz="1200" b="1" i="0">
                <a:solidFill>
                  <a:srgbClr val="0E7490"/>
                </a:solidFill>
                <a:latin typeface="Arial"/>
              </a:rPr>
              <a:t>✓</a:t>
            </a:r>
          </a:p>
        </p:txBody>
      </p:sp>
      <p:sp>
        <p:nvSpPr>
          <p:cNvPr id="2083" name="Rectangle 2082"/>
          <p:cNvSpPr/>
          <p:nvPr/>
        </p:nvSpPr>
        <p:spPr>
          <a:xfrm>
            <a:off x="457200" y="3383280"/>
            <a:ext cx="8229600" cy="365760"/>
          </a:xfrm>
          <a:prstGeom prst="rect">
            <a:avLst/>
          </a:prstGeom>
          <a:solidFill>
            <a:srgbClr val="F6FAFA"/>
          </a:solidFill>
          <a:ln>
            <a:noFill/>
          </a:ln>
          <a:effectLst/>
        </p:spPr>
        <p:txBody>
          <a:bodyPr rtlCol="0" anchor="ctr"/>
          <a:lstStyle/>
          <a:p>
            <a:pPr algn="ctr"/>
          </a:p>
        </p:txBody>
      </p:sp>
      <p:sp>
        <p:nvSpPr>
          <p:cNvPr id="2084" name="TextBox 2083"/>
          <p:cNvSpPr txBox="1"/>
          <p:nvPr/>
        </p:nvSpPr>
        <p:spPr>
          <a:xfrm>
            <a:off x="585216" y="3383280"/>
            <a:ext cx="2423160" cy="365760"/>
          </a:xfrm>
          <a:prstGeom prst="rect">
            <a:avLst/>
          </a:prstGeom>
          <a:noFill/>
        </p:spPr>
        <p:txBody>
          <a:bodyPr wrap="square" lIns="0" rIns="0" tIns="0" bIns="0" anchor="ctr">
            <a:spAutoFit/>
          </a:bodyPr>
          <a:lstStyle/>
          <a:p>
            <a:pPr algn="l"/>
            <a:r>
              <a:rPr sz="950" b="1" i="0">
                <a:solidFill>
                  <a:srgbClr val="0F172A"/>
                </a:solidFill>
                <a:latin typeface="Arial"/>
              </a:rPr>
              <a:t>Coverage-guaranteed sets</a:t>
            </a:r>
          </a:p>
        </p:txBody>
      </p:sp>
      <p:sp>
        <p:nvSpPr>
          <p:cNvPr id="2085" name="TextBox 2084"/>
          <p:cNvSpPr txBox="1"/>
          <p:nvPr/>
        </p:nvSpPr>
        <p:spPr>
          <a:xfrm>
            <a:off x="3063240" y="3383280"/>
            <a:ext cx="1115568" cy="365760"/>
          </a:xfrm>
          <a:prstGeom prst="rect">
            <a:avLst/>
          </a:prstGeom>
          <a:noFill/>
        </p:spPr>
        <p:txBody>
          <a:bodyPr wrap="square" lIns="0" rIns="0" tIns="0" bIns="0" anchor="ctr">
            <a:spAutoFit/>
          </a:bodyPr>
          <a:lstStyle/>
          <a:p>
            <a:pPr algn="ctr"/>
            <a:r>
              <a:rPr sz="1100" b="1" i="0">
                <a:solidFill>
                  <a:srgbClr val="B9C2C9"/>
                </a:solidFill>
                <a:latin typeface="Arial"/>
              </a:rPr>
              <a:t>—</a:t>
            </a:r>
          </a:p>
        </p:txBody>
      </p:sp>
      <p:sp>
        <p:nvSpPr>
          <p:cNvPr id="2086" name="TextBox 2085"/>
          <p:cNvSpPr txBox="1"/>
          <p:nvPr/>
        </p:nvSpPr>
        <p:spPr>
          <a:xfrm>
            <a:off x="4178808" y="3383280"/>
            <a:ext cx="1115568" cy="365760"/>
          </a:xfrm>
          <a:prstGeom prst="rect">
            <a:avLst/>
          </a:prstGeom>
          <a:noFill/>
        </p:spPr>
        <p:txBody>
          <a:bodyPr wrap="square" lIns="0" rIns="0" tIns="0" bIns="0" anchor="ctr">
            <a:spAutoFit/>
          </a:bodyPr>
          <a:lstStyle/>
          <a:p>
            <a:pPr algn="ctr"/>
            <a:r>
              <a:rPr sz="1100" b="1" i="0">
                <a:solidFill>
                  <a:srgbClr val="B9C2C9"/>
                </a:solidFill>
                <a:latin typeface="Arial"/>
              </a:rPr>
              <a:t>—</a:t>
            </a:r>
          </a:p>
        </p:txBody>
      </p:sp>
      <p:sp>
        <p:nvSpPr>
          <p:cNvPr id="2087" name="TextBox 2086"/>
          <p:cNvSpPr txBox="1"/>
          <p:nvPr/>
        </p:nvSpPr>
        <p:spPr>
          <a:xfrm>
            <a:off x="5294376" y="3383280"/>
            <a:ext cx="1115568" cy="365760"/>
          </a:xfrm>
          <a:prstGeom prst="rect">
            <a:avLst/>
          </a:prstGeom>
          <a:noFill/>
        </p:spPr>
        <p:txBody>
          <a:bodyPr wrap="square" lIns="0" rIns="0" tIns="0" bIns="0" anchor="ctr">
            <a:spAutoFit/>
          </a:bodyPr>
          <a:lstStyle/>
          <a:p>
            <a:pPr algn="ctr"/>
            <a:r>
              <a:rPr sz="1100" b="1" i="0">
                <a:solidFill>
                  <a:srgbClr val="B9C2C9"/>
                </a:solidFill>
                <a:latin typeface="Arial"/>
              </a:rPr>
              <a:t>—</a:t>
            </a:r>
          </a:p>
        </p:txBody>
      </p:sp>
      <p:sp>
        <p:nvSpPr>
          <p:cNvPr id="2088" name="TextBox 2087"/>
          <p:cNvSpPr txBox="1"/>
          <p:nvPr/>
        </p:nvSpPr>
        <p:spPr>
          <a:xfrm>
            <a:off x="6409944" y="3383280"/>
            <a:ext cx="1115568" cy="365760"/>
          </a:xfrm>
          <a:prstGeom prst="rect">
            <a:avLst/>
          </a:prstGeom>
          <a:noFill/>
        </p:spPr>
        <p:txBody>
          <a:bodyPr wrap="square" lIns="0" rIns="0" tIns="0" bIns="0" anchor="ctr">
            <a:spAutoFit/>
          </a:bodyPr>
          <a:lstStyle/>
          <a:p>
            <a:pPr algn="ctr"/>
            <a:r>
              <a:rPr sz="1100" b="1" i="0">
                <a:solidFill>
                  <a:srgbClr val="B9C2C9"/>
                </a:solidFill>
                <a:latin typeface="Arial"/>
              </a:rPr>
              <a:t>—</a:t>
            </a:r>
          </a:p>
        </p:txBody>
      </p:sp>
      <p:sp>
        <p:nvSpPr>
          <p:cNvPr id="2089" name="TextBox 2088"/>
          <p:cNvSpPr txBox="1"/>
          <p:nvPr/>
        </p:nvSpPr>
        <p:spPr>
          <a:xfrm>
            <a:off x="7525512" y="3383280"/>
            <a:ext cx="1161288" cy="365760"/>
          </a:xfrm>
          <a:prstGeom prst="rect">
            <a:avLst/>
          </a:prstGeom>
          <a:noFill/>
        </p:spPr>
        <p:txBody>
          <a:bodyPr wrap="square" lIns="0" rIns="0" tIns="0" bIns="0" anchor="ctr">
            <a:spAutoFit/>
          </a:bodyPr>
          <a:lstStyle/>
          <a:p>
            <a:pPr algn="ctr"/>
            <a:r>
              <a:rPr sz="1200" b="1" i="0">
                <a:solidFill>
                  <a:srgbClr val="0E7490"/>
                </a:solidFill>
                <a:latin typeface="Arial"/>
              </a:rPr>
              <a:t>✓</a:t>
            </a:r>
          </a:p>
        </p:txBody>
      </p:sp>
      <p:sp>
        <p:nvSpPr>
          <p:cNvPr id="2090" name="Rectangle 2089"/>
          <p:cNvSpPr/>
          <p:nvPr/>
        </p:nvSpPr>
        <p:spPr>
          <a:xfrm>
            <a:off x="457200" y="3749039"/>
            <a:ext cx="8229600" cy="365760"/>
          </a:xfrm>
          <a:prstGeom prst="rect">
            <a:avLst/>
          </a:prstGeom>
          <a:solidFill>
            <a:srgbClr val="FFFFFF"/>
          </a:solidFill>
          <a:ln>
            <a:noFill/>
          </a:ln>
          <a:effectLst/>
        </p:spPr>
        <p:txBody>
          <a:bodyPr rtlCol="0" anchor="ctr"/>
          <a:lstStyle/>
          <a:p>
            <a:pPr algn="ctr"/>
          </a:p>
        </p:txBody>
      </p:sp>
      <p:sp>
        <p:nvSpPr>
          <p:cNvPr id="2091" name="TextBox 2090"/>
          <p:cNvSpPr txBox="1"/>
          <p:nvPr/>
        </p:nvSpPr>
        <p:spPr>
          <a:xfrm>
            <a:off x="585216" y="3749039"/>
            <a:ext cx="2423160" cy="365760"/>
          </a:xfrm>
          <a:prstGeom prst="rect">
            <a:avLst/>
          </a:prstGeom>
          <a:noFill/>
        </p:spPr>
        <p:txBody>
          <a:bodyPr wrap="square" lIns="0" rIns="0" tIns="0" bIns="0" anchor="ctr">
            <a:spAutoFit/>
          </a:bodyPr>
          <a:lstStyle/>
          <a:p>
            <a:pPr algn="l"/>
            <a:r>
              <a:rPr sz="950" b="1" i="0">
                <a:solidFill>
                  <a:srgbClr val="0F172A"/>
                </a:solidFill>
                <a:latin typeface="Arial"/>
              </a:rPr>
              <a:t>Counterfactual explanation</a:t>
            </a:r>
          </a:p>
        </p:txBody>
      </p:sp>
      <p:sp>
        <p:nvSpPr>
          <p:cNvPr id="2092" name="TextBox 2091"/>
          <p:cNvSpPr txBox="1"/>
          <p:nvPr/>
        </p:nvSpPr>
        <p:spPr>
          <a:xfrm>
            <a:off x="3063240" y="3749039"/>
            <a:ext cx="1115568" cy="365760"/>
          </a:xfrm>
          <a:prstGeom prst="rect">
            <a:avLst/>
          </a:prstGeom>
          <a:noFill/>
        </p:spPr>
        <p:txBody>
          <a:bodyPr wrap="square" lIns="0" rIns="0" tIns="0" bIns="0" anchor="ctr">
            <a:spAutoFit/>
          </a:bodyPr>
          <a:lstStyle/>
          <a:p>
            <a:pPr algn="ctr"/>
            <a:r>
              <a:rPr sz="1100" b="1" i="0">
                <a:solidFill>
                  <a:srgbClr val="B9C2C9"/>
                </a:solidFill>
                <a:latin typeface="Arial"/>
              </a:rPr>
              <a:t>—</a:t>
            </a:r>
          </a:p>
        </p:txBody>
      </p:sp>
      <p:sp>
        <p:nvSpPr>
          <p:cNvPr id="2093" name="TextBox 2092"/>
          <p:cNvSpPr txBox="1"/>
          <p:nvPr/>
        </p:nvSpPr>
        <p:spPr>
          <a:xfrm>
            <a:off x="4178808" y="3749039"/>
            <a:ext cx="1115568" cy="365760"/>
          </a:xfrm>
          <a:prstGeom prst="rect">
            <a:avLst/>
          </a:prstGeom>
          <a:noFill/>
        </p:spPr>
        <p:txBody>
          <a:bodyPr wrap="square" lIns="0" rIns="0" tIns="0" bIns="0" anchor="ctr">
            <a:spAutoFit/>
          </a:bodyPr>
          <a:lstStyle/>
          <a:p>
            <a:pPr algn="ctr"/>
            <a:r>
              <a:rPr sz="1100" b="1" i="0">
                <a:solidFill>
                  <a:srgbClr val="B9C2C9"/>
                </a:solidFill>
                <a:latin typeface="Arial"/>
              </a:rPr>
              <a:t>—</a:t>
            </a:r>
          </a:p>
        </p:txBody>
      </p:sp>
      <p:sp>
        <p:nvSpPr>
          <p:cNvPr id="2094" name="TextBox 2093"/>
          <p:cNvSpPr txBox="1"/>
          <p:nvPr/>
        </p:nvSpPr>
        <p:spPr>
          <a:xfrm>
            <a:off x="5294376" y="3749039"/>
            <a:ext cx="1115568" cy="365760"/>
          </a:xfrm>
          <a:prstGeom prst="rect">
            <a:avLst/>
          </a:prstGeom>
          <a:noFill/>
        </p:spPr>
        <p:txBody>
          <a:bodyPr wrap="square" lIns="0" rIns="0" tIns="0" bIns="0" anchor="ctr">
            <a:spAutoFit/>
          </a:bodyPr>
          <a:lstStyle/>
          <a:p>
            <a:pPr algn="ctr"/>
            <a:r>
              <a:rPr sz="1100" b="1" i="0">
                <a:solidFill>
                  <a:srgbClr val="B9C2C9"/>
                </a:solidFill>
                <a:latin typeface="Arial"/>
              </a:rPr>
              <a:t>—</a:t>
            </a:r>
          </a:p>
        </p:txBody>
      </p:sp>
      <p:sp>
        <p:nvSpPr>
          <p:cNvPr id="2095" name="TextBox 2094"/>
          <p:cNvSpPr txBox="1"/>
          <p:nvPr/>
        </p:nvSpPr>
        <p:spPr>
          <a:xfrm>
            <a:off x="6409944" y="3749039"/>
            <a:ext cx="1115568" cy="365760"/>
          </a:xfrm>
          <a:prstGeom prst="rect">
            <a:avLst/>
          </a:prstGeom>
          <a:noFill/>
        </p:spPr>
        <p:txBody>
          <a:bodyPr wrap="square" lIns="0" rIns="0" tIns="0" bIns="0" anchor="ctr">
            <a:spAutoFit/>
          </a:bodyPr>
          <a:lstStyle/>
          <a:p>
            <a:pPr algn="ctr"/>
            <a:r>
              <a:rPr sz="1100" b="1" i="0">
                <a:solidFill>
                  <a:srgbClr val="B9C2C9"/>
                </a:solidFill>
                <a:latin typeface="Arial"/>
              </a:rPr>
              <a:t>—</a:t>
            </a:r>
          </a:p>
        </p:txBody>
      </p:sp>
      <p:sp>
        <p:nvSpPr>
          <p:cNvPr id="2096" name="TextBox 2095"/>
          <p:cNvSpPr txBox="1"/>
          <p:nvPr/>
        </p:nvSpPr>
        <p:spPr>
          <a:xfrm>
            <a:off x="7525512" y="3749039"/>
            <a:ext cx="1161288" cy="365760"/>
          </a:xfrm>
          <a:prstGeom prst="rect">
            <a:avLst/>
          </a:prstGeom>
          <a:noFill/>
        </p:spPr>
        <p:txBody>
          <a:bodyPr wrap="square" lIns="0" rIns="0" tIns="0" bIns="0" anchor="ctr">
            <a:spAutoFit/>
          </a:bodyPr>
          <a:lstStyle/>
          <a:p>
            <a:pPr algn="ctr"/>
            <a:r>
              <a:rPr sz="1200" b="1" i="0">
                <a:solidFill>
                  <a:srgbClr val="0E7490"/>
                </a:solidFill>
                <a:latin typeface="Arial"/>
              </a:rPr>
              <a:t>✓</a:t>
            </a:r>
          </a:p>
        </p:txBody>
      </p:sp>
      <p:sp>
        <p:nvSpPr>
          <p:cNvPr id="2097" name="Rectangle 2096"/>
          <p:cNvSpPr/>
          <p:nvPr/>
        </p:nvSpPr>
        <p:spPr>
          <a:xfrm>
            <a:off x="457200" y="4114800"/>
            <a:ext cx="8229600" cy="365760"/>
          </a:xfrm>
          <a:prstGeom prst="rect">
            <a:avLst/>
          </a:prstGeom>
          <a:solidFill>
            <a:srgbClr val="F6FAFA"/>
          </a:solidFill>
          <a:ln>
            <a:noFill/>
          </a:ln>
          <a:effectLst/>
        </p:spPr>
        <p:txBody>
          <a:bodyPr rtlCol="0" anchor="ctr"/>
          <a:lstStyle/>
          <a:p>
            <a:pPr algn="ctr"/>
          </a:p>
        </p:txBody>
      </p:sp>
      <p:sp>
        <p:nvSpPr>
          <p:cNvPr id="2098" name="TextBox 2097"/>
          <p:cNvSpPr txBox="1"/>
          <p:nvPr/>
        </p:nvSpPr>
        <p:spPr>
          <a:xfrm>
            <a:off x="585216" y="4114800"/>
            <a:ext cx="2423160" cy="365760"/>
          </a:xfrm>
          <a:prstGeom prst="rect">
            <a:avLst/>
          </a:prstGeom>
          <a:noFill/>
        </p:spPr>
        <p:txBody>
          <a:bodyPr wrap="square" lIns="0" rIns="0" tIns="0" bIns="0" anchor="ctr">
            <a:spAutoFit/>
          </a:bodyPr>
          <a:lstStyle/>
          <a:p>
            <a:pPr algn="l"/>
            <a:r>
              <a:rPr sz="950" b="1" i="0">
                <a:solidFill>
                  <a:srgbClr val="0F172A"/>
                </a:solidFill>
                <a:latin typeface="Arial"/>
              </a:rPr>
              <a:t>Next-test planning (EIG)</a:t>
            </a:r>
          </a:p>
        </p:txBody>
      </p:sp>
      <p:sp>
        <p:nvSpPr>
          <p:cNvPr id="2099" name="TextBox 2098"/>
          <p:cNvSpPr txBox="1"/>
          <p:nvPr/>
        </p:nvSpPr>
        <p:spPr>
          <a:xfrm>
            <a:off x="3063240" y="4114800"/>
            <a:ext cx="1115568" cy="365760"/>
          </a:xfrm>
          <a:prstGeom prst="rect">
            <a:avLst/>
          </a:prstGeom>
          <a:noFill/>
        </p:spPr>
        <p:txBody>
          <a:bodyPr wrap="square" lIns="0" rIns="0" tIns="0" bIns="0" anchor="ctr">
            <a:spAutoFit/>
          </a:bodyPr>
          <a:lstStyle/>
          <a:p>
            <a:pPr algn="ctr"/>
            <a:r>
              <a:rPr sz="1100" b="1" i="0">
                <a:solidFill>
                  <a:srgbClr val="B9C2C9"/>
                </a:solidFill>
                <a:latin typeface="Arial"/>
              </a:rPr>
              <a:t>—</a:t>
            </a:r>
          </a:p>
        </p:txBody>
      </p:sp>
      <p:sp>
        <p:nvSpPr>
          <p:cNvPr id="2100" name="TextBox 2099"/>
          <p:cNvSpPr txBox="1"/>
          <p:nvPr/>
        </p:nvSpPr>
        <p:spPr>
          <a:xfrm>
            <a:off x="4178808" y="4114800"/>
            <a:ext cx="1115568" cy="365760"/>
          </a:xfrm>
          <a:prstGeom prst="rect">
            <a:avLst/>
          </a:prstGeom>
          <a:noFill/>
        </p:spPr>
        <p:txBody>
          <a:bodyPr wrap="square" lIns="0" rIns="0" tIns="0" bIns="0" anchor="ctr">
            <a:spAutoFit/>
          </a:bodyPr>
          <a:lstStyle/>
          <a:p>
            <a:pPr algn="ctr"/>
            <a:r>
              <a:rPr sz="1100" b="1" i="0">
                <a:solidFill>
                  <a:srgbClr val="B98A2F"/>
                </a:solidFill>
                <a:latin typeface="Arial"/>
              </a:rPr>
              <a:t>~</a:t>
            </a:r>
          </a:p>
        </p:txBody>
      </p:sp>
      <p:sp>
        <p:nvSpPr>
          <p:cNvPr id="2101" name="TextBox 2100"/>
          <p:cNvSpPr txBox="1"/>
          <p:nvPr/>
        </p:nvSpPr>
        <p:spPr>
          <a:xfrm>
            <a:off x="5294376" y="4114800"/>
            <a:ext cx="1115568" cy="365760"/>
          </a:xfrm>
          <a:prstGeom prst="rect">
            <a:avLst/>
          </a:prstGeom>
          <a:noFill/>
        </p:spPr>
        <p:txBody>
          <a:bodyPr wrap="square" lIns="0" rIns="0" tIns="0" bIns="0" anchor="ctr">
            <a:spAutoFit/>
          </a:bodyPr>
          <a:lstStyle/>
          <a:p>
            <a:pPr algn="ctr"/>
            <a:r>
              <a:rPr sz="1100" b="1" i="0">
                <a:solidFill>
                  <a:srgbClr val="B9C2C9"/>
                </a:solidFill>
                <a:latin typeface="Arial"/>
              </a:rPr>
              <a:t>—</a:t>
            </a:r>
          </a:p>
        </p:txBody>
      </p:sp>
      <p:sp>
        <p:nvSpPr>
          <p:cNvPr id="2102" name="TextBox 2101"/>
          <p:cNvSpPr txBox="1"/>
          <p:nvPr/>
        </p:nvSpPr>
        <p:spPr>
          <a:xfrm>
            <a:off x="6409944" y="4114800"/>
            <a:ext cx="1115568" cy="365760"/>
          </a:xfrm>
          <a:prstGeom prst="rect">
            <a:avLst/>
          </a:prstGeom>
          <a:noFill/>
        </p:spPr>
        <p:txBody>
          <a:bodyPr wrap="square" lIns="0" rIns="0" tIns="0" bIns="0" anchor="ctr">
            <a:spAutoFit/>
          </a:bodyPr>
          <a:lstStyle/>
          <a:p>
            <a:pPr algn="ctr"/>
            <a:r>
              <a:rPr sz="1100" b="1" i="0">
                <a:solidFill>
                  <a:srgbClr val="B9C2C9"/>
                </a:solidFill>
                <a:latin typeface="Arial"/>
              </a:rPr>
              <a:t>—</a:t>
            </a:r>
          </a:p>
        </p:txBody>
      </p:sp>
      <p:sp>
        <p:nvSpPr>
          <p:cNvPr id="2103" name="TextBox 2102"/>
          <p:cNvSpPr txBox="1"/>
          <p:nvPr/>
        </p:nvSpPr>
        <p:spPr>
          <a:xfrm>
            <a:off x="7525512" y="4114800"/>
            <a:ext cx="1161288" cy="365760"/>
          </a:xfrm>
          <a:prstGeom prst="rect">
            <a:avLst/>
          </a:prstGeom>
          <a:noFill/>
        </p:spPr>
        <p:txBody>
          <a:bodyPr wrap="square" lIns="0" rIns="0" tIns="0" bIns="0" anchor="ctr">
            <a:spAutoFit/>
          </a:bodyPr>
          <a:lstStyle/>
          <a:p>
            <a:pPr algn="ctr"/>
            <a:r>
              <a:rPr sz="1200" b="1" i="0">
                <a:solidFill>
                  <a:srgbClr val="0E7490"/>
                </a:solidFill>
                <a:latin typeface="Arial"/>
              </a:rPr>
              <a:t>✓</a:t>
            </a:r>
          </a:p>
        </p:txBody>
      </p:sp>
      <p:sp>
        <p:nvSpPr>
          <p:cNvPr id="2104" name="Rectangle 2103"/>
          <p:cNvSpPr/>
          <p:nvPr/>
        </p:nvSpPr>
        <p:spPr>
          <a:xfrm>
            <a:off x="457200" y="4480560"/>
            <a:ext cx="8229600" cy="365760"/>
          </a:xfrm>
          <a:prstGeom prst="rect">
            <a:avLst/>
          </a:prstGeom>
          <a:solidFill>
            <a:srgbClr val="FFFFFF"/>
          </a:solidFill>
          <a:ln>
            <a:noFill/>
          </a:ln>
          <a:effectLst/>
        </p:spPr>
        <p:txBody>
          <a:bodyPr rtlCol="0" anchor="ctr"/>
          <a:lstStyle/>
          <a:p>
            <a:pPr algn="ctr"/>
          </a:p>
        </p:txBody>
      </p:sp>
      <p:sp>
        <p:nvSpPr>
          <p:cNvPr id="2105" name="TextBox 2104"/>
          <p:cNvSpPr txBox="1"/>
          <p:nvPr/>
        </p:nvSpPr>
        <p:spPr>
          <a:xfrm>
            <a:off x="585216" y="4480560"/>
            <a:ext cx="2423160" cy="365760"/>
          </a:xfrm>
          <a:prstGeom prst="rect">
            <a:avLst/>
          </a:prstGeom>
          <a:noFill/>
        </p:spPr>
        <p:txBody>
          <a:bodyPr wrap="square" lIns="0" rIns="0" tIns="0" bIns="0" anchor="ctr">
            <a:spAutoFit/>
          </a:bodyPr>
          <a:lstStyle/>
          <a:p>
            <a:pPr algn="l"/>
            <a:r>
              <a:rPr sz="950" b="1" i="0">
                <a:solidFill>
                  <a:srgbClr val="0F172A"/>
                </a:solidFill>
                <a:latin typeface="Arial"/>
              </a:rPr>
              <a:t>Quantum-kernel latent space</a:t>
            </a:r>
          </a:p>
        </p:txBody>
      </p:sp>
      <p:sp>
        <p:nvSpPr>
          <p:cNvPr id="2106" name="TextBox 2105"/>
          <p:cNvSpPr txBox="1"/>
          <p:nvPr/>
        </p:nvSpPr>
        <p:spPr>
          <a:xfrm>
            <a:off x="3063240" y="4480560"/>
            <a:ext cx="1115568" cy="365760"/>
          </a:xfrm>
          <a:prstGeom prst="rect">
            <a:avLst/>
          </a:prstGeom>
          <a:noFill/>
        </p:spPr>
        <p:txBody>
          <a:bodyPr wrap="square" lIns="0" rIns="0" tIns="0" bIns="0" anchor="ctr">
            <a:spAutoFit/>
          </a:bodyPr>
          <a:lstStyle/>
          <a:p>
            <a:pPr algn="ctr"/>
            <a:r>
              <a:rPr sz="1100" b="1" i="0">
                <a:solidFill>
                  <a:srgbClr val="B9C2C9"/>
                </a:solidFill>
                <a:latin typeface="Arial"/>
              </a:rPr>
              <a:t>—</a:t>
            </a:r>
          </a:p>
        </p:txBody>
      </p:sp>
      <p:sp>
        <p:nvSpPr>
          <p:cNvPr id="2107" name="TextBox 2106"/>
          <p:cNvSpPr txBox="1"/>
          <p:nvPr/>
        </p:nvSpPr>
        <p:spPr>
          <a:xfrm>
            <a:off x="4178808" y="4480560"/>
            <a:ext cx="1115568" cy="365760"/>
          </a:xfrm>
          <a:prstGeom prst="rect">
            <a:avLst/>
          </a:prstGeom>
          <a:noFill/>
        </p:spPr>
        <p:txBody>
          <a:bodyPr wrap="square" lIns="0" rIns="0" tIns="0" bIns="0" anchor="ctr">
            <a:spAutoFit/>
          </a:bodyPr>
          <a:lstStyle/>
          <a:p>
            <a:pPr algn="ctr"/>
            <a:r>
              <a:rPr sz="1100" b="1" i="0">
                <a:solidFill>
                  <a:srgbClr val="B9C2C9"/>
                </a:solidFill>
                <a:latin typeface="Arial"/>
              </a:rPr>
              <a:t>—</a:t>
            </a:r>
          </a:p>
        </p:txBody>
      </p:sp>
      <p:sp>
        <p:nvSpPr>
          <p:cNvPr id="2108" name="TextBox 2107"/>
          <p:cNvSpPr txBox="1"/>
          <p:nvPr/>
        </p:nvSpPr>
        <p:spPr>
          <a:xfrm>
            <a:off x="5294376" y="4480560"/>
            <a:ext cx="1115568" cy="365760"/>
          </a:xfrm>
          <a:prstGeom prst="rect">
            <a:avLst/>
          </a:prstGeom>
          <a:noFill/>
        </p:spPr>
        <p:txBody>
          <a:bodyPr wrap="square" lIns="0" rIns="0" tIns="0" bIns="0" anchor="ctr">
            <a:spAutoFit/>
          </a:bodyPr>
          <a:lstStyle/>
          <a:p>
            <a:pPr algn="ctr"/>
            <a:r>
              <a:rPr sz="1100" b="1" i="0">
                <a:solidFill>
                  <a:srgbClr val="B9C2C9"/>
                </a:solidFill>
                <a:latin typeface="Arial"/>
              </a:rPr>
              <a:t>—</a:t>
            </a:r>
          </a:p>
        </p:txBody>
      </p:sp>
      <p:sp>
        <p:nvSpPr>
          <p:cNvPr id="2109" name="TextBox 2108"/>
          <p:cNvSpPr txBox="1"/>
          <p:nvPr/>
        </p:nvSpPr>
        <p:spPr>
          <a:xfrm>
            <a:off x="6409944" y="4480560"/>
            <a:ext cx="1115568" cy="365760"/>
          </a:xfrm>
          <a:prstGeom prst="rect">
            <a:avLst/>
          </a:prstGeom>
          <a:noFill/>
        </p:spPr>
        <p:txBody>
          <a:bodyPr wrap="square" lIns="0" rIns="0" tIns="0" bIns="0" anchor="ctr">
            <a:spAutoFit/>
          </a:bodyPr>
          <a:lstStyle/>
          <a:p>
            <a:pPr algn="ctr"/>
            <a:r>
              <a:rPr sz="1100" b="1" i="0">
                <a:solidFill>
                  <a:srgbClr val="B9C2C9"/>
                </a:solidFill>
                <a:latin typeface="Arial"/>
              </a:rPr>
              <a:t>—</a:t>
            </a:r>
          </a:p>
        </p:txBody>
      </p:sp>
      <p:sp>
        <p:nvSpPr>
          <p:cNvPr id="2110" name="TextBox 2109"/>
          <p:cNvSpPr txBox="1"/>
          <p:nvPr/>
        </p:nvSpPr>
        <p:spPr>
          <a:xfrm>
            <a:off x="7525512" y="4480560"/>
            <a:ext cx="1161288" cy="365760"/>
          </a:xfrm>
          <a:prstGeom prst="rect">
            <a:avLst/>
          </a:prstGeom>
          <a:noFill/>
        </p:spPr>
        <p:txBody>
          <a:bodyPr wrap="square" lIns="0" rIns="0" tIns="0" bIns="0" anchor="ctr">
            <a:spAutoFit/>
          </a:bodyPr>
          <a:lstStyle/>
          <a:p>
            <a:pPr algn="ctr"/>
            <a:r>
              <a:rPr sz="1200" b="1" i="0">
                <a:solidFill>
                  <a:srgbClr val="0E7490"/>
                </a:solidFill>
                <a:latin typeface="Arial"/>
              </a:rPr>
              <a:t>✓</a:t>
            </a:r>
          </a:p>
        </p:txBody>
      </p:sp>
      <p:sp>
        <p:nvSpPr>
          <p:cNvPr id="2111" name="Rectangle 2110"/>
          <p:cNvSpPr/>
          <p:nvPr/>
        </p:nvSpPr>
        <p:spPr>
          <a:xfrm>
            <a:off x="457200" y="4846320"/>
            <a:ext cx="8229600" cy="365760"/>
          </a:xfrm>
          <a:prstGeom prst="rect">
            <a:avLst/>
          </a:prstGeom>
          <a:solidFill>
            <a:srgbClr val="F6FAFA"/>
          </a:solidFill>
          <a:ln>
            <a:noFill/>
          </a:ln>
          <a:effectLst/>
        </p:spPr>
        <p:txBody>
          <a:bodyPr rtlCol="0" anchor="ctr"/>
          <a:lstStyle/>
          <a:p>
            <a:pPr algn="ctr"/>
          </a:p>
        </p:txBody>
      </p:sp>
      <p:sp>
        <p:nvSpPr>
          <p:cNvPr id="2112" name="TextBox 2111"/>
          <p:cNvSpPr txBox="1"/>
          <p:nvPr/>
        </p:nvSpPr>
        <p:spPr>
          <a:xfrm>
            <a:off x="585216" y="4846320"/>
            <a:ext cx="2423160" cy="365760"/>
          </a:xfrm>
          <a:prstGeom prst="rect">
            <a:avLst/>
          </a:prstGeom>
          <a:noFill/>
        </p:spPr>
        <p:txBody>
          <a:bodyPr wrap="square" lIns="0" rIns="0" tIns="0" bIns="0" anchor="ctr">
            <a:spAutoFit/>
          </a:bodyPr>
          <a:lstStyle/>
          <a:p>
            <a:pPr algn="l"/>
            <a:r>
              <a:rPr sz="950" b="1" i="0">
                <a:solidFill>
                  <a:srgbClr val="0F172A"/>
                </a:solidFill>
                <a:latin typeface="Arial"/>
              </a:rPr>
              <a:t>Grounded, auditable report</a:t>
            </a:r>
          </a:p>
        </p:txBody>
      </p:sp>
      <p:sp>
        <p:nvSpPr>
          <p:cNvPr id="2113" name="TextBox 2112"/>
          <p:cNvSpPr txBox="1"/>
          <p:nvPr/>
        </p:nvSpPr>
        <p:spPr>
          <a:xfrm>
            <a:off x="3063240" y="4846320"/>
            <a:ext cx="1115568" cy="365760"/>
          </a:xfrm>
          <a:prstGeom prst="rect">
            <a:avLst/>
          </a:prstGeom>
          <a:noFill/>
        </p:spPr>
        <p:txBody>
          <a:bodyPr wrap="square" lIns="0" rIns="0" tIns="0" bIns="0" anchor="ctr">
            <a:spAutoFit/>
          </a:bodyPr>
          <a:lstStyle/>
          <a:p>
            <a:pPr algn="ctr"/>
            <a:r>
              <a:rPr sz="1100" b="1" i="0">
                <a:solidFill>
                  <a:srgbClr val="B9C2C9"/>
                </a:solidFill>
                <a:latin typeface="Arial"/>
              </a:rPr>
              <a:t>—</a:t>
            </a:r>
          </a:p>
        </p:txBody>
      </p:sp>
      <p:sp>
        <p:nvSpPr>
          <p:cNvPr id="2114" name="TextBox 2113"/>
          <p:cNvSpPr txBox="1"/>
          <p:nvPr/>
        </p:nvSpPr>
        <p:spPr>
          <a:xfrm>
            <a:off x="4178808" y="4846320"/>
            <a:ext cx="1115568" cy="365760"/>
          </a:xfrm>
          <a:prstGeom prst="rect">
            <a:avLst/>
          </a:prstGeom>
          <a:noFill/>
        </p:spPr>
        <p:txBody>
          <a:bodyPr wrap="square" lIns="0" rIns="0" tIns="0" bIns="0" anchor="ctr">
            <a:spAutoFit/>
          </a:bodyPr>
          <a:lstStyle/>
          <a:p>
            <a:pPr algn="ctr"/>
            <a:r>
              <a:rPr sz="1100" b="1" i="0">
                <a:solidFill>
                  <a:srgbClr val="B98A2F"/>
                </a:solidFill>
                <a:latin typeface="Arial"/>
              </a:rPr>
              <a:t>~</a:t>
            </a:r>
          </a:p>
        </p:txBody>
      </p:sp>
      <p:sp>
        <p:nvSpPr>
          <p:cNvPr id="2115" name="TextBox 2114"/>
          <p:cNvSpPr txBox="1"/>
          <p:nvPr/>
        </p:nvSpPr>
        <p:spPr>
          <a:xfrm>
            <a:off x="5294376" y="4846320"/>
            <a:ext cx="1115568" cy="365760"/>
          </a:xfrm>
          <a:prstGeom prst="rect">
            <a:avLst/>
          </a:prstGeom>
          <a:noFill/>
        </p:spPr>
        <p:txBody>
          <a:bodyPr wrap="square" lIns="0" rIns="0" tIns="0" bIns="0" anchor="ctr">
            <a:spAutoFit/>
          </a:bodyPr>
          <a:lstStyle/>
          <a:p>
            <a:pPr algn="ctr"/>
            <a:r>
              <a:rPr sz="1100" b="1" i="0">
                <a:solidFill>
                  <a:srgbClr val="B9C2C9"/>
                </a:solidFill>
                <a:latin typeface="Arial"/>
              </a:rPr>
              <a:t>—</a:t>
            </a:r>
          </a:p>
        </p:txBody>
      </p:sp>
      <p:sp>
        <p:nvSpPr>
          <p:cNvPr id="2116" name="TextBox 2115"/>
          <p:cNvSpPr txBox="1"/>
          <p:nvPr/>
        </p:nvSpPr>
        <p:spPr>
          <a:xfrm>
            <a:off x="6409944" y="4846320"/>
            <a:ext cx="1115568" cy="365760"/>
          </a:xfrm>
          <a:prstGeom prst="rect">
            <a:avLst/>
          </a:prstGeom>
          <a:noFill/>
        </p:spPr>
        <p:txBody>
          <a:bodyPr wrap="square" lIns="0" rIns="0" tIns="0" bIns="0" anchor="ctr">
            <a:spAutoFit/>
          </a:bodyPr>
          <a:lstStyle/>
          <a:p>
            <a:pPr algn="ctr"/>
            <a:r>
              <a:rPr sz="1100" b="1" i="0">
                <a:solidFill>
                  <a:srgbClr val="B98A2F"/>
                </a:solidFill>
                <a:latin typeface="Arial"/>
              </a:rPr>
              <a:t>~</a:t>
            </a:r>
          </a:p>
        </p:txBody>
      </p:sp>
      <p:sp>
        <p:nvSpPr>
          <p:cNvPr id="2117" name="TextBox 2116"/>
          <p:cNvSpPr txBox="1"/>
          <p:nvPr/>
        </p:nvSpPr>
        <p:spPr>
          <a:xfrm>
            <a:off x="7525512" y="4846320"/>
            <a:ext cx="1161288" cy="365760"/>
          </a:xfrm>
          <a:prstGeom prst="rect">
            <a:avLst/>
          </a:prstGeom>
          <a:noFill/>
        </p:spPr>
        <p:txBody>
          <a:bodyPr wrap="square" lIns="0" rIns="0" tIns="0" bIns="0" anchor="ctr">
            <a:spAutoFit/>
          </a:bodyPr>
          <a:lstStyle/>
          <a:p>
            <a:pPr algn="ctr"/>
            <a:r>
              <a:rPr sz="1200" b="1" i="0">
                <a:solidFill>
                  <a:srgbClr val="0E7490"/>
                </a:solidFill>
                <a:latin typeface="Arial"/>
              </a:rPr>
              <a:t>✓</a:t>
            </a:r>
          </a:p>
        </p:txBody>
      </p:sp>
      <p:sp>
        <p:nvSpPr>
          <p:cNvPr id="2118" name="Rounded Rectangle 2117"/>
          <p:cNvSpPr/>
          <p:nvPr/>
        </p:nvSpPr>
        <p:spPr>
          <a:xfrm>
            <a:off x="7525512" y="2231136"/>
            <a:ext cx="1161288" cy="2980944"/>
          </a:xfrm>
          <a:prstGeom prst="roundRect">
            <a:avLst>
              <a:gd name="adj" fmla="val 4000"/>
            </a:avLst>
          </a:prstGeom>
          <a:noFill/>
          <a:ln w="22225">
            <a:solidFill>
              <a:srgbClr val="0E7490"/>
            </a:solidFill>
          </a:ln>
          <a:effectLst/>
        </p:spPr>
        <p:txBody>
          <a:bodyPr rtlCol="0" anchor="ctr"/>
          <a:lstStyle/>
          <a:p>
            <a:pPr algn="ctr"/>
          </a:p>
        </p:txBody>
      </p:sp>
      <p:sp>
        <p:nvSpPr>
          <p:cNvPr id="2119" name="TextBox 2118"/>
          <p:cNvSpPr txBox="1"/>
          <p:nvPr/>
        </p:nvSpPr>
        <p:spPr>
          <a:xfrm>
            <a:off x="457200" y="5413248"/>
            <a:ext cx="8229600" cy="237744"/>
          </a:xfrm>
          <a:prstGeom prst="rect">
            <a:avLst/>
          </a:prstGeom>
          <a:noFill/>
        </p:spPr>
        <p:txBody>
          <a:bodyPr wrap="square" lIns="0" rIns="0" tIns="0" bIns="0" anchor="t">
            <a:spAutoFit/>
          </a:bodyPr>
          <a:lstStyle/>
          <a:p>
            <a:pPr algn="ctr"/>
            <a:r>
              <a:rPr sz="1050" b="0" i="1">
                <a:solidFill>
                  <a:srgbClr val="5B6672"/>
                </a:solidFill>
                <a:latin typeface="Arial"/>
              </a:rPr>
              <a:t>The unit of novelty is the </a:t>
            </a:r>
            <a:r>
              <a:rPr sz="1050" b="1" i="1">
                <a:solidFill>
                  <a:srgbClr val="0E7490"/>
                </a:solidFill>
                <a:latin typeface="Arial"/>
              </a:rPr>
              <a:t>stack</a:t>
            </a:r>
            <a:r>
              <a:rPr sz="1050" b="0" i="1">
                <a:solidFill>
                  <a:srgbClr val="5B6672"/>
                </a:solidFill>
                <a:latin typeface="Arial"/>
              </a:rPr>
              <a:t>: epistemic reasoning + quantum representation + planning, in one clinical loop.</a:t>
            </a:r>
          </a:p>
        </p:txBody>
      </p:sp>
      <p:sp>
        <p:nvSpPr>
          <p:cNvPr id="2120" name="TextBox 2119"/>
          <p:cNvSpPr txBox="1"/>
          <p:nvPr/>
        </p:nvSpPr>
        <p:spPr>
          <a:xfrm>
            <a:off x="457200" y="5687568"/>
            <a:ext cx="8229600" cy="219456"/>
          </a:xfrm>
          <a:prstGeom prst="rect">
            <a:avLst/>
          </a:prstGeom>
          <a:noFill/>
        </p:spPr>
        <p:txBody>
          <a:bodyPr wrap="square" lIns="0" rIns="0" tIns="0" bIns="0" anchor="t">
            <a:spAutoFit/>
          </a:bodyPr>
          <a:lstStyle/>
          <a:p>
            <a:pPr algn="l"/>
            <a:r>
              <a:rPr sz="800" b="0" i="1">
                <a:solidFill>
                  <a:srgbClr val="5B6672"/>
                </a:solidFill>
                <a:latin typeface="Arial"/>
              </a:rPr>
              <a:t>Rajpurkar 2017 · Tu et al., arXiv:2307.14334 (2023) · Cardoso et al., arXiv:2211.02701 (2022) · Luo et al., Briefings in Bioinformatics 23(6) (2022)</a:t>
            </a:r>
          </a:p>
        </p:txBody>
      </p:sp>
    </p:spTree>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l="-24000" r="-24000"/>
          </a:stretch>
        </a:blipFill>
        <a:effectLst/>
      </p:bgPr>
    </p:bg>
    <p:spTree>
      <p:nvGrpSpPr>
        <p:cNvPr id="1" name=""/>
        <p:cNvGrpSpPr/>
        <p:nvPr/>
      </p:nvGrpSpPr>
      <p:grpSpPr>
        <a:xfrm>
          <a:off x="0" y="0"/>
          <a:ext cx="0" cy="0"/>
          <a:chOff x="0" y="0"/>
          <a:chExt cx="0" cy="0"/>
        </a:xfrm>
      </p:grpSpPr>
      <p:pic>
        <p:nvPicPr>
          <p:cNvPr id="2" name="Picture 3" descr="C:\Users\Admin\Downloads\1764679326535-Photoroom.png"/>
          <p:cNvPicPr>
            <a:picLocks noChangeAspect="1" noChangeArrowheads="1"/>
          </p:cNvPicPr>
          <p:nvPr/>
        </p:nvPicPr>
        <p:blipFill>
          <a:blip r:embed="rId4"/>
          <a:srcRect/>
          <a:stretch>
            <a:fillRect/>
          </a:stretch>
        </p:blipFill>
        <p:spPr bwMode="auto">
          <a:xfrm>
            <a:off x="4108831" y="35671"/>
            <a:ext cx="1285884" cy="1285884"/>
          </a:xfrm>
          <a:prstGeom prst="rect">
            <a:avLst/>
          </a:prstGeom>
          <a:noFill/>
        </p:spPr>
      </p:pic>
      <p:pic>
        <p:nvPicPr>
          <p:cNvPr id="2050" name="Picture 2" descr="C:\Users\Admin\Downloads\RIT.png"/>
          <p:cNvPicPr>
            <a:picLocks noChangeAspect="1" noChangeArrowheads="1"/>
          </p:cNvPicPr>
          <p:nvPr/>
        </p:nvPicPr>
        <p:blipFill>
          <a:blip r:embed="rId5" cstate="print"/>
          <a:srcRect/>
          <a:stretch>
            <a:fillRect/>
          </a:stretch>
        </p:blipFill>
        <p:spPr bwMode="auto">
          <a:xfrm>
            <a:off x="252062" y="285704"/>
            <a:ext cx="3043364" cy="785818"/>
          </a:xfrm>
          <a:prstGeom prst="rect">
            <a:avLst/>
          </a:prstGeom>
          <a:noFill/>
        </p:spPr>
      </p:pic>
      <p:pic>
        <p:nvPicPr>
          <p:cNvPr id="2051" name="Picture 3" descr="C:\Users\Admin\Downloads\IBM_logo.svg.png"/>
          <p:cNvPicPr>
            <a:picLocks noChangeAspect="1" noChangeArrowheads="1"/>
          </p:cNvPicPr>
          <p:nvPr/>
        </p:nvPicPr>
        <p:blipFill>
          <a:blip r:embed="rId6"/>
          <a:srcRect/>
          <a:stretch>
            <a:fillRect/>
          </a:stretch>
        </p:blipFill>
        <p:spPr bwMode="auto">
          <a:xfrm>
            <a:off x="7380312" y="357139"/>
            <a:ext cx="1528257" cy="571504"/>
          </a:xfrm>
          <a:prstGeom prst="rect">
            <a:avLst/>
          </a:prstGeom>
          <a:noFill/>
        </p:spPr>
      </p:pic>
      <p:pic>
        <p:nvPicPr>
          <p:cNvPr id="2053" name="Picture 5" descr="C:\Users\Admin\Downloads\logo-nqm.png"/>
          <p:cNvPicPr>
            <a:picLocks noChangeAspect="1" noChangeArrowheads="1"/>
          </p:cNvPicPr>
          <p:nvPr/>
        </p:nvPicPr>
        <p:blipFill>
          <a:blip r:embed="rId7"/>
          <a:srcRect/>
          <a:stretch>
            <a:fillRect/>
          </a:stretch>
        </p:blipFill>
        <p:spPr bwMode="auto">
          <a:xfrm>
            <a:off x="5519518" y="249994"/>
            <a:ext cx="710054" cy="785794"/>
          </a:xfrm>
          <a:prstGeom prst="rect">
            <a:avLst/>
          </a:prstGeom>
          <a:noFill/>
        </p:spPr>
      </p:pic>
      <p:sp>
        <p:nvSpPr>
          <p:cNvPr id="11" name="Footer Placeholder 10"/>
          <p:cNvSpPr>
            <a:spLocks noGrp="1"/>
          </p:cNvSpPr>
          <p:nvPr>
            <p:ph type="ftr" sz="quarter" idx="11"/>
          </p:nvPr>
        </p:nvSpPr>
        <p:spPr>
          <a:xfrm>
            <a:off x="304800" y="6410848"/>
            <a:ext cx="6196026" cy="232862"/>
          </a:xfrm>
        </p:spPr>
        <p:txBody>
          <a:bodyPr/>
          <a:lstStyle/>
          <a:p>
            <a:r>
              <a:rPr lang="en-IN" i="1" dirty="0" smtClean="0">
                <a:solidFill>
                  <a:schemeClr val="tx1"/>
                </a:solidFill>
                <a:latin typeface="Arial Rounded MT Bold" pitchFamily="34" charset="0"/>
              </a:rPr>
              <a:t>RIT – QUANT-A-THAN- 2026 (Innovate, Build, Transform)</a:t>
            </a:r>
            <a:endParaRPr lang="en-IN" i="1" dirty="0">
              <a:solidFill>
                <a:schemeClr val="tx1"/>
              </a:solidFill>
              <a:latin typeface="Arial Rounded MT Bold" pitchFamily="34" charset="0"/>
            </a:endParaRPr>
          </a:p>
        </p:txBody>
      </p:sp>
      <p:pic>
        <p:nvPicPr>
          <p:cNvPr id="5" name="Picture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88734" y="285704"/>
            <a:ext cx="866775" cy="714375"/>
          </a:xfrm>
          <a:prstGeom prst="rect">
            <a:avLst/>
          </a:prstGeom>
        </p:spPr>
      </p:pic>
      <p:sp>
        <p:nvSpPr>
          <p:cNvPr id="2054" name="TextBox 2053"/>
          <p:cNvSpPr txBox="1"/>
          <p:nvPr/>
        </p:nvSpPr>
        <p:spPr>
          <a:xfrm>
            <a:off x="457200" y="1133856"/>
            <a:ext cx="8229600" cy="237744"/>
          </a:xfrm>
          <a:prstGeom prst="rect">
            <a:avLst/>
          </a:prstGeom>
          <a:noFill/>
        </p:spPr>
        <p:txBody>
          <a:bodyPr wrap="square" lIns="0" rIns="0" tIns="0" bIns="0" anchor="t">
            <a:spAutoFit/>
          </a:bodyPr>
          <a:lstStyle/>
          <a:p>
            <a:pPr algn="l"/>
            <a:r>
              <a:rPr sz="1050" b="1" i="0" spc="280">
                <a:solidFill>
                  <a:srgbClr val="5B6672"/>
                </a:solidFill>
                <a:latin typeface="Arial"/>
              </a:rPr>
              <a:t>12  ·  </a:t>
            </a:r>
            <a:r>
              <a:rPr sz="1050" b="1" i="0" spc="280">
                <a:solidFill>
                  <a:srgbClr val="0E7490"/>
                </a:solidFill>
                <a:latin typeface="Arial"/>
              </a:rPr>
              <a:t>ROADMAP</a:t>
            </a:r>
          </a:p>
        </p:txBody>
      </p:sp>
      <p:sp>
        <p:nvSpPr>
          <p:cNvPr id="2055" name="TextBox 2054"/>
          <p:cNvSpPr txBox="1"/>
          <p:nvPr/>
        </p:nvSpPr>
        <p:spPr>
          <a:xfrm>
            <a:off x="457200" y="1371600"/>
            <a:ext cx="8229600" cy="475488"/>
          </a:xfrm>
          <a:prstGeom prst="rect">
            <a:avLst/>
          </a:prstGeom>
          <a:noFill/>
        </p:spPr>
        <p:txBody>
          <a:bodyPr wrap="square" lIns="0" rIns="0" tIns="0" bIns="0" anchor="t">
            <a:spAutoFit/>
          </a:bodyPr>
          <a:lstStyle/>
          <a:p>
            <a:pPr algn="l"/>
            <a:r>
              <a:rPr sz="2600" b="1" i="0" spc="-20">
                <a:solidFill>
                  <a:srgbClr val="0F172A"/>
                </a:solidFill>
                <a:latin typeface="Arial"/>
              </a:rPr>
              <a:t>From one scanner to a quantum clinical network</a:t>
            </a:r>
          </a:p>
        </p:txBody>
      </p:sp>
      <p:sp>
        <p:nvSpPr>
          <p:cNvPr id="2056" name="TextBox 2055"/>
          <p:cNvSpPr txBox="1"/>
          <p:nvPr/>
        </p:nvSpPr>
        <p:spPr>
          <a:xfrm>
            <a:off x="457200" y="1874519"/>
            <a:ext cx="8229600" cy="274320"/>
          </a:xfrm>
          <a:prstGeom prst="rect">
            <a:avLst/>
          </a:prstGeom>
          <a:noFill/>
        </p:spPr>
        <p:txBody>
          <a:bodyPr wrap="square" lIns="0" rIns="0" tIns="0" bIns="0" anchor="t">
            <a:spAutoFit/>
          </a:bodyPr>
          <a:lstStyle/>
          <a:p>
            <a:pPr algn="l"/>
            <a:r>
              <a:rPr sz="1150" b="0" i="1">
                <a:solidFill>
                  <a:srgbClr val="5B6672"/>
                </a:solidFill>
                <a:latin typeface="Arial"/>
              </a:rPr>
              <a:t>Purpose - a staged, hardware-realistic research program - not science fiction.</a:t>
            </a:r>
          </a:p>
        </p:txBody>
      </p:sp>
      <p:cxnSp>
        <p:nvCxnSpPr>
          <p:cNvPr id="2057" name="Connector 2056"/>
          <p:cNvCxnSpPr/>
          <p:nvPr/>
        </p:nvCxnSpPr>
        <p:spPr>
          <a:xfrm>
            <a:off x="640080" y="3950208"/>
            <a:ext cx="7863840" cy="0"/>
          </a:xfrm>
          <a:prstGeom prst="line">
            <a:avLst/>
          </a:prstGeom>
          <a:ln w="22225">
            <a:solidFill>
              <a:srgbClr val="0D9488"/>
            </a:solidFill>
            <a:prstDash val="sysDash"/>
          </a:ln>
          <a:effectLst/>
        </p:spPr>
      </p:cxnSp>
      <p:sp>
        <p:nvSpPr>
          <p:cNvPr id="2058" name="Oval 2057"/>
          <p:cNvSpPr/>
          <p:nvPr/>
        </p:nvSpPr>
        <p:spPr>
          <a:xfrm>
            <a:off x="1252728" y="3877056"/>
            <a:ext cx="146304" cy="146304"/>
          </a:xfrm>
          <a:prstGeom prst="ellipse">
            <a:avLst/>
          </a:prstGeom>
          <a:solidFill>
            <a:srgbClr val="2DD4BF"/>
          </a:solidFill>
          <a:ln w="12700">
            <a:solidFill>
              <a:srgbClr val="0D9488"/>
            </a:solidFill>
          </a:ln>
          <a:effectLst/>
        </p:spPr>
        <p:txBody>
          <a:bodyPr rtlCol="0" anchor="ctr" lIns="0" rIns="0" tIns="0" bIns="0"/>
          <a:lstStyle/>
          <a:p>
            <a:pPr algn="ctr"/>
            <a:r>
              <a:rPr sz="1300" b="1">
                <a:solidFill>
                  <a:srgbClr val="0E7490"/>
                </a:solidFill>
                <a:latin typeface="Arial"/>
              </a:rPr>
              <a:t/>
            </a:r>
          </a:p>
        </p:txBody>
      </p:sp>
      <p:sp>
        <p:nvSpPr>
          <p:cNvPr id="2059" name="Rounded Rectangle 2058"/>
          <p:cNvSpPr/>
          <p:nvPr/>
        </p:nvSpPr>
        <p:spPr>
          <a:xfrm>
            <a:off x="822960" y="2724912"/>
            <a:ext cx="1572768" cy="969264"/>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60" name="TextBox 2059"/>
          <p:cNvSpPr txBox="1"/>
          <p:nvPr/>
        </p:nvSpPr>
        <p:spPr>
          <a:xfrm>
            <a:off x="932688" y="2798064"/>
            <a:ext cx="1371600" cy="182880"/>
          </a:xfrm>
          <a:prstGeom prst="rect">
            <a:avLst/>
          </a:prstGeom>
          <a:noFill/>
        </p:spPr>
        <p:txBody>
          <a:bodyPr wrap="square" lIns="0" rIns="0" tIns="0" bIns="0" anchor="t">
            <a:spAutoFit/>
          </a:bodyPr>
          <a:lstStyle/>
          <a:p>
            <a:pPr algn="l"/>
            <a:r>
              <a:rPr sz="850" b="1" i="0" spc="120">
                <a:solidFill>
                  <a:srgbClr val="0E7490"/>
                </a:solidFill>
                <a:latin typeface="Arial"/>
              </a:rPr>
              <a:t>2026 H2</a:t>
            </a:r>
          </a:p>
        </p:txBody>
      </p:sp>
      <p:sp>
        <p:nvSpPr>
          <p:cNvPr id="2061" name="TextBox 2060"/>
          <p:cNvSpPr txBox="1"/>
          <p:nvPr/>
        </p:nvSpPr>
        <p:spPr>
          <a:xfrm>
            <a:off x="932688" y="2980944"/>
            <a:ext cx="1371600" cy="310896"/>
          </a:xfrm>
          <a:prstGeom prst="rect">
            <a:avLst/>
          </a:prstGeom>
          <a:noFill/>
        </p:spPr>
        <p:txBody>
          <a:bodyPr wrap="square" lIns="0" rIns="0" tIns="0" bIns="0" anchor="t">
            <a:spAutoFit/>
          </a:bodyPr>
          <a:lstStyle/>
          <a:p>
            <a:pPr algn="l">
              <a:lnSpc>
                <a:spcPct val="95000"/>
              </a:lnSpc>
            </a:pPr>
            <a:r>
              <a:rPr sz="950" b="1" i="0">
                <a:solidFill>
                  <a:srgbClr val="0F172A"/>
                </a:solidFill>
                <a:latin typeface="Arial"/>
              </a:rPr>
              <a:t>Clinical pilot</a:t>
            </a:r>
          </a:p>
        </p:txBody>
      </p:sp>
      <p:sp>
        <p:nvSpPr>
          <p:cNvPr id="2062" name="TextBox 2061"/>
          <p:cNvSpPr txBox="1"/>
          <p:nvPr/>
        </p:nvSpPr>
        <p:spPr>
          <a:xfrm>
            <a:off x="932688" y="3291840"/>
            <a:ext cx="1371600" cy="384048"/>
          </a:xfrm>
          <a:prstGeom prst="rect">
            <a:avLst/>
          </a:prstGeom>
          <a:noFill/>
        </p:spPr>
        <p:txBody>
          <a:bodyPr wrap="square" lIns="0" rIns="0" tIns="0" bIns="0" anchor="t">
            <a:spAutoFit/>
          </a:bodyPr>
          <a:lstStyle/>
          <a:p>
            <a:pPr algn="l">
              <a:lnSpc>
                <a:spcPct val="95000"/>
              </a:lnSpc>
            </a:pPr>
            <a:r>
              <a:rPr sz="720" b="0" i="0">
                <a:solidFill>
                  <a:srgbClr val="5B6672"/>
                </a:solidFill>
                <a:latin typeface="Arial"/>
              </a:rPr>
              <a:t>retrospective multi-site validation on public CXR cohorts</a:t>
            </a:r>
          </a:p>
        </p:txBody>
      </p:sp>
      <p:cxnSp>
        <p:nvCxnSpPr>
          <p:cNvPr id="2063" name="Connector 2062"/>
          <p:cNvCxnSpPr/>
          <p:nvPr/>
        </p:nvCxnSpPr>
        <p:spPr>
          <a:xfrm flipV="1">
            <a:off x="1325880" y="3694176"/>
            <a:ext cx="0" cy="182880"/>
          </a:xfrm>
          <a:prstGeom prst="line">
            <a:avLst/>
          </a:prstGeom>
          <a:ln w="12700">
            <a:solidFill>
              <a:srgbClr val="C6E4E1"/>
            </a:solidFill>
          </a:ln>
          <a:effectLst/>
        </p:spPr>
      </p:cxnSp>
      <p:sp>
        <p:nvSpPr>
          <p:cNvPr id="2064" name="Oval 2063"/>
          <p:cNvSpPr/>
          <p:nvPr/>
        </p:nvSpPr>
        <p:spPr>
          <a:xfrm>
            <a:off x="2843784" y="3877056"/>
            <a:ext cx="146304" cy="146304"/>
          </a:xfrm>
          <a:prstGeom prst="ellipse">
            <a:avLst/>
          </a:prstGeom>
          <a:solidFill>
            <a:srgbClr val="2DD4BF"/>
          </a:solidFill>
          <a:ln w="12700">
            <a:solidFill>
              <a:srgbClr val="0D9488"/>
            </a:solidFill>
          </a:ln>
          <a:effectLst/>
        </p:spPr>
        <p:txBody>
          <a:bodyPr rtlCol="0" anchor="ctr" lIns="0" rIns="0" tIns="0" bIns="0"/>
          <a:lstStyle/>
          <a:p>
            <a:pPr algn="ctr"/>
            <a:r>
              <a:rPr sz="1300" b="1">
                <a:solidFill>
                  <a:srgbClr val="0E7490"/>
                </a:solidFill>
                <a:latin typeface="Arial"/>
              </a:rPr>
              <a:t/>
            </a:r>
          </a:p>
        </p:txBody>
      </p:sp>
      <p:sp>
        <p:nvSpPr>
          <p:cNvPr id="2065" name="Rounded Rectangle 2064"/>
          <p:cNvSpPr/>
          <p:nvPr/>
        </p:nvSpPr>
        <p:spPr>
          <a:xfrm>
            <a:off x="2414016" y="4261104"/>
            <a:ext cx="1572768" cy="969264"/>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66" name="TextBox 2065"/>
          <p:cNvSpPr txBox="1"/>
          <p:nvPr/>
        </p:nvSpPr>
        <p:spPr>
          <a:xfrm>
            <a:off x="2523744" y="4334256"/>
            <a:ext cx="1371600" cy="182880"/>
          </a:xfrm>
          <a:prstGeom prst="rect">
            <a:avLst/>
          </a:prstGeom>
          <a:noFill/>
        </p:spPr>
        <p:txBody>
          <a:bodyPr wrap="square" lIns="0" rIns="0" tIns="0" bIns="0" anchor="t">
            <a:spAutoFit/>
          </a:bodyPr>
          <a:lstStyle/>
          <a:p>
            <a:pPr algn="l"/>
            <a:r>
              <a:rPr sz="850" b="1" i="0" spc="120">
                <a:solidFill>
                  <a:srgbClr val="0E7490"/>
                </a:solidFill>
                <a:latin typeface="Arial"/>
              </a:rPr>
              <a:t>2027</a:t>
            </a:r>
          </a:p>
        </p:txBody>
      </p:sp>
      <p:sp>
        <p:nvSpPr>
          <p:cNvPr id="2067" name="TextBox 2066"/>
          <p:cNvSpPr txBox="1"/>
          <p:nvPr/>
        </p:nvSpPr>
        <p:spPr>
          <a:xfrm>
            <a:off x="2523744" y="4517136"/>
            <a:ext cx="1371600" cy="310896"/>
          </a:xfrm>
          <a:prstGeom prst="rect">
            <a:avLst/>
          </a:prstGeom>
          <a:noFill/>
        </p:spPr>
        <p:txBody>
          <a:bodyPr wrap="square" lIns="0" rIns="0" tIns="0" bIns="0" anchor="t">
            <a:spAutoFit/>
          </a:bodyPr>
          <a:lstStyle/>
          <a:p>
            <a:pPr algn="l">
              <a:lnSpc>
                <a:spcPct val="95000"/>
              </a:lnSpc>
            </a:pPr>
            <a:r>
              <a:rPr sz="950" b="1" i="0">
                <a:solidFill>
                  <a:srgbClr val="0F172A"/>
                </a:solidFill>
                <a:latin typeface="Arial"/>
              </a:rPr>
              <a:t>Quantum federated learning</a:t>
            </a:r>
          </a:p>
        </p:txBody>
      </p:sp>
      <p:sp>
        <p:nvSpPr>
          <p:cNvPr id="2068" name="TextBox 2067"/>
          <p:cNvSpPr txBox="1"/>
          <p:nvPr/>
        </p:nvSpPr>
        <p:spPr>
          <a:xfrm>
            <a:off x="2523744" y="4828032"/>
            <a:ext cx="1371600" cy="384048"/>
          </a:xfrm>
          <a:prstGeom prst="rect">
            <a:avLst/>
          </a:prstGeom>
          <a:noFill/>
        </p:spPr>
        <p:txBody>
          <a:bodyPr wrap="square" lIns="0" rIns="0" tIns="0" bIns="0" anchor="t">
            <a:spAutoFit/>
          </a:bodyPr>
          <a:lstStyle/>
          <a:p>
            <a:pPr algn="l">
              <a:lnSpc>
                <a:spcPct val="95000"/>
              </a:lnSpc>
            </a:pPr>
            <a:r>
              <a:rPr sz="720" b="0" i="0">
                <a:solidFill>
                  <a:srgbClr val="5B6672"/>
                </a:solidFill>
                <a:latin typeface="Arial"/>
              </a:rPr>
              <a:t>hospital-local encoders; only kernel statistics leave the site</a:t>
            </a:r>
          </a:p>
        </p:txBody>
      </p:sp>
      <p:cxnSp>
        <p:nvCxnSpPr>
          <p:cNvPr id="2069" name="Connector 2068"/>
          <p:cNvCxnSpPr/>
          <p:nvPr/>
        </p:nvCxnSpPr>
        <p:spPr>
          <a:xfrm>
            <a:off x="2916936" y="4023360"/>
            <a:ext cx="0" cy="237744"/>
          </a:xfrm>
          <a:prstGeom prst="line">
            <a:avLst/>
          </a:prstGeom>
          <a:ln w="12700">
            <a:solidFill>
              <a:srgbClr val="C6E4E1"/>
            </a:solidFill>
          </a:ln>
          <a:effectLst/>
        </p:spPr>
      </p:cxnSp>
      <p:sp>
        <p:nvSpPr>
          <p:cNvPr id="2070" name="Oval 2069"/>
          <p:cNvSpPr/>
          <p:nvPr/>
        </p:nvSpPr>
        <p:spPr>
          <a:xfrm>
            <a:off x="4434840" y="3877056"/>
            <a:ext cx="146304" cy="146304"/>
          </a:xfrm>
          <a:prstGeom prst="ellipse">
            <a:avLst/>
          </a:prstGeom>
          <a:solidFill>
            <a:srgbClr val="2DD4BF"/>
          </a:solidFill>
          <a:ln w="12700">
            <a:solidFill>
              <a:srgbClr val="0D9488"/>
            </a:solidFill>
          </a:ln>
          <a:effectLst/>
        </p:spPr>
        <p:txBody>
          <a:bodyPr rtlCol="0" anchor="ctr" lIns="0" rIns="0" tIns="0" bIns="0"/>
          <a:lstStyle/>
          <a:p>
            <a:pPr algn="ctr"/>
            <a:r>
              <a:rPr sz="1300" b="1">
                <a:solidFill>
                  <a:srgbClr val="0E7490"/>
                </a:solidFill>
                <a:latin typeface="Arial"/>
              </a:rPr>
              <a:t/>
            </a:r>
          </a:p>
        </p:txBody>
      </p:sp>
      <p:sp>
        <p:nvSpPr>
          <p:cNvPr id="2071" name="Rounded Rectangle 2070"/>
          <p:cNvSpPr/>
          <p:nvPr/>
        </p:nvSpPr>
        <p:spPr>
          <a:xfrm>
            <a:off x="4005072" y="2724912"/>
            <a:ext cx="1572768" cy="969264"/>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72" name="TextBox 2071"/>
          <p:cNvSpPr txBox="1"/>
          <p:nvPr/>
        </p:nvSpPr>
        <p:spPr>
          <a:xfrm>
            <a:off x="4114800" y="2798064"/>
            <a:ext cx="1371600" cy="182880"/>
          </a:xfrm>
          <a:prstGeom prst="rect">
            <a:avLst/>
          </a:prstGeom>
          <a:noFill/>
        </p:spPr>
        <p:txBody>
          <a:bodyPr wrap="square" lIns="0" rIns="0" tIns="0" bIns="0" anchor="t">
            <a:spAutoFit/>
          </a:bodyPr>
          <a:lstStyle/>
          <a:p>
            <a:pPr algn="l"/>
            <a:r>
              <a:rPr sz="850" b="1" i="0" spc="120">
                <a:solidFill>
                  <a:srgbClr val="0E7490"/>
                </a:solidFill>
                <a:latin typeface="Arial"/>
              </a:rPr>
              <a:t>2027-28</a:t>
            </a:r>
          </a:p>
        </p:txBody>
      </p:sp>
      <p:sp>
        <p:nvSpPr>
          <p:cNvPr id="2073" name="TextBox 2072"/>
          <p:cNvSpPr txBox="1"/>
          <p:nvPr/>
        </p:nvSpPr>
        <p:spPr>
          <a:xfrm>
            <a:off x="4114800" y="2980944"/>
            <a:ext cx="1371600" cy="310896"/>
          </a:xfrm>
          <a:prstGeom prst="rect">
            <a:avLst/>
          </a:prstGeom>
          <a:noFill/>
        </p:spPr>
        <p:txBody>
          <a:bodyPr wrap="square" lIns="0" rIns="0" tIns="0" bIns="0" anchor="t">
            <a:spAutoFit/>
          </a:bodyPr>
          <a:lstStyle/>
          <a:p>
            <a:pPr algn="l">
              <a:lnSpc>
                <a:spcPct val="95000"/>
              </a:lnSpc>
            </a:pPr>
            <a:r>
              <a:rPr sz="950" b="1" i="0">
                <a:solidFill>
                  <a:srgbClr val="0F172A"/>
                </a:solidFill>
                <a:latin typeface="Arial"/>
              </a:rPr>
              <a:t>Digital-twin priors</a:t>
            </a:r>
          </a:p>
        </p:txBody>
      </p:sp>
      <p:sp>
        <p:nvSpPr>
          <p:cNvPr id="2074" name="TextBox 2073"/>
          <p:cNvSpPr txBox="1"/>
          <p:nvPr/>
        </p:nvSpPr>
        <p:spPr>
          <a:xfrm>
            <a:off x="4114800" y="3291840"/>
            <a:ext cx="1371600" cy="384048"/>
          </a:xfrm>
          <a:prstGeom prst="rect">
            <a:avLst/>
          </a:prstGeom>
          <a:noFill/>
        </p:spPr>
        <p:txBody>
          <a:bodyPr wrap="square" lIns="0" rIns="0" tIns="0" bIns="0" anchor="t">
            <a:spAutoFit/>
          </a:bodyPr>
          <a:lstStyle/>
          <a:p>
            <a:pPr algn="l">
              <a:lnSpc>
                <a:spcPct val="95000"/>
              </a:lnSpc>
            </a:pPr>
            <a:r>
              <a:rPr sz="720" b="0" i="0">
                <a:solidFill>
                  <a:srgbClr val="5B6672"/>
                </a:solidFill>
                <a:latin typeface="Arial"/>
              </a:rPr>
              <a:t>patient-specific progression models seed the belief graph</a:t>
            </a:r>
          </a:p>
        </p:txBody>
      </p:sp>
      <p:cxnSp>
        <p:nvCxnSpPr>
          <p:cNvPr id="2075" name="Connector 2074"/>
          <p:cNvCxnSpPr/>
          <p:nvPr/>
        </p:nvCxnSpPr>
        <p:spPr>
          <a:xfrm flipV="1">
            <a:off x="4507992" y="3694176"/>
            <a:ext cx="0" cy="182880"/>
          </a:xfrm>
          <a:prstGeom prst="line">
            <a:avLst/>
          </a:prstGeom>
          <a:ln w="12700">
            <a:solidFill>
              <a:srgbClr val="C6E4E1"/>
            </a:solidFill>
          </a:ln>
          <a:effectLst/>
        </p:spPr>
      </p:cxnSp>
      <p:sp>
        <p:nvSpPr>
          <p:cNvPr id="2076" name="Oval 2075"/>
          <p:cNvSpPr/>
          <p:nvPr/>
        </p:nvSpPr>
        <p:spPr>
          <a:xfrm>
            <a:off x="6025896" y="3877056"/>
            <a:ext cx="146304" cy="146304"/>
          </a:xfrm>
          <a:prstGeom prst="ellipse">
            <a:avLst/>
          </a:prstGeom>
          <a:solidFill>
            <a:srgbClr val="2DD4BF"/>
          </a:solidFill>
          <a:ln w="12700">
            <a:solidFill>
              <a:srgbClr val="0D9488"/>
            </a:solidFill>
          </a:ln>
          <a:effectLst/>
        </p:spPr>
        <p:txBody>
          <a:bodyPr rtlCol="0" anchor="ctr" lIns="0" rIns="0" tIns="0" bIns="0"/>
          <a:lstStyle/>
          <a:p>
            <a:pPr algn="ctr"/>
            <a:r>
              <a:rPr sz="1300" b="1">
                <a:solidFill>
                  <a:srgbClr val="0E7490"/>
                </a:solidFill>
                <a:latin typeface="Arial"/>
              </a:rPr>
              <a:t/>
            </a:r>
          </a:p>
        </p:txBody>
      </p:sp>
      <p:sp>
        <p:nvSpPr>
          <p:cNvPr id="2077" name="Rounded Rectangle 2076"/>
          <p:cNvSpPr/>
          <p:nvPr/>
        </p:nvSpPr>
        <p:spPr>
          <a:xfrm>
            <a:off x="5596128" y="4261104"/>
            <a:ext cx="1572768" cy="969264"/>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78" name="TextBox 2077"/>
          <p:cNvSpPr txBox="1"/>
          <p:nvPr/>
        </p:nvSpPr>
        <p:spPr>
          <a:xfrm>
            <a:off x="5705856" y="4334256"/>
            <a:ext cx="1371600" cy="182880"/>
          </a:xfrm>
          <a:prstGeom prst="rect">
            <a:avLst/>
          </a:prstGeom>
          <a:noFill/>
        </p:spPr>
        <p:txBody>
          <a:bodyPr wrap="square" lIns="0" rIns="0" tIns="0" bIns="0" anchor="t">
            <a:spAutoFit/>
          </a:bodyPr>
          <a:lstStyle/>
          <a:p>
            <a:pPr algn="l"/>
            <a:r>
              <a:rPr sz="850" b="1" i="0" spc="120">
                <a:solidFill>
                  <a:srgbClr val="0E7490"/>
                </a:solidFill>
                <a:latin typeface="Arial"/>
              </a:rPr>
              <a:t>2028</a:t>
            </a:r>
          </a:p>
        </p:txBody>
      </p:sp>
      <p:sp>
        <p:nvSpPr>
          <p:cNvPr id="2079" name="TextBox 2078"/>
          <p:cNvSpPr txBox="1"/>
          <p:nvPr/>
        </p:nvSpPr>
        <p:spPr>
          <a:xfrm>
            <a:off x="5705856" y="4517136"/>
            <a:ext cx="1371600" cy="310896"/>
          </a:xfrm>
          <a:prstGeom prst="rect">
            <a:avLst/>
          </a:prstGeom>
          <a:noFill/>
        </p:spPr>
        <p:txBody>
          <a:bodyPr wrap="square" lIns="0" rIns="0" tIns="0" bIns="0" anchor="t">
            <a:spAutoFit/>
          </a:bodyPr>
          <a:lstStyle/>
          <a:p>
            <a:pPr algn="l">
              <a:lnSpc>
                <a:spcPct val="95000"/>
              </a:lnSpc>
            </a:pPr>
            <a:r>
              <a:rPr sz="950" b="1" i="0">
                <a:solidFill>
                  <a:srgbClr val="0F172A"/>
                </a:solidFill>
                <a:latin typeface="Arial"/>
              </a:rPr>
              <a:t>Hardware kernels</a:t>
            </a:r>
          </a:p>
        </p:txBody>
      </p:sp>
      <p:sp>
        <p:nvSpPr>
          <p:cNvPr id="2080" name="TextBox 2079"/>
          <p:cNvSpPr txBox="1"/>
          <p:nvPr/>
        </p:nvSpPr>
        <p:spPr>
          <a:xfrm>
            <a:off x="5705856" y="4828032"/>
            <a:ext cx="1371600" cy="384048"/>
          </a:xfrm>
          <a:prstGeom prst="rect">
            <a:avLst/>
          </a:prstGeom>
          <a:noFill/>
        </p:spPr>
        <p:txBody>
          <a:bodyPr wrap="square" lIns="0" rIns="0" tIns="0" bIns="0" anchor="t">
            <a:spAutoFit/>
          </a:bodyPr>
          <a:lstStyle/>
          <a:p>
            <a:pPr algn="l">
              <a:lnSpc>
                <a:spcPct val="95000"/>
              </a:lnSpc>
            </a:pPr>
            <a:r>
              <a:rPr sz="720" b="0" i="0">
                <a:solidFill>
                  <a:srgbClr val="5B6672"/>
                </a:solidFill>
                <a:latin typeface="Arial"/>
              </a:rPr>
              <a:t>similarity search on early fault-tolerant QPUs</a:t>
            </a:r>
          </a:p>
        </p:txBody>
      </p:sp>
      <p:cxnSp>
        <p:nvCxnSpPr>
          <p:cNvPr id="2081" name="Connector 2080"/>
          <p:cNvCxnSpPr/>
          <p:nvPr/>
        </p:nvCxnSpPr>
        <p:spPr>
          <a:xfrm>
            <a:off x="6099048" y="4023360"/>
            <a:ext cx="0" cy="237744"/>
          </a:xfrm>
          <a:prstGeom prst="line">
            <a:avLst/>
          </a:prstGeom>
          <a:ln w="12700">
            <a:solidFill>
              <a:srgbClr val="C6E4E1"/>
            </a:solidFill>
          </a:ln>
          <a:effectLst/>
        </p:spPr>
      </p:cxnSp>
      <p:sp>
        <p:nvSpPr>
          <p:cNvPr id="2082" name="Oval 2081"/>
          <p:cNvSpPr/>
          <p:nvPr/>
        </p:nvSpPr>
        <p:spPr>
          <a:xfrm>
            <a:off x="7616952" y="3877056"/>
            <a:ext cx="146304" cy="146304"/>
          </a:xfrm>
          <a:prstGeom prst="ellipse">
            <a:avLst/>
          </a:prstGeom>
          <a:solidFill>
            <a:srgbClr val="2DD4BF"/>
          </a:solidFill>
          <a:ln w="12700">
            <a:solidFill>
              <a:srgbClr val="0D9488"/>
            </a:solidFill>
          </a:ln>
          <a:effectLst/>
        </p:spPr>
        <p:txBody>
          <a:bodyPr rtlCol="0" anchor="ctr" lIns="0" rIns="0" tIns="0" bIns="0"/>
          <a:lstStyle/>
          <a:p>
            <a:pPr algn="ctr"/>
            <a:r>
              <a:rPr sz="1300" b="1">
                <a:solidFill>
                  <a:srgbClr val="0E7490"/>
                </a:solidFill>
                <a:latin typeface="Arial"/>
              </a:rPr>
              <a:t/>
            </a:r>
          </a:p>
        </p:txBody>
      </p:sp>
      <p:sp>
        <p:nvSpPr>
          <p:cNvPr id="2083" name="Rounded Rectangle 2082"/>
          <p:cNvSpPr/>
          <p:nvPr/>
        </p:nvSpPr>
        <p:spPr>
          <a:xfrm>
            <a:off x="7187184" y="2724912"/>
            <a:ext cx="1572768" cy="969264"/>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84" name="TextBox 2083"/>
          <p:cNvSpPr txBox="1"/>
          <p:nvPr/>
        </p:nvSpPr>
        <p:spPr>
          <a:xfrm>
            <a:off x="7296912" y="2798064"/>
            <a:ext cx="1371600" cy="182880"/>
          </a:xfrm>
          <a:prstGeom prst="rect">
            <a:avLst/>
          </a:prstGeom>
          <a:noFill/>
        </p:spPr>
        <p:txBody>
          <a:bodyPr wrap="square" lIns="0" rIns="0" tIns="0" bIns="0" anchor="t">
            <a:spAutoFit/>
          </a:bodyPr>
          <a:lstStyle/>
          <a:p>
            <a:pPr algn="l"/>
            <a:r>
              <a:rPr sz="850" b="1" i="0" spc="120">
                <a:solidFill>
                  <a:srgbClr val="0E7490"/>
                </a:solidFill>
                <a:latin typeface="Arial"/>
              </a:rPr>
              <a:t>2029</a:t>
            </a:r>
          </a:p>
        </p:txBody>
      </p:sp>
      <p:sp>
        <p:nvSpPr>
          <p:cNvPr id="2085" name="TextBox 2084"/>
          <p:cNvSpPr txBox="1"/>
          <p:nvPr/>
        </p:nvSpPr>
        <p:spPr>
          <a:xfrm>
            <a:off x="7296912" y="2980944"/>
            <a:ext cx="1371600" cy="310896"/>
          </a:xfrm>
          <a:prstGeom prst="rect">
            <a:avLst/>
          </a:prstGeom>
          <a:noFill/>
        </p:spPr>
        <p:txBody>
          <a:bodyPr wrap="square" lIns="0" rIns="0" tIns="0" bIns="0" anchor="t">
            <a:spAutoFit/>
          </a:bodyPr>
          <a:lstStyle/>
          <a:p>
            <a:pPr algn="l">
              <a:lnSpc>
                <a:spcPct val="95000"/>
              </a:lnSpc>
            </a:pPr>
            <a:r>
              <a:rPr sz="950" b="1" i="0">
                <a:solidFill>
                  <a:srgbClr val="0F172A"/>
                </a:solidFill>
                <a:latin typeface="Arial"/>
              </a:rPr>
              <a:t>ICU real-time agents</a:t>
            </a:r>
          </a:p>
        </p:txBody>
      </p:sp>
      <p:sp>
        <p:nvSpPr>
          <p:cNvPr id="2086" name="TextBox 2085"/>
          <p:cNvSpPr txBox="1"/>
          <p:nvPr/>
        </p:nvSpPr>
        <p:spPr>
          <a:xfrm>
            <a:off x="7296912" y="3291840"/>
            <a:ext cx="1371600" cy="384048"/>
          </a:xfrm>
          <a:prstGeom prst="rect">
            <a:avLst/>
          </a:prstGeom>
          <a:noFill/>
        </p:spPr>
        <p:txBody>
          <a:bodyPr wrap="square" lIns="0" rIns="0" tIns="0" bIns="0" anchor="t">
            <a:spAutoFit/>
          </a:bodyPr>
          <a:lstStyle/>
          <a:p>
            <a:pPr algn="l">
              <a:lnSpc>
                <a:spcPct val="95000"/>
              </a:lnSpc>
            </a:pPr>
            <a:r>
              <a:rPr sz="720" b="0" i="0">
                <a:solidFill>
                  <a:srgbClr val="5B6672"/>
                </a:solidFill>
                <a:latin typeface="Arial"/>
              </a:rPr>
              <a:t>streaming vitals + imaging, continuous belief updates</a:t>
            </a:r>
          </a:p>
        </p:txBody>
      </p:sp>
      <p:cxnSp>
        <p:nvCxnSpPr>
          <p:cNvPr id="2087" name="Connector 2086"/>
          <p:cNvCxnSpPr/>
          <p:nvPr/>
        </p:nvCxnSpPr>
        <p:spPr>
          <a:xfrm flipV="1">
            <a:off x="7690104" y="3694176"/>
            <a:ext cx="0" cy="182880"/>
          </a:xfrm>
          <a:prstGeom prst="line">
            <a:avLst/>
          </a:prstGeom>
          <a:ln w="12700">
            <a:solidFill>
              <a:srgbClr val="C6E4E1"/>
            </a:solidFill>
          </a:ln>
          <a:effectLst/>
        </p:spPr>
      </p:cxnSp>
      <p:sp>
        <p:nvSpPr>
          <p:cNvPr id="2088" name="TextBox 2087"/>
          <p:cNvSpPr txBox="1"/>
          <p:nvPr/>
        </p:nvSpPr>
        <p:spPr>
          <a:xfrm>
            <a:off x="457200" y="5541264"/>
            <a:ext cx="8229600" cy="219456"/>
          </a:xfrm>
          <a:prstGeom prst="rect">
            <a:avLst/>
          </a:prstGeom>
          <a:noFill/>
        </p:spPr>
        <p:txBody>
          <a:bodyPr wrap="square" lIns="0" rIns="0" tIns="0" bIns="0" anchor="t">
            <a:spAutoFit/>
          </a:bodyPr>
          <a:lstStyle/>
          <a:p>
            <a:pPr algn="l"/>
            <a:r>
              <a:rPr sz="800" b="0" i="1">
                <a:solidFill>
                  <a:srgbClr val="5B6672"/>
                </a:solidFill>
                <a:latin typeface="Arial"/>
              </a:rPr>
              <a:t>QFL: Chehimi &amp; Saad, ICASSP (2022)  ·  digital twins: Laubenbacher et al., npj Digital Medicine 5, 64 (2022)</a:t>
            </a:r>
          </a:p>
        </p:txBody>
      </p:sp>
    </p:spTree>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l="-24000" r="-24000"/>
          </a:stretch>
        </a:blipFill>
        <a:effectLst/>
      </p:bgPr>
    </p:bg>
    <p:spTree>
      <p:nvGrpSpPr>
        <p:cNvPr id="1" name=""/>
        <p:cNvGrpSpPr/>
        <p:nvPr/>
      </p:nvGrpSpPr>
      <p:grpSpPr>
        <a:xfrm>
          <a:off x="0" y="0"/>
          <a:ext cx="0" cy="0"/>
          <a:chOff x="0" y="0"/>
          <a:chExt cx="0" cy="0"/>
        </a:xfrm>
      </p:grpSpPr>
      <p:pic>
        <p:nvPicPr>
          <p:cNvPr id="2" name="Picture 3" descr="C:\Users\Admin\Downloads\1764679326535-Photoroom.png"/>
          <p:cNvPicPr>
            <a:picLocks noChangeAspect="1" noChangeArrowheads="1"/>
          </p:cNvPicPr>
          <p:nvPr/>
        </p:nvPicPr>
        <p:blipFill>
          <a:blip r:embed="rId4"/>
          <a:srcRect/>
          <a:stretch>
            <a:fillRect/>
          </a:stretch>
        </p:blipFill>
        <p:spPr bwMode="auto">
          <a:xfrm>
            <a:off x="4108831" y="35671"/>
            <a:ext cx="1285884" cy="1285884"/>
          </a:xfrm>
          <a:prstGeom prst="rect">
            <a:avLst/>
          </a:prstGeom>
          <a:noFill/>
        </p:spPr>
      </p:pic>
      <p:pic>
        <p:nvPicPr>
          <p:cNvPr id="2050" name="Picture 2" descr="C:\Users\Admin\Downloads\RIT.png"/>
          <p:cNvPicPr>
            <a:picLocks noChangeAspect="1" noChangeArrowheads="1"/>
          </p:cNvPicPr>
          <p:nvPr/>
        </p:nvPicPr>
        <p:blipFill>
          <a:blip r:embed="rId5" cstate="print"/>
          <a:srcRect/>
          <a:stretch>
            <a:fillRect/>
          </a:stretch>
        </p:blipFill>
        <p:spPr bwMode="auto">
          <a:xfrm>
            <a:off x="252062" y="285704"/>
            <a:ext cx="3043364" cy="785818"/>
          </a:xfrm>
          <a:prstGeom prst="rect">
            <a:avLst/>
          </a:prstGeom>
          <a:noFill/>
        </p:spPr>
      </p:pic>
      <p:pic>
        <p:nvPicPr>
          <p:cNvPr id="2051" name="Picture 3" descr="C:\Users\Admin\Downloads\IBM_logo.svg.png"/>
          <p:cNvPicPr>
            <a:picLocks noChangeAspect="1" noChangeArrowheads="1"/>
          </p:cNvPicPr>
          <p:nvPr/>
        </p:nvPicPr>
        <p:blipFill>
          <a:blip r:embed="rId6"/>
          <a:srcRect/>
          <a:stretch>
            <a:fillRect/>
          </a:stretch>
        </p:blipFill>
        <p:spPr bwMode="auto">
          <a:xfrm>
            <a:off x="7380312" y="357139"/>
            <a:ext cx="1528257" cy="571504"/>
          </a:xfrm>
          <a:prstGeom prst="rect">
            <a:avLst/>
          </a:prstGeom>
          <a:noFill/>
        </p:spPr>
      </p:pic>
      <p:pic>
        <p:nvPicPr>
          <p:cNvPr id="2053" name="Picture 5" descr="C:\Users\Admin\Downloads\logo-nqm.png"/>
          <p:cNvPicPr>
            <a:picLocks noChangeAspect="1" noChangeArrowheads="1"/>
          </p:cNvPicPr>
          <p:nvPr/>
        </p:nvPicPr>
        <p:blipFill>
          <a:blip r:embed="rId7"/>
          <a:srcRect/>
          <a:stretch>
            <a:fillRect/>
          </a:stretch>
        </p:blipFill>
        <p:spPr bwMode="auto">
          <a:xfrm>
            <a:off x="5519518" y="249994"/>
            <a:ext cx="710054" cy="785794"/>
          </a:xfrm>
          <a:prstGeom prst="rect">
            <a:avLst/>
          </a:prstGeom>
          <a:noFill/>
        </p:spPr>
      </p:pic>
      <p:sp>
        <p:nvSpPr>
          <p:cNvPr id="11" name="Footer Placeholder 10"/>
          <p:cNvSpPr>
            <a:spLocks noGrp="1"/>
          </p:cNvSpPr>
          <p:nvPr>
            <p:ph type="ftr" sz="quarter" idx="11"/>
          </p:nvPr>
        </p:nvSpPr>
        <p:spPr>
          <a:xfrm>
            <a:off x="304800" y="6410848"/>
            <a:ext cx="6196026" cy="232862"/>
          </a:xfrm>
        </p:spPr>
        <p:txBody>
          <a:bodyPr/>
          <a:lstStyle/>
          <a:p>
            <a:r>
              <a:rPr lang="en-IN" i="1" dirty="0" smtClean="0">
                <a:solidFill>
                  <a:schemeClr val="tx1"/>
                </a:solidFill>
                <a:latin typeface="Arial Rounded MT Bold" pitchFamily="34" charset="0"/>
              </a:rPr>
              <a:t>RIT – QUANT-A-THAN- 2026 (Innovate, Build, Transform)</a:t>
            </a:r>
            <a:endParaRPr lang="en-IN" i="1" dirty="0">
              <a:solidFill>
                <a:schemeClr val="tx1"/>
              </a:solidFill>
              <a:latin typeface="Arial Rounded MT Bold" pitchFamily="34" charset="0"/>
            </a:endParaRPr>
          </a:p>
        </p:txBody>
      </p:sp>
      <p:pic>
        <p:nvPicPr>
          <p:cNvPr id="5" name="Picture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88734" y="285704"/>
            <a:ext cx="866775" cy="714375"/>
          </a:xfrm>
          <a:prstGeom prst="rect">
            <a:avLst/>
          </a:prstGeom>
        </p:spPr>
      </p:pic>
      <p:sp>
        <p:nvSpPr>
          <p:cNvPr id="2054" name="TextBox 2053"/>
          <p:cNvSpPr txBox="1"/>
          <p:nvPr/>
        </p:nvSpPr>
        <p:spPr>
          <a:xfrm>
            <a:off x="457200" y="1133856"/>
            <a:ext cx="8229600" cy="237744"/>
          </a:xfrm>
          <a:prstGeom prst="rect">
            <a:avLst/>
          </a:prstGeom>
          <a:noFill/>
        </p:spPr>
        <p:txBody>
          <a:bodyPr wrap="square" lIns="0" rIns="0" tIns="0" bIns="0" anchor="t">
            <a:spAutoFit/>
          </a:bodyPr>
          <a:lstStyle/>
          <a:p>
            <a:pPr algn="l"/>
            <a:r>
              <a:rPr sz="1050" b="1" i="0" spc="280">
                <a:solidFill>
                  <a:srgbClr val="5B6672"/>
                </a:solidFill>
                <a:latin typeface="Arial"/>
              </a:rPr>
              <a:t>13  ·  </a:t>
            </a:r>
            <a:r>
              <a:rPr sz="1050" b="1" i="0" spc="280">
                <a:solidFill>
                  <a:srgbClr val="0E7490"/>
                </a:solidFill>
                <a:latin typeface="Arial"/>
              </a:rPr>
              <a:t>IMPACT</a:t>
            </a:r>
          </a:p>
        </p:txBody>
      </p:sp>
      <p:sp>
        <p:nvSpPr>
          <p:cNvPr id="2055" name="TextBox 2054"/>
          <p:cNvSpPr txBox="1"/>
          <p:nvPr/>
        </p:nvSpPr>
        <p:spPr>
          <a:xfrm>
            <a:off x="457200" y="1371600"/>
            <a:ext cx="8229600" cy="475488"/>
          </a:xfrm>
          <a:prstGeom prst="rect">
            <a:avLst/>
          </a:prstGeom>
          <a:noFill/>
        </p:spPr>
        <p:txBody>
          <a:bodyPr wrap="square" lIns="0" rIns="0" tIns="0" bIns="0" anchor="t">
            <a:spAutoFit/>
          </a:bodyPr>
          <a:lstStyle/>
          <a:p>
            <a:pPr algn="l"/>
            <a:r>
              <a:rPr sz="2600" b="1" i="0" spc="-20">
                <a:solidFill>
                  <a:srgbClr val="0F172A"/>
                </a:solidFill>
                <a:latin typeface="Arial"/>
              </a:rPr>
              <a:t>Who feels this, and how</a:t>
            </a:r>
          </a:p>
        </p:txBody>
      </p:sp>
      <p:sp>
        <p:nvSpPr>
          <p:cNvPr id="2056" name="TextBox 2055"/>
          <p:cNvSpPr txBox="1"/>
          <p:nvPr/>
        </p:nvSpPr>
        <p:spPr>
          <a:xfrm>
            <a:off x="457200" y="1874519"/>
            <a:ext cx="8229600" cy="274320"/>
          </a:xfrm>
          <a:prstGeom prst="rect">
            <a:avLst/>
          </a:prstGeom>
          <a:noFill/>
        </p:spPr>
        <p:txBody>
          <a:bodyPr wrap="square" lIns="0" rIns="0" tIns="0" bIns="0" anchor="t">
            <a:spAutoFit/>
          </a:bodyPr>
          <a:lstStyle/>
          <a:p>
            <a:pPr algn="l"/>
            <a:r>
              <a:rPr sz="1150" b="0" i="1">
                <a:solidFill>
                  <a:srgbClr val="5B6672"/>
                </a:solidFill>
                <a:latin typeface="Arial"/>
              </a:rPr>
              <a:t>Purpose - translate architecture into outcomes for every stakeholder.</a:t>
            </a:r>
          </a:p>
        </p:txBody>
      </p:sp>
      <p:sp>
        <p:nvSpPr>
          <p:cNvPr id="2057" name="Rounded Rectangle 2056"/>
          <p:cNvSpPr/>
          <p:nvPr/>
        </p:nvSpPr>
        <p:spPr>
          <a:xfrm>
            <a:off x="457200" y="2304288"/>
            <a:ext cx="2651760" cy="1536192"/>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58" name="Oval 2057"/>
          <p:cNvSpPr/>
          <p:nvPr/>
        </p:nvSpPr>
        <p:spPr>
          <a:xfrm>
            <a:off x="640080" y="2468879"/>
            <a:ext cx="402336" cy="402336"/>
          </a:xfrm>
          <a:prstGeom prst="ellipse">
            <a:avLst/>
          </a:prstGeom>
          <a:solidFill>
            <a:srgbClr val="ECF8F7"/>
          </a:solidFill>
          <a:ln w="12700">
            <a:solidFill>
              <a:srgbClr val="0D9488"/>
            </a:solidFill>
          </a:ln>
          <a:effectLst/>
        </p:spPr>
        <p:txBody>
          <a:bodyPr rtlCol="0" anchor="ctr" lIns="0" rIns="0" tIns="0" bIns="0"/>
          <a:lstStyle/>
          <a:p>
            <a:pPr algn="ctr"/>
            <a:r>
              <a:rPr sz="1400" b="1">
                <a:solidFill>
                  <a:srgbClr val="0E7490"/>
                </a:solidFill>
                <a:latin typeface="Arial"/>
              </a:rPr>
              <a:t>Σ</a:t>
            </a:r>
          </a:p>
        </p:txBody>
      </p:sp>
      <p:sp>
        <p:nvSpPr>
          <p:cNvPr id="2059" name="TextBox 2058"/>
          <p:cNvSpPr txBox="1"/>
          <p:nvPr/>
        </p:nvSpPr>
        <p:spPr>
          <a:xfrm>
            <a:off x="1133856" y="2542032"/>
            <a:ext cx="1828800" cy="256032"/>
          </a:xfrm>
          <a:prstGeom prst="rect">
            <a:avLst/>
          </a:prstGeom>
          <a:noFill/>
        </p:spPr>
        <p:txBody>
          <a:bodyPr wrap="square" lIns="0" rIns="0" tIns="0" bIns="0" anchor="t">
            <a:spAutoFit/>
          </a:bodyPr>
          <a:lstStyle/>
          <a:p>
            <a:pPr algn="l"/>
            <a:r>
              <a:rPr sz="1050" b="1" i="0" spc="140">
                <a:solidFill>
                  <a:srgbClr val="0F172A"/>
                </a:solidFill>
                <a:latin typeface="Arial"/>
              </a:rPr>
              <a:t>HOSPITALS</a:t>
            </a:r>
          </a:p>
        </p:txBody>
      </p:sp>
      <p:sp>
        <p:nvSpPr>
          <p:cNvPr id="2060" name="TextBox 2059"/>
          <p:cNvSpPr txBox="1"/>
          <p:nvPr/>
        </p:nvSpPr>
        <p:spPr>
          <a:xfrm>
            <a:off x="658368" y="2980944"/>
            <a:ext cx="2249424" cy="786384"/>
          </a:xfrm>
          <a:prstGeom prst="rect">
            <a:avLst/>
          </a:prstGeom>
          <a:noFill/>
        </p:spPr>
        <p:txBody>
          <a:bodyPr wrap="square" lIns="0" rIns="0" tIns="0" bIns="0" anchor="t">
            <a:spAutoFit/>
          </a:bodyPr>
          <a:lstStyle/>
          <a:p>
            <a:pPr algn="l">
              <a:lnSpc>
                <a:spcPct val="108000"/>
              </a:lnSpc>
            </a:pPr>
            <a:r>
              <a:rPr sz="900" b="0" i="0">
                <a:solidFill>
                  <a:srgbClr val="5B6672"/>
                </a:solidFill>
                <a:latin typeface="Arial"/>
              </a:rPr>
              <a:t>worklists triaged by uncertainty - critical, confident cases fast-tracked; reading backlog shrinks</a:t>
            </a:r>
          </a:p>
        </p:txBody>
      </p:sp>
      <p:sp>
        <p:nvSpPr>
          <p:cNvPr id="2061" name="Rounded Rectangle 2060"/>
          <p:cNvSpPr/>
          <p:nvPr/>
        </p:nvSpPr>
        <p:spPr>
          <a:xfrm>
            <a:off x="3246120" y="2304288"/>
            <a:ext cx="2651760" cy="1536192"/>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62" name="Oval 2061"/>
          <p:cNvSpPr/>
          <p:nvPr/>
        </p:nvSpPr>
        <p:spPr>
          <a:xfrm>
            <a:off x="3428999" y="2468879"/>
            <a:ext cx="402336" cy="402336"/>
          </a:xfrm>
          <a:prstGeom prst="ellipse">
            <a:avLst/>
          </a:prstGeom>
          <a:solidFill>
            <a:srgbClr val="ECF8F7"/>
          </a:solidFill>
          <a:ln w="12700">
            <a:solidFill>
              <a:srgbClr val="0D9488"/>
            </a:solidFill>
          </a:ln>
          <a:effectLst/>
        </p:spPr>
        <p:txBody>
          <a:bodyPr rtlCol="0" anchor="ctr" lIns="0" rIns="0" tIns="0" bIns="0"/>
          <a:lstStyle/>
          <a:p>
            <a:pPr algn="ctr"/>
            <a:r>
              <a:rPr sz="1400" b="1">
                <a:solidFill>
                  <a:srgbClr val="0E7490"/>
                </a:solidFill>
                <a:latin typeface="Arial"/>
              </a:rPr>
              <a:t>ψ</a:t>
            </a:r>
          </a:p>
        </p:txBody>
      </p:sp>
      <p:sp>
        <p:nvSpPr>
          <p:cNvPr id="2063" name="TextBox 2062"/>
          <p:cNvSpPr txBox="1"/>
          <p:nvPr/>
        </p:nvSpPr>
        <p:spPr>
          <a:xfrm>
            <a:off x="3922776" y="2542032"/>
            <a:ext cx="1828800" cy="256032"/>
          </a:xfrm>
          <a:prstGeom prst="rect">
            <a:avLst/>
          </a:prstGeom>
          <a:noFill/>
        </p:spPr>
        <p:txBody>
          <a:bodyPr wrap="square" lIns="0" rIns="0" tIns="0" bIns="0" anchor="t">
            <a:spAutoFit/>
          </a:bodyPr>
          <a:lstStyle/>
          <a:p>
            <a:pPr algn="l"/>
            <a:r>
              <a:rPr sz="1050" b="1" i="0" spc="140">
                <a:solidFill>
                  <a:srgbClr val="0F172A"/>
                </a:solidFill>
                <a:latin typeface="Arial"/>
              </a:rPr>
              <a:t>DOCTORS</a:t>
            </a:r>
          </a:p>
        </p:txBody>
      </p:sp>
      <p:sp>
        <p:nvSpPr>
          <p:cNvPr id="2064" name="TextBox 2063"/>
          <p:cNvSpPr txBox="1"/>
          <p:nvPr/>
        </p:nvSpPr>
        <p:spPr>
          <a:xfrm>
            <a:off x="3447288" y="2980944"/>
            <a:ext cx="2249424" cy="786384"/>
          </a:xfrm>
          <a:prstGeom prst="rect">
            <a:avLst/>
          </a:prstGeom>
          <a:noFill/>
        </p:spPr>
        <p:txBody>
          <a:bodyPr wrap="square" lIns="0" rIns="0" tIns="0" bIns="0" anchor="t">
            <a:spAutoFit/>
          </a:bodyPr>
          <a:lstStyle/>
          <a:p>
            <a:pPr algn="l">
              <a:lnSpc>
                <a:spcPct val="108000"/>
              </a:lnSpc>
            </a:pPr>
            <a:r>
              <a:rPr sz="900" b="0" i="0">
                <a:solidFill>
                  <a:srgbClr val="5B6672"/>
                </a:solidFill>
                <a:latin typeface="Arial"/>
              </a:rPr>
              <a:t>a second reader that shows its work and defers when unsure - trust by design, not decree</a:t>
            </a:r>
          </a:p>
        </p:txBody>
      </p:sp>
      <p:sp>
        <p:nvSpPr>
          <p:cNvPr id="2065" name="Rounded Rectangle 2064"/>
          <p:cNvSpPr/>
          <p:nvPr/>
        </p:nvSpPr>
        <p:spPr>
          <a:xfrm>
            <a:off x="6035040" y="2304288"/>
            <a:ext cx="2651760" cy="1536192"/>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66" name="Oval 2065"/>
          <p:cNvSpPr/>
          <p:nvPr/>
        </p:nvSpPr>
        <p:spPr>
          <a:xfrm>
            <a:off x="6217920" y="2468879"/>
            <a:ext cx="402336" cy="402336"/>
          </a:xfrm>
          <a:prstGeom prst="ellipse">
            <a:avLst/>
          </a:prstGeom>
          <a:solidFill>
            <a:srgbClr val="ECF8F7"/>
          </a:solidFill>
          <a:ln w="12700">
            <a:solidFill>
              <a:srgbClr val="0D9488"/>
            </a:solidFill>
          </a:ln>
          <a:effectLst/>
        </p:spPr>
        <p:txBody>
          <a:bodyPr rtlCol="0" anchor="ctr" lIns="0" rIns="0" tIns="0" bIns="0"/>
          <a:lstStyle/>
          <a:p>
            <a:pPr algn="ctr"/>
            <a:r>
              <a:rPr sz="1400" b="1">
                <a:solidFill>
                  <a:srgbClr val="0E7490"/>
                </a:solidFill>
                <a:latin typeface="Arial"/>
              </a:rPr>
              <a:t>❤</a:t>
            </a:r>
          </a:p>
        </p:txBody>
      </p:sp>
      <p:sp>
        <p:nvSpPr>
          <p:cNvPr id="2067" name="TextBox 2066"/>
          <p:cNvSpPr txBox="1"/>
          <p:nvPr/>
        </p:nvSpPr>
        <p:spPr>
          <a:xfrm>
            <a:off x="6711696" y="2542032"/>
            <a:ext cx="1828800" cy="256032"/>
          </a:xfrm>
          <a:prstGeom prst="rect">
            <a:avLst/>
          </a:prstGeom>
          <a:noFill/>
        </p:spPr>
        <p:txBody>
          <a:bodyPr wrap="square" lIns="0" rIns="0" tIns="0" bIns="0" anchor="t">
            <a:spAutoFit/>
          </a:bodyPr>
          <a:lstStyle/>
          <a:p>
            <a:pPr algn="l"/>
            <a:r>
              <a:rPr sz="1050" b="1" i="0" spc="140">
                <a:solidFill>
                  <a:srgbClr val="0F172A"/>
                </a:solidFill>
                <a:latin typeface="Arial"/>
              </a:rPr>
              <a:t>PATIENTS</a:t>
            </a:r>
          </a:p>
        </p:txBody>
      </p:sp>
      <p:sp>
        <p:nvSpPr>
          <p:cNvPr id="2068" name="TextBox 2067"/>
          <p:cNvSpPr txBox="1"/>
          <p:nvPr/>
        </p:nvSpPr>
        <p:spPr>
          <a:xfrm>
            <a:off x="6236207" y="2980944"/>
            <a:ext cx="2249424" cy="786384"/>
          </a:xfrm>
          <a:prstGeom prst="rect">
            <a:avLst/>
          </a:prstGeom>
          <a:noFill/>
        </p:spPr>
        <p:txBody>
          <a:bodyPr wrap="square" lIns="0" rIns="0" tIns="0" bIns="0" anchor="t">
            <a:spAutoFit/>
          </a:bodyPr>
          <a:lstStyle/>
          <a:p>
            <a:pPr algn="l">
              <a:lnSpc>
                <a:spcPct val="108000"/>
              </a:lnSpc>
            </a:pPr>
            <a:r>
              <a:rPr sz="900" b="0" i="0">
                <a:solidFill>
                  <a:srgbClr val="5B6672"/>
                </a:solidFill>
                <a:latin typeface="Arial"/>
              </a:rPr>
              <a:t>EIG-planned workups mean fewer unnecessary scans, less radiation, faster answers</a:t>
            </a:r>
          </a:p>
        </p:txBody>
      </p:sp>
      <p:sp>
        <p:nvSpPr>
          <p:cNvPr id="2069" name="Rounded Rectangle 2068"/>
          <p:cNvSpPr/>
          <p:nvPr/>
        </p:nvSpPr>
        <p:spPr>
          <a:xfrm>
            <a:off x="1828800" y="4041648"/>
            <a:ext cx="2651760" cy="1536192"/>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70" name="Oval 2069"/>
          <p:cNvSpPr/>
          <p:nvPr/>
        </p:nvSpPr>
        <p:spPr>
          <a:xfrm>
            <a:off x="2011679" y="4206240"/>
            <a:ext cx="402336" cy="402336"/>
          </a:xfrm>
          <a:prstGeom prst="ellipse">
            <a:avLst/>
          </a:prstGeom>
          <a:solidFill>
            <a:srgbClr val="ECF8F7"/>
          </a:solidFill>
          <a:ln w="12700">
            <a:solidFill>
              <a:srgbClr val="0D9488"/>
            </a:solidFill>
          </a:ln>
          <a:effectLst/>
        </p:spPr>
        <p:txBody>
          <a:bodyPr rtlCol="0" anchor="ctr" lIns="0" rIns="0" tIns="0" bIns="0"/>
          <a:lstStyle/>
          <a:p>
            <a:pPr algn="ctr"/>
            <a:r>
              <a:rPr sz="1400" b="1">
                <a:solidFill>
                  <a:srgbClr val="0E7490"/>
                </a:solidFill>
                <a:latin typeface="Arial"/>
              </a:rPr>
              <a:t>∫</a:t>
            </a:r>
          </a:p>
        </p:txBody>
      </p:sp>
      <p:sp>
        <p:nvSpPr>
          <p:cNvPr id="2071" name="TextBox 2070"/>
          <p:cNvSpPr txBox="1"/>
          <p:nvPr/>
        </p:nvSpPr>
        <p:spPr>
          <a:xfrm>
            <a:off x="2505456" y="4279392"/>
            <a:ext cx="1828800" cy="256032"/>
          </a:xfrm>
          <a:prstGeom prst="rect">
            <a:avLst/>
          </a:prstGeom>
          <a:noFill/>
        </p:spPr>
        <p:txBody>
          <a:bodyPr wrap="square" lIns="0" rIns="0" tIns="0" bIns="0" anchor="t">
            <a:spAutoFit/>
          </a:bodyPr>
          <a:lstStyle/>
          <a:p>
            <a:pPr algn="l"/>
            <a:r>
              <a:rPr sz="1050" b="1" i="0" spc="140">
                <a:solidFill>
                  <a:srgbClr val="0F172A"/>
                </a:solidFill>
                <a:latin typeface="Arial"/>
              </a:rPr>
              <a:t>RESEARCHERS</a:t>
            </a:r>
          </a:p>
        </p:txBody>
      </p:sp>
      <p:sp>
        <p:nvSpPr>
          <p:cNvPr id="2072" name="TextBox 2071"/>
          <p:cNvSpPr txBox="1"/>
          <p:nvPr/>
        </p:nvSpPr>
        <p:spPr>
          <a:xfrm>
            <a:off x="2029968" y="4718304"/>
            <a:ext cx="2249424" cy="786384"/>
          </a:xfrm>
          <a:prstGeom prst="rect">
            <a:avLst/>
          </a:prstGeom>
          <a:noFill/>
        </p:spPr>
        <p:txBody>
          <a:bodyPr wrap="square" lIns="0" rIns="0" tIns="0" bIns="0" anchor="t">
            <a:spAutoFit/>
          </a:bodyPr>
          <a:lstStyle/>
          <a:p>
            <a:pPr algn="l">
              <a:lnSpc>
                <a:spcPct val="108000"/>
              </a:lnSpc>
            </a:pPr>
            <a:r>
              <a:rPr sz="900" b="0" i="0">
                <a:solidFill>
                  <a:srgbClr val="5B6672"/>
                </a:solidFill>
                <a:latin typeface="Arial"/>
              </a:rPr>
              <a:t>an open uncertainty benchmark + full provenance trails - every posterior reproducible</a:t>
            </a:r>
          </a:p>
        </p:txBody>
      </p:sp>
      <p:sp>
        <p:nvSpPr>
          <p:cNvPr id="2073" name="Rounded Rectangle 2072"/>
          <p:cNvSpPr/>
          <p:nvPr/>
        </p:nvSpPr>
        <p:spPr>
          <a:xfrm>
            <a:off x="4663440" y="4041648"/>
            <a:ext cx="2651760" cy="1536192"/>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74" name="Oval 2073"/>
          <p:cNvSpPr/>
          <p:nvPr/>
        </p:nvSpPr>
        <p:spPr>
          <a:xfrm>
            <a:off x="4846320" y="4206240"/>
            <a:ext cx="402336" cy="402336"/>
          </a:xfrm>
          <a:prstGeom prst="ellipse">
            <a:avLst/>
          </a:prstGeom>
          <a:solidFill>
            <a:srgbClr val="ECF8F7"/>
          </a:solidFill>
          <a:ln w="12700">
            <a:solidFill>
              <a:srgbClr val="0D9488"/>
            </a:solidFill>
          </a:ln>
          <a:effectLst/>
        </p:spPr>
        <p:txBody>
          <a:bodyPr rtlCol="0" anchor="ctr" lIns="0" rIns="0" tIns="0" bIns="0"/>
          <a:lstStyle/>
          <a:p>
            <a:pPr algn="ctr"/>
            <a:r>
              <a:rPr sz="1400" b="1">
                <a:solidFill>
                  <a:srgbClr val="0E7490"/>
                </a:solidFill>
                <a:latin typeface="Arial"/>
              </a:rPr>
              <a:t>Δ</a:t>
            </a:r>
          </a:p>
        </p:txBody>
      </p:sp>
      <p:sp>
        <p:nvSpPr>
          <p:cNvPr id="2075" name="TextBox 2074"/>
          <p:cNvSpPr txBox="1"/>
          <p:nvPr/>
        </p:nvSpPr>
        <p:spPr>
          <a:xfrm>
            <a:off x="5340096" y="4279392"/>
            <a:ext cx="1828800" cy="256032"/>
          </a:xfrm>
          <a:prstGeom prst="rect">
            <a:avLst/>
          </a:prstGeom>
          <a:noFill/>
        </p:spPr>
        <p:txBody>
          <a:bodyPr wrap="square" lIns="0" rIns="0" tIns="0" bIns="0" anchor="t">
            <a:spAutoFit/>
          </a:bodyPr>
          <a:lstStyle/>
          <a:p>
            <a:pPr algn="l"/>
            <a:r>
              <a:rPr sz="1050" b="1" i="0" spc="140">
                <a:solidFill>
                  <a:srgbClr val="0F172A"/>
                </a:solidFill>
                <a:latin typeface="Arial"/>
              </a:rPr>
              <a:t>THE SYSTEM</a:t>
            </a:r>
          </a:p>
        </p:txBody>
      </p:sp>
      <p:sp>
        <p:nvSpPr>
          <p:cNvPr id="2076" name="TextBox 2075"/>
          <p:cNvSpPr txBox="1"/>
          <p:nvPr/>
        </p:nvSpPr>
        <p:spPr>
          <a:xfrm>
            <a:off x="4864607" y="4718304"/>
            <a:ext cx="2249424" cy="786384"/>
          </a:xfrm>
          <a:prstGeom prst="rect">
            <a:avLst/>
          </a:prstGeom>
          <a:noFill/>
        </p:spPr>
        <p:txBody>
          <a:bodyPr wrap="square" lIns="0" rIns="0" tIns="0" bIns="0" anchor="t">
            <a:spAutoFit/>
          </a:bodyPr>
          <a:lstStyle/>
          <a:p>
            <a:pPr algn="l">
              <a:lnSpc>
                <a:spcPct val="108000"/>
              </a:lnSpc>
            </a:pPr>
            <a:r>
              <a:rPr sz="900" b="0" i="0">
                <a:solidFill>
                  <a:srgbClr val="5B6672"/>
                </a:solidFill>
                <a:latin typeface="Arial"/>
              </a:rPr>
              <a:t>diagnostic error touches ~12 M US adults yearly - calibrated triage attacks the costliest failure in medicine</a:t>
            </a:r>
          </a:p>
        </p:txBody>
      </p:sp>
      <p:sp>
        <p:nvSpPr>
          <p:cNvPr id="2077" name="TextBox 2076"/>
          <p:cNvSpPr txBox="1"/>
          <p:nvPr/>
        </p:nvSpPr>
        <p:spPr>
          <a:xfrm>
            <a:off x="457200" y="5541264"/>
            <a:ext cx="8229600" cy="219456"/>
          </a:xfrm>
          <a:prstGeom prst="rect">
            <a:avLst/>
          </a:prstGeom>
          <a:noFill/>
        </p:spPr>
        <p:txBody>
          <a:bodyPr wrap="square" lIns="0" rIns="0" tIns="0" bIns="0" anchor="t">
            <a:spAutoFit/>
          </a:bodyPr>
          <a:lstStyle/>
          <a:p>
            <a:pPr algn="l"/>
            <a:r>
              <a:rPr sz="800" b="0" i="1">
                <a:solidFill>
                  <a:srgbClr val="5B6672"/>
                </a:solidFill>
                <a:latin typeface="Arial"/>
              </a:rPr>
              <a:t>Singh et al., BMJ Quality &amp; Safety 23, 727-731 (2014)  ·  WHO Global Atlas of Medical Devices (2022)</a:t>
            </a:r>
          </a:p>
        </p:txBody>
      </p:sp>
    </p:spTree>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l="-24000" r="-24000"/>
          </a:stretch>
        </a:blipFill>
        <a:effectLst/>
      </p:bgPr>
    </p:bg>
    <p:spTree>
      <p:nvGrpSpPr>
        <p:cNvPr id="1" name=""/>
        <p:cNvGrpSpPr/>
        <p:nvPr/>
      </p:nvGrpSpPr>
      <p:grpSpPr>
        <a:xfrm>
          <a:off x="0" y="0"/>
          <a:ext cx="0" cy="0"/>
          <a:chOff x="0" y="0"/>
          <a:chExt cx="0" cy="0"/>
        </a:xfrm>
      </p:grpSpPr>
      <p:pic>
        <p:nvPicPr>
          <p:cNvPr id="2" name="Picture 3" descr="C:\Users\Admin\Downloads\1764679326535-Photoroom.png"/>
          <p:cNvPicPr>
            <a:picLocks noChangeAspect="1" noChangeArrowheads="1"/>
          </p:cNvPicPr>
          <p:nvPr/>
        </p:nvPicPr>
        <p:blipFill>
          <a:blip r:embed="rId4"/>
          <a:srcRect/>
          <a:stretch>
            <a:fillRect/>
          </a:stretch>
        </p:blipFill>
        <p:spPr bwMode="auto">
          <a:xfrm>
            <a:off x="4108831" y="35671"/>
            <a:ext cx="1285884" cy="1285884"/>
          </a:xfrm>
          <a:prstGeom prst="rect">
            <a:avLst/>
          </a:prstGeom>
          <a:noFill/>
        </p:spPr>
      </p:pic>
      <p:pic>
        <p:nvPicPr>
          <p:cNvPr id="2050" name="Picture 2" descr="C:\Users\Admin\Downloads\RIT.png"/>
          <p:cNvPicPr>
            <a:picLocks noChangeAspect="1" noChangeArrowheads="1"/>
          </p:cNvPicPr>
          <p:nvPr/>
        </p:nvPicPr>
        <p:blipFill>
          <a:blip r:embed="rId5" cstate="print"/>
          <a:srcRect/>
          <a:stretch>
            <a:fillRect/>
          </a:stretch>
        </p:blipFill>
        <p:spPr bwMode="auto">
          <a:xfrm>
            <a:off x="252062" y="285704"/>
            <a:ext cx="3043364" cy="785818"/>
          </a:xfrm>
          <a:prstGeom prst="rect">
            <a:avLst/>
          </a:prstGeom>
          <a:noFill/>
        </p:spPr>
      </p:pic>
      <p:pic>
        <p:nvPicPr>
          <p:cNvPr id="2051" name="Picture 3" descr="C:\Users\Admin\Downloads\IBM_logo.svg.png"/>
          <p:cNvPicPr>
            <a:picLocks noChangeAspect="1" noChangeArrowheads="1"/>
          </p:cNvPicPr>
          <p:nvPr/>
        </p:nvPicPr>
        <p:blipFill>
          <a:blip r:embed="rId6"/>
          <a:srcRect/>
          <a:stretch>
            <a:fillRect/>
          </a:stretch>
        </p:blipFill>
        <p:spPr bwMode="auto">
          <a:xfrm>
            <a:off x="7380312" y="357139"/>
            <a:ext cx="1528257" cy="571504"/>
          </a:xfrm>
          <a:prstGeom prst="rect">
            <a:avLst/>
          </a:prstGeom>
          <a:noFill/>
        </p:spPr>
      </p:pic>
      <p:pic>
        <p:nvPicPr>
          <p:cNvPr id="2053" name="Picture 5" descr="C:\Users\Admin\Downloads\logo-nqm.png"/>
          <p:cNvPicPr>
            <a:picLocks noChangeAspect="1" noChangeArrowheads="1"/>
          </p:cNvPicPr>
          <p:nvPr/>
        </p:nvPicPr>
        <p:blipFill>
          <a:blip r:embed="rId7"/>
          <a:srcRect/>
          <a:stretch>
            <a:fillRect/>
          </a:stretch>
        </p:blipFill>
        <p:spPr bwMode="auto">
          <a:xfrm>
            <a:off x="5519518" y="249994"/>
            <a:ext cx="710054" cy="785794"/>
          </a:xfrm>
          <a:prstGeom prst="rect">
            <a:avLst/>
          </a:prstGeom>
          <a:noFill/>
        </p:spPr>
      </p:pic>
      <p:sp>
        <p:nvSpPr>
          <p:cNvPr id="11" name="Footer Placeholder 10"/>
          <p:cNvSpPr>
            <a:spLocks noGrp="1"/>
          </p:cNvSpPr>
          <p:nvPr>
            <p:ph type="ftr" sz="quarter" idx="11"/>
          </p:nvPr>
        </p:nvSpPr>
        <p:spPr>
          <a:xfrm>
            <a:off x="304800" y="6410848"/>
            <a:ext cx="6196026" cy="232862"/>
          </a:xfrm>
        </p:spPr>
        <p:txBody>
          <a:bodyPr/>
          <a:lstStyle/>
          <a:p>
            <a:r>
              <a:rPr lang="en-IN" i="1" dirty="0" smtClean="0">
                <a:solidFill>
                  <a:schemeClr val="tx1"/>
                </a:solidFill>
                <a:latin typeface="Arial Rounded MT Bold" pitchFamily="34" charset="0"/>
              </a:rPr>
              <a:t>RIT – QUANT-A-THAN- 2026 (Innovate, Build, Transform)</a:t>
            </a:r>
            <a:endParaRPr lang="en-IN" i="1" dirty="0">
              <a:solidFill>
                <a:schemeClr val="tx1"/>
              </a:solidFill>
              <a:latin typeface="Arial Rounded MT Bold" pitchFamily="34" charset="0"/>
            </a:endParaRPr>
          </a:p>
        </p:txBody>
      </p:sp>
      <p:pic>
        <p:nvPicPr>
          <p:cNvPr id="5" name="Picture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88734" y="285704"/>
            <a:ext cx="866775" cy="714375"/>
          </a:xfrm>
          <a:prstGeom prst="rect">
            <a:avLst/>
          </a:prstGeom>
        </p:spPr>
      </p:pic>
      <p:sp>
        <p:nvSpPr>
          <p:cNvPr id="2054" name="Rectangle 2053"/>
          <p:cNvSpPr/>
          <p:nvPr/>
        </p:nvSpPr>
        <p:spPr>
          <a:xfrm>
            <a:off x="-45720" y="-45720"/>
            <a:ext cx="9235440" cy="6949440"/>
          </a:xfrm>
          <a:prstGeom prst="rect">
            <a:avLst/>
          </a:prstGeom>
          <a:solidFill>
            <a:srgbClr val="05090E"/>
          </a:solidFill>
          <a:ln>
            <a:noFill/>
          </a:ln>
          <a:effectLst/>
        </p:spPr>
        <p:txBody>
          <a:bodyPr rtlCol="0" anchor="ctr"/>
          <a:lstStyle/>
          <a:p>
            <a:pPr algn="ctr"/>
          </a:p>
        </p:txBody>
      </p:sp>
      <p:sp>
        <p:nvSpPr>
          <p:cNvPr id="2055" name="Oval 2054"/>
          <p:cNvSpPr/>
          <p:nvPr/>
        </p:nvSpPr>
        <p:spPr>
          <a:xfrm>
            <a:off x="3337560" y="1828800"/>
            <a:ext cx="2468880" cy="2468880"/>
          </a:xfrm>
          <a:prstGeom prst="ellipse">
            <a:avLst/>
          </a:prstGeom>
          <a:noFill/>
          <a:ln w="12700">
            <a:solidFill>
              <a:srgbClr val="2DD4BF">
                <a:alpha val="22000"/>
              </a:srgbClr>
            </a:solidFill>
          </a:ln>
          <a:effectLst/>
        </p:spPr>
        <p:txBody>
          <a:bodyPr rtlCol="0" anchor="ctr"/>
          <a:lstStyle/>
          <a:p>
            <a:pPr algn="ctr"/>
          </a:p>
        </p:txBody>
      </p:sp>
      <p:sp>
        <p:nvSpPr>
          <p:cNvPr id="2056" name="Oval 2055"/>
          <p:cNvSpPr/>
          <p:nvPr/>
        </p:nvSpPr>
        <p:spPr>
          <a:xfrm>
            <a:off x="2606040" y="1097280"/>
            <a:ext cx="3931920" cy="3931920"/>
          </a:xfrm>
          <a:prstGeom prst="ellipse">
            <a:avLst/>
          </a:prstGeom>
          <a:noFill/>
          <a:ln w="12700">
            <a:solidFill>
              <a:srgbClr val="2DD4BF">
                <a:alpha val="12000"/>
              </a:srgbClr>
            </a:solidFill>
          </a:ln>
          <a:effectLst/>
        </p:spPr>
        <p:txBody>
          <a:bodyPr rtlCol="0" anchor="ctr"/>
          <a:lstStyle/>
          <a:p>
            <a:pPr algn="ctr"/>
          </a:p>
        </p:txBody>
      </p:sp>
      <p:sp>
        <p:nvSpPr>
          <p:cNvPr id="2057" name="Oval 2056"/>
          <p:cNvSpPr/>
          <p:nvPr/>
        </p:nvSpPr>
        <p:spPr>
          <a:xfrm>
            <a:off x="1874519" y="365759"/>
            <a:ext cx="5394960" cy="5394960"/>
          </a:xfrm>
          <a:prstGeom prst="ellipse">
            <a:avLst/>
          </a:prstGeom>
          <a:noFill/>
          <a:ln w="12700">
            <a:solidFill>
              <a:srgbClr val="2DD4BF">
                <a:alpha val="6000"/>
              </a:srgbClr>
            </a:solidFill>
          </a:ln>
          <a:effectLst/>
        </p:spPr>
        <p:txBody>
          <a:bodyPr rtlCol="0" anchor="ctr"/>
          <a:lstStyle/>
          <a:p>
            <a:pPr algn="ctr"/>
          </a:p>
        </p:txBody>
      </p:sp>
      <p:sp>
        <p:nvSpPr>
          <p:cNvPr id="2058" name="TextBox 2057"/>
          <p:cNvSpPr txBox="1"/>
          <p:nvPr/>
        </p:nvSpPr>
        <p:spPr>
          <a:xfrm>
            <a:off x="914400" y="2148840"/>
            <a:ext cx="7315200" cy="1828800"/>
          </a:xfrm>
          <a:prstGeom prst="rect">
            <a:avLst/>
          </a:prstGeom>
          <a:noFill/>
        </p:spPr>
        <p:txBody>
          <a:bodyPr wrap="square" lIns="0" rIns="0" tIns="0" bIns="0" anchor="t">
            <a:spAutoFit/>
          </a:bodyPr>
          <a:lstStyle/>
          <a:p>
            <a:pPr algn="ctr">
              <a:lnSpc>
                <a:spcPct val="135000"/>
              </a:lnSpc>
            </a:pPr>
            <a:r>
              <a:rPr sz="2000" b="0" i="0">
                <a:solidFill>
                  <a:srgbClr val="9FB3B1"/>
                </a:solidFill>
                <a:latin typeface="Arial"/>
              </a:rPr>
              <a:t>Artificial intelligence predicts.</a:t>
            </a:r>
          </a:p>
          <a:p>
            <a:pPr algn="ctr">
              <a:lnSpc>
                <a:spcPct val="135000"/>
              </a:lnSpc>
            </a:pPr>
            <a:r>
              <a:rPr sz="2400" b="0" i="0">
                <a:solidFill>
                  <a:srgbClr val="FFFFFF"/>
                </a:solidFill>
                <a:latin typeface="Arial"/>
              </a:rPr>
              <a:t>Clinical intelligence reasons.</a:t>
            </a:r>
          </a:p>
          <a:p>
            <a:pPr algn="ctr">
              <a:lnSpc>
                <a:spcPct val="135000"/>
              </a:lnSpc>
            </a:pPr>
            <a:r>
              <a:rPr sz="2800" b="1" i="0">
                <a:solidFill>
                  <a:srgbClr val="5EEAD4"/>
                </a:solidFill>
                <a:latin typeface="Arial"/>
              </a:rPr>
              <a:t>Quantum intelligence understands.</a:t>
            </a:r>
          </a:p>
        </p:txBody>
      </p:sp>
      <p:cxnSp>
        <p:nvCxnSpPr>
          <p:cNvPr id="2059" name="Connector 2058"/>
          <p:cNvCxnSpPr/>
          <p:nvPr/>
        </p:nvCxnSpPr>
        <p:spPr>
          <a:xfrm>
            <a:off x="3840480" y="4828032"/>
            <a:ext cx="1463040" cy="0"/>
          </a:xfrm>
          <a:prstGeom prst="line">
            <a:avLst/>
          </a:prstGeom>
          <a:ln w="12700">
            <a:solidFill>
              <a:srgbClr val="2DD4BF">
                <a:alpha val="45000"/>
              </a:srgbClr>
            </a:solidFill>
          </a:ln>
          <a:effectLst/>
        </p:spPr>
      </p:cxnSp>
      <p:sp>
        <p:nvSpPr>
          <p:cNvPr id="2060" name="TextBox 2059"/>
          <p:cNvSpPr txBox="1"/>
          <p:nvPr/>
        </p:nvSpPr>
        <p:spPr>
          <a:xfrm>
            <a:off x="914400" y="4974336"/>
            <a:ext cx="7315200" cy="566928"/>
          </a:xfrm>
          <a:prstGeom prst="rect">
            <a:avLst/>
          </a:prstGeom>
          <a:noFill/>
        </p:spPr>
        <p:txBody>
          <a:bodyPr wrap="square" lIns="0" rIns="0" tIns="0" bIns="0" anchor="t">
            <a:spAutoFit/>
          </a:bodyPr>
          <a:lstStyle/>
          <a:p>
            <a:pPr algn="ctr">
              <a:lnSpc>
                <a:spcPct val="150000"/>
              </a:lnSpc>
            </a:pPr>
            <a:r>
              <a:rPr sz="1100" b="1" i="0" spc="180">
                <a:solidFill>
                  <a:srgbClr val="FFFFFF"/>
                </a:solidFill>
                <a:latin typeface="Arial"/>
              </a:rPr>
              <a:t>AURA  ·  live demo on request</a:t>
            </a:r>
          </a:p>
          <a:p>
            <a:pPr algn="ctr">
              <a:lnSpc>
                <a:spcPct val="150000"/>
              </a:lnSpc>
            </a:pPr>
            <a:r>
              <a:rPr sz="950" b="0" i="0" spc="120">
                <a:solidFill>
                  <a:srgbClr val="7FA8A5"/>
                </a:solidFill>
                <a:latin typeface="Arial"/>
              </a:rPr>
              <a:t>Sivaguru R.M  ·  Rajalakshmi Institute of Technology  ·  sivagurumurugan1@gmail.com</a:t>
            </a:r>
          </a:p>
        </p:txBody>
      </p:sp>
    </p:spTree>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l="-24000" r="-24000"/>
          </a:stretch>
        </a:blipFill>
        <a:effectLst/>
      </p:bgPr>
    </p:bg>
    <p:spTree>
      <p:nvGrpSpPr>
        <p:cNvPr id="1" name=""/>
        <p:cNvGrpSpPr/>
        <p:nvPr/>
      </p:nvGrpSpPr>
      <p:grpSpPr>
        <a:xfrm>
          <a:off x="0" y="0"/>
          <a:ext cx="0" cy="0"/>
          <a:chOff x="0" y="0"/>
          <a:chExt cx="0" cy="0"/>
        </a:xfrm>
      </p:grpSpPr>
      <p:pic>
        <p:nvPicPr>
          <p:cNvPr id="2" name="Picture 3" descr="C:\Users\Admin\Downloads\1764679326535-Photoroom.png"/>
          <p:cNvPicPr>
            <a:picLocks noChangeAspect="1" noChangeArrowheads="1"/>
          </p:cNvPicPr>
          <p:nvPr/>
        </p:nvPicPr>
        <p:blipFill>
          <a:blip r:embed="rId4"/>
          <a:srcRect/>
          <a:stretch>
            <a:fillRect/>
          </a:stretch>
        </p:blipFill>
        <p:spPr bwMode="auto">
          <a:xfrm>
            <a:off x="4108831" y="35671"/>
            <a:ext cx="1285884" cy="1285884"/>
          </a:xfrm>
          <a:prstGeom prst="rect">
            <a:avLst/>
          </a:prstGeom>
          <a:noFill/>
        </p:spPr>
      </p:pic>
      <p:pic>
        <p:nvPicPr>
          <p:cNvPr id="2050" name="Picture 2" descr="C:\Users\Admin\Downloads\RIT.png"/>
          <p:cNvPicPr>
            <a:picLocks noChangeAspect="1" noChangeArrowheads="1"/>
          </p:cNvPicPr>
          <p:nvPr/>
        </p:nvPicPr>
        <p:blipFill>
          <a:blip r:embed="rId5" cstate="print"/>
          <a:srcRect/>
          <a:stretch>
            <a:fillRect/>
          </a:stretch>
        </p:blipFill>
        <p:spPr bwMode="auto">
          <a:xfrm>
            <a:off x="252062" y="285704"/>
            <a:ext cx="3043364" cy="785818"/>
          </a:xfrm>
          <a:prstGeom prst="rect">
            <a:avLst/>
          </a:prstGeom>
          <a:noFill/>
        </p:spPr>
      </p:pic>
      <p:pic>
        <p:nvPicPr>
          <p:cNvPr id="2051" name="Picture 3" descr="C:\Users\Admin\Downloads\IBM_logo.svg.png"/>
          <p:cNvPicPr>
            <a:picLocks noChangeAspect="1" noChangeArrowheads="1"/>
          </p:cNvPicPr>
          <p:nvPr/>
        </p:nvPicPr>
        <p:blipFill>
          <a:blip r:embed="rId6"/>
          <a:srcRect/>
          <a:stretch>
            <a:fillRect/>
          </a:stretch>
        </p:blipFill>
        <p:spPr bwMode="auto">
          <a:xfrm>
            <a:off x="7380312" y="357139"/>
            <a:ext cx="1528257" cy="571504"/>
          </a:xfrm>
          <a:prstGeom prst="rect">
            <a:avLst/>
          </a:prstGeom>
          <a:noFill/>
        </p:spPr>
      </p:pic>
      <p:pic>
        <p:nvPicPr>
          <p:cNvPr id="2053" name="Picture 5" descr="C:\Users\Admin\Downloads\logo-nqm.png"/>
          <p:cNvPicPr>
            <a:picLocks noChangeAspect="1" noChangeArrowheads="1"/>
          </p:cNvPicPr>
          <p:nvPr/>
        </p:nvPicPr>
        <p:blipFill>
          <a:blip r:embed="rId7"/>
          <a:srcRect/>
          <a:stretch>
            <a:fillRect/>
          </a:stretch>
        </p:blipFill>
        <p:spPr bwMode="auto">
          <a:xfrm>
            <a:off x="5519518" y="249994"/>
            <a:ext cx="710054" cy="785794"/>
          </a:xfrm>
          <a:prstGeom prst="rect">
            <a:avLst/>
          </a:prstGeom>
          <a:noFill/>
        </p:spPr>
      </p:pic>
      <p:sp>
        <p:nvSpPr>
          <p:cNvPr id="11" name="Footer Placeholder 10"/>
          <p:cNvSpPr>
            <a:spLocks noGrp="1"/>
          </p:cNvSpPr>
          <p:nvPr>
            <p:ph type="ftr" sz="quarter" idx="11"/>
          </p:nvPr>
        </p:nvSpPr>
        <p:spPr>
          <a:xfrm>
            <a:off x="304800" y="6410848"/>
            <a:ext cx="6196026" cy="232862"/>
          </a:xfrm>
        </p:spPr>
        <p:txBody>
          <a:bodyPr/>
          <a:lstStyle/>
          <a:p>
            <a:r>
              <a:rPr lang="en-IN" i="1" dirty="0" smtClean="0">
                <a:solidFill>
                  <a:schemeClr val="tx1"/>
                </a:solidFill>
                <a:latin typeface="Arial Rounded MT Bold" pitchFamily="34" charset="0"/>
              </a:rPr>
              <a:t>RIT – QUANT-A-THAN- 2026 (Innovate, Build, Transform)</a:t>
            </a:r>
            <a:endParaRPr lang="en-IN" i="1" dirty="0">
              <a:solidFill>
                <a:schemeClr val="tx1"/>
              </a:solidFill>
              <a:latin typeface="Arial Rounded MT Bold" pitchFamily="34" charset="0"/>
            </a:endParaRPr>
          </a:p>
        </p:txBody>
      </p:sp>
      <p:pic>
        <p:nvPicPr>
          <p:cNvPr id="5" name="Picture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88734" y="285704"/>
            <a:ext cx="866775" cy="714375"/>
          </a:xfrm>
          <a:prstGeom prst="rect">
            <a:avLst/>
          </a:prstGeom>
        </p:spPr>
      </p:pic>
      <p:sp>
        <p:nvSpPr>
          <p:cNvPr id="2054" name="TextBox 2053"/>
          <p:cNvSpPr txBox="1"/>
          <p:nvPr/>
        </p:nvSpPr>
        <p:spPr>
          <a:xfrm>
            <a:off x="457200" y="1133856"/>
            <a:ext cx="8229600" cy="237744"/>
          </a:xfrm>
          <a:prstGeom prst="rect">
            <a:avLst/>
          </a:prstGeom>
          <a:noFill/>
        </p:spPr>
        <p:txBody>
          <a:bodyPr wrap="square" lIns="0" rIns="0" tIns="0" bIns="0" anchor="t">
            <a:spAutoFit/>
          </a:bodyPr>
          <a:lstStyle/>
          <a:p>
            <a:pPr algn="l"/>
            <a:r>
              <a:rPr sz="1050" b="1" i="0" spc="280">
                <a:solidFill>
                  <a:srgbClr val="5B6672"/>
                </a:solidFill>
                <a:latin typeface="Arial"/>
              </a:rPr>
              <a:t>A1  ·  </a:t>
            </a:r>
            <a:r>
              <a:rPr sz="1050" b="1" i="0" spc="280">
                <a:solidFill>
                  <a:srgbClr val="0E7490"/>
                </a:solidFill>
                <a:latin typeface="Arial"/>
              </a:rPr>
              <a:t>TECHNICAL APPENDIX - MATHEMATICAL CORE</a:t>
            </a:r>
          </a:p>
        </p:txBody>
      </p:sp>
      <p:sp>
        <p:nvSpPr>
          <p:cNvPr id="2055" name="TextBox 2054"/>
          <p:cNvSpPr txBox="1"/>
          <p:nvPr/>
        </p:nvSpPr>
        <p:spPr>
          <a:xfrm>
            <a:off x="457200" y="1371600"/>
            <a:ext cx="8229600" cy="475488"/>
          </a:xfrm>
          <a:prstGeom prst="rect">
            <a:avLst/>
          </a:prstGeom>
          <a:noFill/>
        </p:spPr>
        <p:txBody>
          <a:bodyPr wrap="square" lIns="0" rIns="0" tIns="0" bIns="0" anchor="t">
            <a:spAutoFit/>
          </a:bodyPr>
          <a:lstStyle/>
          <a:p>
            <a:pPr algn="l"/>
            <a:r>
              <a:rPr sz="2400" b="1" i="0" spc="-20">
                <a:solidFill>
                  <a:srgbClr val="0F172A"/>
                </a:solidFill>
                <a:latin typeface="Arial"/>
              </a:rPr>
              <a:t>The four equations under the hood</a:t>
            </a:r>
          </a:p>
        </p:txBody>
      </p:sp>
      <p:sp>
        <p:nvSpPr>
          <p:cNvPr id="2056" name="Rounded Rectangle 2055"/>
          <p:cNvSpPr/>
          <p:nvPr/>
        </p:nvSpPr>
        <p:spPr>
          <a:xfrm>
            <a:off x="457200" y="2103120"/>
            <a:ext cx="4069080" cy="1645920"/>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57" name="TextBox 2056"/>
          <p:cNvSpPr txBox="1"/>
          <p:nvPr/>
        </p:nvSpPr>
        <p:spPr>
          <a:xfrm>
            <a:off x="640080" y="2221991"/>
            <a:ext cx="3749039" cy="201168"/>
          </a:xfrm>
          <a:prstGeom prst="rect">
            <a:avLst/>
          </a:prstGeom>
          <a:noFill/>
        </p:spPr>
        <p:txBody>
          <a:bodyPr wrap="square" lIns="0" rIns="0" tIns="0" bIns="0" anchor="t">
            <a:spAutoFit/>
          </a:bodyPr>
          <a:lstStyle/>
          <a:p>
            <a:pPr algn="l"/>
            <a:r>
              <a:rPr sz="800" b="1" i="0" spc="140">
                <a:solidFill>
                  <a:srgbClr val="0E7490"/>
                </a:solidFill>
                <a:latin typeface="Arial"/>
              </a:rPr>
              <a:t>DENSITY-MATRIX EMBEDDING &amp; QUANTUM KERNEL</a:t>
            </a:r>
          </a:p>
        </p:txBody>
      </p:sp>
      <p:sp>
        <p:nvSpPr>
          <p:cNvPr id="2058" name="TextBox 2057"/>
          <p:cNvSpPr txBox="1"/>
          <p:nvPr/>
        </p:nvSpPr>
        <p:spPr>
          <a:xfrm>
            <a:off x="640080" y="2468879"/>
            <a:ext cx="3730752" cy="274320"/>
          </a:xfrm>
          <a:prstGeom prst="rect">
            <a:avLst/>
          </a:prstGeom>
          <a:noFill/>
        </p:spPr>
        <p:txBody>
          <a:bodyPr wrap="square" lIns="0" rIns="0" tIns="0" bIns="0" anchor="t">
            <a:spAutoFit/>
          </a:bodyPr>
          <a:lstStyle/>
          <a:p>
            <a:pPr algn="l"/>
            <a:r>
              <a:rPr sz="1150" b="1" i="0">
                <a:solidFill>
                  <a:srgbClr val="0F172A"/>
                </a:solidFill>
                <a:latin typeface="Cambria"/>
              </a:rPr>
              <a:t>ρ(x) = |φ(x)⟩⟨φ(x)|</a:t>
            </a:r>
          </a:p>
        </p:txBody>
      </p:sp>
      <p:sp>
        <p:nvSpPr>
          <p:cNvPr id="2059" name="TextBox 2058"/>
          <p:cNvSpPr txBox="1"/>
          <p:nvPr/>
        </p:nvSpPr>
        <p:spPr>
          <a:xfrm>
            <a:off x="640080" y="2798063"/>
            <a:ext cx="3730752" cy="274320"/>
          </a:xfrm>
          <a:prstGeom prst="rect">
            <a:avLst/>
          </a:prstGeom>
          <a:noFill/>
        </p:spPr>
        <p:txBody>
          <a:bodyPr wrap="square" lIns="0" rIns="0" tIns="0" bIns="0" anchor="t">
            <a:spAutoFit/>
          </a:bodyPr>
          <a:lstStyle/>
          <a:p>
            <a:pPr algn="l"/>
            <a:r>
              <a:rPr sz="1150" b="1" i="0">
                <a:solidFill>
                  <a:srgbClr val="0F172A"/>
                </a:solidFill>
                <a:latin typeface="Cambria"/>
              </a:rPr>
              <a:t>k(x, x′) = Tr[ ρ(x) ρ(x′) ] = |⟨φ(x)|φ(x′)⟩|²</a:t>
            </a:r>
          </a:p>
        </p:txBody>
      </p:sp>
      <p:sp>
        <p:nvSpPr>
          <p:cNvPr id="2060" name="TextBox 2059"/>
          <p:cNvSpPr txBox="1"/>
          <p:nvPr/>
        </p:nvSpPr>
        <p:spPr>
          <a:xfrm>
            <a:off x="640080" y="3401568"/>
            <a:ext cx="3730752" cy="310896"/>
          </a:xfrm>
          <a:prstGeom prst="rect">
            <a:avLst/>
          </a:prstGeom>
          <a:noFill/>
        </p:spPr>
        <p:txBody>
          <a:bodyPr wrap="square" lIns="0" rIns="0" tIns="0" bIns="0" anchor="t">
            <a:spAutoFit/>
          </a:bodyPr>
          <a:lstStyle/>
          <a:p>
            <a:pPr algn="l">
              <a:lnSpc>
                <a:spcPct val="95000"/>
              </a:lnSpc>
            </a:pPr>
            <a:r>
              <a:rPr sz="800" b="0" i="1">
                <a:solidFill>
                  <a:srgbClr val="5B6672"/>
                </a:solidFill>
                <a:latin typeface="Arial"/>
              </a:rPr>
              <a:t>kernel = state fidelity; PSD by construction, estimated from shot statistics</a:t>
            </a:r>
          </a:p>
        </p:txBody>
      </p:sp>
      <p:sp>
        <p:nvSpPr>
          <p:cNvPr id="2061" name="Rounded Rectangle 2060"/>
          <p:cNvSpPr/>
          <p:nvPr/>
        </p:nvSpPr>
        <p:spPr>
          <a:xfrm>
            <a:off x="4617720" y="2103120"/>
            <a:ext cx="4069080" cy="1645920"/>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62" name="TextBox 2061"/>
          <p:cNvSpPr txBox="1"/>
          <p:nvPr/>
        </p:nvSpPr>
        <p:spPr>
          <a:xfrm>
            <a:off x="4800600" y="2221991"/>
            <a:ext cx="3749039" cy="201168"/>
          </a:xfrm>
          <a:prstGeom prst="rect">
            <a:avLst/>
          </a:prstGeom>
          <a:noFill/>
        </p:spPr>
        <p:txBody>
          <a:bodyPr wrap="square" lIns="0" rIns="0" tIns="0" bIns="0" anchor="t">
            <a:spAutoFit/>
          </a:bodyPr>
          <a:lstStyle/>
          <a:p>
            <a:pPr algn="l"/>
            <a:r>
              <a:rPr sz="800" b="1" i="0" spc="140">
                <a:solidFill>
                  <a:srgbClr val="0E7490"/>
                </a:solidFill>
                <a:latin typeface="Arial"/>
              </a:rPr>
              <a:t>VARIATIONAL QUANTUM CLASSIFIER (FUSION)</a:t>
            </a:r>
          </a:p>
        </p:txBody>
      </p:sp>
      <p:sp>
        <p:nvSpPr>
          <p:cNvPr id="2063" name="TextBox 2062"/>
          <p:cNvSpPr txBox="1"/>
          <p:nvPr/>
        </p:nvSpPr>
        <p:spPr>
          <a:xfrm>
            <a:off x="4800600" y="2468879"/>
            <a:ext cx="3730752" cy="274320"/>
          </a:xfrm>
          <a:prstGeom prst="rect">
            <a:avLst/>
          </a:prstGeom>
          <a:noFill/>
        </p:spPr>
        <p:txBody>
          <a:bodyPr wrap="square" lIns="0" rIns="0" tIns="0" bIns="0" anchor="t">
            <a:spAutoFit/>
          </a:bodyPr>
          <a:lstStyle/>
          <a:p>
            <a:pPr algn="l"/>
            <a:r>
              <a:rPr sz="1150" b="1" i="0">
                <a:solidFill>
                  <a:srgbClr val="0F172A"/>
                </a:solidFill>
                <a:latin typeface="Cambria"/>
              </a:rPr>
              <a:t>fθ(x) = ⟨0| Uφ†(x) W†(θ) M W(θ) Uφ(x) |0⟩</a:t>
            </a:r>
          </a:p>
        </p:txBody>
      </p:sp>
      <p:sp>
        <p:nvSpPr>
          <p:cNvPr id="2064" name="TextBox 2063"/>
          <p:cNvSpPr txBox="1"/>
          <p:nvPr/>
        </p:nvSpPr>
        <p:spPr>
          <a:xfrm>
            <a:off x="4800600" y="2798063"/>
            <a:ext cx="3730752" cy="274320"/>
          </a:xfrm>
          <a:prstGeom prst="rect">
            <a:avLst/>
          </a:prstGeom>
          <a:noFill/>
        </p:spPr>
        <p:txBody>
          <a:bodyPr wrap="square" lIns="0" rIns="0" tIns="0" bIns="0" anchor="t">
            <a:spAutoFit/>
          </a:bodyPr>
          <a:lstStyle/>
          <a:p>
            <a:pPr algn="l"/>
            <a:r>
              <a:rPr sz="1150" b="1" i="0">
                <a:solidFill>
                  <a:srgbClr val="0F172A"/>
                </a:solidFill>
                <a:latin typeface="Cambria"/>
              </a:rPr>
              <a:t>∂f/∂θᵢ = ½ [ f(θᵢ+π/2) − f(θᵢ−π/2) ]</a:t>
            </a:r>
          </a:p>
        </p:txBody>
      </p:sp>
      <p:sp>
        <p:nvSpPr>
          <p:cNvPr id="2065" name="TextBox 2064"/>
          <p:cNvSpPr txBox="1"/>
          <p:nvPr/>
        </p:nvSpPr>
        <p:spPr>
          <a:xfrm>
            <a:off x="4800600" y="3401568"/>
            <a:ext cx="3730752" cy="310896"/>
          </a:xfrm>
          <a:prstGeom prst="rect">
            <a:avLst/>
          </a:prstGeom>
          <a:noFill/>
        </p:spPr>
        <p:txBody>
          <a:bodyPr wrap="square" lIns="0" rIns="0" tIns="0" bIns="0" anchor="t">
            <a:spAutoFit/>
          </a:bodyPr>
          <a:lstStyle/>
          <a:p>
            <a:pPr algn="l">
              <a:lnSpc>
                <a:spcPct val="95000"/>
              </a:lnSpc>
            </a:pPr>
            <a:r>
              <a:rPr sz="800" b="0" i="1">
                <a:solidFill>
                  <a:srgbClr val="5B6672"/>
                </a:solidFill>
                <a:latin typeface="Arial"/>
              </a:rPr>
              <a:t>trained by parameter-shift - exact gradients, no backprop through the circuit</a:t>
            </a:r>
          </a:p>
        </p:txBody>
      </p:sp>
      <p:sp>
        <p:nvSpPr>
          <p:cNvPr id="2066" name="Rounded Rectangle 2065"/>
          <p:cNvSpPr/>
          <p:nvPr/>
        </p:nvSpPr>
        <p:spPr>
          <a:xfrm>
            <a:off x="457200" y="3877056"/>
            <a:ext cx="4069080" cy="1645920"/>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67" name="TextBox 2066"/>
          <p:cNvSpPr txBox="1"/>
          <p:nvPr/>
        </p:nvSpPr>
        <p:spPr>
          <a:xfrm>
            <a:off x="640080" y="3995928"/>
            <a:ext cx="3749039" cy="201168"/>
          </a:xfrm>
          <a:prstGeom prst="rect">
            <a:avLst/>
          </a:prstGeom>
          <a:noFill/>
        </p:spPr>
        <p:txBody>
          <a:bodyPr wrap="square" lIns="0" rIns="0" tIns="0" bIns="0" anchor="t">
            <a:spAutoFit/>
          </a:bodyPr>
          <a:lstStyle/>
          <a:p>
            <a:pPr algn="l"/>
            <a:r>
              <a:rPr sz="800" b="1" i="0" spc="140">
                <a:solidFill>
                  <a:srgbClr val="0E7490"/>
                </a:solidFill>
                <a:latin typeface="Arial"/>
              </a:rPr>
              <a:t>BAYESIAN MEASUREMENT UPDATE</a:t>
            </a:r>
          </a:p>
        </p:txBody>
      </p:sp>
      <p:sp>
        <p:nvSpPr>
          <p:cNvPr id="2068" name="TextBox 2067"/>
          <p:cNvSpPr txBox="1"/>
          <p:nvPr/>
        </p:nvSpPr>
        <p:spPr>
          <a:xfrm>
            <a:off x="640080" y="4242816"/>
            <a:ext cx="3730752" cy="274320"/>
          </a:xfrm>
          <a:prstGeom prst="rect">
            <a:avLst/>
          </a:prstGeom>
          <a:noFill/>
        </p:spPr>
        <p:txBody>
          <a:bodyPr wrap="square" lIns="0" rIns="0" tIns="0" bIns="0" anchor="t">
            <a:spAutoFit/>
          </a:bodyPr>
          <a:lstStyle/>
          <a:p>
            <a:pPr algn="l"/>
            <a:r>
              <a:rPr sz="1150" b="1" i="0">
                <a:solidFill>
                  <a:srgbClr val="0F172A"/>
                </a:solidFill>
                <a:latin typeface="Cambria"/>
              </a:rPr>
              <a:t>ρ′ = Eₒ ρ Eₒ† / Tr[ Eₒ ρ Eₒ† ]</a:t>
            </a:r>
          </a:p>
        </p:txBody>
      </p:sp>
      <p:sp>
        <p:nvSpPr>
          <p:cNvPr id="2069" name="TextBox 2068"/>
          <p:cNvSpPr txBox="1"/>
          <p:nvPr/>
        </p:nvSpPr>
        <p:spPr>
          <a:xfrm>
            <a:off x="640080" y="5175504"/>
            <a:ext cx="3730752" cy="310896"/>
          </a:xfrm>
          <a:prstGeom prst="rect">
            <a:avLst/>
          </a:prstGeom>
          <a:noFill/>
        </p:spPr>
        <p:txBody>
          <a:bodyPr wrap="square" lIns="0" rIns="0" tIns="0" bIns="0" anchor="t">
            <a:spAutoFit/>
          </a:bodyPr>
          <a:lstStyle/>
          <a:p>
            <a:pPr algn="l">
              <a:lnSpc>
                <a:spcPct val="95000"/>
              </a:lnSpc>
            </a:pPr>
            <a:r>
              <a:rPr sz="800" b="0" i="1">
                <a:solidFill>
                  <a:srgbClr val="5B6672"/>
                </a:solidFill>
                <a:latin typeface="Arial"/>
              </a:rPr>
              <a:t>quantum state update generalizes Bayes' rule (Leifer &amp; Spekkens 2013) - evidence as measurement</a:t>
            </a:r>
          </a:p>
        </p:txBody>
      </p:sp>
      <p:sp>
        <p:nvSpPr>
          <p:cNvPr id="2070" name="Rounded Rectangle 2069"/>
          <p:cNvSpPr/>
          <p:nvPr/>
        </p:nvSpPr>
        <p:spPr>
          <a:xfrm>
            <a:off x="4617720" y="3877056"/>
            <a:ext cx="4069080" cy="1645920"/>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71" name="TextBox 2070"/>
          <p:cNvSpPr txBox="1"/>
          <p:nvPr/>
        </p:nvSpPr>
        <p:spPr>
          <a:xfrm>
            <a:off x="4800600" y="3995928"/>
            <a:ext cx="3749039" cy="201168"/>
          </a:xfrm>
          <a:prstGeom prst="rect">
            <a:avLst/>
          </a:prstGeom>
          <a:noFill/>
        </p:spPr>
        <p:txBody>
          <a:bodyPr wrap="square" lIns="0" rIns="0" tIns="0" bIns="0" anchor="t">
            <a:spAutoFit/>
          </a:bodyPr>
          <a:lstStyle/>
          <a:p>
            <a:pPr algn="l"/>
            <a:r>
              <a:rPr sz="800" b="1" i="0" spc="140">
                <a:solidFill>
                  <a:srgbClr val="0E7490"/>
                </a:solidFill>
                <a:latin typeface="Arial"/>
              </a:rPr>
              <a:t>CONFORMAL + PLANNING LAYER</a:t>
            </a:r>
          </a:p>
        </p:txBody>
      </p:sp>
      <p:sp>
        <p:nvSpPr>
          <p:cNvPr id="2072" name="TextBox 2071"/>
          <p:cNvSpPr txBox="1"/>
          <p:nvPr/>
        </p:nvSpPr>
        <p:spPr>
          <a:xfrm>
            <a:off x="4800600" y="4242816"/>
            <a:ext cx="3730752" cy="274320"/>
          </a:xfrm>
          <a:prstGeom prst="rect">
            <a:avLst/>
          </a:prstGeom>
          <a:noFill/>
        </p:spPr>
        <p:txBody>
          <a:bodyPr wrap="square" lIns="0" rIns="0" tIns="0" bIns="0" anchor="t">
            <a:spAutoFit/>
          </a:bodyPr>
          <a:lstStyle/>
          <a:p>
            <a:pPr algn="l"/>
            <a:r>
              <a:rPr sz="1150" b="1" i="0">
                <a:solidFill>
                  <a:srgbClr val="0F172A"/>
                </a:solidFill>
                <a:latin typeface="Cambria"/>
              </a:rPr>
              <a:t>C(x) = { y : s(x,y) ≤ q̂₁₋α },   P(y ∈ C) ≥ 1−α</a:t>
            </a:r>
          </a:p>
        </p:txBody>
      </p:sp>
      <p:sp>
        <p:nvSpPr>
          <p:cNvPr id="2073" name="TextBox 2072"/>
          <p:cNvSpPr txBox="1"/>
          <p:nvPr/>
        </p:nvSpPr>
        <p:spPr>
          <a:xfrm>
            <a:off x="4800600" y="4572000"/>
            <a:ext cx="3730752" cy="274320"/>
          </a:xfrm>
          <a:prstGeom prst="rect">
            <a:avLst/>
          </a:prstGeom>
          <a:noFill/>
        </p:spPr>
        <p:txBody>
          <a:bodyPr wrap="square" lIns="0" rIns="0" tIns="0" bIns="0" anchor="t">
            <a:spAutoFit/>
          </a:bodyPr>
          <a:lstStyle/>
          <a:p>
            <a:pPr algn="l"/>
            <a:r>
              <a:rPr sz="1150" b="1" i="0">
                <a:solidFill>
                  <a:srgbClr val="0F172A"/>
                </a:solidFill>
                <a:latin typeface="Cambria"/>
              </a:rPr>
              <a:t>a* = argmaxₐ { H[p(d)] − EₒH[p(d|o)] − λ c(a) }</a:t>
            </a:r>
          </a:p>
        </p:txBody>
      </p:sp>
      <p:sp>
        <p:nvSpPr>
          <p:cNvPr id="2074" name="TextBox 2073"/>
          <p:cNvSpPr txBox="1"/>
          <p:nvPr/>
        </p:nvSpPr>
        <p:spPr>
          <a:xfrm>
            <a:off x="4800600" y="5175504"/>
            <a:ext cx="3730752" cy="310896"/>
          </a:xfrm>
          <a:prstGeom prst="rect">
            <a:avLst/>
          </a:prstGeom>
          <a:noFill/>
        </p:spPr>
        <p:txBody>
          <a:bodyPr wrap="square" lIns="0" rIns="0" tIns="0" bIns="0" anchor="t">
            <a:spAutoFit/>
          </a:bodyPr>
          <a:lstStyle/>
          <a:p>
            <a:pPr algn="l">
              <a:lnSpc>
                <a:spcPct val="95000"/>
              </a:lnSpc>
            </a:pPr>
            <a:r>
              <a:rPr sz="800" b="0" i="1">
                <a:solidFill>
                  <a:srgbClr val="5B6672"/>
                </a:solidFill>
                <a:latin typeface="Arial"/>
              </a:rPr>
              <a:t>finite-sample coverage + Lindley-optimal next test, on top of any posterior</a:t>
            </a:r>
          </a:p>
        </p:txBody>
      </p:sp>
      <p:sp>
        <p:nvSpPr>
          <p:cNvPr id="2075" name="TextBox 2074"/>
          <p:cNvSpPr txBox="1"/>
          <p:nvPr/>
        </p:nvSpPr>
        <p:spPr>
          <a:xfrm>
            <a:off x="457200" y="5650992"/>
            <a:ext cx="8229600" cy="219456"/>
          </a:xfrm>
          <a:prstGeom prst="rect">
            <a:avLst/>
          </a:prstGeom>
          <a:noFill/>
        </p:spPr>
        <p:txBody>
          <a:bodyPr wrap="square" lIns="0" rIns="0" tIns="0" bIns="0" anchor="t">
            <a:spAutoFit/>
          </a:bodyPr>
          <a:lstStyle/>
          <a:p>
            <a:pPr algn="l"/>
            <a:r>
              <a:rPr sz="800" b="0" i="1">
                <a:solidFill>
                  <a:srgbClr val="5B6672"/>
                </a:solidFill>
                <a:latin typeface="Arial"/>
              </a:rPr>
              <a:t>Leifer &amp; Spekkens, Phys. Rev. A 88, 052130 (2013)  ·  Mitarai et al., Phys. Rev. A 98, 032309 (2018) - parameter shift  ·  Schuld, arXiv:2101.11020 (2021)</a:t>
            </a:r>
          </a:p>
        </p:txBody>
      </p:sp>
    </p:spTree>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l="-24000" r="-24000"/>
          </a:stretch>
        </a:blipFill>
        <a:effectLst/>
      </p:bgPr>
    </p:bg>
    <p:spTree>
      <p:nvGrpSpPr>
        <p:cNvPr id="1" name=""/>
        <p:cNvGrpSpPr/>
        <p:nvPr/>
      </p:nvGrpSpPr>
      <p:grpSpPr>
        <a:xfrm>
          <a:off x="0" y="0"/>
          <a:ext cx="0" cy="0"/>
          <a:chOff x="0" y="0"/>
          <a:chExt cx="0" cy="0"/>
        </a:xfrm>
      </p:grpSpPr>
      <p:pic>
        <p:nvPicPr>
          <p:cNvPr id="2" name="Picture 3" descr="C:\Users\Admin\Downloads\1764679326535-Photoroom.png"/>
          <p:cNvPicPr>
            <a:picLocks noChangeAspect="1" noChangeArrowheads="1"/>
          </p:cNvPicPr>
          <p:nvPr/>
        </p:nvPicPr>
        <p:blipFill>
          <a:blip r:embed="rId4"/>
          <a:srcRect/>
          <a:stretch>
            <a:fillRect/>
          </a:stretch>
        </p:blipFill>
        <p:spPr bwMode="auto">
          <a:xfrm>
            <a:off x="4108831" y="35671"/>
            <a:ext cx="1285884" cy="1285884"/>
          </a:xfrm>
          <a:prstGeom prst="rect">
            <a:avLst/>
          </a:prstGeom>
          <a:noFill/>
        </p:spPr>
      </p:pic>
      <p:pic>
        <p:nvPicPr>
          <p:cNvPr id="2050" name="Picture 2" descr="C:\Users\Admin\Downloads\RIT.png"/>
          <p:cNvPicPr>
            <a:picLocks noChangeAspect="1" noChangeArrowheads="1"/>
          </p:cNvPicPr>
          <p:nvPr/>
        </p:nvPicPr>
        <p:blipFill>
          <a:blip r:embed="rId5" cstate="print"/>
          <a:srcRect/>
          <a:stretch>
            <a:fillRect/>
          </a:stretch>
        </p:blipFill>
        <p:spPr bwMode="auto">
          <a:xfrm>
            <a:off x="252062" y="285704"/>
            <a:ext cx="3043364" cy="785818"/>
          </a:xfrm>
          <a:prstGeom prst="rect">
            <a:avLst/>
          </a:prstGeom>
          <a:noFill/>
        </p:spPr>
      </p:pic>
      <p:pic>
        <p:nvPicPr>
          <p:cNvPr id="2051" name="Picture 3" descr="C:\Users\Admin\Downloads\IBM_logo.svg.png"/>
          <p:cNvPicPr>
            <a:picLocks noChangeAspect="1" noChangeArrowheads="1"/>
          </p:cNvPicPr>
          <p:nvPr/>
        </p:nvPicPr>
        <p:blipFill>
          <a:blip r:embed="rId6"/>
          <a:srcRect/>
          <a:stretch>
            <a:fillRect/>
          </a:stretch>
        </p:blipFill>
        <p:spPr bwMode="auto">
          <a:xfrm>
            <a:off x="7380312" y="357139"/>
            <a:ext cx="1528257" cy="571504"/>
          </a:xfrm>
          <a:prstGeom prst="rect">
            <a:avLst/>
          </a:prstGeom>
          <a:noFill/>
        </p:spPr>
      </p:pic>
      <p:pic>
        <p:nvPicPr>
          <p:cNvPr id="2053" name="Picture 5" descr="C:\Users\Admin\Downloads\logo-nqm.png"/>
          <p:cNvPicPr>
            <a:picLocks noChangeAspect="1" noChangeArrowheads="1"/>
          </p:cNvPicPr>
          <p:nvPr/>
        </p:nvPicPr>
        <p:blipFill>
          <a:blip r:embed="rId7"/>
          <a:srcRect/>
          <a:stretch>
            <a:fillRect/>
          </a:stretch>
        </p:blipFill>
        <p:spPr bwMode="auto">
          <a:xfrm>
            <a:off x="5519518" y="249994"/>
            <a:ext cx="710054" cy="785794"/>
          </a:xfrm>
          <a:prstGeom prst="rect">
            <a:avLst/>
          </a:prstGeom>
          <a:noFill/>
        </p:spPr>
      </p:pic>
      <p:sp>
        <p:nvSpPr>
          <p:cNvPr id="11" name="Footer Placeholder 10"/>
          <p:cNvSpPr>
            <a:spLocks noGrp="1"/>
          </p:cNvSpPr>
          <p:nvPr>
            <p:ph type="ftr" sz="quarter" idx="11"/>
          </p:nvPr>
        </p:nvSpPr>
        <p:spPr>
          <a:xfrm>
            <a:off x="304800" y="6410848"/>
            <a:ext cx="6196026" cy="232862"/>
          </a:xfrm>
        </p:spPr>
        <p:txBody>
          <a:bodyPr/>
          <a:lstStyle/>
          <a:p>
            <a:r>
              <a:rPr lang="en-IN" i="1" dirty="0" smtClean="0">
                <a:solidFill>
                  <a:schemeClr val="tx1"/>
                </a:solidFill>
                <a:latin typeface="Arial Rounded MT Bold" pitchFamily="34" charset="0"/>
              </a:rPr>
              <a:t>RIT – QUANT-A-THAN- 2026 (Innovate, Build, Transform)</a:t>
            </a:r>
            <a:endParaRPr lang="en-IN" i="1" dirty="0">
              <a:solidFill>
                <a:schemeClr val="tx1"/>
              </a:solidFill>
              <a:latin typeface="Arial Rounded MT Bold" pitchFamily="34" charset="0"/>
            </a:endParaRPr>
          </a:p>
        </p:txBody>
      </p:sp>
      <p:pic>
        <p:nvPicPr>
          <p:cNvPr id="5" name="Picture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88734" y="285704"/>
            <a:ext cx="866775" cy="714375"/>
          </a:xfrm>
          <a:prstGeom prst="rect">
            <a:avLst/>
          </a:prstGeom>
        </p:spPr>
      </p:pic>
      <p:sp>
        <p:nvSpPr>
          <p:cNvPr id="2054" name="TextBox 2053"/>
          <p:cNvSpPr txBox="1"/>
          <p:nvPr/>
        </p:nvSpPr>
        <p:spPr>
          <a:xfrm>
            <a:off x="457200" y="1133856"/>
            <a:ext cx="8229600" cy="237744"/>
          </a:xfrm>
          <a:prstGeom prst="rect">
            <a:avLst/>
          </a:prstGeom>
          <a:noFill/>
        </p:spPr>
        <p:txBody>
          <a:bodyPr wrap="square" lIns="0" rIns="0" tIns="0" bIns="0" anchor="t">
            <a:spAutoFit/>
          </a:bodyPr>
          <a:lstStyle/>
          <a:p>
            <a:pPr algn="l"/>
            <a:r>
              <a:rPr sz="1050" b="1" i="0" spc="280">
                <a:solidFill>
                  <a:srgbClr val="5B6672"/>
                </a:solidFill>
                <a:latin typeface="Arial"/>
              </a:rPr>
              <a:t>A2  ·  </a:t>
            </a:r>
            <a:r>
              <a:rPr sz="1050" b="1" i="0" spc="280">
                <a:solidFill>
                  <a:srgbClr val="0E7490"/>
                </a:solidFill>
                <a:latin typeface="Arial"/>
              </a:rPr>
              <a:t>TECHNICAL APPENDIX - WHAT RUNS TODAY</a:t>
            </a:r>
          </a:p>
        </p:txBody>
      </p:sp>
      <p:sp>
        <p:nvSpPr>
          <p:cNvPr id="2055" name="TextBox 2054"/>
          <p:cNvSpPr txBox="1"/>
          <p:nvPr/>
        </p:nvSpPr>
        <p:spPr>
          <a:xfrm>
            <a:off x="457200" y="1371600"/>
            <a:ext cx="8229600" cy="475488"/>
          </a:xfrm>
          <a:prstGeom prst="rect">
            <a:avLst/>
          </a:prstGeom>
          <a:noFill/>
        </p:spPr>
        <p:txBody>
          <a:bodyPr wrap="square" lIns="0" rIns="0" tIns="0" bIns="0" anchor="t">
            <a:spAutoFit/>
          </a:bodyPr>
          <a:lstStyle/>
          <a:p>
            <a:pPr algn="l"/>
            <a:r>
              <a:rPr sz="2400" b="1" i="0" spc="-20">
                <a:solidFill>
                  <a:srgbClr val="0F172A"/>
                </a:solidFill>
                <a:latin typeface="Arial"/>
              </a:rPr>
              <a:t>Built, not proposed</a:t>
            </a:r>
          </a:p>
        </p:txBody>
      </p:sp>
      <p:sp>
        <p:nvSpPr>
          <p:cNvPr id="2056" name="Rounded Rectangle 2055"/>
          <p:cNvSpPr/>
          <p:nvPr/>
        </p:nvSpPr>
        <p:spPr>
          <a:xfrm>
            <a:off x="457200" y="2148840"/>
            <a:ext cx="4023360" cy="3246120"/>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57" name="TextBox 2056"/>
          <p:cNvSpPr txBox="1"/>
          <p:nvPr/>
        </p:nvSpPr>
        <p:spPr>
          <a:xfrm>
            <a:off x="658368" y="2286000"/>
            <a:ext cx="3657600" cy="219456"/>
          </a:xfrm>
          <a:prstGeom prst="rect">
            <a:avLst/>
          </a:prstGeom>
          <a:noFill/>
        </p:spPr>
        <p:txBody>
          <a:bodyPr wrap="square" lIns="0" rIns="0" tIns="0" bIns="0" anchor="t">
            <a:spAutoFit/>
          </a:bodyPr>
          <a:lstStyle/>
          <a:p>
            <a:pPr algn="l"/>
            <a:r>
              <a:rPr sz="900" b="1" i="0" spc="180">
                <a:solidFill>
                  <a:srgbClr val="0E7490"/>
                </a:solidFill>
                <a:latin typeface="Arial"/>
              </a:rPr>
              <a:t>IMPLEMENTED STACK  (offline-capable)</a:t>
            </a:r>
          </a:p>
        </p:txBody>
      </p:sp>
      <p:sp>
        <p:nvSpPr>
          <p:cNvPr id="2058" name="TextBox 2057"/>
          <p:cNvSpPr txBox="1"/>
          <p:nvPr/>
        </p:nvSpPr>
        <p:spPr>
          <a:xfrm>
            <a:off x="658368" y="2578608"/>
            <a:ext cx="1234440" cy="457200"/>
          </a:xfrm>
          <a:prstGeom prst="rect">
            <a:avLst/>
          </a:prstGeom>
          <a:noFill/>
        </p:spPr>
        <p:txBody>
          <a:bodyPr wrap="square" lIns="0" rIns="0" tIns="0" bIns="0" anchor="t">
            <a:spAutoFit/>
          </a:bodyPr>
          <a:lstStyle/>
          <a:p>
            <a:pPr algn="l"/>
            <a:r>
              <a:rPr sz="880" b="1" i="0">
                <a:solidFill>
                  <a:srgbClr val="0F172A"/>
                </a:solidFill>
                <a:latin typeface="Arial"/>
              </a:rPr>
              <a:t>Quantum fusion</a:t>
            </a:r>
          </a:p>
        </p:txBody>
      </p:sp>
      <p:sp>
        <p:nvSpPr>
          <p:cNvPr id="2059" name="TextBox 2058"/>
          <p:cNvSpPr txBox="1"/>
          <p:nvPr/>
        </p:nvSpPr>
        <p:spPr>
          <a:xfrm>
            <a:off x="1938528" y="2578608"/>
            <a:ext cx="2395728" cy="457200"/>
          </a:xfrm>
          <a:prstGeom prst="rect">
            <a:avLst/>
          </a:prstGeom>
          <a:noFill/>
        </p:spPr>
        <p:txBody>
          <a:bodyPr wrap="square" lIns="0" rIns="0" tIns="0" bIns="0" anchor="t">
            <a:spAutoFit/>
          </a:bodyPr>
          <a:lstStyle/>
          <a:p>
            <a:pPr algn="l">
              <a:lnSpc>
                <a:spcPct val="95000"/>
              </a:lnSpc>
            </a:pPr>
            <a:r>
              <a:rPr sz="800" b="0" i="0">
                <a:solidFill>
                  <a:srgbClr val="5B6672"/>
                </a:solidFill>
                <a:latin typeface="Arial"/>
              </a:rPr>
              <a:t>PennyLane statevector VQC - 8-qubit angle encoding, entangling layers</a:t>
            </a:r>
          </a:p>
        </p:txBody>
      </p:sp>
      <p:sp>
        <p:nvSpPr>
          <p:cNvPr id="2060" name="TextBox 2059"/>
          <p:cNvSpPr txBox="1"/>
          <p:nvPr/>
        </p:nvSpPr>
        <p:spPr>
          <a:xfrm>
            <a:off x="658368" y="3054096"/>
            <a:ext cx="1234440" cy="457200"/>
          </a:xfrm>
          <a:prstGeom prst="rect">
            <a:avLst/>
          </a:prstGeom>
          <a:noFill/>
        </p:spPr>
        <p:txBody>
          <a:bodyPr wrap="square" lIns="0" rIns="0" tIns="0" bIns="0" anchor="t">
            <a:spAutoFit/>
          </a:bodyPr>
          <a:lstStyle/>
          <a:p>
            <a:pPr algn="l"/>
            <a:r>
              <a:rPr sz="880" b="1" i="0">
                <a:solidFill>
                  <a:srgbClr val="0F172A"/>
                </a:solidFill>
                <a:latin typeface="Arial"/>
              </a:rPr>
              <a:t>Classical twin</a:t>
            </a:r>
          </a:p>
        </p:txBody>
      </p:sp>
      <p:sp>
        <p:nvSpPr>
          <p:cNvPr id="2061" name="TextBox 2060"/>
          <p:cNvSpPr txBox="1"/>
          <p:nvPr/>
        </p:nvSpPr>
        <p:spPr>
          <a:xfrm>
            <a:off x="1938528" y="3054096"/>
            <a:ext cx="2395728" cy="457200"/>
          </a:xfrm>
          <a:prstGeom prst="rect">
            <a:avLst/>
          </a:prstGeom>
          <a:noFill/>
        </p:spPr>
        <p:txBody>
          <a:bodyPr wrap="square" lIns="0" rIns="0" tIns="0" bIns="0" anchor="t">
            <a:spAutoFit/>
          </a:bodyPr>
          <a:lstStyle/>
          <a:p>
            <a:pPr algn="l">
              <a:lnSpc>
                <a:spcPct val="95000"/>
              </a:lnSpc>
            </a:pPr>
            <a:r>
              <a:rPr sz="800" b="0" i="0">
                <a:solidFill>
                  <a:srgbClr val="5B6672"/>
                </a:solidFill>
                <a:latin typeface="Arial"/>
              </a:rPr>
              <a:t>Bayesian product-of-experts fusion behind the same interface</a:t>
            </a:r>
          </a:p>
        </p:txBody>
      </p:sp>
      <p:sp>
        <p:nvSpPr>
          <p:cNvPr id="2062" name="TextBox 2061"/>
          <p:cNvSpPr txBox="1"/>
          <p:nvPr/>
        </p:nvSpPr>
        <p:spPr>
          <a:xfrm>
            <a:off x="658368" y="3529584"/>
            <a:ext cx="1234440" cy="457200"/>
          </a:xfrm>
          <a:prstGeom prst="rect">
            <a:avLst/>
          </a:prstGeom>
          <a:noFill/>
        </p:spPr>
        <p:txBody>
          <a:bodyPr wrap="square" lIns="0" rIns="0" tIns="0" bIns="0" anchor="t">
            <a:spAutoFit/>
          </a:bodyPr>
          <a:lstStyle/>
          <a:p>
            <a:pPr algn="l"/>
            <a:r>
              <a:rPr sz="880" b="1" i="0">
                <a:solidFill>
                  <a:srgbClr val="0F172A"/>
                </a:solidFill>
                <a:latin typeface="Arial"/>
              </a:rPr>
              <a:t>Safety engine</a:t>
            </a:r>
          </a:p>
        </p:txBody>
      </p:sp>
      <p:sp>
        <p:nvSpPr>
          <p:cNvPr id="2063" name="TextBox 2062"/>
          <p:cNvSpPr txBox="1"/>
          <p:nvPr/>
        </p:nvSpPr>
        <p:spPr>
          <a:xfrm>
            <a:off x="1938528" y="3529584"/>
            <a:ext cx="2395728" cy="457200"/>
          </a:xfrm>
          <a:prstGeom prst="rect">
            <a:avLst/>
          </a:prstGeom>
          <a:noFill/>
        </p:spPr>
        <p:txBody>
          <a:bodyPr wrap="square" lIns="0" rIns="0" tIns="0" bIns="0" anchor="t">
            <a:spAutoFit/>
          </a:bodyPr>
          <a:lstStyle/>
          <a:p>
            <a:pPr algn="l">
              <a:lnSpc>
                <a:spcPct val="95000"/>
              </a:lnSpc>
            </a:pPr>
            <a:r>
              <a:rPr sz="800" b="0" i="0">
                <a:solidFill>
                  <a:srgbClr val="5B6672"/>
                </a:solidFill>
                <a:latin typeface="Arial"/>
              </a:rPr>
              <a:t>deep ensembles + MC-dropout, temperature scaling, conformal sets, energy-score OOD, abstention</a:t>
            </a:r>
          </a:p>
        </p:txBody>
      </p:sp>
      <p:sp>
        <p:nvSpPr>
          <p:cNvPr id="2064" name="TextBox 2063"/>
          <p:cNvSpPr txBox="1"/>
          <p:nvPr/>
        </p:nvSpPr>
        <p:spPr>
          <a:xfrm>
            <a:off x="658368" y="4005072"/>
            <a:ext cx="1234440" cy="457200"/>
          </a:xfrm>
          <a:prstGeom prst="rect">
            <a:avLst/>
          </a:prstGeom>
          <a:noFill/>
        </p:spPr>
        <p:txBody>
          <a:bodyPr wrap="square" lIns="0" rIns="0" tIns="0" bIns="0" anchor="t">
            <a:spAutoFit/>
          </a:bodyPr>
          <a:lstStyle/>
          <a:p>
            <a:pPr algn="l"/>
            <a:r>
              <a:rPr sz="880" b="1" i="0">
                <a:solidFill>
                  <a:srgbClr val="0F172A"/>
                </a:solidFill>
                <a:latin typeface="Arial"/>
              </a:rPr>
              <a:t>Explainability</a:t>
            </a:r>
          </a:p>
        </p:txBody>
      </p:sp>
      <p:sp>
        <p:nvSpPr>
          <p:cNvPr id="2065" name="TextBox 2064"/>
          <p:cNvSpPr txBox="1"/>
          <p:nvPr/>
        </p:nvSpPr>
        <p:spPr>
          <a:xfrm>
            <a:off x="1938528" y="4005072"/>
            <a:ext cx="2395728" cy="457200"/>
          </a:xfrm>
          <a:prstGeom prst="rect">
            <a:avLst/>
          </a:prstGeom>
          <a:noFill/>
        </p:spPr>
        <p:txBody>
          <a:bodyPr wrap="square" lIns="0" rIns="0" tIns="0" bIns="0" anchor="t">
            <a:spAutoFit/>
          </a:bodyPr>
          <a:lstStyle/>
          <a:p>
            <a:pPr algn="l">
              <a:lnSpc>
                <a:spcPct val="95000"/>
              </a:lnSpc>
            </a:pPr>
            <a:r>
              <a:rPr sz="800" b="0" i="0">
                <a:solidFill>
                  <a:srgbClr val="5B6672"/>
                </a:solidFill>
                <a:latin typeface="Arial"/>
              </a:rPr>
              <a:t>occlusion saliency, Shapley-style evidence attribution, counterfactual sensitivity</a:t>
            </a:r>
          </a:p>
        </p:txBody>
      </p:sp>
      <p:sp>
        <p:nvSpPr>
          <p:cNvPr id="2066" name="TextBox 2065"/>
          <p:cNvSpPr txBox="1"/>
          <p:nvPr/>
        </p:nvSpPr>
        <p:spPr>
          <a:xfrm>
            <a:off x="658368" y="4480560"/>
            <a:ext cx="1234440" cy="457200"/>
          </a:xfrm>
          <a:prstGeom prst="rect">
            <a:avLst/>
          </a:prstGeom>
          <a:noFill/>
        </p:spPr>
        <p:txBody>
          <a:bodyPr wrap="square" lIns="0" rIns="0" tIns="0" bIns="0" anchor="t">
            <a:spAutoFit/>
          </a:bodyPr>
          <a:lstStyle/>
          <a:p>
            <a:pPr algn="l"/>
            <a:r>
              <a:rPr sz="880" b="1" i="0">
                <a:solidFill>
                  <a:srgbClr val="0F172A"/>
                </a:solidFill>
                <a:latin typeface="Arial"/>
              </a:rPr>
              <a:t>Recommender</a:t>
            </a:r>
          </a:p>
        </p:txBody>
      </p:sp>
      <p:sp>
        <p:nvSpPr>
          <p:cNvPr id="2067" name="TextBox 2066"/>
          <p:cNvSpPr txBox="1"/>
          <p:nvPr/>
        </p:nvSpPr>
        <p:spPr>
          <a:xfrm>
            <a:off x="1938528" y="4480560"/>
            <a:ext cx="2395728" cy="457200"/>
          </a:xfrm>
          <a:prstGeom prst="rect">
            <a:avLst/>
          </a:prstGeom>
          <a:noFill/>
        </p:spPr>
        <p:txBody>
          <a:bodyPr wrap="square" lIns="0" rIns="0" tIns="0" bIns="0" anchor="t">
            <a:spAutoFit/>
          </a:bodyPr>
          <a:lstStyle/>
          <a:p>
            <a:pPr algn="l">
              <a:lnSpc>
                <a:spcPct val="95000"/>
              </a:lnSpc>
            </a:pPr>
            <a:r>
              <a:rPr sz="800" b="0" i="0">
                <a:solidFill>
                  <a:srgbClr val="5B6672"/>
                </a:solidFill>
                <a:latin typeface="Arial"/>
              </a:rPr>
              <a:t>expected-information-gain next-test ranking per cost/risk</a:t>
            </a:r>
          </a:p>
        </p:txBody>
      </p:sp>
      <p:sp>
        <p:nvSpPr>
          <p:cNvPr id="2068" name="TextBox 2067"/>
          <p:cNvSpPr txBox="1"/>
          <p:nvPr/>
        </p:nvSpPr>
        <p:spPr>
          <a:xfrm>
            <a:off x="658368" y="4956048"/>
            <a:ext cx="1234440" cy="457200"/>
          </a:xfrm>
          <a:prstGeom prst="rect">
            <a:avLst/>
          </a:prstGeom>
          <a:noFill/>
        </p:spPr>
        <p:txBody>
          <a:bodyPr wrap="square" lIns="0" rIns="0" tIns="0" bIns="0" anchor="t">
            <a:spAutoFit/>
          </a:bodyPr>
          <a:lstStyle/>
          <a:p>
            <a:pPr algn="l"/>
            <a:r>
              <a:rPr sz="880" b="1" i="0">
                <a:solidFill>
                  <a:srgbClr val="0F172A"/>
                </a:solidFill>
                <a:latin typeface="Arial"/>
              </a:rPr>
              <a:t>Platform</a:t>
            </a:r>
          </a:p>
        </p:txBody>
      </p:sp>
      <p:sp>
        <p:nvSpPr>
          <p:cNvPr id="2069" name="TextBox 2068"/>
          <p:cNvSpPr txBox="1"/>
          <p:nvPr/>
        </p:nvSpPr>
        <p:spPr>
          <a:xfrm>
            <a:off x="1938528" y="4956048"/>
            <a:ext cx="2395728" cy="457200"/>
          </a:xfrm>
          <a:prstGeom prst="rect">
            <a:avLst/>
          </a:prstGeom>
          <a:noFill/>
        </p:spPr>
        <p:txBody>
          <a:bodyPr wrap="square" lIns="0" rIns="0" tIns="0" bIns="0" anchor="t">
            <a:spAutoFit/>
          </a:bodyPr>
          <a:lstStyle/>
          <a:p>
            <a:pPr algn="l">
              <a:lnSpc>
                <a:spcPct val="95000"/>
              </a:lnSpc>
            </a:pPr>
            <a:r>
              <a:rPr sz="800" b="0" i="0">
                <a:solidFill>
                  <a:srgbClr val="5B6672"/>
                </a:solidFill>
                <a:latin typeface="Arial"/>
              </a:rPr>
              <a:t>FastAPI gateway, async event bus, SQLite audit ledger, doctor dashboard SPA</a:t>
            </a:r>
          </a:p>
        </p:txBody>
      </p:sp>
      <p:sp>
        <p:nvSpPr>
          <p:cNvPr id="2070" name="Rounded Rectangle 2069"/>
          <p:cNvSpPr/>
          <p:nvPr/>
        </p:nvSpPr>
        <p:spPr>
          <a:xfrm>
            <a:off x="4709160" y="2148840"/>
            <a:ext cx="3977639" cy="1828800"/>
          </a:xfrm>
          <a:prstGeom prst="roundRect">
            <a:avLst>
              <a:gd name="adj" fmla="val 10000"/>
            </a:avLst>
          </a:prstGeom>
          <a:solidFill>
            <a:srgbClr val="ECF8F7"/>
          </a:solidFill>
          <a:ln w="13970">
            <a:solidFill>
              <a:srgbClr val="0D9488"/>
            </a:solidFill>
          </a:ln>
          <a:effectLst/>
        </p:spPr>
        <p:txBody>
          <a:bodyPr rtlCol="0" anchor="ctr"/>
          <a:lstStyle/>
          <a:p>
            <a:pPr algn="ctr"/>
          </a:p>
        </p:txBody>
      </p:sp>
      <p:sp>
        <p:nvSpPr>
          <p:cNvPr id="2071" name="TextBox 2070"/>
          <p:cNvSpPr txBox="1"/>
          <p:nvPr/>
        </p:nvSpPr>
        <p:spPr>
          <a:xfrm>
            <a:off x="4901184" y="2286000"/>
            <a:ext cx="3657600" cy="219456"/>
          </a:xfrm>
          <a:prstGeom prst="rect">
            <a:avLst/>
          </a:prstGeom>
          <a:noFill/>
        </p:spPr>
        <p:txBody>
          <a:bodyPr wrap="square" lIns="0" rIns="0" tIns="0" bIns="0" anchor="t">
            <a:spAutoFit/>
          </a:bodyPr>
          <a:lstStyle/>
          <a:p>
            <a:pPr algn="l"/>
            <a:r>
              <a:rPr sz="900" b="1" i="0" spc="200">
                <a:solidFill>
                  <a:srgbClr val="0E7490"/>
                </a:solidFill>
                <a:latin typeface="Arial"/>
              </a:rPr>
              <a:t>THE BENCHMARK LAW</a:t>
            </a:r>
          </a:p>
        </p:txBody>
      </p:sp>
      <p:sp>
        <p:nvSpPr>
          <p:cNvPr id="2072" name="TextBox 2071"/>
          <p:cNvSpPr txBox="1"/>
          <p:nvPr/>
        </p:nvSpPr>
        <p:spPr>
          <a:xfrm>
            <a:off x="4901184" y="2542032"/>
            <a:ext cx="3611880" cy="914400"/>
          </a:xfrm>
          <a:prstGeom prst="rect">
            <a:avLst/>
          </a:prstGeom>
          <a:noFill/>
        </p:spPr>
        <p:txBody>
          <a:bodyPr wrap="square" lIns="0" rIns="0" tIns="0" bIns="0" anchor="t">
            <a:spAutoFit/>
          </a:bodyPr>
          <a:lstStyle/>
          <a:p>
            <a:pPr algn="l">
              <a:lnSpc>
                <a:spcPct val="115000"/>
              </a:lnSpc>
            </a:pPr>
            <a:r>
              <a:rPr sz="1050" b="1" i="0">
                <a:solidFill>
                  <a:srgbClr val="0F172A"/>
                </a:solidFill>
                <a:latin typeface="Courier New"/>
              </a:rPr>
              <a:t>aura_cli bench</a:t>
            </a:r>
            <a:r>
              <a:rPr sz="900" b="0" i="0">
                <a:solidFill>
                  <a:srgbClr val="5B6672"/>
                </a:solidFill>
                <a:latin typeface="Arial"/>
              </a:rPr>
              <a:t>  runs quantum vs classical twin on identical held-out data:</a:t>
            </a:r>
          </a:p>
          <a:p>
            <a:pPr algn="l">
              <a:lnSpc>
                <a:spcPct val="115000"/>
              </a:lnSpc>
            </a:pPr>
            <a:r>
              <a:rPr sz="950" b="1" i="0">
                <a:solidFill>
                  <a:srgbClr val="0F172A"/>
                </a:solidFill>
                <a:latin typeface="Arial"/>
              </a:rPr>
              <a:t>accuracy · NLL · ECE · Brier · conformal coverage · set size</a:t>
            </a:r>
          </a:p>
        </p:txBody>
      </p:sp>
      <p:sp>
        <p:nvSpPr>
          <p:cNvPr id="2073" name="TextBox 2072"/>
          <p:cNvSpPr txBox="1"/>
          <p:nvPr/>
        </p:nvSpPr>
        <p:spPr>
          <a:xfrm>
            <a:off x="4901184" y="3474720"/>
            <a:ext cx="3611880" cy="402336"/>
          </a:xfrm>
          <a:prstGeom prst="rect">
            <a:avLst/>
          </a:prstGeom>
          <a:noFill/>
        </p:spPr>
        <p:txBody>
          <a:bodyPr wrap="square" lIns="0" rIns="0" tIns="0" bIns="0" anchor="t">
            <a:spAutoFit/>
          </a:bodyPr>
          <a:lstStyle/>
          <a:p>
            <a:pPr algn="l">
              <a:lnSpc>
                <a:spcPct val="105000"/>
              </a:lnSpc>
            </a:pPr>
            <a:r>
              <a:rPr sz="950" b="1" i="1">
                <a:solidFill>
                  <a:srgbClr val="0E7490"/>
                </a:solidFill>
                <a:latin typeface="Arial"/>
              </a:rPr>
              <a:t>If the classical twin wins, the classical twin ships - and we say so on stage.</a:t>
            </a:r>
          </a:p>
        </p:txBody>
      </p:sp>
      <p:sp>
        <p:nvSpPr>
          <p:cNvPr id="2074" name="Rounded Rectangle 2073"/>
          <p:cNvSpPr/>
          <p:nvPr/>
        </p:nvSpPr>
        <p:spPr>
          <a:xfrm>
            <a:off x="4709160" y="4160520"/>
            <a:ext cx="3977639" cy="1234440"/>
          </a:xfrm>
          <a:prstGeom prst="roundRect">
            <a:avLst>
              <a:gd name="adj" fmla="val 10000"/>
            </a:avLst>
          </a:prstGeom>
          <a:solidFill>
            <a:srgbClr val="FFFFFF"/>
          </a:solidFill>
          <a:ln w="9525">
            <a:solidFill>
              <a:srgbClr val="C6E4E1"/>
            </a:solidFill>
          </a:ln>
          <a:effectLst/>
        </p:spPr>
        <p:txBody>
          <a:bodyPr rtlCol="0" anchor="ctr"/>
          <a:lstStyle/>
          <a:p>
            <a:pPr algn="ctr"/>
          </a:p>
        </p:txBody>
      </p:sp>
      <p:sp>
        <p:nvSpPr>
          <p:cNvPr id="2075" name="TextBox 2074"/>
          <p:cNvSpPr txBox="1"/>
          <p:nvPr/>
        </p:nvSpPr>
        <p:spPr>
          <a:xfrm>
            <a:off x="4901184" y="4279392"/>
            <a:ext cx="3657600" cy="219456"/>
          </a:xfrm>
          <a:prstGeom prst="rect">
            <a:avLst/>
          </a:prstGeom>
          <a:noFill/>
        </p:spPr>
        <p:txBody>
          <a:bodyPr wrap="square" lIns="0" rIns="0" tIns="0" bIns="0" anchor="t">
            <a:spAutoFit/>
          </a:bodyPr>
          <a:lstStyle/>
          <a:p>
            <a:pPr algn="l"/>
            <a:r>
              <a:rPr sz="900" b="1" i="0" spc="200">
                <a:solidFill>
                  <a:srgbClr val="0E7490"/>
                </a:solidFill>
                <a:latin typeface="Arial"/>
              </a:rPr>
              <a:t>LIVE DEMO PATH</a:t>
            </a:r>
          </a:p>
        </p:txBody>
      </p:sp>
      <p:sp>
        <p:nvSpPr>
          <p:cNvPr id="2076" name="TextBox 2075"/>
          <p:cNvSpPr txBox="1"/>
          <p:nvPr/>
        </p:nvSpPr>
        <p:spPr>
          <a:xfrm>
            <a:off x="4901184" y="4517136"/>
            <a:ext cx="2011680" cy="219456"/>
          </a:xfrm>
          <a:prstGeom prst="rect">
            <a:avLst/>
          </a:prstGeom>
          <a:noFill/>
        </p:spPr>
        <p:txBody>
          <a:bodyPr wrap="square" lIns="0" rIns="0" tIns="0" bIns="0" anchor="t">
            <a:spAutoFit/>
          </a:bodyPr>
          <a:lstStyle/>
          <a:p>
            <a:pPr algn="l"/>
            <a:r>
              <a:rPr sz="900" b="1" i="0">
                <a:solidFill>
                  <a:srgbClr val="0F172A"/>
                </a:solidFill>
                <a:latin typeface="Courier New"/>
              </a:rPr>
              <a:t>py -m aura_cli train</a:t>
            </a:r>
          </a:p>
        </p:txBody>
      </p:sp>
      <p:sp>
        <p:nvSpPr>
          <p:cNvPr id="2077" name="TextBox 2076"/>
          <p:cNvSpPr txBox="1"/>
          <p:nvPr/>
        </p:nvSpPr>
        <p:spPr>
          <a:xfrm>
            <a:off x="6784848" y="4517136"/>
            <a:ext cx="1828800" cy="219456"/>
          </a:xfrm>
          <a:prstGeom prst="rect">
            <a:avLst/>
          </a:prstGeom>
          <a:noFill/>
        </p:spPr>
        <p:txBody>
          <a:bodyPr wrap="square" lIns="0" rIns="0" tIns="0" bIns="0" anchor="t">
            <a:spAutoFit/>
          </a:bodyPr>
          <a:lstStyle/>
          <a:p>
            <a:pPr algn="l"/>
            <a:r>
              <a:rPr sz="800" b="0" i="1">
                <a:solidFill>
                  <a:srgbClr val="5B6672"/>
                </a:solidFill>
                <a:latin typeface="Arial"/>
              </a:rPr>
              <a:t>fit fusion + calibration (seconds)</a:t>
            </a:r>
          </a:p>
        </p:txBody>
      </p:sp>
      <p:sp>
        <p:nvSpPr>
          <p:cNvPr id="2078" name="TextBox 2077"/>
          <p:cNvSpPr txBox="1"/>
          <p:nvPr/>
        </p:nvSpPr>
        <p:spPr>
          <a:xfrm>
            <a:off x="4901184" y="4791456"/>
            <a:ext cx="2011680" cy="219456"/>
          </a:xfrm>
          <a:prstGeom prst="rect">
            <a:avLst/>
          </a:prstGeom>
          <a:noFill/>
        </p:spPr>
        <p:txBody>
          <a:bodyPr wrap="square" lIns="0" rIns="0" tIns="0" bIns="0" anchor="t">
            <a:spAutoFit/>
          </a:bodyPr>
          <a:lstStyle/>
          <a:p>
            <a:pPr algn="l"/>
            <a:r>
              <a:rPr sz="900" b="1" i="0">
                <a:solidFill>
                  <a:srgbClr val="0F172A"/>
                </a:solidFill>
                <a:latin typeface="Courier New"/>
              </a:rPr>
              <a:t>py -m aura_cli bench</a:t>
            </a:r>
          </a:p>
        </p:txBody>
      </p:sp>
      <p:sp>
        <p:nvSpPr>
          <p:cNvPr id="2079" name="TextBox 2078"/>
          <p:cNvSpPr txBox="1"/>
          <p:nvPr/>
        </p:nvSpPr>
        <p:spPr>
          <a:xfrm>
            <a:off x="6784848" y="4791456"/>
            <a:ext cx="1828800" cy="219456"/>
          </a:xfrm>
          <a:prstGeom prst="rect">
            <a:avLst/>
          </a:prstGeom>
          <a:noFill/>
        </p:spPr>
        <p:txBody>
          <a:bodyPr wrap="square" lIns="0" rIns="0" tIns="0" bIns="0" anchor="t">
            <a:spAutoFit/>
          </a:bodyPr>
          <a:lstStyle/>
          <a:p>
            <a:pPr algn="l"/>
            <a:r>
              <a:rPr sz="800" b="0" i="1">
                <a:solidFill>
                  <a:srgbClr val="5B6672"/>
                </a:solidFill>
                <a:latin typeface="Arial"/>
              </a:rPr>
              <a:t>quantum vs classical, head-to-head</a:t>
            </a:r>
          </a:p>
        </p:txBody>
      </p:sp>
      <p:sp>
        <p:nvSpPr>
          <p:cNvPr id="2080" name="TextBox 2079"/>
          <p:cNvSpPr txBox="1"/>
          <p:nvPr/>
        </p:nvSpPr>
        <p:spPr>
          <a:xfrm>
            <a:off x="4901184" y="5065776"/>
            <a:ext cx="2011680" cy="219456"/>
          </a:xfrm>
          <a:prstGeom prst="rect">
            <a:avLst/>
          </a:prstGeom>
          <a:noFill/>
        </p:spPr>
        <p:txBody>
          <a:bodyPr wrap="square" lIns="0" rIns="0" tIns="0" bIns="0" anchor="t">
            <a:spAutoFit/>
          </a:bodyPr>
          <a:lstStyle/>
          <a:p>
            <a:pPr algn="l"/>
            <a:r>
              <a:rPr sz="900" b="1" i="0">
                <a:solidFill>
                  <a:srgbClr val="0F172A"/>
                </a:solidFill>
                <a:latin typeface="Courier New"/>
              </a:rPr>
              <a:t>py -m aura_cli serve</a:t>
            </a:r>
          </a:p>
        </p:txBody>
      </p:sp>
      <p:sp>
        <p:nvSpPr>
          <p:cNvPr id="2081" name="TextBox 2080"/>
          <p:cNvSpPr txBox="1"/>
          <p:nvPr/>
        </p:nvSpPr>
        <p:spPr>
          <a:xfrm>
            <a:off x="6784848" y="5065776"/>
            <a:ext cx="1828800" cy="219456"/>
          </a:xfrm>
          <a:prstGeom prst="rect">
            <a:avLst/>
          </a:prstGeom>
          <a:noFill/>
        </p:spPr>
        <p:txBody>
          <a:bodyPr wrap="square" lIns="0" rIns="0" tIns="0" bIns="0" anchor="t">
            <a:spAutoFit/>
          </a:bodyPr>
          <a:lstStyle/>
          <a:p>
            <a:pPr algn="l"/>
            <a:r>
              <a:rPr sz="800" b="0" i="1">
                <a:solidFill>
                  <a:srgbClr val="5B6672"/>
                </a:solidFill>
                <a:latin typeface="Arial"/>
              </a:rPr>
              <a:t>doctor dashboard on :8000</a:t>
            </a:r>
          </a:p>
        </p:txBody>
      </p:sp>
      <p:sp>
        <p:nvSpPr>
          <p:cNvPr id="2082" name="TextBox 2081"/>
          <p:cNvSpPr txBox="1"/>
          <p:nvPr/>
        </p:nvSpPr>
        <p:spPr>
          <a:xfrm>
            <a:off x="457200" y="5541264"/>
            <a:ext cx="8229600" cy="219456"/>
          </a:xfrm>
          <a:prstGeom prst="rect">
            <a:avLst/>
          </a:prstGeom>
          <a:noFill/>
        </p:spPr>
        <p:txBody>
          <a:bodyPr wrap="square" lIns="0" rIns="0" tIns="0" bIns="0" anchor="t">
            <a:spAutoFit/>
          </a:bodyPr>
          <a:lstStyle/>
          <a:p>
            <a:pPr algn="l"/>
            <a:r>
              <a:rPr sz="800" b="0" i="1">
                <a:solidFill>
                  <a:srgbClr val="5B6672"/>
                </a:solidFill>
                <a:latin typeface="Arial"/>
              </a:rPr>
              <a:t>Full provenance per result: {backend, device, feature-map version, circuit version, seed, shots} pinned to every belief snapshot.</a:t>
            </a:r>
          </a:p>
        </p:txBody>
      </p:sp>
    </p:spTree>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l="-24000" r="-24000"/>
          </a:stretch>
        </a:blipFill>
        <a:effectLst/>
      </p:bgPr>
    </p:bg>
    <p:spTree>
      <p:nvGrpSpPr>
        <p:cNvPr id="1" name=""/>
        <p:cNvGrpSpPr/>
        <p:nvPr/>
      </p:nvGrpSpPr>
      <p:grpSpPr>
        <a:xfrm>
          <a:off x="0" y="0"/>
          <a:ext cx="0" cy="0"/>
          <a:chOff x="0" y="0"/>
          <a:chExt cx="0" cy="0"/>
        </a:xfrm>
      </p:grpSpPr>
      <p:pic>
        <p:nvPicPr>
          <p:cNvPr id="2" name="Picture 3" descr="C:\Users\Admin\Downloads\1764679326535-Photoroom.png"/>
          <p:cNvPicPr>
            <a:picLocks noChangeAspect="1" noChangeArrowheads="1"/>
          </p:cNvPicPr>
          <p:nvPr/>
        </p:nvPicPr>
        <p:blipFill>
          <a:blip r:embed="rId4"/>
          <a:srcRect/>
          <a:stretch>
            <a:fillRect/>
          </a:stretch>
        </p:blipFill>
        <p:spPr bwMode="auto">
          <a:xfrm>
            <a:off x="4108831" y="35671"/>
            <a:ext cx="1285884" cy="1285884"/>
          </a:xfrm>
          <a:prstGeom prst="rect">
            <a:avLst/>
          </a:prstGeom>
          <a:noFill/>
        </p:spPr>
      </p:pic>
      <p:pic>
        <p:nvPicPr>
          <p:cNvPr id="2050" name="Picture 2" descr="C:\Users\Admin\Downloads\RIT.png"/>
          <p:cNvPicPr>
            <a:picLocks noChangeAspect="1" noChangeArrowheads="1"/>
          </p:cNvPicPr>
          <p:nvPr/>
        </p:nvPicPr>
        <p:blipFill>
          <a:blip r:embed="rId5" cstate="print"/>
          <a:srcRect/>
          <a:stretch>
            <a:fillRect/>
          </a:stretch>
        </p:blipFill>
        <p:spPr bwMode="auto">
          <a:xfrm>
            <a:off x="252062" y="285704"/>
            <a:ext cx="3043364" cy="785818"/>
          </a:xfrm>
          <a:prstGeom prst="rect">
            <a:avLst/>
          </a:prstGeom>
          <a:noFill/>
        </p:spPr>
      </p:pic>
      <p:pic>
        <p:nvPicPr>
          <p:cNvPr id="2051" name="Picture 3" descr="C:\Users\Admin\Downloads\IBM_logo.svg.png"/>
          <p:cNvPicPr>
            <a:picLocks noChangeAspect="1" noChangeArrowheads="1"/>
          </p:cNvPicPr>
          <p:nvPr/>
        </p:nvPicPr>
        <p:blipFill>
          <a:blip r:embed="rId6"/>
          <a:srcRect/>
          <a:stretch>
            <a:fillRect/>
          </a:stretch>
        </p:blipFill>
        <p:spPr bwMode="auto">
          <a:xfrm>
            <a:off x="7380312" y="357139"/>
            <a:ext cx="1528257" cy="571504"/>
          </a:xfrm>
          <a:prstGeom prst="rect">
            <a:avLst/>
          </a:prstGeom>
          <a:noFill/>
        </p:spPr>
      </p:pic>
      <p:pic>
        <p:nvPicPr>
          <p:cNvPr id="2053" name="Picture 5" descr="C:\Users\Admin\Downloads\logo-nqm.png"/>
          <p:cNvPicPr>
            <a:picLocks noChangeAspect="1" noChangeArrowheads="1"/>
          </p:cNvPicPr>
          <p:nvPr/>
        </p:nvPicPr>
        <p:blipFill>
          <a:blip r:embed="rId7"/>
          <a:srcRect/>
          <a:stretch>
            <a:fillRect/>
          </a:stretch>
        </p:blipFill>
        <p:spPr bwMode="auto">
          <a:xfrm>
            <a:off x="5519518" y="249994"/>
            <a:ext cx="710054" cy="785794"/>
          </a:xfrm>
          <a:prstGeom prst="rect">
            <a:avLst/>
          </a:prstGeom>
          <a:noFill/>
        </p:spPr>
      </p:pic>
      <p:sp>
        <p:nvSpPr>
          <p:cNvPr id="11" name="Footer Placeholder 10"/>
          <p:cNvSpPr>
            <a:spLocks noGrp="1"/>
          </p:cNvSpPr>
          <p:nvPr>
            <p:ph type="ftr" sz="quarter" idx="11"/>
          </p:nvPr>
        </p:nvSpPr>
        <p:spPr>
          <a:xfrm>
            <a:off x="304800" y="6410848"/>
            <a:ext cx="6196026" cy="232862"/>
          </a:xfrm>
        </p:spPr>
        <p:txBody>
          <a:bodyPr/>
          <a:lstStyle/>
          <a:p>
            <a:r>
              <a:rPr lang="en-IN" i="1" dirty="0" smtClean="0">
                <a:solidFill>
                  <a:schemeClr val="tx1"/>
                </a:solidFill>
                <a:latin typeface="Arial Rounded MT Bold" pitchFamily="34" charset="0"/>
              </a:rPr>
              <a:t>RIT – QUANT-A-THAN- 2026 (Innovate, Build, Transform)</a:t>
            </a:r>
            <a:endParaRPr lang="en-IN" i="1" dirty="0">
              <a:solidFill>
                <a:schemeClr val="tx1"/>
              </a:solidFill>
              <a:latin typeface="Arial Rounded MT Bold" pitchFamily="34" charset="0"/>
            </a:endParaRPr>
          </a:p>
        </p:txBody>
      </p:sp>
      <p:pic>
        <p:nvPicPr>
          <p:cNvPr id="5" name="Picture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88734" y="285704"/>
            <a:ext cx="866775" cy="714375"/>
          </a:xfrm>
          <a:prstGeom prst="rect">
            <a:avLst/>
          </a:prstGeom>
        </p:spPr>
      </p:pic>
      <p:sp>
        <p:nvSpPr>
          <p:cNvPr id="2054" name="TextBox 2053"/>
          <p:cNvSpPr txBox="1"/>
          <p:nvPr/>
        </p:nvSpPr>
        <p:spPr>
          <a:xfrm>
            <a:off x="457200" y="1133856"/>
            <a:ext cx="8229600" cy="237744"/>
          </a:xfrm>
          <a:prstGeom prst="rect">
            <a:avLst/>
          </a:prstGeom>
          <a:noFill/>
        </p:spPr>
        <p:txBody>
          <a:bodyPr wrap="square" lIns="0" rIns="0" tIns="0" bIns="0" anchor="t">
            <a:spAutoFit/>
          </a:bodyPr>
          <a:lstStyle/>
          <a:p>
            <a:pPr algn="l"/>
            <a:r>
              <a:rPr sz="1050" b="1" i="0" spc="280">
                <a:solidFill>
                  <a:srgbClr val="5B6672"/>
                </a:solidFill>
                <a:latin typeface="Arial"/>
              </a:rPr>
              <a:t>A3  ·  </a:t>
            </a:r>
            <a:r>
              <a:rPr sz="1050" b="1" i="0" spc="280">
                <a:solidFill>
                  <a:srgbClr val="0E7490"/>
                </a:solidFill>
                <a:latin typeface="Arial"/>
              </a:rPr>
              <a:t>REFERENCES</a:t>
            </a:r>
          </a:p>
        </p:txBody>
      </p:sp>
      <p:sp>
        <p:nvSpPr>
          <p:cNvPr id="2055" name="TextBox 2054"/>
          <p:cNvSpPr txBox="1"/>
          <p:nvPr/>
        </p:nvSpPr>
        <p:spPr>
          <a:xfrm>
            <a:off x="457200" y="1371600"/>
            <a:ext cx="8229600" cy="475488"/>
          </a:xfrm>
          <a:prstGeom prst="rect">
            <a:avLst/>
          </a:prstGeom>
          <a:noFill/>
        </p:spPr>
        <p:txBody>
          <a:bodyPr wrap="square" lIns="0" rIns="0" tIns="0" bIns="0" anchor="t">
            <a:spAutoFit/>
          </a:bodyPr>
          <a:lstStyle/>
          <a:p>
            <a:pPr algn="l"/>
            <a:r>
              <a:rPr sz="2400" b="1" i="0" spc="-20">
                <a:solidFill>
                  <a:srgbClr val="0F172A"/>
                </a:solidFill>
                <a:latin typeface="Arial"/>
              </a:rPr>
              <a:t>References</a:t>
            </a:r>
          </a:p>
        </p:txBody>
      </p:sp>
      <p:sp>
        <p:nvSpPr>
          <p:cNvPr id="2056" name="TextBox 2055"/>
          <p:cNvSpPr txBox="1"/>
          <p:nvPr/>
        </p:nvSpPr>
        <p:spPr>
          <a:xfrm>
            <a:off x="457200" y="2148840"/>
            <a:ext cx="4023360" cy="457200"/>
          </a:xfrm>
          <a:prstGeom prst="rect">
            <a:avLst/>
          </a:prstGeom>
          <a:noFill/>
        </p:spPr>
        <p:txBody>
          <a:bodyPr wrap="square" lIns="0" rIns="0" tIns="0" bIns="0" anchor="t">
            <a:spAutoFit/>
          </a:bodyPr>
          <a:lstStyle/>
          <a:p>
            <a:pPr algn="l">
              <a:lnSpc>
                <a:spcPct val="95000"/>
              </a:lnSpc>
            </a:pPr>
            <a:r>
              <a:rPr sz="800" b="0" i="0">
                <a:solidFill>
                  <a:srgbClr val="5B6672"/>
                </a:solidFill>
                <a:latin typeface="Arial"/>
              </a:rPr>
              <a:t>Havlíček, Córcoles, Temme et al. Supervised learning with quantum-enhanced feature spaces. Nature 567, 209-212 (2019).</a:t>
            </a:r>
          </a:p>
        </p:txBody>
      </p:sp>
      <p:sp>
        <p:nvSpPr>
          <p:cNvPr id="2057" name="TextBox 2056"/>
          <p:cNvSpPr txBox="1"/>
          <p:nvPr/>
        </p:nvSpPr>
        <p:spPr>
          <a:xfrm>
            <a:off x="457200" y="2624328"/>
            <a:ext cx="4023360" cy="457200"/>
          </a:xfrm>
          <a:prstGeom prst="rect">
            <a:avLst/>
          </a:prstGeom>
          <a:noFill/>
        </p:spPr>
        <p:txBody>
          <a:bodyPr wrap="square" lIns="0" rIns="0" tIns="0" bIns="0" anchor="t">
            <a:spAutoFit/>
          </a:bodyPr>
          <a:lstStyle/>
          <a:p>
            <a:pPr algn="l">
              <a:lnSpc>
                <a:spcPct val="95000"/>
              </a:lnSpc>
            </a:pPr>
            <a:r>
              <a:rPr sz="800" b="0" i="0">
                <a:solidFill>
                  <a:srgbClr val="5B6672"/>
                </a:solidFill>
                <a:latin typeface="Arial"/>
              </a:rPr>
              <a:t>Liu, Arunachalam &amp; Temme. A rigorous and robust quantum speed-up in supervised machine learning. Nature Physics 17, 1013-1017 (2021).</a:t>
            </a:r>
          </a:p>
        </p:txBody>
      </p:sp>
      <p:sp>
        <p:nvSpPr>
          <p:cNvPr id="2058" name="TextBox 2057"/>
          <p:cNvSpPr txBox="1"/>
          <p:nvPr/>
        </p:nvSpPr>
        <p:spPr>
          <a:xfrm>
            <a:off x="457200" y="3099816"/>
            <a:ext cx="4023360" cy="457200"/>
          </a:xfrm>
          <a:prstGeom prst="rect">
            <a:avLst/>
          </a:prstGeom>
          <a:noFill/>
        </p:spPr>
        <p:txBody>
          <a:bodyPr wrap="square" lIns="0" rIns="0" tIns="0" bIns="0" anchor="t">
            <a:spAutoFit/>
          </a:bodyPr>
          <a:lstStyle/>
          <a:p>
            <a:pPr algn="l">
              <a:lnSpc>
                <a:spcPct val="95000"/>
              </a:lnSpc>
            </a:pPr>
            <a:r>
              <a:rPr sz="800" b="0" i="0">
                <a:solidFill>
                  <a:srgbClr val="5B6672"/>
                </a:solidFill>
                <a:latin typeface="Arial"/>
              </a:rPr>
              <a:t>Schuld &amp; Killoran. Quantum machine learning in feature Hilbert spaces. Physical Review Letters 122, 040504 (2019).</a:t>
            </a:r>
          </a:p>
        </p:txBody>
      </p:sp>
      <p:sp>
        <p:nvSpPr>
          <p:cNvPr id="2059" name="TextBox 2058"/>
          <p:cNvSpPr txBox="1"/>
          <p:nvPr/>
        </p:nvSpPr>
        <p:spPr>
          <a:xfrm>
            <a:off x="457200" y="3575304"/>
            <a:ext cx="4023360" cy="457200"/>
          </a:xfrm>
          <a:prstGeom prst="rect">
            <a:avLst/>
          </a:prstGeom>
          <a:noFill/>
        </p:spPr>
        <p:txBody>
          <a:bodyPr wrap="square" lIns="0" rIns="0" tIns="0" bIns="0" anchor="t">
            <a:spAutoFit/>
          </a:bodyPr>
          <a:lstStyle/>
          <a:p>
            <a:pPr algn="l">
              <a:lnSpc>
                <a:spcPct val="95000"/>
              </a:lnSpc>
            </a:pPr>
            <a:r>
              <a:rPr sz="800" b="0" i="0">
                <a:solidFill>
                  <a:srgbClr val="5B6672"/>
                </a:solidFill>
                <a:latin typeface="Arial"/>
              </a:rPr>
              <a:t>Mitarai, Negoro, Kitagawa &amp; Fujii. Quantum circuit learning. Physical Review A 98, 032309 (2018).</a:t>
            </a:r>
          </a:p>
        </p:txBody>
      </p:sp>
      <p:sp>
        <p:nvSpPr>
          <p:cNvPr id="2060" name="TextBox 2059"/>
          <p:cNvSpPr txBox="1"/>
          <p:nvPr/>
        </p:nvSpPr>
        <p:spPr>
          <a:xfrm>
            <a:off x="457200" y="4050791"/>
            <a:ext cx="4023360" cy="457200"/>
          </a:xfrm>
          <a:prstGeom prst="rect">
            <a:avLst/>
          </a:prstGeom>
          <a:noFill/>
        </p:spPr>
        <p:txBody>
          <a:bodyPr wrap="square" lIns="0" rIns="0" tIns="0" bIns="0" anchor="t">
            <a:spAutoFit/>
          </a:bodyPr>
          <a:lstStyle/>
          <a:p>
            <a:pPr algn="l">
              <a:lnSpc>
                <a:spcPct val="95000"/>
              </a:lnSpc>
            </a:pPr>
            <a:r>
              <a:rPr sz="800" b="0" i="0">
                <a:solidFill>
                  <a:srgbClr val="5B6672"/>
                </a:solidFill>
                <a:latin typeface="Arial"/>
              </a:rPr>
              <a:t>Cerezo et al. Variational quantum algorithms. Nature Reviews Physics 3, 625-644 (2021).</a:t>
            </a:r>
          </a:p>
        </p:txBody>
      </p:sp>
      <p:sp>
        <p:nvSpPr>
          <p:cNvPr id="2061" name="TextBox 2060"/>
          <p:cNvSpPr txBox="1"/>
          <p:nvPr/>
        </p:nvSpPr>
        <p:spPr>
          <a:xfrm>
            <a:off x="457200" y="4526280"/>
            <a:ext cx="4023360" cy="457200"/>
          </a:xfrm>
          <a:prstGeom prst="rect">
            <a:avLst/>
          </a:prstGeom>
          <a:noFill/>
        </p:spPr>
        <p:txBody>
          <a:bodyPr wrap="square" lIns="0" rIns="0" tIns="0" bIns="0" anchor="t">
            <a:spAutoFit/>
          </a:bodyPr>
          <a:lstStyle/>
          <a:p>
            <a:pPr algn="l">
              <a:lnSpc>
                <a:spcPct val="95000"/>
              </a:lnSpc>
            </a:pPr>
            <a:r>
              <a:rPr sz="800" b="0" i="0">
                <a:solidFill>
                  <a:srgbClr val="5B6672"/>
                </a:solidFill>
                <a:latin typeface="Arial"/>
              </a:rPr>
              <a:t>Leifer &amp; Spekkens. Towards a formulation of quantum theory as a causally neutral theory of Bayesian inference. Physical Review A 88, 052130 (2013).</a:t>
            </a:r>
          </a:p>
        </p:txBody>
      </p:sp>
      <p:sp>
        <p:nvSpPr>
          <p:cNvPr id="2062" name="TextBox 2061"/>
          <p:cNvSpPr txBox="1"/>
          <p:nvPr/>
        </p:nvSpPr>
        <p:spPr>
          <a:xfrm>
            <a:off x="457200" y="5001768"/>
            <a:ext cx="4023360" cy="457200"/>
          </a:xfrm>
          <a:prstGeom prst="rect">
            <a:avLst/>
          </a:prstGeom>
          <a:noFill/>
        </p:spPr>
        <p:txBody>
          <a:bodyPr wrap="square" lIns="0" rIns="0" tIns="0" bIns="0" anchor="t">
            <a:spAutoFit/>
          </a:bodyPr>
          <a:lstStyle/>
          <a:p>
            <a:pPr algn="l">
              <a:lnSpc>
                <a:spcPct val="95000"/>
              </a:lnSpc>
            </a:pPr>
            <a:r>
              <a:rPr sz="800" b="0" i="0">
                <a:solidFill>
                  <a:srgbClr val="5B6672"/>
                </a:solidFill>
                <a:latin typeface="Arial"/>
              </a:rPr>
              <a:t>Kendall &amp; Gal. What uncertainties do we need in Bayesian deep learning for computer vision? NeurIPS (2017).</a:t>
            </a:r>
          </a:p>
        </p:txBody>
      </p:sp>
      <p:sp>
        <p:nvSpPr>
          <p:cNvPr id="2063" name="TextBox 2062"/>
          <p:cNvSpPr txBox="1"/>
          <p:nvPr/>
        </p:nvSpPr>
        <p:spPr>
          <a:xfrm>
            <a:off x="4663440" y="2148840"/>
            <a:ext cx="4023360" cy="457200"/>
          </a:xfrm>
          <a:prstGeom prst="rect">
            <a:avLst/>
          </a:prstGeom>
          <a:noFill/>
        </p:spPr>
        <p:txBody>
          <a:bodyPr wrap="square" lIns="0" rIns="0" tIns="0" bIns="0" anchor="t">
            <a:spAutoFit/>
          </a:bodyPr>
          <a:lstStyle/>
          <a:p>
            <a:pPr algn="l">
              <a:lnSpc>
                <a:spcPct val="95000"/>
              </a:lnSpc>
            </a:pPr>
            <a:r>
              <a:rPr sz="800" b="0" i="0">
                <a:solidFill>
                  <a:srgbClr val="5B6672"/>
                </a:solidFill>
                <a:latin typeface="Arial"/>
              </a:rPr>
              <a:t>Guo, Pleiss, Sun &amp; Weinberger. On calibration of modern neural networks. ICML (2017).</a:t>
            </a:r>
          </a:p>
        </p:txBody>
      </p:sp>
      <p:sp>
        <p:nvSpPr>
          <p:cNvPr id="2064" name="TextBox 2063"/>
          <p:cNvSpPr txBox="1"/>
          <p:nvPr/>
        </p:nvSpPr>
        <p:spPr>
          <a:xfrm>
            <a:off x="4663440" y="2624328"/>
            <a:ext cx="4023360" cy="457200"/>
          </a:xfrm>
          <a:prstGeom prst="rect">
            <a:avLst/>
          </a:prstGeom>
          <a:noFill/>
        </p:spPr>
        <p:txBody>
          <a:bodyPr wrap="square" lIns="0" rIns="0" tIns="0" bIns="0" anchor="t">
            <a:spAutoFit/>
          </a:bodyPr>
          <a:lstStyle/>
          <a:p>
            <a:pPr algn="l">
              <a:lnSpc>
                <a:spcPct val="95000"/>
              </a:lnSpc>
            </a:pPr>
            <a:r>
              <a:rPr sz="800" b="0" i="0">
                <a:solidFill>
                  <a:srgbClr val="5B6672"/>
                </a:solidFill>
                <a:latin typeface="Arial"/>
              </a:rPr>
              <a:t>Angelopoulos &amp; Bates. Conformal prediction: a gentle introduction. Foundations and Trends in Machine Learning 16(4) (2023).</a:t>
            </a:r>
          </a:p>
        </p:txBody>
      </p:sp>
      <p:sp>
        <p:nvSpPr>
          <p:cNvPr id="2065" name="TextBox 2064"/>
          <p:cNvSpPr txBox="1"/>
          <p:nvPr/>
        </p:nvSpPr>
        <p:spPr>
          <a:xfrm>
            <a:off x="4663440" y="3099816"/>
            <a:ext cx="4023360" cy="457200"/>
          </a:xfrm>
          <a:prstGeom prst="rect">
            <a:avLst/>
          </a:prstGeom>
          <a:noFill/>
        </p:spPr>
        <p:txBody>
          <a:bodyPr wrap="square" lIns="0" rIns="0" tIns="0" bIns="0" anchor="t">
            <a:spAutoFit/>
          </a:bodyPr>
          <a:lstStyle/>
          <a:p>
            <a:pPr algn="l">
              <a:lnSpc>
                <a:spcPct val="95000"/>
              </a:lnSpc>
            </a:pPr>
            <a:r>
              <a:rPr sz="800" b="0" i="0">
                <a:solidFill>
                  <a:srgbClr val="5B6672"/>
                </a:solidFill>
                <a:latin typeface="Arial"/>
              </a:rPr>
              <a:t>Lindley. On a measure of the information provided by an experiment. Annals of Mathematical Statistics 27, 986-1005 (1956).</a:t>
            </a:r>
          </a:p>
        </p:txBody>
      </p:sp>
      <p:sp>
        <p:nvSpPr>
          <p:cNvPr id="2066" name="TextBox 2065"/>
          <p:cNvSpPr txBox="1"/>
          <p:nvPr/>
        </p:nvSpPr>
        <p:spPr>
          <a:xfrm>
            <a:off x="4663440" y="3575304"/>
            <a:ext cx="4023360" cy="457200"/>
          </a:xfrm>
          <a:prstGeom prst="rect">
            <a:avLst/>
          </a:prstGeom>
          <a:noFill/>
        </p:spPr>
        <p:txBody>
          <a:bodyPr wrap="square" lIns="0" rIns="0" tIns="0" bIns="0" anchor="t">
            <a:spAutoFit/>
          </a:bodyPr>
          <a:lstStyle/>
          <a:p>
            <a:pPr algn="l">
              <a:lnSpc>
                <a:spcPct val="95000"/>
              </a:lnSpc>
            </a:pPr>
            <a:r>
              <a:rPr sz="800" b="0" i="0">
                <a:solidFill>
                  <a:srgbClr val="5B6672"/>
                </a:solidFill>
                <a:latin typeface="Arial"/>
              </a:rPr>
              <a:t>Richens, Lee &amp; Johri. Improving the accuracy of medical diagnosis with causal machine learning. Nature Communications 11, 3923 (2020).</a:t>
            </a:r>
          </a:p>
        </p:txBody>
      </p:sp>
      <p:sp>
        <p:nvSpPr>
          <p:cNvPr id="2067" name="TextBox 2066"/>
          <p:cNvSpPr txBox="1"/>
          <p:nvPr/>
        </p:nvSpPr>
        <p:spPr>
          <a:xfrm>
            <a:off x="4663440" y="4050791"/>
            <a:ext cx="4023360" cy="457200"/>
          </a:xfrm>
          <a:prstGeom prst="rect">
            <a:avLst/>
          </a:prstGeom>
          <a:noFill/>
        </p:spPr>
        <p:txBody>
          <a:bodyPr wrap="square" lIns="0" rIns="0" tIns="0" bIns="0" anchor="t">
            <a:spAutoFit/>
          </a:bodyPr>
          <a:lstStyle/>
          <a:p>
            <a:pPr algn="l">
              <a:lnSpc>
                <a:spcPct val="95000"/>
              </a:lnSpc>
            </a:pPr>
            <a:r>
              <a:rPr sz="800" b="0" i="0">
                <a:solidFill>
                  <a:srgbClr val="5B6672"/>
                </a:solidFill>
                <a:latin typeface="Arial"/>
              </a:rPr>
              <a:t>Rajpurkar et al. CheXNet: radiologist-level pneumonia detection on chest X-rays. arXiv:1711.05225 (2017).</a:t>
            </a:r>
          </a:p>
        </p:txBody>
      </p:sp>
      <p:sp>
        <p:nvSpPr>
          <p:cNvPr id="2068" name="TextBox 2067"/>
          <p:cNvSpPr txBox="1"/>
          <p:nvPr/>
        </p:nvSpPr>
        <p:spPr>
          <a:xfrm>
            <a:off x="4663440" y="4526280"/>
            <a:ext cx="4023360" cy="457200"/>
          </a:xfrm>
          <a:prstGeom prst="rect">
            <a:avLst/>
          </a:prstGeom>
          <a:noFill/>
        </p:spPr>
        <p:txBody>
          <a:bodyPr wrap="square" lIns="0" rIns="0" tIns="0" bIns="0" anchor="t">
            <a:spAutoFit/>
          </a:bodyPr>
          <a:lstStyle/>
          <a:p>
            <a:pPr algn="l">
              <a:lnSpc>
                <a:spcPct val="95000"/>
              </a:lnSpc>
            </a:pPr>
            <a:r>
              <a:rPr sz="800" b="0" i="0">
                <a:solidFill>
                  <a:srgbClr val="5B6672"/>
                </a:solidFill>
                <a:latin typeface="Arial"/>
              </a:rPr>
              <a:t>Zech et al. Variable generalization performance of a deep learning model to detect pneumonia. PLOS Medicine 15(11) (2018).</a:t>
            </a:r>
          </a:p>
        </p:txBody>
      </p:sp>
      <p:sp>
        <p:nvSpPr>
          <p:cNvPr id="2069" name="TextBox 2068"/>
          <p:cNvSpPr txBox="1"/>
          <p:nvPr/>
        </p:nvSpPr>
        <p:spPr>
          <a:xfrm>
            <a:off x="4663440" y="5001768"/>
            <a:ext cx="4023360" cy="457200"/>
          </a:xfrm>
          <a:prstGeom prst="rect">
            <a:avLst/>
          </a:prstGeom>
          <a:noFill/>
        </p:spPr>
        <p:txBody>
          <a:bodyPr wrap="square" lIns="0" rIns="0" tIns="0" bIns="0" anchor="t">
            <a:spAutoFit/>
          </a:bodyPr>
          <a:lstStyle/>
          <a:p>
            <a:pPr algn="l">
              <a:lnSpc>
                <a:spcPct val="95000"/>
              </a:lnSpc>
            </a:pPr>
            <a:r>
              <a:rPr sz="800" b="0" i="0">
                <a:solidFill>
                  <a:srgbClr val="5B6672"/>
                </a:solidFill>
                <a:latin typeface="Arial"/>
              </a:rPr>
              <a:t>Rudin. Stop explaining black box machine learning models for high stakes decisions. Nature Machine Intelligence 1, 206-215 (2019).</a:t>
            </a:r>
          </a:p>
        </p:txBody>
      </p:sp>
    </p:spTree>
  </p:cSld>
  <p:clrMapOvr>
    <a:masterClrMapping/>
  </p:clrMapOvr>
  <p:transition>
    <p:fade/>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Civic">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61</TotalTime>
  <Words>21</Words>
  <Application>Microsoft Office PowerPoint</Application>
  <PresentationFormat>On-screen Show (4:3)</PresentationFormat>
  <Paragraphs>5</Paragraphs>
  <Slides>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vt:i4>
      </vt:variant>
    </vt:vector>
  </HeadingPairs>
  <TitlesOfParts>
    <vt:vector size="9" baseType="lpstr">
      <vt:lpstr>Arial</vt:lpstr>
      <vt:lpstr>Arial Rounded MT Bold</vt:lpstr>
      <vt:lpstr>Calibri</vt:lpstr>
      <vt:lpstr>Georgia</vt:lpstr>
      <vt:lpstr>Wingdings</vt:lpstr>
      <vt:lpstr>Wingdings 2</vt:lpstr>
      <vt:lpstr>Civic</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HP</cp:lastModifiedBy>
  <cp:revision>9</cp:revision>
  <dcterms:created xsi:type="dcterms:W3CDTF">2026-06-25T14:12:27Z</dcterms:created>
  <dcterms:modified xsi:type="dcterms:W3CDTF">2026-06-25T17:33:27Z</dcterms:modified>
</cp:coreProperties>
</file>