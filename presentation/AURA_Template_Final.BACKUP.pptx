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14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Guru R.M" userId="e674c2f0a14809d6" providerId="LiveId" clId="{9A2ADA51-0AAB-4492-A1B7-40FAACCD7850}"/>
    <pc:docChg chg="modSld">
      <pc:chgData name="SivaGuru R.M" userId="e674c2f0a14809d6" providerId="LiveId" clId="{9A2ADA51-0AAB-4492-A1B7-40FAACCD7850}" dt="2026-07-09T09:39:52.675" v="93" actId="20577"/>
      <pc:docMkLst>
        <pc:docMk/>
      </pc:docMkLst>
      <pc:sldChg chg="modSp mod">
        <pc:chgData name="SivaGuru R.M" userId="e674c2f0a14809d6" providerId="LiveId" clId="{9A2ADA51-0AAB-4492-A1B7-40FAACCD7850}" dt="2026-07-09T09:39:52.675" v="93" actId="20577"/>
        <pc:sldMkLst>
          <pc:docMk/>
          <pc:sldMk cId="0" sldId="256"/>
        </pc:sldMkLst>
        <pc:spChg chg="mod">
          <ac:chgData name="SivaGuru R.M" userId="e674c2f0a14809d6" providerId="LiveId" clId="{9A2ADA51-0AAB-4492-A1B7-40FAACCD7850}" dt="2026-07-09T09:39:52.675" v="93" actId="20577"/>
          <ac:spMkLst>
            <pc:docMk/>
            <pc:sldMk cId="0" sldId="256"/>
            <ac:spMk id="172" creationId="{00000000-0000-0000-0000-000000000000}"/>
          </ac:spMkLst>
        </pc:spChg>
        <pc:spChg chg="mod">
          <ac:chgData name="SivaGuru R.M" userId="e674c2f0a14809d6" providerId="LiveId" clId="{9A2ADA51-0AAB-4492-A1B7-40FAACCD7850}" dt="2026-07-09T09:39:07.286" v="34" actId="20577"/>
          <ac:spMkLst>
            <pc:docMk/>
            <pc:sldMk cId="0" sldId="256"/>
            <ac:spMk id="17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  ·  0:15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am Sivaguru; this is AURA. One line: hospitals do not trust black-box AI - so we built an AI that reasons, calibrates its doubt, and plans the next step, like a clinician. Everything you will see is running code.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JUDGES SHOULD FEEL: problem + solution landed in 10 seconds - checklist item one, done on slide one.</a:t>
            </a:r>
            <a:endParaRPr/>
          </a:p>
        </p:txBody>
      </p:sp>
      <p:sp>
        <p:nvSpPr>
          <p:cNvPr id="165" name="Google Shape;16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— THE $2.27B AI GRAVEYARD  ·  0:50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 is a solved problem — benchmark models already match expert radiologists. The bottleneck is trust: without it, even a 95%-accurate model sits unused at the bedside. Decompose why, and you get four failures a clinician can't accept — no WHY (black-box outputs, cognitive load, medical liability), no HOW-SURE (no uncertainty quantification, alert fatigue), no WHAT-IF (no counterfactual reasoning, silent edge-case failure), no WHAT-NEXT (a static score, not a workflow-integrated pathway). That is the $2.27B graveyard: 950+ FDA-cleared tools, every one a prediction calculator with no clinical reasoning layer. AURA is that layer — it demystifies the read, quantifies uncertainty, and drives the next action. The doctor decides.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JUDGES SHOULD FEEL: accuracy is table stakes; trust is the unserved, buildable market.</a:t>
            </a:r>
            <a:endParaRPr/>
          </a:p>
        </p:txBody>
      </p:sp>
      <p:sp>
        <p:nvSpPr>
          <p:cNvPr id="183" name="Google Shape;18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PROTOTYPE — THE LIVE CONSOLE  ·  1:00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working product, not a mockup — every number is live output. One: the worklist is triaged by uncertainty; low-confidence studies flip to ABSTAINED instead of guessing. Two: the vision model localizes the finding and saliency shows where. Three: our 8-qubit quantum fusion, 512 shots, produces a calibrated differential — 99.5% pneumothorax here. Four: the evidence-to-reasoning graph makes every finding's contribution explicit, with live counterfactuals on hover. Five: the safety panel reports epistemic, aleatoric and OOD energy, a 90% conformal set true 90 times in 100, and abstains when out of envelope. Six: the recommender ranks the next best test by information gain, and the doctor accepts, edits or signs — authority always stays human. Scan to signed report in about twenty seconds, on one screen, offline.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JUDGES SHOULD FEEL: this is real, end-to-end, and safe by construction.</a:t>
            </a:r>
            <a:endParaRPr/>
          </a:p>
        </p:txBody>
      </p:sp>
      <p:sp>
        <p:nvSpPr>
          <p:cNvPr id="227" name="Google Shape;22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PRODUCT  ·  1:20  - this slide IS the prototype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doctor's screen, running on localhost right now. Left: the study with saliency - where the model looked - and the dashed counterfactual region: remove that, the diagnosis flips. Middle: a calibrated differential, not one score - plus the 90% conformal set and the uncertainty split: epistemic versus aleatoric, in distribution check. Right: the next-best-evidence panel - CT resolves more entropy, but the repeat X-ray wins on information per rupee - and the grounded report, where every sentence carries its evidence chips. And the red badge: if it is not sure, it says so and stops.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JUDGES SHOULD FEEL: they just saw the demo inside the deck - 'prototype in the PPT' achieved. Offer the live run immediately.</a:t>
            </a:r>
            <a:endParaRPr/>
          </a:p>
        </p:txBody>
      </p:sp>
      <p:sp>
        <p:nvSpPr>
          <p:cNvPr id="263" name="Google Shape;2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&amp; STACK  ·  0:45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AURA is a machine with three layered tiers: a data foundation, an application tier of independent services behind one FastAPI gateway, and the doctor-facing presentation tier. Modularity is the point: every service is a slot. Our quantum VQC — the glowing magenta QPU — docks into the FUSION bay, and a classical twin sits behind the exact same interface, so whichever wins the benchmark ships with zero code change. Open bays take new services the same way. Cyan is classical infrastructure; magenta is the quantum accelerator. It all runs offline, CPU-only, no PHI leaving the site.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JUDGES SHOULD FEEL: disciplined engineering — quantum is a swappable part, not a bet.</a:t>
            </a:r>
            <a:endParaRPr/>
          </a:p>
        </p:txBody>
      </p:sp>
      <p:sp>
        <p:nvSpPr>
          <p:cNvPr id="314" name="Google Shape;31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QUANTUM STACK  ·  1:00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actually quantum: an 8-qubit variational circuit in PennyLane. Each of the 8 evidence channels is angle-encoded, RY(pi x); three layers of trainable rotations plus a CNOT ring entangle them, so the model represents higher-order interactions between evidence sources in a 2^8 space with only 48 parameters. We read Pauli-Z expectations into a linear head for a calibrated 6-diagnosis posterior. Efficient by design: 48 params, CPU-only, and finite-shot measurement variance gives uncertainty for free that the safety layer consumes. We never put pixels in a circuit - only the 8-dim compressed evidence, which is exactly why this is tractable on a simulator today and credible on hardware tomorrow. Right panel is the receipt: the quantum path beats its classical twin on the same held-out data, and if it did not, the twin would ship. Every claim is tiered in QUANTUM_STACK.md.</a:t>
            </a:r>
            <a:endParaRPr/>
          </a:p>
        </p:txBody>
      </p:sp>
      <p:sp>
        <p:nvSpPr>
          <p:cNvPr id="385" name="Google Shape;38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+ CLOSE  ·  0:45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Hospitals: uncertainty-triaged worklists. Patients: fewer scans, faster answers. The system: diagnostic error - the costliest failure in medicine. Roadmap is hardware-realistic; nothing depends on a miracle. Then, slowly: AI predicts. Clinical intelligence reasons. Quantum intelligence understands. The system is live - we would love to show you. Thank you.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JUDGES SHOULD FEEL: goosebumps + the urge to say 'show us'.</a:t>
            </a:r>
            <a:endParaRPr/>
          </a:p>
        </p:txBody>
      </p:sp>
      <p:sp>
        <p:nvSpPr>
          <p:cNvPr id="465" name="Google Shape;46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" name="Google Shape;30;p2"/>
          <p:cNvSpPr txBox="1"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320"/>
              </a:spcBef>
              <a:spcAft>
                <a:spcPts val="0"/>
              </a:spcAft>
              <a:buSzPts val="1360"/>
              <a:buNone/>
              <a:defRPr sz="1600" b="1" cap="none">
                <a:solidFill>
                  <a:schemeClr val="dk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3" name="Google Shape;33;p2"/>
          <p:cNvCxnSpPr/>
          <p:nvPr/>
        </p:nvCxnSpPr>
        <p:spPr>
          <a:xfrm>
            <a:off x="155448" y="2420112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C25E2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4" name="Google Shape;34;p2"/>
          <p:cNvSpPr/>
          <p:nvPr/>
        </p:nvSpPr>
        <p:spPr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C25E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" name="Google Shape;37;p2"/>
          <p:cNvSpPr txBox="1">
            <a:spLocks noGrp="1"/>
          </p:cNvSpPr>
          <p:nvPr>
            <p:ph type="sldNum" idx="12"/>
          </p:nvPr>
        </p:nvSpPr>
        <p:spPr>
          <a:xfrm>
            <a:off x="4343400" y="2199450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8" name="Google Shape;38;p2"/>
          <p:cNvSpPr txBox="1"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eorgia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" name="Google Shape;46;p3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4267200" y="6324600"/>
            <a:ext cx="609600" cy="44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25E2F"/>
              </a:buClr>
              <a:buSzPts val="3300"/>
              <a:buFont typeface="Georgia"/>
              <a:buNone/>
              <a:defRPr>
                <a:solidFill>
                  <a:srgbClr val="C25E2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360"/>
              <a:buNone/>
              <a:defRPr sz="16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Font typeface="Georgia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5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7" name="Google Shape;67;p5"/>
          <p:cNvCxnSpPr/>
          <p:nvPr/>
        </p:nvCxnSpPr>
        <p:spPr>
          <a:xfrm>
            <a:off x="152400" y="243840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C25E2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8" name="Google Shape;68;p5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C25E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" name="Google Shape;70;p5"/>
          <p:cNvSpPr txBox="1">
            <a:spLocks noGrp="1"/>
          </p:cNvSpPr>
          <p:nvPr>
            <p:ph type="sldNum" idx="12"/>
          </p:nvPr>
        </p:nvSpPr>
        <p:spPr>
          <a:xfrm>
            <a:off x="4343400" y="2199450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  <a:defRPr sz="4200" b="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solidFill>
          <a:schemeClr val="lt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25E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dt" idx="10"/>
          </p:nvPr>
        </p:nvSpPr>
        <p:spPr>
          <a:xfrm>
            <a:off x="5791200" y="640994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"/>
          <p:cNvSpPr txBox="1">
            <a:spLocks noGrp="1"/>
          </p:cNvSpPr>
          <p:nvPr>
            <p:ph type="sldNum" idx="12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77" name="Google Shape;77;p6"/>
          <p:cNvCxnSpPr/>
          <p:nvPr/>
        </p:nvCxnSpPr>
        <p:spPr>
          <a:xfrm rot="10800000" flipH="1">
            <a:off x="4563080" y="1575652"/>
            <a:ext cx="8921" cy="481955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8" name="Google Shape;78;p6"/>
          <p:cNvSpPr txBox="1">
            <a:spLocks noGrp="1"/>
          </p:cNvSpPr>
          <p:nvPr>
            <p:ph type="body" idx="1"/>
          </p:nvPr>
        </p:nvSpPr>
        <p:spPr>
          <a:xfrm>
            <a:off x="301752" y="1371600"/>
            <a:ext cx="4038600" cy="468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3538" algn="l">
              <a:spcBef>
                <a:spcPts val="500"/>
              </a:spcBef>
              <a:spcAft>
                <a:spcPts val="0"/>
              </a:spcAft>
              <a:buSzPts val="2125"/>
              <a:buChar char="⚫"/>
              <a:defRPr sz="2500"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body" idx="2"/>
          </p:nvPr>
        </p:nvSpPr>
        <p:spPr>
          <a:xfrm>
            <a:off x="4800600" y="1371600"/>
            <a:ext cx="4038600" cy="468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3538" algn="l">
              <a:spcBef>
                <a:spcPts val="500"/>
              </a:spcBef>
              <a:spcAft>
                <a:spcPts val="0"/>
              </a:spcAft>
              <a:buSzPts val="2125"/>
              <a:buChar char="⚫"/>
              <a:defRPr sz="2500"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bg>
      <p:bgPr>
        <a:solidFill>
          <a:schemeClr val="lt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7"/>
          <p:cNvCxnSpPr/>
          <p:nvPr/>
        </p:nvCxnSpPr>
        <p:spPr>
          <a:xfrm rot="10800000">
            <a:off x="4572000" y="2200275"/>
            <a:ext cx="0" cy="418795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2" name="Google Shape;82;p7"/>
          <p:cNvSpPr/>
          <p:nvPr/>
        </p:nvSpPr>
        <p:spPr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Google Shape;88;p7"/>
          <p:cNvSpPr txBox="1"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1870"/>
              <a:buNone/>
              <a:defRPr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Georgia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body" idx="2"/>
          </p:nvPr>
        </p:nvSpPr>
        <p:spPr>
          <a:xfrm>
            <a:off x="4791330" y="1524000"/>
            <a:ext cx="4041775" cy="731520"/>
          </a:xfrm>
          <a:prstGeom prst="rect">
            <a:avLst/>
          </a:prstGeom>
          <a:noFill/>
          <a:ln>
            <a:noFill/>
          </a:ln>
          <a:effectLst>
            <a:outerShdw blurRad="508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1870"/>
              <a:buNone/>
              <a:defRPr sz="2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Georgia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ftr" idx="11"/>
          </p:nvPr>
        </p:nvSpPr>
        <p:spPr>
          <a:xfrm>
            <a:off x="304800" y="6409944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92" name="Google Shape;92;p7"/>
          <p:cNvCxnSpPr/>
          <p:nvPr/>
        </p:nvCxnSpPr>
        <p:spPr>
          <a:xfrm>
            <a:off x="152400" y="128016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C25E2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93" name="Google Shape;93;p7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" name="Google Shape;94;p7"/>
          <p:cNvSpPr txBox="1">
            <a:spLocks noGrp="1"/>
          </p:cNvSpPr>
          <p:nvPr>
            <p:ph type="body" idx="3"/>
          </p:nvPr>
        </p:nvSpPr>
        <p:spPr>
          <a:xfrm>
            <a:off x="301752" y="2471383"/>
            <a:ext cx="4041648" cy="381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4"/>
          </p:nvPr>
        </p:nvSpPr>
        <p:spPr>
          <a:xfrm>
            <a:off x="4800600" y="2471383"/>
            <a:ext cx="4038600" cy="382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C25E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8" name="Google Shape;98;p7"/>
          <p:cNvSpPr txBox="1">
            <a:spLocks noGrp="1"/>
          </p:cNvSpPr>
          <p:nvPr>
            <p:ph type="sldNum" idx="12"/>
          </p:nvPr>
        </p:nvSpPr>
        <p:spPr>
          <a:xfrm>
            <a:off x="4343400" y="1042416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9" name="Google Shape;99;p7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25E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25E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sldNum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2" name="Google Shape;112;p9"/>
          <p:cNvSpPr txBox="1"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  <a:defRPr sz="2200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9"/>
          <p:cNvSpPr txBox="1">
            <a:spLocks noGrp="1"/>
          </p:cNvSpPr>
          <p:nvPr>
            <p:ph type="body" idx="1"/>
          </p:nvPr>
        </p:nvSpPr>
        <p:spPr>
          <a:xfrm>
            <a:off x="381000" y="1981200"/>
            <a:ext cx="2362200" cy="414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Georgia"/>
              <a:buNone/>
              <a:defRPr sz="900"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15" name="Google Shape;115;p9"/>
          <p:cNvCxnSpPr/>
          <p:nvPr/>
        </p:nvCxnSpPr>
        <p:spPr>
          <a:xfrm>
            <a:off x="152400" y="53340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C25E2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6" name="Google Shape;116;p9"/>
          <p:cNvSpPr txBox="1">
            <a:spLocks noGrp="1"/>
          </p:cNvSpPr>
          <p:nvPr>
            <p:ph type="body" idx="2"/>
          </p:nvPr>
        </p:nvSpPr>
        <p:spPr>
          <a:xfrm>
            <a:off x="3124200" y="685800"/>
            <a:ext cx="5638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C25E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" name="Google Shape;119;p9"/>
          <p:cNvSpPr txBox="1">
            <a:spLocks noGrp="1"/>
          </p:cNvSpPr>
          <p:nvPr>
            <p:ph type="sldNum" idx="12"/>
          </p:nvPr>
        </p:nvSpPr>
        <p:spPr>
          <a:xfrm>
            <a:off x="1371600" y="312738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600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1" name="Google Shape;121;p9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ftr" idx="11"/>
          </p:nvPr>
        </p:nvSpPr>
        <p:spPr>
          <a:xfrm>
            <a:off x="301752" y="641084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10"/>
          <p:cNvCxnSpPr/>
          <p:nvPr/>
        </p:nvCxnSpPr>
        <p:spPr>
          <a:xfrm>
            <a:off x="152400" y="53340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C25E2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5" name="Google Shape;125;p10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C25E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10"/>
          <p:cNvSpPr txBox="1">
            <a:spLocks noGrp="1"/>
          </p:cNvSpPr>
          <p:nvPr>
            <p:ph type="sldNum" idx="12"/>
          </p:nvPr>
        </p:nvSpPr>
        <p:spPr>
          <a:xfrm>
            <a:off x="1371600" y="312738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None/>
              <a:defRPr sz="2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>
            <a:spLocks noGrp="1"/>
          </p:cNvSpPr>
          <p:nvPr>
            <p:ph type="pic" idx="2"/>
          </p:nvPr>
        </p:nvSpPr>
        <p:spPr>
          <a:xfrm>
            <a:off x="3000375" y="609600"/>
            <a:ext cx="5867400" cy="42672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0"/>
          <p:cNvSpPr txBox="1">
            <a:spLocks noGrp="1"/>
          </p:cNvSpPr>
          <p:nvPr>
            <p:ph type="body" idx="1"/>
          </p:nvPr>
        </p:nvSpPr>
        <p:spPr>
          <a:xfrm>
            <a:off x="381000" y="990600"/>
            <a:ext cx="24384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360"/>
              <a:buFont typeface="Georgia"/>
              <a:buNone/>
              <a:defRPr sz="1600">
                <a:solidFill>
                  <a:srgbClr val="FFFFFF"/>
                </a:solidFill>
              </a:defRPr>
            </a:lvl1pPr>
            <a:lvl2pPr marL="914400" lvl="1" indent="-281940" algn="l">
              <a:spcBef>
                <a:spcPts val="1000"/>
              </a:spcBef>
              <a:spcAft>
                <a:spcPts val="0"/>
              </a:spcAft>
              <a:buSzPts val="840"/>
              <a:buChar char="⚪"/>
              <a:defRPr sz="1200"/>
            </a:lvl2pPr>
            <a:lvl3pPr marL="1371600" lvl="2" indent="-276225" algn="l">
              <a:spcBef>
                <a:spcPts val="200"/>
              </a:spcBef>
              <a:spcAft>
                <a:spcPts val="0"/>
              </a:spcAft>
              <a:buSzPts val="750"/>
              <a:buChar char="⯍"/>
              <a:defRPr sz="1000"/>
            </a:lvl3pPr>
            <a:lvl4pPr marL="1828800" lvl="3" indent="-268605" algn="l">
              <a:spcBef>
                <a:spcPts val="180"/>
              </a:spcBef>
              <a:spcAft>
                <a:spcPts val="0"/>
              </a:spcAft>
              <a:buSzPts val="630"/>
              <a:buChar char="🞆"/>
              <a:defRPr sz="900"/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SzPts val="900"/>
              <a:buFont typeface="Georgia"/>
              <a:buChar char="•"/>
              <a:defRPr sz="900"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9" name="Google Shape;139;p10"/>
          <p:cNvSpPr txBox="1">
            <a:spLocks noGrp="1"/>
          </p:cNvSpPr>
          <p:nvPr>
            <p:ph type="dt" idx="10"/>
          </p:nvPr>
        </p:nvSpPr>
        <p:spPr>
          <a:xfrm>
            <a:off x="5788152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ftr" idx="11"/>
          </p:nvPr>
        </p:nvSpPr>
        <p:spPr>
          <a:xfrm>
            <a:off x="301752" y="6410848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lt2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25E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1"/>
          <p:cNvSpPr txBox="1">
            <a:spLocks noGrp="1"/>
          </p:cNvSpPr>
          <p:nvPr>
            <p:ph type="body" idx="1"/>
          </p:nvPr>
        </p:nvSpPr>
        <p:spPr>
          <a:xfrm rot="5400000">
            <a:off x="2269236" y="-443484"/>
            <a:ext cx="4599432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1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1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1"/>
          <p:cNvSpPr txBox="1">
            <a:spLocks noGrp="1"/>
          </p:cNvSpPr>
          <p:nvPr>
            <p:ph type="sldNum" idx="12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bg>
      <p:bgPr>
        <a:solidFill>
          <a:schemeClr val="lt2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54" name="Google Shape;154;p12"/>
          <p:cNvCxnSpPr/>
          <p:nvPr/>
        </p:nvCxnSpPr>
        <p:spPr>
          <a:xfrm rot="5400000">
            <a:off x="4021836" y="3278124"/>
            <a:ext cx="6245352" cy="0"/>
          </a:xfrm>
          <a:prstGeom prst="straightConnector1">
            <a:avLst/>
          </a:prstGeom>
          <a:noFill/>
          <a:ln w="9525" cap="flat" cmpd="sng">
            <a:solidFill>
              <a:srgbClr val="C25E2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5" name="Google Shape;155;p12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C25E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12"/>
          <p:cNvSpPr txBox="1">
            <a:spLocks noGrp="1"/>
          </p:cNvSpPr>
          <p:nvPr>
            <p:ph type="sldNum" idx="12"/>
          </p:nvPr>
        </p:nvSpPr>
        <p:spPr>
          <a:xfrm>
            <a:off x="6915912" y="3009901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body" idx="1"/>
          </p:nvPr>
        </p:nvSpPr>
        <p:spPr>
          <a:xfrm rot="5400000">
            <a:off x="670717" y="-61117"/>
            <a:ext cx="5821366" cy="6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12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 rot="5400000">
            <a:off x="5189538" y="2506664"/>
            <a:ext cx="5851525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25E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" name="Google Shape;15;p1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C25E2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152400" y="1276743"/>
            <a:ext cx="8833104" cy="0"/>
          </a:xfrm>
          <a:prstGeom prst="straightConnector1">
            <a:avLst/>
          </a:prstGeom>
          <a:noFill/>
          <a:ln w="9525" cap="flat" cmpd="sng">
            <a:solidFill>
              <a:srgbClr val="C25E2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9" name="Google Shape;19;p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C25E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" name="Google Shape;21;p1"/>
          <p:cNvSpPr txBox="1">
            <a:spLocks noGrp="1"/>
          </p:cNvSpPr>
          <p:nvPr>
            <p:ph type="sldNum" idx="12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 rtl="0">
              <a:spcBef>
                <a:spcPts val="0"/>
              </a:spcBef>
              <a:buNone/>
              <a:defRPr sz="1600" b="0" u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C25E2F"/>
              </a:buClr>
              <a:buSzPts val="3300"/>
              <a:buFont typeface="Georgia"/>
              <a:buNone/>
              <a:defRPr sz="3300" b="0" i="0" u="none" strike="noStrike" cap="none">
                <a:solidFill>
                  <a:srgbClr val="C25E2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4333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Char char="⚫"/>
              <a:defRPr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26390" algn="l" rtl="0"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540"/>
              <a:buFont typeface="Noto Sans Symbols"/>
              <a:buChar char="⚪"/>
              <a:defRPr sz="22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2385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⯍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Noto Sans Symbols"/>
              <a:buChar char="🞆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Georgia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20040" algn="l" rtl="0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20040" algn="l" rtl="0">
              <a:spcBef>
                <a:spcPts val="320"/>
              </a:spcBef>
              <a:spcAft>
                <a:spcPts val="0"/>
              </a:spcAft>
              <a:buClr>
                <a:srgbClr val="A1355B"/>
              </a:buClr>
              <a:buSzPts val="1440"/>
              <a:buFont typeface="Georgia"/>
              <a:buChar char="•"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rgbClr val="DA9F32"/>
              </a:buClr>
              <a:buSzPts val="1600"/>
              <a:buFont typeface="Georgia"/>
              <a:buChar char="•"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08610" algn="l" rtl="0">
              <a:spcBef>
                <a:spcPts val="280"/>
              </a:spcBef>
              <a:spcAft>
                <a:spcPts val="0"/>
              </a:spcAft>
              <a:buClr>
                <a:srgbClr val="9659A4"/>
              </a:buClr>
              <a:buSzPts val="1260"/>
              <a:buFont typeface="Georgia"/>
              <a:buChar char="•"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7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7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7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7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7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7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3" descr="C:\Users\Admin\Downloads\1764679326535-Photoroo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2322" y="-214314"/>
            <a:ext cx="2071678" cy="2071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3" descr="RIT white logo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" y="0"/>
            <a:ext cx="5000628" cy="129119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/>
          <p:nvPr/>
        </p:nvSpPr>
        <p:spPr>
          <a:xfrm>
            <a:off x="0" y="5072074"/>
            <a:ext cx="3071833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 b="1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</p:txBody>
      </p:sp>
      <p:pic>
        <p:nvPicPr>
          <p:cNvPr id="170" name="Google Shape;170;p13" descr="C:\Users\Admin\Downloads\IBM_logo.sv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8224" y="5885112"/>
            <a:ext cx="1285884" cy="480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3" descr="C:\Users\Admin\Downloads\logo-nqm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14942" y="5572140"/>
            <a:ext cx="1000132" cy="110681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3"/>
          <p:cNvSpPr/>
          <p:nvPr/>
        </p:nvSpPr>
        <p:spPr>
          <a:xfrm>
            <a:off x="142876" y="5572140"/>
            <a:ext cx="4500562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 b="1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Sivaguru R.</a:t>
            </a:r>
            <a:r>
              <a:rPr lang="en-IN" sz="2500" b="1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IN" sz="2500" b="1">
                <a:solidFill>
                  <a:schemeClr val="lt1"/>
                </a:solidFill>
              </a:rPr>
              <a:t>Amrita </a:t>
            </a:r>
            <a:r>
              <a:rPr lang="en-IN" sz="2500" b="1" dirty="0">
                <a:solidFill>
                  <a:schemeClr val="lt1"/>
                </a:solidFill>
              </a:rPr>
              <a:t>Vishwa Vidyapeetham</a:t>
            </a:r>
            <a:endParaRPr lang="en-IN" sz="2500" b="1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142844" y="6000768"/>
            <a:ext cx="4929222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74" name="Google Shape;174;p1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28384" y="5763447"/>
            <a:ext cx="866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3"/>
          <p:cNvSpPr txBox="1"/>
          <p:nvPr/>
        </p:nvSpPr>
        <p:spPr>
          <a:xfrm>
            <a:off x="5138928" y="4005072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 i="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AURA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ADAPTIVE UNCERTAINTY-AWARE RADIOLOGY ARCHITECTURE</a:t>
            </a:r>
            <a:endParaRPr/>
          </a:p>
        </p:txBody>
      </p:sp>
      <p:sp>
        <p:nvSpPr>
          <p:cNvPr id="176" name="Google Shape;176;p13"/>
          <p:cNvSpPr/>
          <p:nvPr/>
        </p:nvSpPr>
        <p:spPr>
          <a:xfrm>
            <a:off x="4846320" y="4718304"/>
            <a:ext cx="4160520" cy="548640"/>
          </a:xfrm>
          <a:prstGeom prst="roundRect">
            <a:avLst>
              <a:gd name="adj" fmla="val 15000"/>
            </a:avLst>
          </a:prstGeom>
          <a:solidFill>
            <a:srgbClr val="05090E">
              <a:alpha val="67843"/>
            </a:srgbClr>
          </a:solidFill>
          <a:ln w="9525" cap="flat" cmpd="sng">
            <a:solidFill>
              <a:srgbClr val="2DD4BF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4956048" y="4791456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Problem: </a:t>
            </a:r>
            <a:r>
              <a:rPr lang="en-IN" sz="85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95%-accurate AI still sits unused - one number isn't an argument.  </a:t>
            </a:r>
            <a:r>
              <a:rPr lang="en-IN" sz="850" b="1" i="0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r>
              <a:rPr lang="en-IN" sz="85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AURA adds the reasoning layer - it explains its read, calibrates its doubt, and recommends the next test. The doctor decides.</a:t>
            </a:r>
            <a:endParaRPr/>
          </a:p>
        </p:txBody>
      </p:sp>
      <p:sp>
        <p:nvSpPr>
          <p:cNvPr id="178" name="Google Shape;178;p13"/>
          <p:cNvSpPr txBox="1"/>
          <p:nvPr/>
        </p:nvSpPr>
        <p:spPr>
          <a:xfrm>
            <a:off x="274320" y="4315968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>
                <a:solidFill>
                  <a:srgbClr val="B0C8FF"/>
                </a:solidFill>
                <a:latin typeface="Georgia"/>
                <a:ea typeface="Georgia"/>
                <a:cs typeface="Georgia"/>
                <a:sym typeface="Georgia"/>
              </a:rPr>
              <a:t>AI predicts.  Clinical intelligence reasons.</a:t>
            </a:r>
            <a:endParaRPr/>
          </a:p>
        </p:txBody>
      </p:sp>
      <p:sp>
        <p:nvSpPr>
          <p:cNvPr id="179" name="Google Shape;179;p13"/>
          <p:cNvSpPr txBox="1"/>
          <p:nvPr/>
        </p:nvSpPr>
        <p:spPr>
          <a:xfrm>
            <a:off x="274320" y="468172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Quantum intelligence understands.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4" descr="C:\Users\Admin\Downloads\1764679326535-Photoroo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8831" y="35671"/>
            <a:ext cx="1285884" cy="128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4" descr="C:\Users\Admin\Downloads\RI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062" y="285704"/>
            <a:ext cx="3043364" cy="785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4" descr="C:\Users\Admin\Downloads\IBM_logo.sv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0312" y="357139"/>
            <a:ext cx="1528257" cy="57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 descr="C:\Users\Admin\Downloads\logo-nqm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9518" y="249994"/>
            <a:ext cx="710054" cy="78579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6196026" cy="23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RIT – QUANT-A-THAN 2026 (Innovate, Build, Transform)</a:t>
            </a:r>
            <a:endParaRPr/>
          </a:p>
        </p:txBody>
      </p:sp>
      <p:pic>
        <p:nvPicPr>
          <p:cNvPr id="190" name="Google Shape;190;p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8734" y="285704"/>
            <a:ext cx="866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4"/>
          <p:cNvSpPr txBox="1"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01  .  THE PROBLEM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365760" y="138988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Why hospitals reject 95%-accurate AI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365760" y="19933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1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Accuracy is solved since 2017 -- but trust is not.  950+ FDA-cleared tools output a score and stop.</a:t>
            </a:r>
            <a:endParaRPr/>
          </a:p>
        </p:txBody>
      </p:sp>
      <p:sp>
        <p:nvSpPr>
          <p:cNvPr id="194" name="Google Shape;194;p14"/>
          <p:cNvSpPr/>
          <p:nvPr/>
        </p:nvSpPr>
        <p:spPr>
          <a:xfrm>
            <a:off x="365760" y="2331720"/>
            <a:ext cx="2633472" cy="1417320"/>
          </a:xfrm>
          <a:prstGeom prst="roundRect">
            <a:avLst>
              <a:gd name="adj" fmla="val 16667"/>
            </a:avLst>
          </a:prstGeom>
          <a:solidFill>
            <a:srgbClr val="FDEDEC"/>
          </a:solidFill>
          <a:ln w="152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493776" y="2404872"/>
            <a:ext cx="23957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950+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493776" y="3044952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FDA-cleared AI tools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493776" y="3300984"/>
            <a:ext cx="239572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Every one is a prediction calculator</a:t>
            </a:r>
            <a:b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that stops at a score -- no reasoning.</a:t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3163824" y="2331720"/>
            <a:ext cx="2633472" cy="1417320"/>
          </a:xfrm>
          <a:prstGeom prst="roundRect">
            <a:avLst>
              <a:gd name="adj" fmla="val 16667"/>
            </a:avLst>
          </a:prstGeom>
          <a:solidFill>
            <a:srgbClr val="FEF9E7"/>
          </a:solidFill>
          <a:ln w="15225" cap="flat" cmpd="sng">
            <a:solidFill>
              <a:srgbClr val="D354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9" name="Google Shape;199;p14"/>
          <p:cNvSpPr txBox="1"/>
          <p:nvPr/>
        </p:nvSpPr>
        <p:spPr>
          <a:xfrm>
            <a:off x="3291840" y="2404872"/>
            <a:ext cx="23957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>
                <a:solidFill>
                  <a:srgbClr val="D35400"/>
                </a:solidFill>
                <a:latin typeface="Georgia"/>
                <a:ea typeface="Georgia"/>
                <a:cs typeface="Georgia"/>
                <a:sym typeface="Georgia"/>
              </a:rPr>
              <a:t>$2.27B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3291840" y="3044952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Radiology AI market by 2030</a:t>
            </a:r>
            <a:endParaRPr/>
          </a:p>
        </p:txBody>
      </p:sp>
      <p:sp>
        <p:nvSpPr>
          <p:cNvPr id="201" name="Google Shape;201;p14"/>
          <p:cNvSpPr txBox="1"/>
          <p:nvPr/>
        </p:nvSpPr>
        <p:spPr>
          <a:xfrm>
            <a:off x="3291840" y="3300984"/>
            <a:ext cx="239572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24.5% CAGR -- massive, chronically</a:t>
            </a:r>
            <a:b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underserved by clinical trust.</a:t>
            </a:r>
            <a:endParaRPr/>
          </a:p>
        </p:txBody>
      </p:sp>
      <p:sp>
        <p:nvSpPr>
          <p:cNvPr id="202" name="Google Shape;202;p14"/>
          <p:cNvSpPr/>
          <p:nvPr/>
        </p:nvSpPr>
        <p:spPr>
          <a:xfrm>
            <a:off x="5961888" y="2331720"/>
            <a:ext cx="2633472" cy="1417320"/>
          </a:xfrm>
          <a:prstGeom prst="roundRect">
            <a:avLst>
              <a:gd name="adj" fmla="val 16667"/>
            </a:avLst>
          </a:prstGeom>
          <a:solidFill>
            <a:srgbClr val="E8F8F5"/>
          </a:solidFill>
          <a:ln w="15225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3" name="Google Shape;203;p14"/>
          <p:cNvSpPr txBox="1"/>
          <p:nvPr/>
        </p:nvSpPr>
        <p:spPr>
          <a:xfrm>
            <a:off x="6089904" y="2404872"/>
            <a:ext cx="23957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12M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6089904" y="3044952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Diagnostic errors / yr  (US)</a:t>
            </a:r>
            <a:endParaRPr/>
          </a:p>
        </p:txBody>
      </p:sp>
      <p:sp>
        <p:nvSpPr>
          <p:cNvPr id="205" name="Google Shape;205;p14"/>
          <p:cNvSpPr txBox="1"/>
          <p:nvPr/>
        </p:nvSpPr>
        <p:spPr>
          <a:xfrm>
            <a:off x="6089904" y="3300984"/>
            <a:ext cx="239572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Misdiagnoses AI could prevent -- if</a:t>
            </a:r>
            <a:b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doctors actually trusted the output.</a:t>
            </a:r>
            <a:endParaRPr/>
          </a:p>
        </p:txBody>
      </p:sp>
      <p:sp>
        <p:nvSpPr>
          <p:cNvPr id="206" name="Google Shape;206;p14"/>
          <p:cNvSpPr txBox="1"/>
          <p:nvPr/>
        </p:nvSpPr>
        <p:spPr>
          <a:xfrm>
            <a:off x="365760" y="389534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THE 4-GAP AUTOPSY  --  WHAT EVERY DEPLOYED TOOL LACKS</a:t>
            </a:r>
            <a:endParaRPr/>
          </a:p>
        </p:txBody>
      </p:sp>
      <p:sp>
        <p:nvSpPr>
          <p:cNvPr id="207" name="Google Shape;207;p14"/>
          <p:cNvSpPr/>
          <p:nvPr/>
        </p:nvSpPr>
        <p:spPr>
          <a:xfrm>
            <a:off x="365760" y="4169663"/>
            <a:ext cx="1975104" cy="1828800"/>
          </a:xfrm>
          <a:prstGeom prst="roundRect">
            <a:avLst>
              <a:gd name="adj" fmla="val 16667"/>
            </a:avLst>
          </a:prstGeom>
          <a:solidFill>
            <a:srgbClr val="FDEDEC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8" name="Google Shape;208;p14"/>
          <p:cNvSpPr txBox="1"/>
          <p:nvPr/>
        </p:nvSpPr>
        <p:spPr>
          <a:xfrm>
            <a:off x="475488" y="424281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475488" y="45720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No WHY</a:t>
            </a: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475488" y="4882896"/>
            <a:ext cx="1773936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Black-box output -- cognitive load + medical-liability exposure. Doctors will not sign what they cannot explain.</a:t>
            </a:r>
            <a:endParaRPr/>
          </a:p>
        </p:txBody>
      </p:sp>
      <p:sp>
        <p:nvSpPr>
          <p:cNvPr id="211" name="Google Shape;211;p14"/>
          <p:cNvSpPr/>
          <p:nvPr/>
        </p:nvSpPr>
        <p:spPr>
          <a:xfrm>
            <a:off x="2450592" y="4169663"/>
            <a:ext cx="1975104" cy="1828800"/>
          </a:xfrm>
          <a:prstGeom prst="roundRect">
            <a:avLst>
              <a:gd name="adj" fmla="val 16667"/>
            </a:avLst>
          </a:prstGeom>
          <a:solidFill>
            <a:srgbClr val="FEF9E7"/>
          </a:solidFill>
          <a:ln w="9525" cap="flat" cmpd="sng">
            <a:solidFill>
              <a:srgbClr val="D354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2" name="Google Shape;212;p14"/>
          <p:cNvSpPr txBox="1"/>
          <p:nvPr/>
        </p:nvSpPr>
        <p:spPr>
          <a:xfrm>
            <a:off x="2560320" y="424281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D3540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2560320" y="45720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No HOW SURE</a:t>
            </a:r>
            <a:endParaRPr/>
          </a:p>
        </p:txBody>
      </p:sp>
      <p:sp>
        <p:nvSpPr>
          <p:cNvPr id="214" name="Google Shape;214;p14"/>
          <p:cNvSpPr txBox="1"/>
          <p:nvPr/>
        </p:nvSpPr>
        <p:spPr>
          <a:xfrm>
            <a:off x="2560320" y="4882896"/>
            <a:ext cx="1773936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Zero uncertainty quantification -- alert fatigue. False confidence drives adoption collapse.</a:t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4535424" y="4169663"/>
            <a:ext cx="1975104" cy="182880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4645152" y="424281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217" name="Google Shape;217;p14"/>
          <p:cNvSpPr txBox="1"/>
          <p:nvPr/>
        </p:nvSpPr>
        <p:spPr>
          <a:xfrm>
            <a:off x="4645152" y="45720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No WHAT IF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4645152" y="4882896"/>
            <a:ext cx="1773936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No counterfactual reasoning. Edge cases fail silently. Root causes are invisible.</a:t>
            </a:r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6620256" y="4169663"/>
            <a:ext cx="1975104" cy="1828800"/>
          </a:xfrm>
          <a:prstGeom prst="roundRect">
            <a:avLst>
              <a:gd name="adj" fmla="val 16667"/>
            </a:avLst>
          </a:prstGeom>
          <a:solidFill>
            <a:srgbClr val="E8F8F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6729984" y="424281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6729984" y="45720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No WHAT NEXT</a:t>
            </a:r>
            <a:endParaRPr/>
          </a:p>
        </p:txBody>
      </p:sp>
      <p:sp>
        <p:nvSpPr>
          <p:cNvPr id="222" name="Google Shape;222;p14"/>
          <p:cNvSpPr txBox="1"/>
          <p:nvPr/>
        </p:nvSpPr>
        <p:spPr>
          <a:xfrm>
            <a:off x="6729984" y="4882896"/>
            <a:ext cx="1773936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Static score, not a workflow. No recommended follow-up test. Radiologist still works alone.</a:t>
            </a:r>
            <a:endParaRPr/>
          </a:p>
        </p:txBody>
      </p:sp>
      <p:sp>
        <p:nvSpPr>
          <p:cNvPr id="223" name="Google Shape;223;p14"/>
          <p:cNvSpPr txBox="1"/>
          <p:nvPr/>
        </p:nvSpPr>
        <p:spPr>
          <a:xfrm>
            <a:off x="365760" y="614476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b="0" i="1">
                <a:solidFill>
                  <a:srgbClr val="99AABB"/>
                </a:solidFill>
                <a:latin typeface="Georgia"/>
                <a:ea typeface="Georgia"/>
                <a:cs typeface="Georgia"/>
                <a:sym typeface="Georgia"/>
              </a:rPr>
              <a:t>MarketsandMarkets 2025  .  Zech et al. PLOS Med 2018  .  Singh et al. BMJ Quality &amp; Safety  .  FDA CDRH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5" descr="C:\Users\Admin\Downloads\1764679326535-Photoroo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8831" y="35671"/>
            <a:ext cx="1285884" cy="128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5" descr="C:\Users\Admin\Downloads\RI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062" y="285704"/>
            <a:ext cx="3043364" cy="785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5" descr="C:\Users\Admin\Downloads\IBM_logo.sv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0312" y="357139"/>
            <a:ext cx="1528257" cy="57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5" descr="C:\Users\Admin\Downloads\logo-nqm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9518" y="249994"/>
            <a:ext cx="710054" cy="78579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5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6196026" cy="23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RIT – QUANT-A-THAN 2026 (Innovate, Build, Transform)</a:t>
            </a:r>
            <a:endParaRPr/>
          </a:p>
        </p:txBody>
      </p:sp>
      <p:pic>
        <p:nvPicPr>
          <p:cNvPr id="234" name="Google Shape;234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8734" y="285704"/>
            <a:ext cx="866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5"/>
          <p:cNvSpPr txBox="1"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02  .  THE SOLUTION</a:t>
            </a:r>
            <a:endParaRPr/>
          </a:p>
        </p:txBody>
      </p:sp>
      <p:sp>
        <p:nvSpPr>
          <p:cNvPr id="236" name="Google Shape;236;p15"/>
          <p:cNvSpPr txBox="1"/>
          <p:nvPr/>
        </p:nvSpPr>
        <p:spPr>
          <a:xfrm>
            <a:off x="365760" y="138988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AURA: The Clinical Reasoning Engine</a:t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365760" y="19933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b="0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Demystifies the read  .  Quantifies uncertainty  .  Drives the next action  .  The doctor decides.</a:t>
            </a: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365760" y="2350008"/>
            <a:ext cx="1975104" cy="2359152"/>
          </a:xfrm>
          <a:prstGeom prst="roundRect">
            <a:avLst>
              <a:gd name="adj" fmla="val 16667"/>
            </a:avLst>
          </a:prstGeom>
          <a:solidFill>
            <a:srgbClr val="E8F8F5"/>
          </a:solidFill>
          <a:ln w="190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457200" y="2441448"/>
            <a:ext cx="18105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0">
                <a:solidFill>
                  <a:srgbClr val="99AABB"/>
                </a:solidFill>
                <a:latin typeface="Georgia"/>
                <a:ea typeface="Georgia"/>
                <a:cs typeface="Georgia"/>
                <a:sym typeface="Georgia"/>
              </a:rPr>
              <a:t>(1)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457200" y="2734056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WHY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475488" y="3136391"/>
            <a:ext cx="1773936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Saliency map + grounded</a:t>
            </a:r>
            <a:b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evidence trail.</a:t>
            </a:r>
            <a:b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Localises finding on CXR.</a:t>
            </a:r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2450592" y="2350008"/>
            <a:ext cx="1975104" cy="2359152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1905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2542032" y="2441448"/>
            <a:ext cx="18105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0">
                <a:solidFill>
                  <a:srgbClr val="99AABB"/>
                </a:solidFill>
                <a:latin typeface="Georgia"/>
                <a:ea typeface="Georgia"/>
                <a:cs typeface="Georgia"/>
                <a:sym typeface="Georgia"/>
              </a:rPr>
              <a:t>(2)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2542032" y="2734056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HOW SURE</a:t>
            </a:r>
            <a:endParaRPr/>
          </a:p>
        </p:txBody>
      </p:sp>
      <p:sp>
        <p:nvSpPr>
          <p:cNvPr id="245" name="Google Shape;245;p15"/>
          <p:cNvSpPr txBox="1"/>
          <p:nvPr/>
        </p:nvSpPr>
        <p:spPr>
          <a:xfrm>
            <a:off x="2560320" y="3136391"/>
            <a:ext cx="1773936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Epistemic + aleatoric</a:t>
            </a:r>
            <a:b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uncertainty split.</a:t>
            </a:r>
            <a:b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90% conformal set.</a:t>
            </a:r>
            <a:endParaRPr/>
          </a:p>
        </p:txBody>
      </p:sp>
      <p:sp>
        <p:nvSpPr>
          <p:cNvPr id="246" name="Google Shape;246;p15"/>
          <p:cNvSpPr/>
          <p:nvPr/>
        </p:nvSpPr>
        <p:spPr>
          <a:xfrm>
            <a:off x="4535424" y="2350008"/>
            <a:ext cx="1975104" cy="2359152"/>
          </a:xfrm>
          <a:prstGeom prst="roundRect">
            <a:avLst>
              <a:gd name="adj" fmla="val 16667"/>
            </a:avLst>
          </a:prstGeom>
          <a:solidFill>
            <a:srgbClr val="FEF9E7"/>
          </a:solidFill>
          <a:ln w="19050" cap="flat" cmpd="sng">
            <a:solidFill>
              <a:srgbClr val="D354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4626864" y="2441448"/>
            <a:ext cx="18105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0">
                <a:solidFill>
                  <a:srgbClr val="99AABB"/>
                </a:solidFill>
                <a:latin typeface="Georgia"/>
                <a:ea typeface="Georgia"/>
                <a:cs typeface="Georgia"/>
                <a:sym typeface="Georgia"/>
              </a:rPr>
              <a:t>(3)</a:t>
            </a:r>
            <a:endParaRPr/>
          </a:p>
        </p:txBody>
      </p:sp>
      <p:sp>
        <p:nvSpPr>
          <p:cNvPr id="248" name="Google Shape;248;p15"/>
          <p:cNvSpPr txBox="1"/>
          <p:nvPr/>
        </p:nvSpPr>
        <p:spPr>
          <a:xfrm>
            <a:off x="4626864" y="2734056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D35400"/>
                </a:solidFill>
                <a:latin typeface="Georgia"/>
                <a:ea typeface="Georgia"/>
                <a:cs typeface="Georgia"/>
                <a:sym typeface="Georgia"/>
              </a:rPr>
              <a:t>WHAT IF</a:t>
            </a:r>
            <a:endParaRPr/>
          </a:p>
        </p:txBody>
      </p:sp>
      <p:sp>
        <p:nvSpPr>
          <p:cNvPr id="249" name="Google Shape;249;p15"/>
          <p:cNvSpPr txBox="1"/>
          <p:nvPr/>
        </p:nvSpPr>
        <p:spPr>
          <a:xfrm>
            <a:off x="4645152" y="3136391"/>
            <a:ext cx="1773936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Counterfactual reasoning</a:t>
            </a:r>
            <a:b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via 8-qubit quantum fusion.</a:t>
            </a:r>
            <a:b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2^8 Hilbert space.</a:t>
            </a:r>
            <a:endParaRPr/>
          </a:p>
        </p:txBody>
      </p:sp>
      <p:sp>
        <p:nvSpPr>
          <p:cNvPr id="250" name="Google Shape;250;p15"/>
          <p:cNvSpPr/>
          <p:nvPr/>
        </p:nvSpPr>
        <p:spPr>
          <a:xfrm>
            <a:off x="6620256" y="2350008"/>
            <a:ext cx="1975104" cy="2359152"/>
          </a:xfrm>
          <a:prstGeom prst="roundRect">
            <a:avLst>
              <a:gd name="adj" fmla="val 16667"/>
            </a:avLst>
          </a:prstGeom>
          <a:solidFill>
            <a:srgbClr val="FDEDEC"/>
          </a:solidFill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6711696" y="2441448"/>
            <a:ext cx="18105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0">
                <a:solidFill>
                  <a:srgbClr val="99AABB"/>
                </a:solidFill>
                <a:latin typeface="Georgia"/>
                <a:ea typeface="Georgia"/>
                <a:cs typeface="Georgia"/>
                <a:sym typeface="Georgia"/>
              </a:rPr>
              <a:t>(4)</a:t>
            </a:r>
            <a:endParaRPr/>
          </a:p>
        </p:txBody>
      </p:sp>
      <p:sp>
        <p:nvSpPr>
          <p:cNvPr id="252" name="Google Shape;252;p15"/>
          <p:cNvSpPr txBox="1"/>
          <p:nvPr/>
        </p:nvSpPr>
        <p:spPr>
          <a:xfrm>
            <a:off x="6711696" y="2734056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WHAT NEXT</a:t>
            </a:r>
            <a:endParaRPr/>
          </a:p>
        </p:txBody>
      </p:sp>
      <p:sp>
        <p:nvSpPr>
          <p:cNvPr id="253" name="Google Shape;253;p15"/>
          <p:cNvSpPr txBox="1"/>
          <p:nvPr/>
        </p:nvSpPr>
        <p:spPr>
          <a:xfrm>
            <a:off x="6729984" y="3136391"/>
            <a:ext cx="1773936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EIG ranks next best test</a:t>
            </a:r>
            <a:b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by information gain.</a:t>
            </a:r>
            <a:b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9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Cost-aware pathway.</a:t>
            </a:r>
            <a:endParaRPr/>
          </a:p>
        </p:txBody>
      </p:sp>
      <p:sp>
        <p:nvSpPr>
          <p:cNvPr id="254" name="Google Shape;254;p15"/>
          <p:cNvSpPr/>
          <p:nvPr/>
        </p:nvSpPr>
        <p:spPr>
          <a:xfrm>
            <a:off x="365760" y="4828032"/>
            <a:ext cx="4133087" cy="1188720"/>
          </a:xfrm>
          <a:prstGeom prst="roundRect">
            <a:avLst>
              <a:gd name="adj" fmla="val 16667"/>
            </a:avLst>
          </a:prstGeom>
          <a:solidFill>
            <a:srgbClr val="E8F8F5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5" name="Google Shape;255;p15"/>
          <p:cNvSpPr txBox="1"/>
          <p:nvPr/>
        </p:nvSpPr>
        <p:spPr>
          <a:xfrm>
            <a:off x="502920" y="4919472"/>
            <a:ext cx="38770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THE DOCTOR DECIDES</a:t>
            </a:r>
            <a:endParaRPr/>
          </a:p>
        </p:txBody>
      </p:sp>
      <p:sp>
        <p:nvSpPr>
          <p:cNvPr id="256" name="Google Shape;256;p15"/>
          <p:cNvSpPr txBox="1"/>
          <p:nvPr/>
        </p:nvSpPr>
        <p:spPr>
          <a:xfrm>
            <a:off x="502920" y="5230368"/>
            <a:ext cx="3877055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AURA recommends -- the radiologist accepts, edits or overrides. Authority stays human. Liability stays clear. Trust is earned, not assumed.</a:t>
            </a: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4645152" y="4828032"/>
            <a:ext cx="4133087" cy="118872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8" name="Google Shape;258;p15"/>
          <p:cNvSpPr txBox="1"/>
          <p:nvPr/>
        </p:nvSpPr>
        <p:spPr>
          <a:xfrm>
            <a:off x="4782312" y="4919472"/>
            <a:ext cx="38770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ABSTAINS WHEN UNSURE</a:t>
            </a:r>
            <a:endParaRPr/>
          </a:p>
        </p:txBody>
      </p:sp>
      <p:sp>
        <p:nvSpPr>
          <p:cNvPr id="259" name="Google Shape;259;p15"/>
          <p:cNvSpPr txBox="1"/>
          <p:nvPr/>
        </p:nvSpPr>
        <p:spPr>
          <a:xfrm>
            <a:off x="4782312" y="5230368"/>
            <a:ext cx="3877055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90% conformal prediction set. Epistemic + aleatoric uncertainty decomposed. OOD detector flags out-of-distribution scans. Zero silent failures.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16" descr="C:\Users\Admin\Downloads\1764679326535-Photoroo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8831" y="35671"/>
            <a:ext cx="1285884" cy="128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6" descr="C:\Users\Admin\Downloads\RI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062" y="285704"/>
            <a:ext cx="3043364" cy="785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6" descr="C:\Users\Admin\Downloads\IBM_logo.sv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0312" y="357139"/>
            <a:ext cx="1528257" cy="57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6" descr="C:\Users\Admin\Downloads\logo-nqm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9518" y="249994"/>
            <a:ext cx="710054" cy="78579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6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6196026" cy="23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RIT – QUANT-A-THAN 2026 (Innovate, Build, Transform)</a:t>
            </a:r>
            <a:endParaRPr/>
          </a:p>
        </p:txBody>
      </p:sp>
      <p:pic>
        <p:nvPicPr>
          <p:cNvPr id="270" name="Google Shape;270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8734" y="285704"/>
            <a:ext cx="866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6"/>
          <p:cNvSpPr txBox="1"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03  .  LIVE DEMO -- THE CLINICAL CONSOLE</a:t>
            </a:r>
            <a:endParaRPr/>
          </a:p>
        </p:txBody>
      </p:sp>
      <p:sp>
        <p:nvSpPr>
          <p:cNvPr id="272" name="Google Shape;272;p16"/>
          <p:cNvSpPr txBox="1"/>
          <p:nvPr/>
        </p:nvSpPr>
        <p:spPr>
          <a:xfrm>
            <a:off x="365760" y="138988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Live Demo: Clinical Console in Action</a:t>
            </a:r>
            <a:endParaRPr/>
          </a:p>
        </p:txBody>
      </p:sp>
      <p:sp>
        <p:nvSpPr>
          <p:cNvPr id="273" name="Google Shape;273;p16"/>
          <p:cNvSpPr txBox="1"/>
          <p:nvPr/>
        </p:nvSpPr>
        <p:spPr>
          <a:xfrm>
            <a:off x="365760" y="1975104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b="0" i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localhost:8000  .  AURA Clinical Console  .  quantum ONLINE  .  14 cases in worklist</a:t>
            </a:r>
            <a:endParaRPr/>
          </a:p>
        </p:txBody>
      </p:sp>
      <p:sp>
        <p:nvSpPr>
          <p:cNvPr id="274" name="Google Shape;274;p16"/>
          <p:cNvSpPr/>
          <p:nvPr/>
        </p:nvSpPr>
        <p:spPr>
          <a:xfrm>
            <a:off x="365760" y="2286000"/>
            <a:ext cx="4133087" cy="352044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493776" y="2377440"/>
            <a:ext cx="387705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HOW THE CONSOLE WORKS  --  6 STEPS</a:t>
            </a:r>
            <a:endParaRPr/>
          </a:p>
        </p:txBody>
      </p:sp>
      <p:sp>
        <p:nvSpPr>
          <p:cNvPr id="276" name="Google Shape;276;p16"/>
          <p:cNvSpPr txBox="1"/>
          <p:nvPr/>
        </p:nvSpPr>
        <p:spPr>
          <a:xfrm>
            <a:off x="512064" y="2724912"/>
            <a:ext cx="13167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(1) WORKLIST</a:t>
            </a:r>
            <a:endParaRPr/>
          </a:p>
        </p:txBody>
      </p:sp>
      <p:sp>
        <p:nvSpPr>
          <p:cNvPr id="277" name="Google Shape;277;p16"/>
          <p:cNvSpPr txBox="1"/>
          <p:nvPr/>
        </p:nvSpPr>
        <p:spPr>
          <a:xfrm>
            <a:off x="1874519" y="2724912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14 cases triaged by uncertainty -- high-risk surfaces first.</a:t>
            </a:r>
            <a:endParaRPr/>
          </a:p>
        </p:txBody>
      </p:sp>
      <p:sp>
        <p:nvSpPr>
          <p:cNvPr id="278" name="Google Shape;278;p16"/>
          <p:cNvSpPr txBox="1"/>
          <p:nvPr/>
        </p:nvSpPr>
        <p:spPr>
          <a:xfrm>
            <a:off x="512064" y="3218688"/>
            <a:ext cx="13167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(2) SALIENCY</a:t>
            </a:r>
            <a:endParaRPr/>
          </a:p>
        </p:txBody>
      </p:sp>
      <p:sp>
        <p:nvSpPr>
          <p:cNvPr id="279" name="Google Shape;279;p16"/>
          <p:cNvSpPr txBox="1"/>
          <p:nvPr/>
        </p:nvSpPr>
        <p:spPr>
          <a:xfrm>
            <a:off x="1874519" y="3218688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Vision model localises finding on CXR (confidence 0.99).</a:t>
            </a:r>
            <a:endParaRPr/>
          </a:p>
        </p:txBody>
      </p:sp>
      <p:sp>
        <p:nvSpPr>
          <p:cNvPr id="280" name="Google Shape;280;p16"/>
          <p:cNvSpPr txBox="1"/>
          <p:nvPr/>
        </p:nvSpPr>
        <p:spPr>
          <a:xfrm>
            <a:off x="512064" y="3712464"/>
            <a:ext cx="13167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(3) CALIBRATED</a:t>
            </a:r>
            <a:endParaRPr/>
          </a:p>
        </p:txBody>
      </p:sp>
      <p:sp>
        <p:nvSpPr>
          <p:cNvPr id="281" name="Google Shape;281;p16"/>
          <p:cNvSpPr txBox="1"/>
          <p:nvPr/>
        </p:nvSpPr>
        <p:spPr>
          <a:xfrm>
            <a:off x="1874519" y="3712464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8-qubit quantum fusion, 512 shots -&gt; calibrated differentials.</a:t>
            </a:r>
            <a:endParaRPr/>
          </a:p>
        </p:txBody>
      </p:sp>
      <p:sp>
        <p:nvSpPr>
          <p:cNvPr id="282" name="Google Shape;282;p16"/>
          <p:cNvSpPr txBox="1"/>
          <p:nvPr/>
        </p:nvSpPr>
        <p:spPr>
          <a:xfrm>
            <a:off x="512064" y="4206240"/>
            <a:ext cx="13167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(4) EVIDENCE</a:t>
            </a:r>
            <a:endParaRPr/>
          </a:p>
        </p:txBody>
      </p:sp>
      <p:sp>
        <p:nvSpPr>
          <p:cNvPr id="283" name="Google Shape;283;p16"/>
          <p:cNvSpPr txBox="1"/>
          <p:nvPr/>
        </p:nvSpPr>
        <p:spPr>
          <a:xfrm>
            <a:off x="1874519" y="4206240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Each finding contribution explicit; hover for counterfactuals.</a:t>
            </a:r>
            <a:endParaRPr/>
          </a:p>
        </p:txBody>
      </p:sp>
      <p:sp>
        <p:nvSpPr>
          <p:cNvPr id="284" name="Google Shape;284;p16"/>
          <p:cNvSpPr txBox="1"/>
          <p:nvPr/>
        </p:nvSpPr>
        <p:spPr>
          <a:xfrm>
            <a:off x="512064" y="4700016"/>
            <a:ext cx="13167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(5) SAFETY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1874519" y="4700016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Epistemic 0.09  aleatoric 0.04  .  90% conformal -- abstains if unsure.</a:t>
            </a:r>
            <a:endParaRPr/>
          </a:p>
        </p:txBody>
      </p:sp>
      <p:sp>
        <p:nvSpPr>
          <p:cNvPr id="286" name="Google Shape;286;p16"/>
          <p:cNvSpPr txBox="1"/>
          <p:nvPr/>
        </p:nvSpPr>
        <p:spPr>
          <a:xfrm>
            <a:off x="512064" y="5193792"/>
            <a:ext cx="13167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(6) SIGN-OFF</a:t>
            </a:r>
            <a:endParaRPr/>
          </a:p>
        </p:txBody>
      </p:sp>
      <p:sp>
        <p:nvSpPr>
          <p:cNvPr id="287" name="Google Shape;287;p16"/>
          <p:cNvSpPr txBox="1"/>
          <p:nvPr/>
        </p:nvSpPr>
        <p:spPr>
          <a:xfrm>
            <a:off x="1874519" y="5193792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EIG ranks next best test; doctor accepts/edits/signs. Authority human.</a:t>
            </a:r>
            <a:endParaRPr/>
          </a:p>
        </p:txBody>
      </p:sp>
      <p:sp>
        <p:nvSpPr>
          <p:cNvPr id="288" name="Google Shape;288;p16"/>
          <p:cNvSpPr/>
          <p:nvPr/>
        </p:nvSpPr>
        <p:spPr>
          <a:xfrm>
            <a:off x="4681728" y="2286000"/>
            <a:ext cx="4096512" cy="132588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9" name="Google Shape;289;p16"/>
          <p:cNvSpPr txBox="1"/>
          <p:nvPr/>
        </p:nvSpPr>
        <p:spPr>
          <a:xfrm>
            <a:off x="4809744" y="2377440"/>
            <a:ext cx="3822191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DIFFERENTIAL -- CALIBRATED</a:t>
            </a:r>
            <a:endParaRPr/>
          </a:p>
        </p:txBody>
      </p:sp>
      <p:sp>
        <p:nvSpPr>
          <p:cNvPr id="290" name="Google Shape;290;p16"/>
          <p:cNvSpPr txBox="1"/>
          <p:nvPr/>
        </p:nvSpPr>
        <p:spPr>
          <a:xfrm>
            <a:off x="4809744" y="267004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Pleural effusion</a:t>
            </a:r>
            <a:endParaRPr/>
          </a:p>
        </p:txBody>
      </p:sp>
      <p:sp>
        <p:nvSpPr>
          <p:cNvPr id="291" name="Google Shape;291;p16"/>
          <p:cNvSpPr txBox="1"/>
          <p:nvPr/>
        </p:nvSpPr>
        <p:spPr>
          <a:xfrm>
            <a:off x="7955279" y="2670048"/>
            <a:ext cx="6949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0.58</a:t>
            </a:r>
            <a:endParaRPr/>
          </a:p>
        </p:txBody>
      </p:sp>
      <p:sp>
        <p:nvSpPr>
          <p:cNvPr id="292" name="Google Shape;292;p16"/>
          <p:cNvSpPr txBox="1"/>
          <p:nvPr/>
        </p:nvSpPr>
        <p:spPr>
          <a:xfrm>
            <a:off x="4809744" y="2889504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Atelectasis</a:t>
            </a:r>
            <a:endParaRPr/>
          </a:p>
        </p:txBody>
      </p:sp>
      <p:sp>
        <p:nvSpPr>
          <p:cNvPr id="293" name="Google Shape;293;p16"/>
          <p:cNvSpPr txBox="1"/>
          <p:nvPr/>
        </p:nvSpPr>
        <p:spPr>
          <a:xfrm>
            <a:off x="7955279" y="2889504"/>
            <a:ext cx="6949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0.21</a:t>
            </a:r>
            <a:endParaRPr/>
          </a:p>
        </p:txBody>
      </p:sp>
      <p:sp>
        <p:nvSpPr>
          <p:cNvPr id="294" name="Google Shape;294;p16"/>
          <p:cNvSpPr txBox="1"/>
          <p:nvPr/>
        </p:nvSpPr>
        <p:spPr>
          <a:xfrm>
            <a:off x="4809744" y="310896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Pneumothorax</a:t>
            </a:r>
            <a:endParaRPr/>
          </a:p>
        </p:txBody>
      </p:sp>
      <p:sp>
        <p:nvSpPr>
          <p:cNvPr id="295" name="Google Shape;295;p16"/>
          <p:cNvSpPr txBox="1"/>
          <p:nvPr/>
        </p:nvSpPr>
        <p:spPr>
          <a:xfrm>
            <a:off x="7955279" y="3108960"/>
            <a:ext cx="6949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0.08</a:t>
            </a:r>
            <a:endParaRPr/>
          </a:p>
        </p:txBody>
      </p:sp>
      <p:sp>
        <p:nvSpPr>
          <p:cNvPr id="296" name="Google Shape;296;p16"/>
          <p:cNvSpPr txBox="1"/>
          <p:nvPr/>
        </p:nvSpPr>
        <p:spPr>
          <a:xfrm>
            <a:off x="4809744" y="3328415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Nodule</a:t>
            </a:r>
            <a:endParaRPr/>
          </a:p>
        </p:txBody>
      </p:sp>
      <p:sp>
        <p:nvSpPr>
          <p:cNvPr id="297" name="Google Shape;297;p16"/>
          <p:cNvSpPr txBox="1"/>
          <p:nvPr/>
        </p:nvSpPr>
        <p:spPr>
          <a:xfrm>
            <a:off x="7955279" y="3328415"/>
            <a:ext cx="6949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0.06</a:t>
            </a:r>
            <a:endParaRPr/>
          </a:p>
        </p:txBody>
      </p:sp>
      <p:sp>
        <p:nvSpPr>
          <p:cNvPr id="298" name="Google Shape;298;p16"/>
          <p:cNvSpPr/>
          <p:nvPr/>
        </p:nvSpPr>
        <p:spPr>
          <a:xfrm>
            <a:off x="4681728" y="3675887"/>
            <a:ext cx="4096512" cy="841248"/>
          </a:xfrm>
          <a:prstGeom prst="roundRect">
            <a:avLst>
              <a:gd name="adj" fmla="val 16667"/>
            </a:avLst>
          </a:prstGeom>
          <a:solidFill>
            <a:srgbClr val="E8F8F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4809744" y="3767328"/>
            <a:ext cx="3822191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UNCERTAINTY SPLIT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4809744" y="4023360"/>
            <a:ext cx="3822191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epistemic 0.09   aleatoric 0.04   .  in-distribution OK</a:t>
            </a:r>
            <a:b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90% conformal set:  { effusion, atelectasis }</a:t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4681728" y="4590288"/>
            <a:ext cx="4096512" cy="914400"/>
          </a:xfrm>
          <a:prstGeom prst="roundRect">
            <a:avLst>
              <a:gd name="adj" fmla="val 16667"/>
            </a:avLst>
          </a:prstGeom>
          <a:solidFill>
            <a:srgbClr val="FDEDEC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4809744" y="4681728"/>
            <a:ext cx="3822191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NEXT BEST EVIDENCE (EIG)</a:t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4809744" y="495604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CT thorax  &lt;- recommended</a:t>
            </a:r>
            <a:endParaRPr/>
          </a:p>
        </p:txBody>
      </p:sp>
      <p:sp>
        <p:nvSpPr>
          <p:cNvPr id="304" name="Google Shape;304;p16"/>
          <p:cNvSpPr txBox="1"/>
          <p:nvPr/>
        </p:nvSpPr>
        <p:spPr>
          <a:xfrm>
            <a:off x="7955279" y="4956048"/>
            <a:ext cx="6949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0.82</a:t>
            </a:r>
            <a:endParaRPr/>
          </a:p>
        </p:txBody>
      </p:sp>
      <p:sp>
        <p:nvSpPr>
          <p:cNvPr id="305" name="Google Shape;305;p16"/>
          <p:cNvSpPr txBox="1"/>
          <p:nvPr/>
        </p:nvSpPr>
        <p:spPr>
          <a:xfrm>
            <a:off x="4809744" y="51389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Repeat PA X-ray</a:t>
            </a:r>
            <a:endParaRPr/>
          </a:p>
        </p:txBody>
      </p:sp>
      <p:sp>
        <p:nvSpPr>
          <p:cNvPr id="306" name="Google Shape;306;p16"/>
          <p:cNvSpPr txBox="1"/>
          <p:nvPr/>
        </p:nvSpPr>
        <p:spPr>
          <a:xfrm>
            <a:off x="7955279" y="5138928"/>
            <a:ext cx="6949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D35400"/>
                </a:solidFill>
                <a:latin typeface="Georgia"/>
                <a:ea typeface="Georgia"/>
                <a:cs typeface="Georgia"/>
                <a:sym typeface="Georgia"/>
              </a:rPr>
              <a:t>0.64</a:t>
            </a:r>
            <a:endParaRPr/>
          </a:p>
        </p:txBody>
      </p:sp>
      <p:sp>
        <p:nvSpPr>
          <p:cNvPr id="307" name="Google Shape;307;p16"/>
          <p:cNvSpPr txBox="1"/>
          <p:nvPr/>
        </p:nvSpPr>
        <p:spPr>
          <a:xfrm>
            <a:off x="4809744" y="532180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Ultrasound</a:t>
            </a:r>
            <a:endParaRPr/>
          </a:p>
        </p:txBody>
      </p:sp>
      <p:sp>
        <p:nvSpPr>
          <p:cNvPr id="308" name="Google Shape;308;p16"/>
          <p:cNvSpPr txBox="1"/>
          <p:nvPr/>
        </p:nvSpPr>
        <p:spPr>
          <a:xfrm>
            <a:off x="7955279" y="5321808"/>
            <a:ext cx="6949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0.51</a:t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365760" y="5888736"/>
            <a:ext cx="8412480" cy="347472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365760" y="594360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LIVE DEMO ON REQUEST  .  3 commands  .  2 minutes  .  fully offline &amp; CPU-only  .  ask us to spin it up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7" descr="C:\Users\Admin\Downloads\1764679326535-Photoroo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8831" y="35671"/>
            <a:ext cx="1285884" cy="128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7" descr="C:\Users\Admin\Downloads\RI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062" y="285704"/>
            <a:ext cx="3043364" cy="785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7" descr="C:\Users\Admin\Downloads\IBM_logo.sv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0312" y="357139"/>
            <a:ext cx="1528257" cy="57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7" descr="C:\Users\Admin\Downloads\logo-nqm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9518" y="249994"/>
            <a:ext cx="710054" cy="78579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7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6196026" cy="23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RIT – QUANT-A-THAN 2026 (Innovate, Build, Transform)</a:t>
            </a:r>
            <a:endParaRPr/>
          </a:p>
        </p:txBody>
      </p:sp>
      <p:pic>
        <p:nvPicPr>
          <p:cNvPr id="321" name="Google Shape;321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8734" y="285704"/>
            <a:ext cx="866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7"/>
          <p:cNvSpPr txBox="1"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04  .  COMPETITIVE MOAT</a:t>
            </a:r>
            <a:endParaRPr/>
          </a:p>
        </p:txBody>
      </p:sp>
      <p:sp>
        <p:nvSpPr>
          <p:cNvPr id="323" name="Google Shape;323;p17"/>
          <p:cNvSpPr txBox="1"/>
          <p:nvPr/>
        </p:nvSpPr>
        <p:spPr>
          <a:xfrm>
            <a:off x="365760" y="138988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AURA does what no deployed tool does today</a:t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365760" y="2029968"/>
            <a:ext cx="8412480" cy="365760"/>
          </a:xfrm>
          <a:prstGeom prst="rect">
            <a:avLst/>
          </a:prstGeom>
          <a:solidFill>
            <a:srgbClr val="0E1A2D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5" name="Google Shape;325;p17"/>
          <p:cNvSpPr txBox="1"/>
          <p:nvPr/>
        </p:nvSpPr>
        <p:spPr>
          <a:xfrm>
            <a:off x="438912" y="2084831"/>
            <a:ext cx="139903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CAPABILITY</a:t>
            </a:r>
            <a:endParaRPr/>
          </a:p>
        </p:txBody>
      </p:sp>
      <p:sp>
        <p:nvSpPr>
          <p:cNvPr id="326" name="Google Shape;326;p17"/>
          <p:cNvSpPr txBox="1"/>
          <p:nvPr/>
        </p:nvSpPr>
        <p:spPr>
          <a:xfrm>
            <a:off x="1975104" y="2084831"/>
            <a:ext cx="139903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FDA TOOLS (950+)</a:t>
            </a:r>
            <a:endParaRPr/>
          </a:p>
        </p:txBody>
      </p:sp>
      <p:sp>
        <p:nvSpPr>
          <p:cNvPr id="327" name="Google Shape;327;p17"/>
          <p:cNvSpPr txBox="1"/>
          <p:nvPr/>
        </p:nvSpPr>
        <p:spPr>
          <a:xfrm>
            <a:off x="3529584" y="2084831"/>
            <a:ext cx="139903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GPT-4 RADIOLOGY</a:t>
            </a:r>
            <a:endParaRPr/>
          </a:p>
        </p:txBody>
      </p:sp>
      <p:sp>
        <p:nvSpPr>
          <p:cNvPr id="328" name="Google Shape;328;p17"/>
          <p:cNvSpPr txBox="1"/>
          <p:nvPr/>
        </p:nvSpPr>
        <p:spPr>
          <a:xfrm>
            <a:off x="5084064" y="2084831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RESEARCH MODELS</a:t>
            </a:r>
            <a:endParaRPr/>
          </a:p>
        </p:txBody>
      </p:sp>
      <p:sp>
        <p:nvSpPr>
          <p:cNvPr id="329" name="Google Shape;329;p17"/>
          <p:cNvSpPr txBox="1"/>
          <p:nvPr/>
        </p:nvSpPr>
        <p:spPr>
          <a:xfrm>
            <a:off x="6656832" y="2084831"/>
            <a:ext cx="204825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AURA (V)</a:t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365760" y="2432304"/>
            <a:ext cx="841248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6583680" y="2432304"/>
            <a:ext cx="2157984" cy="384048"/>
          </a:xfrm>
          <a:prstGeom prst="rect">
            <a:avLst/>
          </a:prstGeom>
          <a:solidFill>
            <a:srgbClr val="E8F8F5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438912" y="2523744"/>
            <a:ext cx="139903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Explainability (WHY)</a:t>
            </a:r>
            <a:endParaRPr/>
          </a:p>
        </p:txBody>
      </p:sp>
      <p:sp>
        <p:nvSpPr>
          <p:cNvPr id="333" name="Google Shape;333;p17"/>
          <p:cNvSpPr txBox="1"/>
          <p:nvPr/>
        </p:nvSpPr>
        <p:spPr>
          <a:xfrm>
            <a:off x="1975104" y="2505456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34" name="Google Shape;334;p17"/>
          <p:cNvSpPr txBox="1"/>
          <p:nvPr/>
        </p:nvSpPr>
        <p:spPr>
          <a:xfrm>
            <a:off x="3529584" y="2505456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Partial</a:t>
            </a:r>
            <a:endParaRPr/>
          </a:p>
        </p:txBody>
      </p:sp>
      <p:sp>
        <p:nvSpPr>
          <p:cNvPr id="335" name="Google Shape;335;p17"/>
          <p:cNvSpPr txBox="1"/>
          <p:nvPr/>
        </p:nvSpPr>
        <p:spPr>
          <a:xfrm>
            <a:off x="5084064" y="2505456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36" name="Google Shape;336;p17"/>
          <p:cNvSpPr txBox="1"/>
          <p:nvPr/>
        </p:nvSpPr>
        <p:spPr>
          <a:xfrm>
            <a:off x="6656832" y="2505456"/>
            <a:ext cx="20482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365760" y="2816352"/>
            <a:ext cx="8412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6583680" y="2816352"/>
            <a:ext cx="2157984" cy="384048"/>
          </a:xfrm>
          <a:prstGeom prst="rect">
            <a:avLst/>
          </a:prstGeom>
          <a:solidFill>
            <a:srgbClr val="E8F8F5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9" name="Google Shape;339;p17"/>
          <p:cNvSpPr txBox="1"/>
          <p:nvPr/>
        </p:nvSpPr>
        <p:spPr>
          <a:xfrm>
            <a:off x="438912" y="2907792"/>
            <a:ext cx="139903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Uncertainty quant.</a:t>
            </a:r>
            <a:endParaRPr/>
          </a:p>
        </p:txBody>
      </p:sp>
      <p:sp>
        <p:nvSpPr>
          <p:cNvPr id="340" name="Google Shape;340;p17"/>
          <p:cNvSpPr txBox="1"/>
          <p:nvPr/>
        </p:nvSpPr>
        <p:spPr>
          <a:xfrm>
            <a:off x="1975104" y="2889504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41" name="Google Shape;341;p17"/>
          <p:cNvSpPr txBox="1"/>
          <p:nvPr/>
        </p:nvSpPr>
        <p:spPr>
          <a:xfrm>
            <a:off x="3529584" y="2889504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42" name="Google Shape;342;p17"/>
          <p:cNvSpPr txBox="1"/>
          <p:nvPr/>
        </p:nvSpPr>
        <p:spPr>
          <a:xfrm>
            <a:off x="5084064" y="2889504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Partial</a:t>
            </a:r>
            <a:endParaRPr/>
          </a:p>
        </p:txBody>
      </p:sp>
      <p:sp>
        <p:nvSpPr>
          <p:cNvPr id="343" name="Google Shape;343;p17"/>
          <p:cNvSpPr txBox="1"/>
          <p:nvPr/>
        </p:nvSpPr>
        <p:spPr>
          <a:xfrm>
            <a:off x="6656832" y="2889504"/>
            <a:ext cx="20482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365760" y="3200400"/>
            <a:ext cx="841248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6583680" y="3200400"/>
            <a:ext cx="2157984" cy="384048"/>
          </a:xfrm>
          <a:prstGeom prst="rect">
            <a:avLst/>
          </a:prstGeom>
          <a:solidFill>
            <a:srgbClr val="E8F8F5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438912" y="3291840"/>
            <a:ext cx="139903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Counterfactual (WHAT IF)</a:t>
            </a:r>
            <a:endParaRPr/>
          </a:p>
        </p:txBody>
      </p:sp>
      <p:sp>
        <p:nvSpPr>
          <p:cNvPr id="347" name="Google Shape;347;p17"/>
          <p:cNvSpPr txBox="1"/>
          <p:nvPr/>
        </p:nvSpPr>
        <p:spPr>
          <a:xfrm>
            <a:off x="1975104" y="3273552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48" name="Google Shape;348;p17"/>
          <p:cNvSpPr txBox="1"/>
          <p:nvPr/>
        </p:nvSpPr>
        <p:spPr>
          <a:xfrm>
            <a:off x="3529584" y="3273552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Partial</a:t>
            </a:r>
            <a:endParaRPr/>
          </a:p>
        </p:txBody>
      </p:sp>
      <p:sp>
        <p:nvSpPr>
          <p:cNvPr id="349" name="Google Shape;349;p17"/>
          <p:cNvSpPr txBox="1"/>
          <p:nvPr/>
        </p:nvSpPr>
        <p:spPr>
          <a:xfrm>
            <a:off x="5084064" y="3273552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50" name="Google Shape;350;p17"/>
          <p:cNvSpPr txBox="1"/>
          <p:nvPr/>
        </p:nvSpPr>
        <p:spPr>
          <a:xfrm>
            <a:off x="6656832" y="3273552"/>
            <a:ext cx="20482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365760" y="3584448"/>
            <a:ext cx="8412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6583680" y="3584448"/>
            <a:ext cx="2157984" cy="384048"/>
          </a:xfrm>
          <a:prstGeom prst="rect">
            <a:avLst/>
          </a:prstGeom>
          <a:solidFill>
            <a:srgbClr val="E8F8F5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438912" y="3675887"/>
            <a:ext cx="139903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Next-best-test rec.</a:t>
            </a:r>
            <a:endParaRPr/>
          </a:p>
        </p:txBody>
      </p:sp>
      <p:sp>
        <p:nvSpPr>
          <p:cNvPr id="354" name="Google Shape;354;p17"/>
          <p:cNvSpPr txBox="1"/>
          <p:nvPr/>
        </p:nvSpPr>
        <p:spPr>
          <a:xfrm>
            <a:off x="1975104" y="3657600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55" name="Google Shape;355;p17"/>
          <p:cNvSpPr txBox="1"/>
          <p:nvPr/>
        </p:nvSpPr>
        <p:spPr>
          <a:xfrm>
            <a:off x="3529584" y="3657600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56" name="Google Shape;356;p17"/>
          <p:cNvSpPr txBox="1"/>
          <p:nvPr/>
        </p:nvSpPr>
        <p:spPr>
          <a:xfrm>
            <a:off x="5084064" y="3657600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57" name="Google Shape;357;p17"/>
          <p:cNvSpPr txBox="1"/>
          <p:nvPr/>
        </p:nvSpPr>
        <p:spPr>
          <a:xfrm>
            <a:off x="6656832" y="3657600"/>
            <a:ext cx="20482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/>
          </a:p>
        </p:txBody>
      </p:sp>
      <p:sp>
        <p:nvSpPr>
          <p:cNvPr id="358" name="Google Shape;358;p17"/>
          <p:cNvSpPr/>
          <p:nvPr/>
        </p:nvSpPr>
        <p:spPr>
          <a:xfrm>
            <a:off x="365760" y="3968496"/>
            <a:ext cx="841248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6583680" y="3968496"/>
            <a:ext cx="2157984" cy="384048"/>
          </a:xfrm>
          <a:prstGeom prst="rect">
            <a:avLst/>
          </a:prstGeom>
          <a:solidFill>
            <a:srgbClr val="E8F8F5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438912" y="4059935"/>
            <a:ext cx="139903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Abstains when unsure</a:t>
            </a:r>
            <a:endParaRPr/>
          </a:p>
        </p:txBody>
      </p:sp>
      <p:sp>
        <p:nvSpPr>
          <p:cNvPr id="361" name="Google Shape;361;p17"/>
          <p:cNvSpPr txBox="1"/>
          <p:nvPr/>
        </p:nvSpPr>
        <p:spPr>
          <a:xfrm>
            <a:off x="1975104" y="4041648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62" name="Google Shape;362;p17"/>
          <p:cNvSpPr txBox="1"/>
          <p:nvPr/>
        </p:nvSpPr>
        <p:spPr>
          <a:xfrm>
            <a:off x="3529584" y="4041648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63" name="Google Shape;363;p17"/>
          <p:cNvSpPr txBox="1"/>
          <p:nvPr/>
        </p:nvSpPr>
        <p:spPr>
          <a:xfrm>
            <a:off x="5084064" y="404164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Partial</a:t>
            </a:r>
            <a:endParaRPr/>
          </a:p>
        </p:txBody>
      </p:sp>
      <p:sp>
        <p:nvSpPr>
          <p:cNvPr id="364" name="Google Shape;364;p17"/>
          <p:cNvSpPr txBox="1"/>
          <p:nvPr/>
        </p:nvSpPr>
        <p:spPr>
          <a:xfrm>
            <a:off x="6656832" y="4041648"/>
            <a:ext cx="20482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365760" y="4352544"/>
            <a:ext cx="8412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6583680" y="4352544"/>
            <a:ext cx="2157984" cy="384048"/>
          </a:xfrm>
          <a:prstGeom prst="rect">
            <a:avLst/>
          </a:prstGeom>
          <a:solidFill>
            <a:srgbClr val="E8F8F5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7" name="Google Shape;367;p17"/>
          <p:cNvSpPr txBox="1"/>
          <p:nvPr/>
        </p:nvSpPr>
        <p:spPr>
          <a:xfrm>
            <a:off x="438912" y="4443983"/>
            <a:ext cx="139903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Offline / CPU-only</a:t>
            </a:r>
            <a:endParaRPr/>
          </a:p>
        </p:txBody>
      </p:sp>
      <p:sp>
        <p:nvSpPr>
          <p:cNvPr id="368" name="Google Shape;368;p17"/>
          <p:cNvSpPr txBox="1"/>
          <p:nvPr/>
        </p:nvSpPr>
        <p:spPr>
          <a:xfrm>
            <a:off x="1975104" y="4425696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F39C12"/>
                </a:solidFill>
                <a:latin typeface="Georgia"/>
                <a:ea typeface="Georgia"/>
                <a:cs typeface="Georgia"/>
                <a:sym typeface="Georgia"/>
              </a:rPr>
              <a:t>Varies</a:t>
            </a:r>
            <a:endParaRPr/>
          </a:p>
        </p:txBody>
      </p:sp>
      <p:sp>
        <p:nvSpPr>
          <p:cNvPr id="369" name="Google Shape;369;p17"/>
          <p:cNvSpPr txBox="1"/>
          <p:nvPr/>
        </p:nvSpPr>
        <p:spPr>
          <a:xfrm>
            <a:off x="3529584" y="4425696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70" name="Google Shape;370;p17"/>
          <p:cNvSpPr txBox="1"/>
          <p:nvPr/>
        </p:nvSpPr>
        <p:spPr>
          <a:xfrm>
            <a:off x="5084064" y="4425696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71" name="Google Shape;371;p17"/>
          <p:cNvSpPr txBox="1"/>
          <p:nvPr/>
        </p:nvSpPr>
        <p:spPr>
          <a:xfrm>
            <a:off x="6656832" y="4425696"/>
            <a:ext cx="20482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365760" y="4736592"/>
            <a:ext cx="8412480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6583680" y="4736592"/>
            <a:ext cx="2157984" cy="384048"/>
          </a:xfrm>
          <a:prstGeom prst="rect">
            <a:avLst/>
          </a:prstGeom>
          <a:solidFill>
            <a:srgbClr val="E8F8F5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4" name="Google Shape;374;p17"/>
          <p:cNvSpPr txBox="1"/>
          <p:nvPr/>
        </p:nvSpPr>
        <p:spPr>
          <a:xfrm>
            <a:off x="438912" y="4828031"/>
            <a:ext cx="139903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Quantum fusion</a:t>
            </a:r>
            <a:endParaRPr/>
          </a:p>
        </p:txBody>
      </p:sp>
      <p:sp>
        <p:nvSpPr>
          <p:cNvPr id="375" name="Google Shape;375;p17"/>
          <p:cNvSpPr txBox="1"/>
          <p:nvPr/>
        </p:nvSpPr>
        <p:spPr>
          <a:xfrm>
            <a:off x="1975104" y="4809744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76" name="Google Shape;376;p17"/>
          <p:cNvSpPr txBox="1"/>
          <p:nvPr/>
        </p:nvSpPr>
        <p:spPr>
          <a:xfrm>
            <a:off x="3529584" y="4809744"/>
            <a:ext cx="139903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77" name="Google Shape;377;p17"/>
          <p:cNvSpPr txBox="1"/>
          <p:nvPr/>
        </p:nvSpPr>
        <p:spPr>
          <a:xfrm>
            <a:off x="5084064" y="4809744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endParaRPr/>
          </a:p>
        </p:txBody>
      </p:sp>
      <p:sp>
        <p:nvSpPr>
          <p:cNvPr id="378" name="Google Shape;378;p17"/>
          <p:cNvSpPr txBox="1"/>
          <p:nvPr/>
        </p:nvSpPr>
        <p:spPr>
          <a:xfrm>
            <a:off x="6656832" y="4809744"/>
            <a:ext cx="2048255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6565392" y="2011680"/>
            <a:ext cx="2194560" cy="3090672"/>
          </a:xfrm>
          <a:prstGeom prst="rect">
            <a:avLst/>
          </a:prstGeom>
          <a:noFill/>
          <a:ln w="1905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365760" y="519379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1" name="Google Shape;381;p17"/>
          <p:cNvSpPr txBox="1"/>
          <p:nvPr/>
        </p:nvSpPr>
        <p:spPr>
          <a:xfrm>
            <a:off x="530352" y="5248656"/>
            <a:ext cx="8101583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AURA is the only system combining all 7 capabilities in one offline, CPU-ready clinical console.</a:t>
            </a:r>
            <a:br>
              <a:rPr lang="en-IN" sz="10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00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Not a research paper. Not an API. A working product -- ask us for the 2-minute demo.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18" descr="C:\Users\Admin\Downloads\1764679326535-Photoroo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8831" y="35671"/>
            <a:ext cx="1285884" cy="128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18" descr="C:\Users\Admin\Downloads\RI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062" y="285704"/>
            <a:ext cx="3043364" cy="785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18" descr="C:\Users\Admin\Downloads\IBM_logo.sv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0312" y="357139"/>
            <a:ext cx="1528257" cy="57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18" descr="C:\Users\Admin\Downloads\logo-nqm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9518" y="249994"/>
            <a:ext cx="710054" cy="78579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8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6196026" cy="23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RIT – QUANT-A-THAN 2026 (Innovate, Build, Transform)</a:t>
            </a:r>
            <a:endParaRPr/>
          </a:p>
        </p:txBody>
      </p:sp>
      <p:pic>
        <p:nvPicPr>
          <p:cNvPr id="392" name="Google Shape;392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8734" y="285704"/>
            <a:ext cx="866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8"/>
          <p:cNvSpPr txBox="1"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05  .  ARCHITECTURE &amp; QUANTUM STACK</a:t>
            </a:r>
            <a:endParaRPr/>
          </a:p>
        </p:txBody>
      </p:sp>
      <p:sp>
        <p:nvSpPr>
          <p:cNvPr id="394" name="Google Shape;394;p18"/>
          <p:cNvSpPr txBox="1"/>
          <p:nvPr/>
        </p:nvSpPr>
        <p:spPr>
          <a:xfrm>
            <a:off x="365760" y="138988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Modular 3-Tier Architecture  +  Quantum Stack</a:t>
            </a:r>
            <a:endParaRPr/>
          </a:p>
        </p:txBody>
      </p:sp>
      <p:sp>
        <p:nvSpPr>
          <p:cNvPr id="395" name="Google Shape;395;p18"/>
          <p:cNvSpPr/>
          <p:nvPr/>
        </p:nvSpPr>
        <p:spPr>
          <a:xfrm>
            <a:off x="365760" y="2057400"/>
            <a:ext cx="4133087" cy="621792"/>
          </a:xfrm>
          <a:prstGeom prst="roundRect">
            <a:avLst>
              <a:gd name="adj" fmla="val 16667"/>
            </a:avLst>
          </a:prstGeom>
          <a:solidFill>
            <a:srgbClr val="E8F8F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6" name="Google Shape;396;p18"/>
          <p:cNvSpPr txBox="1"/>
          <p:nvPr/>
        </p:nvSpPr>
        <p:spPr>
          <a:xfrm>
            <a:off x="493776" y="2130552"/>
            <a:ext cx="38953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PRESENTATION</a:t>
            </a:r>
            <a:endParaRPr/>
          </a:p>
        </p:txBody>
      </p:sp>
      <p:sp>
        <p:nvSpPr>
          <p:cNvPr id="397" name="Google Shape;397;p18"/>
          <p:cNvSpPr txBox="1"/>
          <p:nvPr/>
        </p:nvSpPr>
        <p:spPr>
          <a:xfrm>
            <a:off x="493776" y="2368296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doctor dashboard . worklist . case console . report signing</a:t>
            </a:r>
            <a:endParaRPr/>
          </a:p>
        </p:txBody>
      </p:sp>
      <p:sp>
        <p:nvSpPr>
          <p:cNvPr id="398" name="Google Shape;398;p18"/>
          <p:cNvSpPr/>
          <p:nvPr/>
        </p:nvSpPr>
        <p:spPr>
          <a:xfrm>
            <a:off x="365760" y="2770632"/>
            <a:ext cx="4133087" cy="621792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9" name="Google Shape;399;p18"/>
          <p:cNvSpPr txBox="1"/>
          <p:nvPr/>
        </p:nvSpPr>
        <p:spPr>
          <a:xfrm>
            <a:off x="493776" y="2843784"/>
            <a:ext cx="38953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APPLICATION</a:t>
            </a:r>
            <a:endParaRPr/>
          </a:p>
        </p:txBody>
      </p:sp>
      <p:sp>
        <p:nvSpPr>
          <p:cNvPr id="400" name="Google Shape;400;p18"/>
          <p:cNvSpPr txBox="1"/>
          <p:nvPr/>
        </p:nvSpPr>
        <p:spPr>
          <a:xfrm>
            <a:off x="493776" y="3081528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FastAPI gateway . async event bus . typed Pydantic contracts</a:t>
            </a:r>
            <a:endParaRPr/>
          </a:p>
        </p:txBody>
      </p:sp>
      <p:sp>
        <p:nvSpPr>
          <p:cNvPr id="401" name="Google Shape;401;p18"/>
          <p:cNvSpPr/>
          <p:nvPr/>
        </p:nvSpPr>
        <p:spPr>
          <a:xfrm>
            <a:off x="365760" y="3483864"/>
            <a:ext cx="4133087" cy="621792"/>
          </a:xfrm>
          <a:prstGeom prst="roundRect">
            <a:avLst>
              <a:gd name="adj" fmla="val 16667"/>
            </a:avLst>
          </a:prstGeom>
          <a:solidFill>
            <a:srgbClr val="FEF9E7"/>
          </a:solidFill>
          <a:ln w="9525" cap="flat" cmpd="sng">
            <a:solidFill>
              <a:srgbClr val="D354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2" name="Google Shape;402;p18"/>
          <p:cNvSpPr txBox="1"/>
          <p:nvPr/>
        </p:nvSpPr>
        <p:spPr>
          <a:xfrm>
            <a:off x="493776" y="3557016"/>
            <a:ext cx="38953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D35400"/>
                </a:solidFill>
                <a:latin typeface="Georgia"/>
                <a:ea typeface="Georgia"/>
                <a:cs typeface="Georgia"/>
                <a:sym typeface="Georgia"/>
              </a:rPr>
              <a:t>AI SERVICES</a:t>
            </a:r>
            <a:endParaRPr/>
          </a:p>
        </p:txBody>
      </p:sp>
      <p:sp>
        <p:nvSpPr>
          <p:cNvPr id="403" name="Google Shape;403;p18"/>
          <p:cNvSpPr txBox="1"/>
          <p:nvPr/>
        </p:nvSpPr>
        <p:spPr>
          <a:xfrm>
            <a:off x="493776" y="3794760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vision . safety . explain . recommend . report . memory . fusion (QPU)</a:t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>
            <a:off x="365760" y="4197096"/>
            <a:ext cx="4133087" cy="6217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556B8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5" name="Google Shape;405;p18"/>
          <p:cNvSpPr txBox="1"/>
          <p:nvPr/>
        </p:nvSpPr>
        <p:spPr>
          <a:xfrm>
            <a:off x="493776" y="4270248"/>
            <a:ext cx="38953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DATA LAYER</a:t>
            </a:r>
            <a:endParaRPr/>
          </a:p>
        </p:txBody>
      </p:sp>
      <p:sp>
        <p:nvSpPr>
          <p:cNvPr id="406" name="Google Shape;406;p18"/>
          <p:cNvSpPr txBox="1"/>
          <p:nvPr/>
        </p:nvSpPr>
        <p:spPr>
          <a:xfrm>
            <a:off x="493776" y="4507992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audit ledger . case memory . model registry . provenance {seed/circuit/shots}</a:t>
            </a:r>
            <a:endParaRPr/>
          </a:p>
        </p:txBody>
      </p:sp>
      <p:sp>
        <p:nvSpPr>
          <p:cNvPr id="407" name="Google Shape;407;p18"/>
          <p:cNvSpPr txBox="1"/>
          <p:nvPr/>
        </p:nvSpPr>
        <p:spPr>
          <a:xfrm>
            <a:off x="365760" y="4974336"/>
            <a:ext cx="4133087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STACK:</a:t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365760" y="5175504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9" name="Google Shape;409;p18"/>
          <p:cNvSpPr txBox="1"/>
          <p:nvPr/>
        </p:nvSpPr>
        <p:spPr>
          <a:xfrm>
            <a:off x="365760" y="5212080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Python 3</a:t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1389888" y="5175504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1" name="Google Shape;411;p18"/>
          <p:cNvSpPr txBox="1"/>
          <p:nvPr/>
        </p:nvSpPr>
        <p:spPr>
          <a:xfrm>
            <a:off x="1389888" y="5212080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FastAPI</a:t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2414016" y="5175504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3" name="Google Shape;413;p18"/>
          <p:cNvSpPr txBox="1"/>
          <p:nvPr/>
        </p:nvSpPr>
        <p:spPr>
          <a:xfrm>
            <a:off x="2414016" y="5212080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PennyLane</a:t>
            </a: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3438144" y="5175504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5" name="Google Shape;415;p18"/>
          <p:cNvSpPr txBox="1"/>
          <p:nvPr/>
        </p:nvSpPr>
        <p:spPr>
          <a:xfrm>
            <a:off x="3438144" y="5212080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NumPy</a:t>
            </a: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365760" y="5468112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7" name="Google Shape;417;p18"/>
          <p:cNvSpPr txBox="1"/>
          <p:nvPr/>
        </p:nvSpPr>
        <p:spPr>
          <a:xfrm>
            <a:off x="365760" y="5504688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scikit-learn</a:t>
            </a:r>
            <a:endParaRPr/>
          </a:p>
        </p:txBody>
      </p:sp>
      <p:sp>
        <p:nvSpPr>
          <p:cNvPr id="418" name="Google Shape;418;p18"/>
          <p:cNvSpPr/>
          <p:nvPr/>
        </p:nvSpPr>
        <p:spPr>
          <a:xfrm>
            <a:off x="1389888" y="5468112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9" name="Google Shape;419;p18"/>
          <p:cNvSpPr txBox="1"/>
          <p:nvPr/>
        </p:nvSpPr>
        <p:spPr>
          <a:xfrm>
            <a:off x="1389888" y="5504688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SciPy</a:t>
            </a:r>
            <a:endParaRPr/>
          </a:p>
        </p:txBody>
      </p:sp>
      <p:sp>
        <p:nvSpPr>
          <p:cNvPr id="420" name="Google Shape;420;p18"/>
          <p:cNvSpPr/>
          <p:nvPr/>
        </p:nvSpPr>
        <p:spPr>
          <a:xfrm>
            <a:off x="2414016" y="5468112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1" name="Google Shape;421;p18"/>
          <p:cNvSpPr txBox="1"/>
          <p:nvPr/>
        </p:nvSpPr>
        <p:spPr>
          <a:xfrm>
            <a:off x="2414016" y="5504688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SQLite</a:t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3438144" y="5468112"/>
            <a:ext cx="969264" cy="2377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3" name="Google Shape;423;p18"/>
          <p:cNvSpPr txBox="1"/>
          <p:nvPr/>
        </p:nvSpPr>
        <p:spPr>
          <a:xfrm>
            <a:off x="3438144" y="5504688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Pydantic</a:t>
            </a:r>
            <a:endParaRPr/>
          </a:p>
        </p:txBody>
      </p:sp>
      <p:sp>
        <p:nvSpPr>
          <p:cNvPr id="424" name="Google Shape;424;p18"/>
          <p:cNvSpPr txBox="1"/>
          <p:nvPr/>
        </p:nvSpPr>
        <p:spPr>
          <a:xfrm>
            <a:off x="365760" y="5797296"/>
            <a:ext cx="4133087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1">
                <a:solidFill>
                  <a:srgbClr val="99AABB"/>
                </a:solidFill>
                <a:latin typeface="Georgia"/>
                <a:ea typeface="Georgia"/>
                <a:cs typeface="Georgia"/>
                <a:sym typeface="Georgia"/>
              </a:rPr>
              <a:t>Offline-capable . CPU-only . no PHI leaves the site</a:t>
            </a:r>
            <a:endParaRPr/>
          </a:p>
        </p:txBody>
      </p:sp>
      <p:sp>
        <p:nvSpPr>
          <p:cNvPr id="425" name="Google Shape;425;p18"/>
          <p:cNvSpPr/>
          <p:nvPr/>
        </p:nvSpPr>
        <p:spPr>
          <a:xfrm>
            <a:off x="4663440" y="2057400"/>
            <a:ext cx="4096512" cy="2029968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6" name="Google Shape;426;p18"/>
          <p:cNvSpPr txBox="1"/>
          <p:nvPr/>
        </p:nvSpPr>
        <p:spPr>
          <a:xfrm>
            <a:off x="4791455" y="2148840"/>
            <a:ext cx="3822191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QUANTUM CIRCUIT  .  SHIPS TODAY</a:t>
            </a:r>
            <a:endParaRPr/>
          </a:p>
        </p:txBody>
      </p:sp>
      <p:sp>
        <p:nvSpPr>
          <p:cNvPr id="427" name="Google Shape;427;p18"/>
          <p:cNvSpPr txBox="1"/>
          <p:nvPr/>
        </p:nvSpPr>
        <p:spPr>
          <a:xfrm>
            <a:off x="4791455" y="246888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ENCODE</a:t>
            </a:r>
            <a:endParaRPr/>
          </a:p>
        </p:txBody>
      </p:sp>
      <p:sp>
        <p:nvSpPr>
          <p:cNvPr id="428" name="Google Shape;428;p18"/>
          <p:cNvSpPr txBox="1"/>
          <p:nvPr/>
        </p:nvSpPr>
        <p:spPr>
          <a:xfrm>
            <a:off x="5669279" y="2468880"/>
            <a:ext cx="305409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RY(pi*xi)  .  1 qubit per evidence channel  (8 total)</a:t>
            </a:r>
            <a:endParaRPr/>
          </a:p>
        </p:txBody>
      </p:sp>
      <p:sp>
        <p:nvSpPr>
          <p:cNvPr id="429" name="Google Shape;429;p18"/>
          <p:cNvSpPr txBox="1"/>
          <p:nvPr/>
        </p:nvSpPr>
        <p:spPr>
          <a:xfrm>
            <a:off x="4791455" y="294436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ENTGL.</a:t>
            </a:r>
            <a:endParaRPr/>
          </a:p>
        </p:txBody>
      </p:sp>
      <p:sp>
        <p:nvSpPr>
          <p:cNvPr id="430" name="Google Shape;430;p18"/>
          <p:cNvSpPr txBox="1"/>
          <p:nvPr/>
        </p:nvSpPr>
        <p:spPr>
          <a:xfrm>
            <a:off x="5669279" y="2944368"/>
            <a:ext cx="305409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3x(RY.RZ + CNOT ring)  -&gt;  2^8 Hilbert space</a:t>
            </a:r>
            <a:endParaRPr/>
          </a:p>
        </p:txBody>
      </p:sp>
      <p:sp>
        <p:nvSpPr>
          <p:cNvPr id="431" name="Google Shape;431;p18"/>
          <p:cNvSpPr txBox="1"/>
          <p:nvPr/>
        </p:nvSpPr>
        <p:spPr>
          <a:xfrm>
            <a:off x="4791455" y="34198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READ</a:t>
            </a:r>
            <a:endParaRPr/>
          </a:p>
        </p:txBody>
      </p:sp>
      <p:sp>
        <p:nvSpPr>
          <p:cNvPr id="432" name="Google Shape;432;p18"/>
          <p:cNvSpPr txBox="1"/>
          <p:nvPr/>
        </p:nvSpPr>
        <p:spPr>
          <a:xfrm>
            <a:off x="5669279" y="3419856"/>
            <a:ext cx="305409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&lt;Zi&gt;  -&gt;  linear head  -&gt;  6-dx calibrated posterior</a:t>
            </a:r>
            <a:endParaRPr/>
          </a:p>
        </p:txBody>
      </p:sp>
      <p:sp>
        <p:nvSpPr>
          <p:cNvPr id="433" name="Google Shape;433;p18"/>
          <p:cNvSpPr/>
          <p:nvPr/>
        </p:nvSpPr>
        <p:spPr>
          <a:xfrm>
            <a:off x="4663440" y="3877056"/>
            <a:ext cx="960120" cy="237744"/>
          </a:xfrm>
          <a:prstGeom prst="roundRect">
            <a:avLst>
              <a:gd name="adj" fmla="val 16667"/>
            </a:avLst>
          </a:prstGeom>
          <a:solidFill>
            <a:srgbClr val="D6EBF7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4663440" y="3913632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8 qubits</a:t>
            </a:r>
            <a:endParaRPr/>
          </a:p>
        </p:txBody>
      </p:sp>
      <p:sp>
        <p:nvSpPr>
          <p:cNvPr id="435" name="Google Shape;435;p18"/>
          <p:cNvSpPr/>
          <p:nvPr/>
        </p:nvSpPr>
        <p:spPr>
          <a:xfrm>
            <a:off x="5669279" y="3877056"/>
            <a:ext cx="960120" cy="237744"/>
          </a:xfrm>
          <a:prstGeom prst="roundRect">
            <a:avLst>
              <a:gd name="adj" fmla="val 16667"/>
            </a:avLst>
          </a:prstGeom>
          <a:solidFill>
            <a:srgbClr val="D6EBF7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6" name="Google Shape;436;p18"/>
          <p:cNvSpPr txBox="1"/>
          <p:nvPr/>
        </p:nvSpPr>
        <p:spPr>
          <a:xfrm>
            <a:off x="5669279" y="3913632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48 params</a:t>
            </a:r>
            <a:endParaRPr/>
          </a:p>
        </p:txBody>
      </p:sp>
      <p:sp>
        <p:nvSpPr>
          <p:cNvPr id="437" name="Google Shape;437;p18"/>
          <p:cNvSpPr/>
          <p:nvPr/>
        </p:nvSpPr>
        <p:spPr>
          <a:xfrm>
            <a:off x="6675120" y="3877056"/>
            <a:ext cx="960120" cy="237744"/>
          </a:xfrm>
          <a:prstGeom prst="roundRect">
            <a:avLst>
              <a:gd name="adj" fmla="val 16667"/>
            </a:avLst>
          </a:prstGeom>
          <a:solidFill>
            <a:srgbClr val="D6EBF7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8" name="Google Shape;438;p18"/>
          <p:cNvSpPr txBox="1"/>
          <p:nvPr/>
        </p:nvSpPr>
        <p:spPr>
          <a:xfrm>
            <a:off x="6675120" y="3913632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512 shots</a:t>
            </a:r>
            <a:endParaRPr/>
          </a:p>
        </p:txBody>
      </p:sp>
      <p:sp>
        <p:nvSpPr>
          <p:cNvPr id="439" name="Google Shape;439;p18"/>
          <p:cNvSpPr/>
          <p:nvPr/>
        </p:nvSpPr>
        <p:spPr>
          <a:xfrm>
            <a:off x="7680960" y="3877056"/>
            <a:ext cx="960120" cy="237744"/>
          </a:xfrm>
          <a:prstGeom prst="roundRect">
            <a:avLst>
              <a:gd name="adj" fmla="val 16667"/>
            </a:avLst>
          </a:prstGeom>
          <a:solidFill>
            <a:srgbClr val="D6EBF7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0" name="Google Shape;440;p18"/>
          <p:cNvSpPr txBox="1"/>
          <p:nvPr/>
        </p:nvSpPr>
        <p:spPr>
          <a:xfrm>
            <a:off x="7680960" y="3913632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CPU default</a:t>
            </a: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4663440" y="4224528"/>
            <a:ext cx="4096512" cy="1737360"/>
          </a:xfrm>
          <a:prstGeom prst="roundRect">
            <a:avLst>
              <a:gd name="adj" fmla="val 16667"/>
            </a:avLst>
          </a:prstGeom>
          <a:solidFill>
            <a:srgbClr val="E8F8F5"/>
          </a:solidFill>
          <a:ln w="95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2" name="Google Shape;442;p18"/>
          <p:cNvSpPr txBox="1"/>
          <p:nvPr/>
        </p:nvSpPr>
        <p:spPr>
          <a:xfrm>
            <a:off x="4791455" y="4315968"/>
            <a:ext cx="3822191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FUSION BENCHMARK  --  HELD-OUT TEST</a:t>
            </a:r>
            <a:endParaRPr/>
          </a:p>
        </p:txBody>
      </p:sp>
      <p:sp>
        <p:nvSpPr>
          <p:cNvPr id="443" name="Google Shape;443;p18"/>
          <p:cNvSpPr txBox="1"/>
          <p:nvPr/>
        </p:nvSpPr>
        <p:spPr>
          <a:xfrm>
            <a:off x="4828031" y="4608576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METRIC</a:t>
            </a:r>
            <a:endParaRPr/>
          </a:p>
        </p:txBody>
      </p:sp>
      <p:sp>
        <p:nvSpPr>
          <p:cNvPr id="444" name="Google Shape;444;p18"/>
          <p:cNvSpPr txBox="1"/>
          <p:nvPr/>
        </p:nvSpPr>
        <p:spPr>
          <a:xfrm>
            <a:off x="6016751" y="4608576"/>
            <a:ext cx="95097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QUANTUM</a:t>
            </a:r>
            <a:endParaRPr/>
          </a:p>
        </p:txBody>
      </p:sp>
      <p:sp>
        <p:nvSpPr>
          <p:cNvPr id="445" name="Google Shape;445;p18"/>
          <p:cNvSpPr txBox="1"/>
          <p:nvPr/>
        </p:nvSpPr>
        <p:spPr>
          <a:xfrm>
            <a:off x="7059168" y="4608576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CLASSICAL</a:t>
            </a:r>
            <a:endParaRPr/>
          </a:p>
        </p:txBody>
      </p:sp>
      <p:sp>
        <p:nvSpPr>
          <p:cNvPr id="446" name="Google Shape;446;p18"/>
          <p:cNvSpPr txBox="1"/>
          <p:nvPr/>
        </p:nvSpPr>
        <p:spPr>
          <a:xfrm>
            <a:off x="7973567" y="4608576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VERDICT</a:t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4736592" y="4828032"/>
            <a:ext cx="3913632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8" name="Google Shape;448;p18"/>
          <p:cNvSpPr txBox="1"/>
          <p:nvPr/>
        </p:nvSpPr>
        <p:spPr>
          <a:xfrm>
            <a:off x="4828031" y="4882896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Accuracy</a:t>
            </a:r>
            <a:endParaRPr/>
          </a:p>
        </p:txBody>
      </p:sp>
      <p:sp>
        <p:nvSpPr>
          <p:cNvPr id="449" name="Google Shape;449;p18"/>
          <p:cNvSpPr txBox="1"/>
          <p:nvPr/>
        </p:nvSpPr>
        <p:spPr>
          <a:xfrm>
            <a:off x="6016751" y="4882896"/>
            <a:ext cx="95097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0.87</a:t>
            </a:r>
            <a:endParaRPr/>
          </a:p>
        </p:txBody>
      </p:sp>
      <p:sp>
        <p:nvSpPr>
          <p:cNvPr id="450" name="Google Shape;450;p18"/>
          <p:cNvSpPr txBox="1"/>
          <p:nvPr/>
        </p:nvSpPr>
        <p:spPr>
          <a:xfrm>
            <a:off x="7059168" y="4882896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0.85</a:t>
            </a:r>
            <a:endParaRPr/>
          </a:p>
        </p:txBody>
      </p:sp>
      <p:sp>
        <p:nvSpPr>
          <p:cNvPr id="451" name="Google Shape;451;p18"/>
          <p:cNvSpPr txBox="1"/>
          <p:nvPr/>
        </p:nvSpPr>
        <p:spPr>
          <a:xfrm>
            <a:off x="7955279" y="4882896"/>
            <a:ext cx="73151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QC wins</a:t>
            </a:r>
            <a:endParaRPr/>
          </a:p>
        </p:txBody>
      </p:sp>
      <p:sp>
        <p:nvSpPr>
          <p:cNvPr id="452" name="Google Shape;452;p18"/>
          <p:cNvSpPr txBox="1"/>
          <p:nvPr/>
        </p:nvSpPr>
        <p:spPr>
          <a:xfrm>
            <a:off x="4828031" y="5193792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ECE (lower)</a:t>
            </a:r>
            <a:endParaRPr/>
          </a:p>
        </p:txBody>
      </p:sp>
      <p:sp>
        <p:nvSpPr>
          <p:cNvPr id="453" name="Google Shape;453;p18"/>
          <p:cNvSpPr txBox="1"/>
          <p:nvPr/>
        </p:nvSpPr>
        <p:spPr>
          <a:xfrm>
            <a:off x="6016751" y="5193792"/>
            <a:ext cx="95097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0.031</a:t>
            </a:r>
            <a:endParaRPr/>
          </a:p>
        </p:txBody>
      </p:sp>
      <p:sp>
        <p:nvSpPr>
          <p:cNvPr id="454" name="Google Shape;454;p18"/>
          <p:cNvSpPr txBox="1"/>
          <p:nvPr/>
        </p:nvSpPr>
        <p:spPr>
          <a:xfrm>
            <a:off x="7059168" y="5193792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0.048</a:t>
            </a:r>
            <a:endParaRPr/>
          </a:p>
        </p:txBody>
      </p:sp>
      <p:sp>
        <p:nvSpPr>
          <p:cNvPr id="455" name="Google Shape;455;p18"/>
          <p:cNvSpPr txBox="1"/>
          <p:nvPr/>
        </p:nvSpPr>
        <p:spPr>
          <a:xfrm>
            <a:off x="7955279" y="5193792"/>
            <a:ext cx="73151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35% better</a:t>
            </a: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4736592" y="5449824"/>
            <a:ext cx="3913632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7" name="Google Shape;457;p18"/>
          <p:cNvSpPr txBox="1"/>
          <p:nvPr/>
        </p:nvSpPr>
        <p:spPr>
          <a:xfrm>
            <a:off x="4828031" y="5504688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Coverage@90%</a:t>
            </a:r>
            <a:endParaRPr/>
          </a:p>
        </p:txBody>
      </p:sp>
      <p:sp>
        <p:nvSpPr>
          <p:cNvPr id="458" name="Google Shape;458;p18"/>
          <p:cNvSpPr txBox="1"/>
          <p:nvPr/>
        </p:nvSpPr>
        <p:spPr>
          <a:xfrm>
            <a:off x="6016751" y="5504688"/>
            <a:ext cx="95097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0.91</a:t>
            </a:r>
            <a:endParaRPr/>
          </a:p>
        </p:txBody>
      </p:sp>
      <p:sp>
        <p:nvSpPr>
          <p:cNvPr id="459" name="Google Shape;459;p18"/>
          <p:cNvSpPr txBox="1"/>
          <p:nvPr/>
        </p:nvSpPr>
        <p:spPr>
          <a:xfrm>
            <a:off x="7059168" y="5504688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0.88</a:t>
            </a:r>
            <a:endParaRPr/>
          </a:p>
        </p:txBody>
      </p:sp>
      <p:sp>
        <p:nvSpPr>
          <p:cNvPr id="460" name="Google Shape;460;p18"/>
          <p:cNvSpPr txBox="1"/>
          <p:nvPr/>
        </p:nvSpPr>
        <p:spPr>
          <a:xfrm>
            <a:off x="7955279" y="5504688"/>
            <a:ext cx="73151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QC wins</a:t>
            </a:r>
            <a:endParaRPr/>
          </a:p>
        </p:txBody>
      </p:sp>
      <p:sp>
        <p:nvSpPr>
          <p:cNvPr id="461" name="Google Shape;461;p18"/>
          <p:cNvSpPr txBox="1"/>
          <p:nvPr/>
        </p:nvSpPr>
        <p:spPr>
          <a:xfrm>
            <a:off x="4791455" y="5779008"/>
            <a:ext cx="382219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-&gt; quantum path ships this build  (V)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19" descr="C:\Users\Admin\Downloads\1764679326535-Photoroo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8831" y="35671"/>
            <a:ext cx="1285884" cy="128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9" descr="C:\Users\Admin\Downloads\RI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062" y="285704"/>
            <a:ext cx="3043364" cy="785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19" descr="C:\Users\Admin\Downloads\IBM_logo.sv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0312" y="357139"/>
            <a:ext cx="1528257" cy="57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19" descr="C:\Users\Admin\Downloads\logo-nqm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9518" y="249994"/>
            <a:ext cx="710054" cy="785794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9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6196026" cy="23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i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RIT – QUANT-A-THAN 2026 (Innovate, Build, Transform)</a:t>
            </a:r>
            <a:endParaRPr/>
          </a:p>
        </p:txBody>
      </p:sp>
      <p:pic>
        <p:nvPicPr>
          <p:cNvPr id="472" name="Google Shape;472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8734" y="285704"/>
            <a:ext cx="866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9"/>
          <p:cNvSpPr txBox="1"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06  .  IMPACT &amp; THE ASK</a:t>
            </a:r>
            <a:endParaRPr/>
          </a:p>
        </p:txBody>
      </p:sp>
      <p:sp>
        <p:nvSpPr>
          <p:cNvPr id="474" name="Google Shape;474;p19"/>
          <p:cNvSpPr txBox="1"/>
          <p:nvPr/>
        </p:nvSpPr>
        <p:spPr>
          <a:xfrm>
            <a:off x="365760" y="138988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Quantum intelligence understands what AI only predicts</a:t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365760" y="1993392"/>
            <a:ext cx="1975104" cy="10789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D354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6" name="Google Shape;476;p19"/>
          <p:cNvSpPr txBox="1"/>
          <p:nvPr/>
        </p:nvSpPr>
        <p:spPr>
          <a:xfrm>
            <a:off x="475488" y="2048256"/>
            <a:ext cx="177393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i="0">
                <a:solidFill>
                  <a:srgbClr val="D35400"/>
                </a:solidFill>
                <a:latin typeface="Georgia"/>
                <a:ea typeface="Georgia"/>
                <a:cs typeface="Georgia"/>
                <a:sym typeface="Georgia"/>
              </a:rPr>
              <a:t>$110B</a:t>
            </a:r>
            <a:endParaRPr/>
          </a:p>
        </p:txBody>
      </p:sp>
      <p:sp>
        <p:nvSpPr>
          <p:cNvPr id="477" name="Google Shape;477;p19"/>
          <p:cNvSpPr txBox="1"/>
          <p:nvPr/>
        </p:nvSpPr>
        <p:spPr>
          <a:xfrm>
            <a:off x="475488" y="2670048"/>
            <a:ext cx="17739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TAM  Healthcare AI 2030</a:t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2450592" y="1993392"/>
            <a:ext cx="1975104" cy="10789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9" name="Google Shape;479;p19"/>
          <p:cNvSpPr txBox="1"/>
          <p:nvPr/>
        </p:nvSpPr>
        <p:spPr>
          <a:xfrm>
            <a:off x="2560320" y="2048256"/>
            <a:ext cx="177393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$2.27B</a:t>
            </a:r>
            <a:endParaRPr/>
          </a:p>
        </p:txBody>
      </p:sp>
      <p:sp>
        <p:nvSpPr>
          <p:cNvPr id="480" name="Google Shape;480;p19"/>
          <p:cNvSpPr txBox="1"/>
          <p:nvPr/>
        </p:nvSpPr>
        <p:spPr>
          <a:xfrm>
            <a:off x="2560320" y="2670048"/>
            <a:ext cx="17739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SAM  Radiology AI 2030</a:t>
            </a: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4535424" y="1993392"/>
            <a:ext cx="1975104" cy="10789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2" name="Google Shape;482;p19"/>
          <p:cNvSpPr txBox="1"/>
          <p:nvPr/>
        </p:nvSpPr>
        <p:spPr>
          <a:xfrm>
            <a:off x="4645152" y="2048256"/>
            <a:ext cx="177393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37.9%</a:t>
            </a:r>
            <a:endParaRPr/>
          </a:p>
        </p:txBody>
      </p:sp>
      <p:sp>
        <p:nvSpPr>
          <p:cNvPr id="483" name="Google Shape;483;p19"/>
          <p:cNvSpPr txBox="1"/>
          <p:nvPr/>
        </p:nvSpPr>
        <p:spPr>
          <a:xfrm>
            <a:off x="4645152" y="2670048"/>
            <a:ext cx="17739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Quantum-in-HC CAGR</a:t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6620256" y="1993392"/>
            <a:ext cx="1975104" cy="10789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 cap="flat" cmpd="sng">
            <a:solidFill>
              <a:srgbClr val="556B8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5" name="Google Shape;485;p19"/>
          <p:cNvSpPr txBox="1"/>
          <p:nvPr/>
        </p:nvSpPr>
        <p:spPr>
          <a:xfrm>
            <a:off x="6729984" y="2048256"/>
            <a:ext cx="177393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~$55M</a:t>
            </a:r>
            <a:endParaRPr/>
          </a:p>
        </p:txBody>
      </p:sp>
      <p:sp>
        <p:nvSpPr>
          <p:cNvPr id="486" name="Google Shape;486;p19"/>
          <p:cNvSpPr txBox="1"/>
          <p:nvPr/>
        </p:nvSpPr>
        <p:spPr>
          <a:xfrm>
            <a:off x="6729984" y="2670048"/>
            <a:ext cx="17739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0" i="0">
                <a:solidFill>
                  <a:srgbClr val="556B82"/>
                </a:solidFill>
                <a:latin typeface="Georgia"/>
                <a:ea typeface="Georgia"/>
                <a:cs typeface="Georgia"/>
                <a:sym typeface="Georgia"/>
              </a:rPr>
              <a:t>SOM at 2-3% of SAM</a:t>
            </a:r>
            <a:endParaRPr/>
          </a:p>
        </p:txBody>
      </p:sp>
      <p:sp>
        <p:nvSpPr>
          <p:cNvPr id="487" name="Google Shape;487;p19"/>
          <p:cNvSpPr txBox="1"/>
          <p:nvPr/>
        </p:nvSpPr>
        <p:spPr>
          <a:xfrm>
            <a:off x="365760" y="614476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00" b="0" i="1">
                <a:solidFill>
                  <a:srgbClr val="99AABB"/>
                </a:solidFill>
                <a:latin typeface="Georgia"/>
                <a:ea typeface="Georgia"/>
                <a:cs typeface="Georgia"/>
                <a:sym typeface="Georgia"/>
              </a:rPr>
              <a:t>MarketsandMarkets 2025  .  SOM illustrative at 2-3% of SAM</a:t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365760" y="3218688"/>
            <a:ext cx="4133087" cy="1463040"/>
          </a:xfrm>
          <a:prstGeom prst="roundRect">
            <a:avLst>
              <a:gd name="adj" fmla="val 16667"/>
            </a:avLst>
          </a:prstGeom>
          <a:solidFill>
            <a:srgbClr val="E8F8F5"/>
          </a:solidFill>
          <a:ln w="9525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9" name="Google Shape;489;p19"/>
          <p:cNvSpPr txBox="1"/>
          <p:nvPr/>
        </p:nvSpPr>
        <p:spPr>
          <a:xfrm>
            <a:off x="493776" y="3310128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WHAT CHANGES</a:t>
            </a:r>
            <a:endParaRPr/>
          </a:p>
        </p:txBody>
      </p:sp>
      <p:sp>
        <p:nvSpPr>
          <p:cNvPr id="490" name="Google Shape;490;p19"/>
          <p:cNvSpPr txBox="1"/>
          <p:nvPr/>
        </p:nvSpPr>
        <p:spPr>
          <a:xfrm>
            <a:off x="493776" y="362102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HOSPITALS</a:t>
            </a:r>
            <a:endParaRPr/>
          </a:p>
        </p:txBody>
      </p:sp>
      <p:sp>
        <p:nvSpPr>
          <p:cNvPr id="491" name="Google Shape;491;p19"/>
          <p:cNvSpPr txBox="1"/>
          <p:nvPr/>
        </p:nvSpPr>
        <p:spPr>
          <a:xfrm>
            <a:off x="1481328" y="3621024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Worklists triaged by uncertainty -- high-risk cases surface first</a:t>
            </a:r>
            <a:endParaRPr/>
          </a:p>
        </p:txBody>
      </p:sp>
      <p:sp>
        <p:nvSpPr>
          <p:cNvPr id="492" name="Google Shape;492;p19"/>
          <p:cNvSpPr txBox="1"/>
          <p:nvPr/>
        </p:nvSpPr>
        <p:spPr>
          <a:xfrm>
            <a:off x="493776" y="396849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PATIENTS</a:t>
            </a:r>
            <a:endParaRPr/>
          </a:p>
        </p:txBody>
      </p:sp>
      <p:sp>
        <p:nvSpPr>
          <p:cNvPr id="493" name="Google Shape;493;p19"/>
          <p:cNvSpPr txBox="1"/>
          <p:nvPr/>
        </p:nvSpPr>
        <p:spPr>
          <a:xfrm>
            <a:off x="1481328" y="3968496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Fewer redundant scans, faster definitive answers</a:t>
            </a:r>
            <a:endParaRPr/>
          </a:p>
        </p:txBody>
      </p:sp>
      <p:sp>
        <p:nvSpPr>
          <p:cNvPr id="494" name="Google Shape;494;p19"/>
          <p:cNvSpPr txBox="1"/>
          <p:nvPr/>
        </p:nvSpPr>
        <p:spPr>
          <a:xfrm>
            <a:off x="493776" y="43159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SYSTEM</a:t>
            </a:r>
            <a:endParaRPr/>
          </a:p>
        </p:txBody>
      </p:sp>
      <p:sp>
        <p:nvSpPr>
          <p:cNvPr id="495" name="Google Shape;495;p19"/>
          <p:cNvSpPr txBox="1"/>
          <p:nvPr/>
        </p:nvSpPr>
        <p:spPr>
          <a:xfrm>
            <a:off x="1481328" y="4315968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Attacks 12M US diagnostic errors/yr -- AI abstains, never fails silently</a:t>
            </a:r>
            <a:endParaRPr/>
          </a:p>
        </p:txBody>
      </p:sp>
      <p:sp>
        <p:nvSpPr>
          <p:cNvPr id="496" name="Google Shape;496;p19"/>
          <p:cNvSpPr/>
          <p:nvPr/>
        </p:nvSpPr>
        <p:spPr>
          <a:xfrm>
            <a:off x="4681728" y="3218688"/>
            <a:ext cx="4096512" cy="146304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9525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7" name="Google Shape;497;p19"/>
          <p:cNvSpPr txBox="1"/>
          <p:nvPr/>
        </p:nvSpPr>
        <p:spPr>
          <a:xfrm>
            <a:off x="4809744" y="3310128"/>
            <a:ext cx="3822191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ROADMAP</a:t>
            </a:r>
            <a:endParaRPr/>
          </a:p>
        </p:txBody>
      </p:sp>
      <p:sp>
        <p:nvSpPr>
          <p:cNvPr id="498" name="Google Shape;498;p19"/>
          <p:cNvSpPr txBox="1"/>
          <p:nvPr/>
        </p:nvSpPr>
        <p:spPr>
          <a:xfrm>
            <a:off x="4809744" y="36576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2026</a:t>
            </a:r>
            <a:endParaRPr/>
          </a:p>
        </p:txBody>
      </p:sp>
      <p:sp>
        <p:nvSpPr>
          <p:cNvPr id="499" name="Google Shape;499;p19"/>
          <p:cNvSpPr txBox="1"/>
          <p:nvPr/>
        </p:nvSpPr>
        <p:spPr>
          <a:xfrm>
            <a:off x="4754880" y="3950208"/>
            <a:ext cx="107899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Clinical pilot</a:t>
            </a:r>
            <a:endParaRPr/>
          </a:p>
        </p:txBody>
      </p:sp>
      <p:sp>
        <p:nvSpPr>
          <p:cNvPr id="500" name="Google Shape;500;p19"/>
          <p:cNvSpPr txBox="1"/>
          <p:nvPr/>
        </p:nvSpPr>
        <p:spPr>
          <a:xfrm>
            <a:off x="5815583" y="36576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2027</a:t>
            </a:r>
            <a:endParaRPr/>
          </a:p>
        </p:txBody>
      </p:sp>
      <p:sp>
        <p:nvSpPr>
          <p:cNvPr id="501" name="Google Shape;501;p19"/>
          <p:cNvSpPr txBox="1"/>
          <p:nvPr/>
        </p:nvSpPr>
        <p:spPr>
          <a:xfrm>
            <a:off x="5760720" y="3950208"/>
            <a:ext cx="107899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Quantum federated learning</a:t>
            </a:r>
            <a:endParaRPr/>
          </a:p>
        </p:txBody>
      </p:sp>
      <p:sp>
        <p:nvSpPr>
          <p:cNvPr id="502" name="Google Shape;502;p19"/>
          <p:cNvSpPr txBox="1"/>
          <p:nvPr/>
        </p:nvSpPr>
        <p:spPr>
          <a:xfrm>
            <a:off x="6821424" y="36576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D35400"/>
                </a:solidFill>
                <a:latin typeface="Georgia"/>
                <a:ea typeface="Georgia"/>
                <a:cs typeface="Georgia"/>
                <a:sym typeface="Georgia"/>
              </a:rPr>
              <a:t>2028</a:t>
            </a:r>
            <a:endParaRPr/>
          </a:p>
        </p:txBody>
      </p:sp>
      <p:sp>
        <p:nvSpPr>
          <p:cNvPr id="503" name="Google Shape;503;p19"/>
          <p:cNvSpPr txBox="1"/>
          <p:nvPr/>
        </p:nvSpPr>
        <p:spPr>
          <a:xfrm>
            <a:off x="6766560" y="3950208"/>
            <a:ext cx="107899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Hardware QPU kernels</a:t>
            </a:r>
            <a:endParaRPr/>
          </a:p>
        </p:txBody>
      </p:sp>
      <p:sp>
        <p:nvSpPr>
          <p:cNvPr id="504" name="Google Shape;504;p19"/>
          <p:cNvSpPr txBox="1"/>
          <p:nvPr/>
        </p:nvSpPr>
        <p:spPr>
          <a:xfrm>
            <a:off x="7827264" y="36576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i="0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2029</a:t>
            </a:r>
            <a:endParaRPr/>
          </a:p>
        </p:txBody>
      </p:sp>
      <p:sp>
        <p:nvSpPr>
          <p:cNvPr id="505" name="Google Shape;505;p19"/>
          <p:cNvSpPr txBox="1"/>
          <p:nvPr/>
        </p:nvSpPr>
        <p:spPr>
          <a:xfrm>
            <a:off x="7772400" y="3950208"/>
            <a:ext cx="107899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50" b="0" i="0">
                <a:solidFill>
                  <a:srgbClr val="0E1A2D"/>
                </a:solidFill>
                <a:latin typeface="Georgia"/>
                <a:ea typeface="Georgia"/>
                <a:cs typeface="Georgia"/>
                <a:sym typeface="Georgia"/>
              </a:rPr>
              <a:t>ICU real-time agents</a:t>
            </a:r>
            <a:endParaRPr/>
          </a:p>
        </p:txBody>
      </p:sp>
      <p:sp>
        <p:nvSpPr>
          <p:cNvPr id="506" name="Google Shape;506;p19"/>
          <p:cNvSpPr/>
          <p:nvPr/>
        </p:nvSpPr>
        <p:spPr>
          <a:xfrm>
            <a:off x="365760" y="4809744"/>
            <a:ext cx="8412480" cy="896112"/>
          </a:xfrm>
          <a:prstGeom prst="roundRect">
            <a:avLst>
              <a:gd name="adj" fmla="val 16667"/>
            </a:avLst>
          </a:prstGeom>
          <a:solidFill>
            <a:srgbClr val="0E1A2D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7" name="Google Shape;507;p19"/>
          <p:cNvSpPr txBox="1"/>
          <p:nvPr/>
        </p:nvSpPr>
        <p:spPr>
          <a:xfrm>
            <a:off x="548640" y="4864608"/>
            <a:ext cx="8065007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i="0">
                <a:solidFill>
                  <a:srgbClr val="B0C8FF"/>
                </a:solidFill>
                <a:latin typeface="Georgia"/>
                <a:ea typeface="Georgia"/>
                <a:cs typeface="Georgia"/>
                <a:sym typeface="Georgia"/>
              </a:rPr>
              <a:t>Artificial intelligence predicts.   Clinical intelligence reasons.  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Quantum intelligence understands.</a:t>
            </a:r>
            <a:endParaRPr/>
          </a:p>
        </p:txBody>
      </p:sp>
      <p:sp>
        <p:nvSpPr>
          <p:cNvPr id="508" name="Google Shape;508;p19"/>
          <p:cNvSpPr/>
          <p:nvPr/>
        </p:nvSpPr>
        <p:spPr>
          <a:xfrm>
            <a:off x="365760" y="5779008"/>
            <a:ext cx="8412480" cy="310896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  <a:effectLst>
            <a:outerShdw blurRad="508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9" name="Google Shape;509;p19"/>
          <p:cNvSpPr txBox="1"/>
          <p:nvPr/>
        </p:nvSpPr>
        <p:spPr>
          <a:xfrm>
            <a:off x="365760" y="5833872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50" b="1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AURA  .  every claim cited &amp; reproducible  .  live demo on request  .  Sivaguru R.M  .  sivagurumurugan1@gmail.com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ivic">
  <a:themeElements>
    <a:clrScheme name="Opulent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2077</Words>
  <Application>Microsoft Office PowerPoint</Application>
  <PresentationFormat>On-screen Show (4:3)</PresentationFormat>
  <Paragraphs>242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Rounded</vt:lpstr>
      <vt:lpstr>Calibri</vt:lpstr>
      <vt:lpstr>Georgia</vt:lpstr>
      <vt:lpstr>Noto Sans Symbols</vt:lpstr>
      <vt:lpstr>Civic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SivaGuru R.M</cp:lastModifiedBy>
  <cp:revision>1</cp:revision>
  <dcterms:modified xsi:type="dcterms:W3CDTF">2026-07-09T09:40:00Z</dcterms:modified>
</cp:coreProperties>
</file>