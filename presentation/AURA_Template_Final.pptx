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5"/>
    <p:sldId id="264" r:id="rId16"/>
    <p:sldId id="260" r:id="rId6"/>
    <p:sldId id="261" r:id="rId7"/>
    <p:sldId id="262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1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6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Guru R.M" userId="e674c2f0a14809d6" providerId="LiveId" clId="{9A2ADA51-0AAB-4492-A1B7-40FAACCD7850}"/>
    <pc:docChg chg="modSld">
      <pc:chgData name="SivaGuru R.M" userId="e674c2f0a14809d6" providerId="LiveId" clId="{9A2ADA51-0AAB-4492-A1B7-40FAACCD7850}" dt="2026-07-09T09:39:52.675" v="93" actId="20577"/>
      <pc:docMkLst>
        <pc:docMk/>
      </pc:docMkLst>
      <pc:sldChg chg="modSp mod">
        <pc:chgData name="SivaGuru R.M" userId="e674c2f0a14809d6" providerId="LiveId" clId="{9A2ADA51-0AAB-4492-A1B7-40FAACCD7850}" dt="2026-07-09T09:39:52.675" v="93" actId="20577"/>
        <pc:sldMkLst>
          <pc:docMk/>
          <pc:sldMk cId="0" sldId="256"/>
        </pc:sldMkLst>
        <pc:spChg chg="mod">
          <ac:chgData name="SivaGuru R.M" userId="e674c2f0a14809d6" providerId="LiveId" clId="{9A2ADA51-0AAB-4492-A1B7-40FAACCD7850}" dt="2026-07-09T09:39:52.675" v="93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SivaGuru R.M" userId="e674c2f0a14809d6" providerId="LiveId" clId="{9A2ADA51-0AAB-4492-A1B7-40FAACCD7850}" dt="2026-07-09T09:39:07.286" v="34" actId="20577"/>
          <ac:spMkLst>
            <pc:docMk/>
            <pc:sldMk cId="0" sldId="256"/>
            <ac:spMk id="17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 ·  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Sivaguru; this is AURA. One line: hospitals do not trust black-box AI - so we built an AI that reasons, calibrates its doubt, and plans the next step, like a clinician. Everything you will see is running code.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problem + solution landed in 10 seconds - checklist item one, done on slide one.</a:t>
            </a:r>
            <a:endParaRPr/>
          </a:p>
        </p:txBody>
      </p:sp>
      <p:sp>
        <p:nvSpPr>
          <p:cNvPr id="165" name="Google Shape;1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— THE $2.27B AI GRAVEYARD  ·  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is a solved problem — benchmark models already match expert radiologists. The bottleneck is trust: without it, even a 95%-accurate model sits unused at the bedside. Decompose why, and you get four failures a clinician can't accept — no WHY (black-box outputs, cognitive load, medical liability), no HOW-SURE (no uncertainty quantification, alert fatigue), no WHAT-IF (no counterfactual reasoning, silent edge-case failure), no WHAT-NEXT (a static score, not a workflow-integrated pathway). That is the $2.27B graveyard: 950+ FDA-cleared tools, every one a prediction calculator with no clinical reasoning layer. AURA is that layer — it demystifies the read, quantifies uncertainty, and drives the next action. The doctor decides.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accuracy is table stakes; trust is the unserved, buildable market.</a:t>
            </a:r>
            <a:endParaRPr/>
          </a:p>
        </p:txBody>
      </p:sp>
      <p:sp>
        <p:nvSpPr>
          <p:cNvPr id="183" name="Google Shape;18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PRODUCT  ·  1:20  - this slide IS the prototype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doctor's screen, running on localhost right now. Left: the study with saliency - where the model looked - and the dashed counterfactual region: remove that, the diagnosis flips. Middle: a calibrated differential, not one score - plus the 90% conformal set and the uncertainty split: epistemic versus aleatoric, in distribution check. Right: the next-best-evidence panel - CT resolves more entropy, but the repeat X-ray wins on information per rupee - and the grounded report, where every sentence carries its evidence chips. And the red badge: if it is not sure, it says so and stops.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they just saw the demo inside the deck - 'prototype in the PPT' achieved. Offer the live run immediately.</a:t>
            </a:r>
            <a:endParaRPr/>
          </a:p>
        </p:txBody>
      </p:sp>
      <p:sp>
        <p:nvSpPr>
          <p:cNvPr id="263" name="Google Shape;2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STACK  ·  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AURA is a machine with three layered tiers: a data foundation, an application tier of independent services behind one FastAPI gateway, and the doctor-facing presentation tier. Modularity is the point: every service is a slot. Our quantum VQC — the glowing magenta QPU — docks into the FUSION bay, and a classical twin sits behind the exact same interface, so whichever wins the benchmark ships with zero code change. Open bays take new services the same way. Cyan is classical infrastructure; magenta is the quantum accelerator. It all runs offline, CPU-only, no PHI leaving the site.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disciplined engineering — quantum is a swappable part, not a bet.</a:t>
            </a:r>
            <a:endParaRPr/>
          </a:p>
        </p:txBody>
      </p:sp>
      <p:sp>
        <p:nvSpPr>
          <p:cNvPr id="314" name="Google Shape;31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 STACK  ·  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actually quantum: an 8-qubit variational circuit in PennyLane. Each of the 8 evidence channels is angle-encoded, RY(pi x); three layers of trainable rotations plus a CNOT ring entangle them, so the model represents higher-order interactions between evidence sources in a 2^8 space with only 48 parameters. We read Pauli-Z expectations into a linear head for a calibrated 6-diagnosis posterior. Efficient by design: 48 params, CPU-only, and finite-shot measurement variance gives uncertainty for free that the safety layer consumes. We never put pixels in a circuit - only the 8-dim compressed evidence, which is exactly why this is tractable on a simulator today and credible on hardware tomorrow. Right panel is the receipt: the quantum path beats its classical twin on the same held-out data, and if it did not, the twin would ship. Every claim is tiered in QUANTUM_STACK.md.</a:t>
            </a:r>
            <a:endParaRPr/>
          </a:p>
        </p:txBody>
      </p:sp>
      <p:sp>
        <p:nvSpPr>
          <p:cNvPr id="385" name="Google Shape;3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+ CLOSE  ·  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Hospitals: uncertainty-triaged worklists. Patients: fewer scans, faster answers. The system: diagnostic error - the costliest failure in medicine. Roadmap is hardware-realistic; nothing depends on a miracle. Then, slowly: AI predicts. Clinical intelligence reasons. Quantum intelligence understands. The system is live - we would love to show you. Thank you.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goosebumps + the urge to say 'show us'.</a:t>
            </a:r>
            <a:endParaRPr/>
          </a:p>
        </p:txBody>
      </p:sp>
      <p:sp>
        <p:nvSpPr>
          <p:cNvPr id="465" name="Google Shape;4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CALIBRATED DOUBT - THE ABSTENTION  .  0:55</a:t>
            </a:r>
          </a:p>
          <a:p>
            <a:r>
              <a:t>Same console, a harder case. Nothing dominates the differential - COPD, pneumonia and heart failure all remain plausible - so the 90% conformal set is large and the uncertainty is high. Instead of guessing, AURA ABSTAINS: it declines to commit and escalates to the radiologist carrying its full uncertainty state - no silent failure. Then it stays useful: the planner ranks the next best test by information gain per cost and risk - prior films, half a bit, free. Authority always stays human. This abstention is the product; it is what no deployed tool does today.</a:t>
            </a:r>
          </a:p>
          <a:p/>
          <a:p>
            <a:r>
              <a:t>JUDGES SHOULD FEEL: this is the moat - it knows what it doesn't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2"/>
          <p:cNvCxnSpPr/>
          <p:nvPr/>
        </p:nvCxnSpPr>
        <p:spPr>
          <a:xfrm>
            <a:off x="155448" y="2420112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4" name="Google Shape;34;p2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2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eorgia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3300"/>
              <a:buFont typeface="Georgia"/>
              <a:buNone/>
              <a:defRPr>
                <a:solidFill>
                  <a:srgbClr val="C25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Georgia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5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7" name="Google Shape;67;p5"/>
          <p:cNvCxnSpPr/>
          <p:nvPr/>
        </p:nvCxnSpPr>
        <p:spPr>
          <a:xfrm>
            <a:off x="152400" y="2438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" name="Google Shape;68;p5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  <a:defRPr sz="42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dt" idx="10"/>
          </p:nvPr>
        </p:nvSpPr>
        <p:spPr>
          <a:xfrm>
            <a:off x="5791200" y="640994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7" name="Google Shape;77;p6"/>
          <p:cNvCxnSpPr/>
          <p:nvPr/>
        </p:nvCxnSpPr>
        <p:spPr>
          <a:xfrm rot="10800000" flipH="1">
            <a:off x="4563080" y="1575652"/>
            <a:ext cx="8921" cy="48195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6"/>
          <p:cNvSpPr txBox="1">
            <a:spLocks noGrp="1"/>
          </p:cNvSpPr>
          <p:nvPr>
            <p:ph type="body" idx="1"/>
          </p:nvPr>
        </p:nvSpPr>
        <p:spPr>
          <a:xfrm>
            <a:off x="301752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8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8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7"/>
          <p:cNvCxnSpPr/>
          <p:nvPr/>
        </p:nvCxnSpPr>
        <p:spPr>
          <a:xfrm rot="10800000">
            <a:off x="4572000" y="2200275"/>
            <a:ext cx="0" cy="41879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2" name="Google Shape;82;p7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2"/>
          </p:nvPr>
        </p:nvSpPr>
        <p:spPr>
          <a:xfrm>
            <a:off x="4791330" y="1524000"/>
            <a:ext cx="4041775" cy="73152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ftr" idx="11"/>
          </p:nvPr>
        </p:nvSpPr>
        <p:spPr>
          <a:xfrm>
            <a:off x="304800" y="6409944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2" name="Google Shape;92;p7"/>
          <p:cNvCxnSpPr/>
          <p:nvPr/>
        </p:nvCxnSpPr>
        <p:spPr>
          <a:xfrm>
            <a:off x="152400" y="128016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3" name="Google Shape;93;p7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3"/>
          </p:nvPr>
        </p:nvSpPr>
        <p:spPr>
          <a:xfrm>
            <a:off x="301752" y="2471383"/>
            <a:ext cx="4041648" cy="381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4"/>
          </p:nvPr>
        </p:nvSpPr>
        <p:spPr>
          <a:xfrm>
            <a:off x="4800600" y="2471383"/>
            <a:ext cx="4038600" cy="382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4343400" y="1042416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  <a:defRPr sz="2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23622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" name="Google Shape;116;p9"/>
          <p:cNvSpPr txBox="1">
            <a:spLocks noGrp="1"/>
          </p:cNvSpPr>
          <p:nvPr>
            <p:ph type="body" idx="2"/>
          </p:nvPr>
        </p:nvSpPr>
        <p:spPr>
          <a:xfrm>
            <a:off x="3124200" y="685800"/>
            <a:ext cx="5638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9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9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0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1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>
            <a:spLocks noGrp="1"/>
          </p:cNvSpPr>
          <p:nvPr>
            <p:ph type="pic" idx="2"/>
          </p:nvPr>
        </p:nvSpPr>
        <p:spPr>
          <a:xfrm>
            <a:off x="3000375" y="609600"/>
            <a:ext cx="58674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243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Font typeface="Georgia"/>
              <a:buNone/>
              <a:defRPr sz="1600">
                <a:solidFill>
                  <a:srgbClr val="FFFFFF"/>
                </a:solidFill>
              </a:defRPr>
            </a:lvl1pPr>
            <a:lvl2pPr marL="914400" lvl="1" indent="-281940" algn="l">
              <a:spcBef>
                <a:spcPts val="1000"/>
              </a:spcBef>
              <a:spcAft>
                <a:spcPts val="0"/>
              </a:spcAft>
              <a:buSzPts val="840"/>
              <a:buChar char="⚪"/>
              <a:defRPr sz="1200"/>
            </a:lvl2pPr>
            <a:lvl3pPr marL="1371600" lvl="2" indent="-276225" algn="l">
              <a:spcBef>
                <a:spcPts val="200"/>
              </a:spcBef>
              <a:spcAft>
                <a:spcPts val="0"/>
              </a:spcAft>
              <a:buSzPts val="750"/>
              <a:buChar char="⯍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🞆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Char char="•"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dt" idx="10"/>
          </p:nvPr>
        </p:nvSpPr>
        <p:spPr>
          <a:xfrm>
            <a:off x="5788152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body" idx="1"/>
          </p:nvPr>
        </p:nvSpPr>
        <p:spPr>
          <a:xfrm rot="5400000">
            <a:off x="2269236" y="-443484"/>
            <a:ext cx="4599432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4" name="Google Shape;154;p12"/>
          <p:cNvCxnSpPr/>
          <p:nvPr/>
        </p:nvCxnSpPr>
        <p:spPr>
          <a:xfrm rot="5400000">
            <a:off x="4021836" y="3278124"/>
            <a:ext cx="6245352" cy="0"/>
          </a:xfrm>
          <a:prstGeom prst="straightConnector1">
            <a:avLst/>
          </a:prstGeom>
          <a:noFill/>
          <a:ln w="95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12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6915912" y="3009901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 rot="5400000">
            <a:off x="670717" y="-61117"/>
            <a:ext cx="58213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 rot="5400000">
            <a:off x="5189538" y="2506664"/>
            <a:ext cx="5851525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152400" y="1276743"/>
            <a:ext cx="8833104" cy="0"/>
          </a:xfrm>
          <a:prstGeom prst="straightConnector1">
            <a:avLst/>
          </a:prstGeom>
          <a:noFill/>
          <a:ln w="95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3300"/>
              <a:buFont typeface="Georgia"/>
              <a:buNone/>
              <a:defRPr sz="3300" b="0" i="0" u="none" strike="noStrike" cap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333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  <a:defRPr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2639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Char char="⚪"/>
              <a:defRPr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⯍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🞆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Georgia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0040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20040" algn="l" rtl="0">
              <a:spcBef>
                <a:spcPts val="320"/>
              </a:spcBef>
              <a:spcAft>
                <a:spcPts val="0"/>
              </a:spcAft>
              <a:buClr>
                <a:srgbClr val="A1355B"/>
              </a:buClr>
              <a:buSzPts val="144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DA9F32"/>
              </a:buClr>
              <a:buSzPts val="160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08610" algn="l" rtl="0">
              <a:spcBef>
                <a:spcPts val="280"/>
              </a:spcBef>
              <a:spcAft>
                <a:spcPts val="0"/>
              </a:spcAft>
              <a:buClr>
                <a:srgbClr val="9659A4"/>
              </a:buClr>
              <a:buSzPts val="126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3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22" y="-214314"/>
            <a:ext cx="2071678" cy="207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 descr="RIT white 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0"/>
            <a:ext cx="5000628" cy="129119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</p:txBody>
      </p:sp>
      <p:pic>
        <p:nvPicPr>
          <p:cNvPr id="170" name="Google Shape;170;p13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8224" y="5885112"/>
            <a:ext cx="1285884" cy="48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14942" y="5572140"/>
            <a:ext cx="1000132" cy="11068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Sivaguru R.</a:t>
            </a:r>
            <a:r>
              <a:rPr lang="en-IN" sz="25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IN" sz="2500" b="1">
                <a:solidFill>
                  <a:schemeClr val="lt1"/>
                </a:solidFill>
              </a:rPr>
              <a:t>Amrita </a:t>
            </a:r>
            <a:r>
              <a:rPr lang="en-IN" sz="2500" b="1" dirty="0">
                <a:solidFill>
                  <a:schemeClr val="lt1"/>
                </a:solidFill>
              </a:rPr>
              <a:t>Vishwa Vidyapeetham</a:t>
            </a:r>
            <a:endParaRPr lang="en-IN" sz="2500" b="1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4" name="Google Shape;17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28384" y="5763447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3"/>
          <p:cNvSpPr txBox="1"/>
          <p:nvPr/>
        </p:nvSpPr>
        <p:spPr>
          <a:xfrm>
            <a:off x="5138928" y="400507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ADAPTIVE UNCERTAINTY-AWARE RADIOLOGY ARCHITECTURE</a:t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4846320" y="4718304"/>
            <a:ext cx="4160520" cy="548640"/>
          </a:xfrm>
          <a:prstGeom prst="roundRect">
            <a:avLst>
              <a:gd name="adj" fmla="val 15000"/>
            </a:avLst>
          </a:prstGeom>
          <a:solidFill>
            <a:srgbClr val="05090E">
              <a:alpha val="67843"/>
            </a:srgbClr>
          </a:solidFill>
          <a:ln w="9525" cap="flat" cmpd="sng">
            <a:solidFill>
              <a:srgbClr val="2DD4B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4956048" y="4791456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IN" sz="8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95%-accurate AI still sits unused - one number isn't an argument.  </a:t>
            </a:r>
            <a:r>
              <a:rPr lang="en-IN" sz="85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IN" sz="8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AURA adds the reasoning layer - it explains its read, calibrates its doubt, and recommends the next test. The doctor decides.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74320" y="431596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>
                <a:solidFill>
                  <a:srgbClr val="B0C8FF"/>
                </a:solidFill>
                <a:latin typeface="Georgia"/>
                <a:ea typeface="Georgia"/>
                <a:cs typeface="Georgia"/>
                <a:sym typeface="Georgia"/>
              </a:rPr>
              <a:t>AI predicts.  Clinical intelligence reasons.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274320" y="468172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4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4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01  .  THE PROBLEM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Why hospitals reject 95%-accurate AI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1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Accuracy is solved since 2017 -- but trust is not.  950+ FDA-cleared tools output a score and stop.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365760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52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493776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950+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93776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FDA-cleared AI tools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493776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Every one is a prediction calculator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that stops at a score -- no reasoning.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163824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152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3291840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$2.27B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3291840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Radiology AI market by 2030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3291840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24.5% CAGR -- massive, chronically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underserved by clinical trust.</a:t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961888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1522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6089904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12M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6089904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Diagnostic errors / yr  (US)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6089904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Misdiagnoses AI could prevent -- if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doctors actually trusted the output.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365760" y="389534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THE 4-GAP AUTOPSY  --  WHAT EVERY DEPLOYED TOOL LACKS</a:t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365760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475488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475488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WHY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475488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Black-box output -- cognitive load + medical-liability exposure. Doctors will not sign what they cannot explain.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2450592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95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2560320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2560320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HOW SURE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560320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Zero uncertainty quantification -- alert fatigue. False confidence drives adoption collapse.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535424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4645152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645152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WHAT IF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4645152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No counterfactual reasoning. Edge cases fail silently. Root causes are invisible.</a:t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6620256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6729984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6729984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WHAT NEXT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6729984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Static score, not a workflow. No recommended follow-up test. Radiologist still works alone.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365760" y="614476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MarketsandMarkets 2025  .  Zech et al. PLOS Med 2018  .  Singh et al. BMJ Quality &amp; Safety  .  FDA CDRH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6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270" name="Google Shape;27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03  .  LIVE DEMO -- THE CLINICAL CONSOLE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Live Demo: Clinical Console in Action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365760" y="197510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localhost:8000  .  AURA Clinical Console  .  quantum ONLINE  .  live worklist in worklist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365760" y="2286000"/>
            <a:ext cx="4133087" cy="3520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493776" y="2377440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HOW THE CONSOLE WORKS  --  6 STEPS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512064" y="2724912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(1) WORKLIST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1874519" y="2724912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live worklist triaged by uncertainty -- high-risk surfaces first.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512064" y="3218688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(2) SALIENCY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1874519" y="321868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Vision model localises finding on CXR (confidence 0.99).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512064" y="3712464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(3) CALIBRATED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1874519" y="3712464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8-qubit quantum fusion, 512 shots -&gt; calibrated differentials.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512064" y="4206240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(4) EVIDENCE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1874519" y="4206240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Each finding contribution explicit; hover for counterfactuals.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512064" y="4700016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(5) SAFETY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1874519" y="4700016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Epistemic 0.09  aleatoric 0.04  .  90% conformal -- abstains if unsure.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512064" y="5193792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(6) SIGN-OFF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1874519" y="5193792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EIG ranks next best test; doctor accepts/edits/signs. Authority human.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365760" y="5888736"/>
            <a:ext cx="8412480" cy="34747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365760" y="59436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 ON REQUEST  .  3 commands  .  2 minutes  .  fully offline &amp; CPU-only  .  ask us to spin it up</a:t>
            </a:r>
            <a:endParaRPr/>
          </a:p>
        </p:txBody>
      </p:sp>
      <p:pic>
        <p:nvPicPr>
          <p:cNvPr id="311" name="Picture 310" descr="proto_conso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2395728"/>
            <a:ext cx="4160520" cy="2600325"/>
          </a:xfrm>
          <a:prstGeom prst="rect">
            <a:avLst/>
          </a:prstGeom>
          <a:ln w="19050">
            <a:solidFill>
              <a:srgbClr val="0D9488"/>
            </a:solidFill>
          </a:ln>
        </p:spPr>
      </p:pic>
      <p:sp>
        <p:nvSpPr>
          <p:cNvPr id="312" name="TextBox 311"/>
          <p:cNvSpPr txBox="1"/>
          <p:nvPr/>
        </p:nvSpPr>
        <p:spPr>
          <a:xfrm>
            <a:off x="4617720" y="5078349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Arial"/>
              </a:rPr>
              <a:t>real console . localhost:8000</a:t>
            </a:r>
            <a:r>
              <a:rPr sz="800" b="0" i="1">
                <a:solidFill>
                  <a:srgbClr val="5B6672"/>
                </a:solidFill>
                <a:latin typeface="Arial"/>
              </a:rPr>
              <a:t>  - not a mockup: every value is live model output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7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7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7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7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321" name="Google Shape;321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04  .  COMPETITIVE MOAT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 does what no deployed tool does today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365760" y="2029968"/>
            <a:ext cx="8412480" cy="365760"/>
          </a:xfrm>
          <a:prstGeom prst="rect">
            <a:avLst/>
          </a:prstGeom>
          <a:solidFill>
            <a:srgbClr val="0E1A2D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438912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CAPABILITY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1975104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FDA TOOLS (950+)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3529584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GPT-4 RADIOLOGY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5084064" y="2084831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MODELS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6656832" y="2084831"/>
            <a:ext cx="204825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AURA (V)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365760" y="2432304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583680" y="2432304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438912" y="2523744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Explainability (WHY)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1975104" y="250545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3529584" y="250545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5084064" y="2505456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6656832" y="2505456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365760" y="2816352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583680" y="2816352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438912" y="2907792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Uncertainty quant.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1975104" y="288950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3529584" y="288950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5084064" y="2889504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6656832" y="2889504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365760" y="3200400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6583680" y="3200400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438912" y="3291840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Counterfactual (WHAT IF)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1975104" y="3273552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3529584" y="3273552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5084064" y="327355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6656832" y="3273552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65760" y="3584448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6583680" y="3584448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438912" y="3675887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Next-best-test rec.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1975104" y="3657600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3529584" y="3657600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5084064" y="3657600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6656832" y="3657600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365760" y="3968496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583680" y="3968496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438912" y="4059935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Abstains when unsure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1975104" y="4041648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3529584" y="4041648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5084064" y="40416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6656832" y="4041648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365760" y="4352544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583680" y="4352544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438912" y="4443983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Offline / CPU-only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1975104" y="442569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Varies</a:t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3529584" y="442569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5084064" y="4425696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6656832" y="4425696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583680" y="4736592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438912" y="4828031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fusion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975104" y="480974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3529584" y="480974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5084064" y="4809744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6656832" y="4809744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6565392" y="2011680"/>
            <a:ext cx="2194560" cy="3090672"/>
          </a:xfrm>
          <a:prstGeom prst="rect">
            <a:avLst/>
          </a:prstGeom>
          <a:noFill/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365760" y="519379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530352" y="5248656"/>
            <a:ext cx="81015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 is the only system combining all 7 capabilities in one offline, CPU-ready clinical console.</a:t>
            </a:r>
            <a:b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Not a research paper. Not an API. A working product -- ask us for the 2-minute demo.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8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8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8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8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8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392" name="Google Shape;392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8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05  .  ARCHITECTURE &amp; QUANTUM STACK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Modular 3-Tier Architecture  +  Quantum Stack</a:t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365760" y="2057400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493776" y="2130552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PRESENTATION</a:t>
            </a:r>
            <a:endParaRPr/>
          </a:p>
        </p:txBody>
      </p:sp>
      <p:sp>
        <p:nvSpPr>
          <p:cNvPr id="397" name="Google Shape;397;p18"/>
          <p:cNvSpPr txBox="1"/>
          <p:nvPr/>
        </p:nvSpPr>
        <p:spPr>
          <a:xfrm>
            <a:off x="493776" y="2368296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doctor dashboard . worklist . case console . report signing</a:t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365760" y="2770632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493776" y="2843784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APPLICATION</a:t>
            </a:r>
            <a:endParaRPr/>
          </a:p>
        </p:txBody>
      </p:sp>
      <p:sp>
        <p:nvSpPr>
          <p:cNvPr id="400" name="Google Shape;400;p18"/>
          <p:cNvSpPr txBox="1"/>
          <p:nvPr/>
        </p:nvSpPr>
        <p:spPr>
          <a:xfrm>
            <a:off x="493776" y="3081528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FastAPI gateway . async event bus . typed Pydantic contracts</a:t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365760" y="3483864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95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493776" y="3557016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AI SERVICES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493776" y="3794760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vision . safety . explain . recommend . report . memory . fusion (QPU)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365760" y="4197096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556B8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493776" y="4270248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DATA LAYER</a:t>
            </a:r>
            <a:endParaRPr/>
          </a:p>
        </p:txBody>
      </p:sp>
      <p:sp>
        <p:nvSpPr>
          <p:cNvPr id="406" name="Google Shape;406;p18"/>
          <p:cNvSpPr txBox="1"/>
          <p:nvPr/>
        </p:nvSpPr>
        <p:spPr>
          <a:xfrm>
            <a:off x="493776" y="450799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audit ledger . case memory . model registry . provenance {seed/circuit/shots}</a:t>
            </a:r>
            <a:endParaRPr/>
          </a:p>
        </p:txBody>
      </p:sp>
      <p:sp>
        <p:nvSpPr>
          <p:cNvPr id="407" name="Google Shape;407;p18"/>
          <p:cNvSpPr txBox="1"/>
          <p:nvPr/>
        </p:nvSpPr>
        <p:spPr>
          <a:xfrm>
            <a:off x="365760" y="4974336"/>
            <a:ext cx="413308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STACK:</a:t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65760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365760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Python 3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1389888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1389888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FastAPI</a:t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414016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2414016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PennyLane</a:t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3438144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5" name="Google Shape;415;p18"/>
          <p:cNvSpPr txBox="1"/>
          <p:nvPr/>
        </p:nvSpPr>
        <p:spPr>
          <a:xfrm>
            <a:off x="3438144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NumPy</a:t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365760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365760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scikit-learn</a:t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1389888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1389888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SciPy</a:t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2414016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2414016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SQLite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3438144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3438144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Pydantic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365760" y="5797296"/>
            <a:ext cx="4133087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Offline-capable . CPU-only . no PHI leaves the site</a:t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663440" y="2057400"/>
            <a:ext cx="4096512" cy="2029968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4791455" y="2148840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QUANTUM CIRCUIT  .  SHIPS TODAY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4791455" y="246888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ENCODE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5669279" y="2468880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RY(pi*xi)  .  1 qubit per evidence channel  (8 total)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4791455" y="29443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ENTGL.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5669279" y="2944368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3x(RY.RZ + CNOT ring)  -&gt;  2^8 Hilbert space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4791455" y="34198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READ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5669279" y="3419856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&lt;Zi&gt;  -&gt;  linear head  -&gt;  6-dx calibrated posterior</a:t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466344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466344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8 qubits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5669279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5669279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48 params</a:t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667512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667512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512 shots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768096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768096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CPU default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663440" y="4224528"/>
            <a:ext cx="4096512" cy="173736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4791455" y="431596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FUSION BENCHMARK  --  HELD-OUT TEST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4828031" y="4608576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METRIC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6016751" y="4608576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QUANTUM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7059168" y="4608576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CLASSICAL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7973567" y="4608576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VERDICT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4736592" y="4828032"/>
            <a:ext cx="3913632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4828031" y="4882896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6016751" y="4882896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0.87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7059168" y="4882896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0.85</a:t>
            </a:r>
            <a:endParaRPr/>
          </a:p>
        </p:txBody>
      </p:sp>
      <p:sp>
        <p:nvSpPr>
          <p:cNvPr id="451" name="Google Shape;451;p18"/>
          <p:cNvSpPr txBox="1"/>
          <p:nvPr/>
        </p:nvSpPr>
        <p:spPr>
          <a:xfrm>
            <a:off x="7955279" y="4882896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QC wins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4828031" y="5193792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ECE (lower)</a:t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6016751" y="5193792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0.031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7059168" y="5193792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0.048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7955279" y="5193792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35% better</a:t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4736592" y="5449824"/>
            <a:ext cx="3913632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18"/>
          <p:cNvSpPr txBox="1"/>
          <p:nvPr/>
        </p:nvSpPr>
        <p:spPr>
          <a:xfrm>
            <a:off x="4828031" y="5504688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Coverage@90%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6016751" y="5504688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0.91</a:t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7059168" y="550468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0.88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7955279" y="5504688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QC wins</a:t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4791455" y="5779008"/>
            <a:ext cx="382219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-&gt; quantum path ships this build  (V)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9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9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472" name="Google Shape;472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9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06  .  IMPACT &amp; THE ASK</a:t>
            </a:r>
            <a:endParaRPr/>
          </a:p>
        </p:txBody>
      </p:sp>
      <p:sp>
        <p:nvSpPr>
          <p:cNvPr id="474" name="Google Shape;474;p19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 what AI only predicts</a:t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365760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475488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$110B</a:t>
            </a:r>
            <a:endParaRPr/>
          </a:p>
        </p:txBody>
      </p:sp>
      <p:sp>
        <p:nvSpPr>
          <p:cNvPr id="477" name="Google Shape;477;p19"/>
          <p:cNvSpPr txBox="1"/>
          <p:nvPr/>
        </p:nvSpPr>
        <p:spPr>
          <a:xfrm>
            <a:off x="475488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TAM  Healthcare AI 2030</a:t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2450592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2560320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$2.27B</a:t>
            </a:r>
            <a:endParaRPr/>
          </a:p>
        </p:txBody>
      </p:sp>
      <p:sp>
        <p:nvSpPr>
          <p:cNvPr id="480" name="Google Shape;480;p19"/>
          <p:cNvSpPr txBox="1"/>
          <p:nvPr/>
        </p:nvSpPr>
        <p:spPr>
          <a:xfrm>
            <a:off x="2560320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SAM  Radiology AI 2030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4535424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4645152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37.9%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4645152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Quantum-in-HC CAGR</a:t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6620256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556B8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6729984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~$55M</a:t>
            </a: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6729984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SOM at 2-3% of SAM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365760" y="614476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MarketsandMarkets 2025  .  SOM illustrative at 2-3% of SAM</a:t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365760" y="3218688"/>
            <a:ext cx="4133087" cy="146304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9" name="Google Shape;489;p19"/>
          <p:cNvSpPr txBox="1"/>
          <p:nvPr/>
        </p:nvSpPr>
        <p:spPr>
          <a:xfrm>
            <a:off x="493776" y="331012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WHAT CHANGES</a:t>
            </a:r>
            <a:endParaRPr/>
          </a:p>
        </p:txBody>
      </p:sp>
      <p:sp>
        <p:nvSpPr>
          <p:cNvPr id="490" name="Google Shape;490;p19"/>
          <p:cNvSpPr txBox="1"/>
          <p:nvPr/>
        </p:nvSpPr>
        <p:spPr>
          <a:xfrm>
            <a:off x="493776" y="36210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HOSPITALS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1481328" y="3621024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Worklists triaged by uncertainty -- high-risk cases surface first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493776" y="39684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PATIENTS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1481328" y="396849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Fewer redundant scans, faster definitive answers</a:t>
            </a:r>
            <a:endParaRPr/>
          </a:p>
        </p:txBody>
      </p:sp>
      <p:sp>
        <p:nvSpPr>
          <p:cNvPr id="494" name="Google Shape;494;p19"/>
          <p:cNvSpPr txBox="1"/>
          <p:nvPr/>
        </p:nvSpPr>
        <p:spPr>
          <a:xfrm>
            <a:off x="493776" y="43159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SYSTEM</a:t>
            </a:r>
            <a:endParaRPr/>
          </a:p>
        </p:txBody>
      </p:sp>
      <p:sp>
        <p:nvSpPr>
          <p:cNvPr id="495" name="Google Shape;495;p19"/>
          <p:cNvSpPr txBox="1"/>
          <p:nvPr/>
        </p:nvSpPr>
        <p:spPr>
          <a:xfrm>
            <a:off x="1481328" y="4315968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Attacks 12M US diagnostic errors/yr -- AI abstains, never fails silently</a:t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4681728" y="3218688"/>
            <a:ext cx="4096512" cy="14630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7" name="Google Shape;497;p19"/>
          <p:cNvSpPr txBox="1"/>
          <p:nvPr/>
        </p:nvSpPr>
        <p:spPr>
          <a:xfrm>
            <a:off x="4809744" y="331012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ROADMAP</a:t>
            </a:r>
            <a:endParaRPr/>
          </a:p>
        </p:txBody>
      </p:sp>
      <p:sp>
        <p:nvSpPr>
          <p:cNvPr id="498" name="Google Shape;498;p19"/>
          <p:cNvSpPr txBox="1"/>
          <p:nvPr/>
        </p:nvSpPr>
        <p:spPr>
          <a:xfrm>
            <a:off x="480974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2026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475488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Clinical pilot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5815583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2027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576072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federated learning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682142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2028</a:t>
            </a:r>
            <a:endParaRPr/>
          </a:p>
        </p:txBody>
      </p:sp>
      <p:sp>
        <p:nvSpPr>
          <p:cNvPr id="503" name="Google Shape;503;p19"/>
          <p:cNvSpPr txBox="1"/>
          <p:nvPr/>
        </p:nvSpPr>
        <p:spPr>
          <a:xfrm>
            <a:off x="676656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Hardware QPU kernels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782726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2029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777240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ICU real-time agents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365760" y="4809744"/>
            <a:ext cx="8412480" cy="896112"/>
          </a:xfrm>
          <a:prstGeom prst="roundRect">
            <a:avLst>
              <a:gd name="adj" fmla="val 16667"/>
            </a:avLst>
          </a:prstGeom>
          <a:solidFill>
            <a:srgbClr val="0E1A2D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7" name="Google Shape;507;p19"/>
          <p:cNvSpPr txBox="1"/>
          <p:nvPr/>
        </p:nvSpPr>
        <p:spPr>
          <a:xfrm>
            <a:off x="548640" y="4864608"/>
            <a:ext cx="8065007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>
                <a:solidFill>
                  <a:srgbClr val="B0C8FF"/>
                </a:solidFill>
                <a:latin typeface="Georgia"/>
                <a:ea typeface="Georgia"/>
                <a:cs typeface="Georgia"/>
                <a:sym typeface="Georgia"/>
              </a:rPr>
              <a:t>Artificial intelligence predicts.   Clinical intelligence reasons.  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understands.</a:t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365760" y="5779008"/>
            <a:ext cx="8412480" cy="31089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365760" y="5833872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AURA  .  every claim cited &amp; reproducible  .  live demo on request  .  Sivaguru R.M  .  sivagurumurugan1@gmail.com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65" name="Google Shape;265;p16" descr="C:\Users\Admin\Downloads\1764679326535-Photoroo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descr="C:\Users\Admin\Downloads\RI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 descr="C:\Users\Admin\Downloads\IBM_logo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 descr="C:\Users\Admin\Downloads\logo-nq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270" name="Google Shape;27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TextBox 270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5B6672"/>
                </a:solidFill>
                <a:latin typeface="Arial"/>
              </a:rPr>
              <a:t>03</a:t>
            </a:r>
            <a:r>
              <a:rPr sz="1100" b="1" i="0" spc="200">
                <a:solidFill>
                  <a:srgbClr val="5B6672"/>
                </a:solidFill>
                <a:latin typeface="Arial"/>
              </a:rPr>
              <a:t>   .   </a:t>
            </a:r>
            <a:r>
              <a:rPr sz="1100" b="1" i="0" spc="200">
                <a:solidFill>
                  <a:srgbClr val="0E7490"/>
                </a:solidFill>
                <a:latin typeface="Arial"/>
              </a:rPr>
              <a:t>CALIBRATED DOUBT - WHEN AURA REFUSES TO GUESS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65760" y="1389888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 spc="-10">
                <a:solidFill>
                  <a:srgbClr val="0F172A"/>
                </a:solidFill>
                <a:latin typeface="Arial"/>
              </a:rPr>
              <a:t>The product is the license to say “I don’t know”</a:t>
            </a:r>
          </a:p>
        </p:txBody>
      </p:sp>
      <p:pic>
        <p:nvPicPr>
          <p:cNvPr id="273" name="Picture 272" descr="proto_abst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1956816"/>
            <a:ext cx="5257800" cy="3286125"/>
          </a:xfrm>
          <a:prstGeom prst="rect">
            <a:avLst/>
          </a:prstGeom>
          <a:ln w="19050">
            <a:solidFill>
              <a:srgbClr val="0D9488"/>
            </a:solidFill>
          </a:ln>
        </p:spPr>
      </p:pic>
      <p:sp>
        <p:nvSpPr>
          <p:cNvPr id="274" name="TextBox 273"/>
          <p:cNvSpPr txBox="1"/>
          <p:nvPr/>
        </p:nvSpPr>
        <p:spPr>
          <a:xfrm>
            <a:off x="365760" y="5306949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Arial"/>
              </a:rPr>
              <a:t>localhost:8000 . AURA console</a:t>
            </a:r>
            <a:r>
              <a:rPr sz="800" b="0" i="1">
                <a:solidFill>
                  <a:srgbClr val="5B6672"/>
                </a:solidFill>
                <a:latin typeface="Arial"/>
              </a:rPr>
              <a:t>   - same console, an uncertain case: AURA abstains and escalates</a:t>
            </a:r>
          </a:p>
        </p:txBody>
      </p:sp>
      <p:sp>
        <p:nvSpPr>
          <p:cNvPr id="275" name="Oval 274"/>
          <p:cNvSpPr/>
          <p:nvPr/>
        </p:nvSpPr>
        <p:spPr>
          <a:xfrm>
            <a:off x="1815084" y="4556283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815084" y="4556283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1</a:t>
            </a:r>
          </a:p>
        </p:txBody>
      </p:sp>
      <p:sp>
        <p:nvSpPr>
          <p:cNvPr id="277" name="Oval 276"/>
          <p:cNvSpPr/>
          <p:nvPr/>
        </p:nvSpPr>
        <p:spPr>
          <a:xfrm>
            <a:off x="4549140" y="2814637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549140" y="2814637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2</a:t>
            </a:r>
          </a:p>
        </p:txBody>
      </p:sp>
      <p:sp>
        <p:nvSpPr>
          <p:cNvPr id="279" name="Oval 278"/>
          <p:cNvSpPr/>
          <p:nvPr/>
        </p:nvSpPr>
        <p:spPr>
          <a:xfrm>
            <a:off x="5022342" y="2551747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5022342" y="2551747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3</a:t>
            </a:r>
          </a:p>
        </p:txBody>
      </p:sp>
      <p:sp>
        <p:nvSpPr>
          <p:cNvPr id="281" name="Oval 280"/>
          <p:cNvSpPr/>
          <p:nvPr/>
        </p:nvSpPr>
        <p:spPr>
          <a:xfrm>
            <a:off x="4549140" y="314325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4549140" y="314325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4</a:t>
            </a:r>
          </a:p>
        </p:txBody>
      </p:sp>
      <p:sp>
        <p:nvSpPr>
          <p:cNvPr id="283" name="Oval 282"/>
          <p:cNvSpPr/>
          <p:nvPr/>
        </p:nvSpPr>
        <p:spPr>
          <a:xfrm>
            <a:off x="3392423" y="445770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3392423" y="44577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5</a:t>
            </a:r>
          </a:p>
        </p:txBody>
      </p:sp>
      <p:sp>
        <p:nvSpPr>
          <p:cNvPr id="285" name="Oval 284"/>
          <p:cNvSpPr/>
          <p:nvPr/>
        </p:nvSpPr>
        <p:spPr>
          <a:xfrm>
            <a:off x="4969764" y="4556283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969764" y="4556283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0E"/>
                </a:solidFill>
                <a:latin typeface="Arial"/>
              </a:rPr>
              <a:t>6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687568" y="1810512"/>
            <a:ext cx="3236976" cy="4023360"/>
          </a:xfrm>
          <a:prstGeom prst="roundRect">
            <a:avLst>
              <a:gd name="adj" fmla="val 4000"/>
            </a:avLst>
          </a:prstGeom>
          <a:solidFill>
            <a:srgbClr val="F6FAFA"/>
          </a:solidFill>
          <a:ln w="9525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5870448" y="1956816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0E7490"/>
                </a:solidFill>
                <a:latin typeface="Arial"/>
              </a:rPr>
              <a:t>WHY THIS IS THE DIFFERENTIATOR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870448" y="2304288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1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SPREAD DIFFERENTIAL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No diagnosis dominates: COPD 48%, pneumonia 29%, heart failure 15% - the features genuinely overlap.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870448" y="2866644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2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LARGE CONFORMAL SET (90%)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Three diagnoses stay statistically plausible at the 90% level, so the guaranteed-coverage set is large.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870448" y="3429000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3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UNCERTAINTY DECOMPOSED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Epistemic 0.138, aleatoric 1.240, OOD 0.86 - high, and reported honestly rather than hidden.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870448" y="3991356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4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ABSTENTION - NO SILENT GUESS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AURA declines to commit and escalates carrying its full uncertainty state. This is the whole point.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870448" y="4553712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5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NEXT BEST EVIDENCE (EIG)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It ranks the single most discriminating missing fact - prior films, +0.50 bits at zero cost and risk.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870448" y="5116068"/>
            <a:ext cx="2889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0E7490"/>
                </a:solidFill>
                <a:latin typeface="Arial"/>
              </a:rPr>
              <a:t>6  </a:t>
            </a:r>
            <a:r>
              <a:rPr sz="860" b="1" i="0" spc="30">
                <a:solidFill>
                  <a:srgbClr val="0F172A"/>
                </a:solidFill>
                <a:latin typeface="Arial"/>
              </a:rPr>
              <a:t>HUMAN-IN-THE-LOOP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The case is handed to the radiologist with the reasoning attached - authority always stays human.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2077</Words>
  <Application>Microsoft Office PowerPoint</Application>
  <PresentationFormat>On-screen Show (4:3)</PresentationFormat>
  <Paragraphs>242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Rounded</vt:lpstr>
      <vt:lpstr>Calibri</vt:lpstr>
      <vt:lpstr>Georgia</vt:lpstr>
      <vt:lpstr>Noto Sans Symbols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SivaGuru R.M</cp:lastModifiedBy>
  <cp:revision>1</cp:revision>
  <dcterms:modified xsi:type="dcterms:W3CDTF">2026-07-09T09:40:00Z</dcterms:modified>
</cp:coreProperties>
</file>